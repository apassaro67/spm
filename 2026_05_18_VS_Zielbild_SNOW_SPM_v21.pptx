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2147483634" r:id="rId39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8000" bIns="800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ServiceNow SPM in Aktion – Strategic Planning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8000" bIns="8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Strategien und Portfolios auf einen Blick – auf einer Plattform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Eyecatcher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533400"/>
            <a:ext cx="11734800" cy="5943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533400"/>
            <a:ext cx="11734800" cy="3429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685800"/>
            <a:ext cx="11734800" cy="198120"/>
          </a:xfrm>
          <a:prstGeom prst="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" y="640080"/>
            <a:ext cx="129540" cy="1295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571500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57150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150" b="1" i="0">
                <a:solidFill>
                  <a:srgbClr val="62D84E"/>
                </a:solidFill>
                <a:latin typeface="Calibri"/>
              </a:rPr>
              <a:t>Strategic Planning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609600"/>
            <a:ext cx="914400" cy="190500"/>
          </a:xfrm>
          <a:prstGeom prst="roundRect">
            <a:avLst/>
          </a:prstGeom>
          <a:solidFill>
            <a:srgbClr val="05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609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950" b="0" i="0">
                <a:solidFill>
                  <a:srgbClr val="B6C0C8"/>
                </a:solidFill>
                <a:latin typeface="Calibri"/>
              </a:rPr>
              <a:t>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609600"/>
            <a:ext cx="914400" cy="19050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609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950" b="1" i="0">
                <a:solidFill>
                  <a:srgbClr val="032D42"/>
                </a:solidFill>
                <a:latin typeface="Calibri"/>
              </a:rPr>
              <a:t>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6000" y="609600"/>
            <a:ext cx="914400" cy="190500"/>
          </a:xfrm>
          <a:prstGeom prst="roundRect">
            <a:avLst/>
          </a:prstGeom>
          <a:solidFill>
            <a:srgbClr val="05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609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950" b="0" i="0">
                <a:solidFill>
                  <a:srgbClr val="B6C0C8"/>
                </a:solidFill>
                <a:latin typeface="Calibri"/>
              </a:rPr>
              <a:t>Portfolios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6600" y="609600"/>
            <a:ext cx="914400" cy="190500"/>
          </a:xfrm>
          <a:prstGeom prst="roundRect">
            <a:avLst/>
          </a:prstGeom>
          <a:solidFill>
            <a:srgbClr val="05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6600" y="609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950" b="0" i="0">
                <a:solidFill>
                  <a:srgbClr val="B6C0C8"/>
                </a:solidFill>
                <a:latin typeface="Calibri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9525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STRATEGIC GOALS  (Konzern-OKRs)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952500"/>
            <a:ext cx="2133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r"/>
            <a:r>
              <a:rPr sz="900" b="0" i="1">
                <a:solidFill>
                  <a:srgbClr val="4B5563"/>
                </a:solidFill>
                <a:latin typeface="Calibri"/>
              </a:rPr>
              <a:t>View: Konzern  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1135380"/>
            <a:ext cx="2771775" cy="838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000" y="1135380"/>
            <a:ext cx="53340" cy="838200"/>
          </a:xfrm>
          <a:prstGeom prst="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300" y="1165860"/>
            <a:ext cx="21621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Operational Excellence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1318260"/>
            <a:ext cx="2543175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Effizienz · Kosten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9375" y="1196340"/>
            <a:ext cx="457200" cy="182880"/>
          </a:xfrm>
          <a:prstGeom prst="round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9375" y="11963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↑ 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0" y="1478280"/>
            <a:ext cx="25431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2000" b="1" i="0">
                <a:solidFill>
                  <a:srgbClr val="299BC6"/>
                </a:solidFill>
                <a:latin typeface="Calibri"/>
              </a:rPr>
              <a:t>62 %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300" y="1821180"/>
            <a:ext cx="2543175" cy="76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5300" y="1821180"/>
            <a:ext cx="1576768" cy="76200"/>
          </a:xfrm>
          <a:prstGeom prst="round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67075" y="1135380"/>
            <a:ext cx="2771775" cy="838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67075" y="1135380"/>
            <a:ext cx="53340" cy="838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1375" y="1165860"/>
            <a:ext cx="21621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Digitale Transformation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1375" y="1318260"/>
            <a:ext cx="2543175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Plattform · Workflow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5450" y="1196340"/>
            <a:ext cx="457200" cy="1828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5450" y="11963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↑ 12%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1375" y="1478280"/>
            <a:ext cx="25431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2000" b="1" i="0">
                <a:solidFill>
                  <a:srgbClr val="62D84E"/>
                </a:solidFill>
                <a:latin typeface="Calibri"/>
              </a:rPr>
              <a:t>74 %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1375" y="1821180"/>
            <a:ext cx="2543175" cy="76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1375" y="1821180"/>
            <a:ext cx="1881949" cy="7620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53150" y="1135380"/>
            <a:ext cx="2771775" cy="838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53150" y="1135380"/>
            <a:ext cx="53340" cy="838200"/>
          </a:xfrm>
          <a:prstGeom prst="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7450" y="1165860"/>
            <a:ext cx="21621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Nachhaltigkeit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7450" y="1318260"/>
            <a:ext cx="2543175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Green-IT · CSRD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1525" y="1196340"/>
            <a:ext cx="457200" cy="18288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1525" y="11963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↑ 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7450" y="1478280"/>
            <a:ext cx="25431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2000" b="1" i="0">
                <a:solidFill>
                  <a:srgbClr val="F5A823"/>
                </a:solidFill>
                <a:latin typeface="Calibri"/>
              </a:rPr>
              <a:t>55 %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7450" y="1821180"/>
            <a:ext cx="2543175" cy="76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67450" y="1821180"/>
            <a:ext cx="1398746" cy="7620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39225" y="1135380"/>
            <a:ext cx="2771775" cy="838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39225" y="1135380"/>
            <a:ext cx="53340" cy="83820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3525" y="1165860"/>
            <a:ext cx="21621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Customer Experience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3525" y="1318260"/>
            <a:ext cx="2543175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Service · Self-Service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277600" y="1196340"/>
            <a:ext cx="457200" cy="18288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77600" y="11963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↑ 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3525" y="1478280"/>
            <a:ext cx="25431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2000" b="1" i="0">
                <a:solidFill>
                  <a:srgbClr val="865DE4"/>
                </a:solidFill>
                <a:latin typeface="Calibri"/>
              </a:rPr>
              <a:t>48 %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53525" y="1821180"/>
            <a:ext cx="2543175" cy="76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53525" y="1821180"/>
            <a:ext cx="1220724" cy="7620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" y="2087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PORTFOLIO ROADMAP  (8 Quartale)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3400" y="208788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r"/>
            <a:r>
              <a:rPr sz="850" b="0" i="1">
                <a:solidFill>
                  <a:srgbClr val="4B5563"/>
                </a:solidFill>
                <a:latin typeface="Calibri"/>
              </a:rPr>
              <a:t>Lens: Strategic Investments ▾    Group by: Portfolio 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1000" y="2270760"/>
            <a:ext cx="2438400" cy="1981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2270760"/>
            <a:ext cx="2286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10840" y="2270760"/>
            <a:ext cx="1108710" cy="198120"/>
          </a:xfrm>
          <a:prstGeom prst="rect">
            <a:avLst/>
          </a:prstGeom>
          <a:solidFill>
            <a:srgbClr val="E9EDF1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1084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Calibri"/>
              </a:rPr>
              <a:t>Q4 / 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336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2336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Q1 / 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3588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3588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Q2 / 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4840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840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Q3 / 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60920" y="2270760"/>
            <a:ext cx="1108710" cy="198120"/>
          </a:xfrm>
          <a:prstGeom prst="rect">
            <a:avLst/>
          </a:prstGeom>
          <a:solidFill>
            <a:srgbClr val="E9EDF1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6092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Calibri"/>
              </a:rPr>
              <a:t>Q4 / 27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344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7344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Q1 / 28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8596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8596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Q2 / 28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0" y="2270760"/>
            <a:ext cx="1108710" cy="198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98480" y="2270760"/>
            <a:ext cx="110871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Q3 / 28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57110" y="2270760"/>
            <a:ext cx="7620" cy="20269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51276" y="2476500"/>
            <a:ext cx="9144" cy="1859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98648" y="4351020"/>
            <a:ext cx="9144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750" b="1" i="0">
                <a:solidFill>
                  <a:srgbClr val="B91C1C"/>
                </a:solidFill>
                <a:latin typeface="Calibri"/>
              </a:rPr>
              <a:t>◆ heute (Q4 / 26)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1000" y="2499360"/>
            <a:ext cx="2438400" cy="3352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1000" y="2499360"/>
            <a:ext cx="45720" cy="335280"/>
          </a:xfrm>
          <a:prstGeom prst="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2440" y="2514600"/>
            <a:ext cx="22860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PPM &amp; Strategy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2440" y="266700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↑ Op-Excellence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324100" y="2545080"/>
            <a:ext cx="441960" cy="228600"/>
          </a:xfrm>
          <a:prstGeom prst="round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24100" y="254508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62%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10840" y="2499360"/>
            <a:ext cx="8900160" cy="3352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02107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13359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4611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47115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8367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696194" y="252221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922270" y="2552700"/>
            <a:ext cx="4983480" cy="2286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922270" y="2552700"/>
            <a:ext cx="3089757" cy="228600"/>
          </a:xfrm>
          <a:prstGeom prst="round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52750" y="2552700"/>
            <a:ext cx="4922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Strategy Cascade</a:t>
            </a:r>
          </a:p>
        </p:txBody>
      </p:sp>
      <p:sp>
        <p:nvSpPr>
          <p:cNvPr id="98" name="Diamond 97"/>
          <p:cNvSpPr/>
          <p:nvPr/>
        </p:nvSpPr>
        <p:spPr>
          <a:xfrm>
            <a:off x="7837170" y="2598420"/>
            <a:ext cx="137160" cy="137160"/>
          </a:xfrm>
          <a:prstGeom prst="diamond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81000" y="2865119"/>
            <a:ext cx="2438400" cy="3352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1000" y="2865119"/>
            <a:ext cx="45720" cy="3352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2440" y="2880360"/>
            <a:ext cx="22860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IT-Modernisierung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2440" y="303276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↑ Digital Trans.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324100" y="2910839"/>
            <a:ext cx="441960" cy="22860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24100" y="2910839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910840" y="2865119"/>
            <a:ext cx="8900160" cy="3352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02107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13359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24611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7115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8367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696194" y="288797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034790" y="2918460"/>
            <a:ext cx="6095999" cy="2286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034790" y="2918460"/>
            <a:ext cx="4511039" cy="22860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65270" y="2918460"/>
            <a:ext cx="6035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MSPO-Ablöse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062209" y="2964180"/>
            <a:ext cx="137160" cy="137160"/>
          </a:xfrm>
          <a:prstGeom prst="diamond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81000" y="3230880"/>
            <a:ext cx="2438400" cy="3352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81000" y="3230880"/>
            <a:ext cx="45720" cy="335280"/>
          </a:xfrm>
          <a:prstGeom prst="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2440" y="3246120"/>
            <a:ext cx="22860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Production &amp; Supply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2440" y="339852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↑ Op-Excellence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24100" y="3276600"/>
            <a:ext cx="441960" cy="22860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24100" y="327660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10840" y="3230880"/>
            <a:ext cx="8900160" cy="3352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02107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13359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24611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47115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58367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696194" y="3253739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147310" y="3284220"/>
            <a:ext cx="6095999" cy="2286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147310" y="3284220"/>
            <a:ext cx="3352799" cy="22860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77790" y="3284220"/>
            <a:ext cx="6035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Supply-Chain Cockpit</a:t>
            </a:r>
          </a:p>
        </p:txBody>
      </p:sp>
      <p:sp>
        <p:nvSpPr>
          <p:cNvPr id="132" name="Diamond 131"/>
          <p:cNvSpPr/>
          <p:nvPr/>
        </p:nvSpPr>
        <p:spPr>
          <a:xfrm>
            <a:off x="11174729" y="3329940"/>
            <a:ext cx="137160" cy="137160"/>
          </a:xfrm>
          <a:prstGeom prst="diamond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81000" y="3596640"/>
            <a:ext cx="2438400" cy="3352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81000" y="3596640"/>
            <a:ext cx="45720" cy="335280"/>
          </a:xfrm>
          <a:prstGeom prst="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2440" y="3611880"/>
            <a:ext cx="22860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Green-IT &amp; CSRD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2440" y="376428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↑ Sustainability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324100" y="3642360"/>
            <a:ext cx="441960" cy="22860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324100" y="364236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910840" y="3596640"/>
            <a:ext cx="8900160" cy="3352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02107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3359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24611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47115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58367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696194" y="361950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259830" y="3649980"/>
            <a:ext cx="5539739" cy="2286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259830" y="3649980"/>
            <a:ext cx="2215896" cy="22860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290310" y="3649980"/>
            <a:ext cx="547877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CSRD-Reporting</a:t>
            </a:r>
          </a:p>
        </p:txBody>
      </p:sp>
      <p:sp>
        <p:nvSpPr>
          <p:cNvPr id="149" name="Diamond 148"/>
          <p:cNvSpPr/>
          <p:nvPr/>
        </p:nvSpPr>
        <p:spPr>
          <a:xfrm>
            <a:off x="11730990" y="3695700"/>
            <a:ext cx="137160" cy="137160"/>
          </a:xfrm>
          <a:prstGeom prst="diamond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81000" y="3962400"/>
            <a:ext cx="2438400" cy="3352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81000" y="3962400"/>
            <a:ext cx="45720" cy="33528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72440" y="3977640"/>
            <a:ext cx="22860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Customer Service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2440" y="4130040"/>
            <a:ext cx="198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↑ Customer Exp.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324100" y="4008120"/>
            <a:ext cx="441960" cy="22860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324100" y="4008120"/>
            <a:ext cx="441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910840" y="3962400"/>
            <a:ext cx="8900160" cy="3352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02107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13359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4611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47115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58367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696194" y="3985260"/>
            <a:ext cx="4572" cy="2895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7372350" y="4015740"/>
            <a:ext cx="4427220" cy="2286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372350" y="4015740"/>
            <a:ext cx="2125065" cy="22860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402830" y="4015740"/>
            <a:ext cx="43662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Service-Portal</a:t>
            </a:r>
          </a:p>
        </p:txBody>
      </p:sp>
      <p:sp>
        <p:nvSpPr>
          <p:cNvPr id="166" name="Diamond 165"/>
          <p:cNvSpPr/>
          <p:nvPr/>
        </p:nvSpPr>
        <p:spPr>
          <a:xfrm>
            <a:off x="11730990" y="4061460"/>
            <a:ext cx="137160" cy="137160"/>
          </a:xfrm>
          <a:prstGeom prst="diamond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381000" y="4480560"/>
            <a:ext cx="10668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10540" y="44577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On track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600200" y="4480560"/>
            <a:ext cx="106680" cy="106680"/>
          </a:xfrm>
          <a:prstGeom prst="roundRect">
            <a:avLst/>
          </a:prstGeom>
          <a:solidFill>
            <a:srgbClr val="F5A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729740" y="44577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At risk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19400" y="4480560"/>
            <a:ext cx="106680" cy="106680"/>
          </a:xfrm>
          <a:prstGeom prst="roundRect">
            <a:avLst/>
          </a:prstGeom>
          <a:solidFill>
            <a:srgbClr val="299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948940" y="44577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On plan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038600" y="4480560"/>
            <a:ext cx="106680" cy="10668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168140" y="44577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Strategic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867400" y="4465320"/>
            <a:ext cx="5943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r"/>
            <a:r>
              <a:rPr sz="850" b="0" i="1">
                <a:solidFill>
                  <a:srgbClr val="4B5563"/>
                </a:solidFill>
                <a:latin typeface="Calibri"/>
              </a:rPr>
              <a:t>◆ Milestone   ·   ▮ Progress within scope   ·   Strategie ↔ Portfolio ↔ Demand auf einer Plattform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8000" bIns="8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Beispielhafte Visualisierung der ServiceNow Strategic Planning Workspace / Portfolio Planning.  Daten illustrativ.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6063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1569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0431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5358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03651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1938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27444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6306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1233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29526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938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575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758081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96943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01870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0163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575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6063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101569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0431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5358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03651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063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11938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27444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66306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1233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29526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938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575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823917" y="5933364"/>
            <a:ext cx="427939" cy="8321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53635" y="5659958"/>
            <a:ext cx="368503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33874" y="5469763"/>
            <a:ext cx="148590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78451" y="5499481"/>
            <a:ext cx="59436" cy="59436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2575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60 %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