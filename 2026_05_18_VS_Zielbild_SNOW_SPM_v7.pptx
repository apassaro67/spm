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16383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71500"/>
            <a:ext cx="68580" cy="16383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8160" y="716280"/>
            <a:ext cx="121920" cy="12192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70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4770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300" b="0" i="1">
                <a:solidFill>
                  <a:srgbClr val="B6C0C8"/>
                </a:solidFill>
                <a:latin typeface="Calibri"/>
              </a:rPr>
              <a:t>Die Now Platform – eine Plattform für alle Geschäftsprozesse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937260"/>
            <a:ext cx="11277600" cy="304800"/>
          </a:xfrm>
          <a:prstGeom prst="roundRect">
            <a:avLst/>
          </a:prstGeom>
          <a:solidFill>
            <a:srgbClr val="05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9677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b" lIns="50000" rIns="50000" tIns="20000" bIns="20000">
            <a:spAutoFit/>
          </a:bodyPr>
          <a:lstStyle/>
          <a:p>
            <a:pPr algn="ctr"/>
            <a:r>
              <a:rPr sz="800" b="1" i="0">
                <a:solidFill>
                  <a:srgbClr val="62D84E"/>
                </a:solidFill>
                <a:latin typeface="Calibri"/>
              </a:rPr>
              <a:t>GEGRÜNDET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082040"/>
            <a:ext cx="2255520" cy="1447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8910" y="982980"/>
            <a:ext cx="7620" cy="213360"/>
          </a:xfrm>
          <a:prstGeom prst="rect">
            <a:avLst/>
          </a:prstGeom>
          <a:solidFill>
            <a:srgbClr val="18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2720" y="9677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b" lIns="50000" rIns="50000" tIns="20000" bIns="20000">
            <a:spAutoFit/>
          </a:bodyPr>
          <a:lstStyle/>
          <a:p>
            <a:pPr algn="ctr"/>
            <a:r>
              <a:rPr sz="800" b="1" i="0">
                <a:solidFill>
                  <a:srgbClr val="62D84E"/>
                </a:solidFill>
                <a:latin typeface="Calibri"/>
              </a:rPr>
              <a:t>HQ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720" y="1082040"/>
            <a:ext cx="2255520" cy="1447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Santa Clara, 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4430" y="982980"/>
            <a:ext cx="7620" cy="213360"/>
          </a:xfrm>
          <a:prstGeom prst="rect">
            <a:avLst/>
          </a:prstGeom>
          <a:solidFill>
            <a:srgbClr val="18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8240" y="9677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b" lIns="50000" rIns="50000" tIns="20000" bIns="20000">
            <a:spAutoFit/>
          </a:bodyPr>
          <a:lstStyle/>
          <a:p>
            <a:pPr algn="ctr"/>
            <a:r>
              <a:rPr sz="800" b="1" i="0">
                <a:solidFill>
                  <a:srgbClr val="62D84E"/>
                </a:solidFill>
                <a:latin typeface="Calibri"/>
              </a:rPr>
              <a:t>MITARBEITENDE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8240" y="1082040"/>
            <a:ext cx="2255520" cy="1447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~ 26.000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9950" y="982980"/>
            <a:ext cx="7620" cy="213360"/>
          </a:xfrm>
          <a:prstGeom prst="rect">
            <a:avLst/>
          </a:prstGeom>
          <a:solidFill>
            <a:srgbClr val="18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9677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b" lIns="50000" rIns="50000" tIns="20000" bIns="20000">
            <a:spAutoFit/>
          </a:bodyPr>
          <a:lstStyle/>
          <a:p>
            <a:pPr algn="ctr"/>
            <a:r>
              <a:rPr sz="800" b="1" i="0">
                <a:solidFill>
                  <a:srgbClr val="62D84E"/>
                </a:solidFill>
                <a:latin typeface="Calibri"/>
              </a:rPr>
              <a:t>FORTUNE 500-KUNDEN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082040"/>
            <a:ext cx="2255520" cy="1447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&gt; 85 %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5470" y="982980"/>
            <a:ext cx="7620" cy="213360"/>
          </a:xfrm>
          <a:prstGeom prst="rect">
            <a:avLst/>
          </a:prstGeom>
          <a:solidFill>
            <a:srgbClr val="18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9280" y="967740"/>
            <a:ext cx="22555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b" lIns="50000" rIns="50000" tIns="20000" bIns="20000">
            <a:spAutoFit/>
          </a:bodyPr>
          <a:lstStyle/>
          <a:p>
            <a:pPr algn="ctr"/>
            <a:r>
              <a:rPr sz="800" b="1" i="0">
                <a:solidFill>
                  <a:srgbClr val="62D84E"/>
                </a:solidFill>
                <a:latin typeface="Calibri"/>
              </a:rPr>
              <a:t>GARTNER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9280" y="1082040"/>
            <a:ext cx="2255520" cy="1447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Leader SPM · ITSM · ITOM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135636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900" b="1" i="0">
                <a:solidFill>
                  <a:srgbClr val="62D84E"/>
                </a:solidFill>
                <a:latin typeface="Calibri"/>
              </a:rPr>
              <a:t>PLATTFORM-FUNKTIONEN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400" y="1539240"/>
            <a:ext cx="2151888" cy="571500"/>
          </a:xfrm>
          <a:prstGeom prst="roundRect">
            <a:avLst/>
          </a:prstGeom>
          <a:solidFill>
            <a:srgbClr val="053B55"/>
          </a:solidFill>
          <a:ln w="9525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3400" y="1539240"/>
            <a:ext cx="2151888" cy="304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" y="1600200"/>
            <a:ext cx="21518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Workflow-Plattform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1790700"/>
            <a:ext cx="2075687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B6C0C8"/>
                </a:solidFill>
                <a:latin typeface="Calibri"/>
              </a:rPr>
              <a:t>Prozesse end-to-end digitalisieren – statt Excel, E-Mail und Insellösungen.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6728" y="1539240"/>
            <a:ext cx="2151888" cy="571500"/>
          </a:xfrm>
          <a:prstGeom prst="roundRect">
            <a:avLst/>
          </a:prstGeom>
          <a:solidFill>
            <a:srgbClr val="053B55"/>
          </a:solidFill>
          <a:ln w="9525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76728" y="1539240"/>
            <a:ext cx="2151888" cy="304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6728" y="1600200"/>
            <a:ext cx="21518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KI / Now Assist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4828" y="1790700"/>
            <a:ext cx="2075687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B6C0C8"/>
                </a:solidFill>
                <a:latin typeface="Calibri"/>
              </a:rPr>
              <a:t>Generative KI eingebaut: Risikofrüherkennung, Vorschläge, Auto-Reporting.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0056" y="1539240"/>
            <a:ext cx="2151888" cy="571500"/>
          </a:xfrm>
          <a:prstGeom prst="roundRect">
            <a:avLst/>
          </a:prstGeom>
          <a:solidFill>
            <a:srgbClr val="053B55"/>
          </a:solidFill>
          <a:ln w="9525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0056" y="1539240"/>
            <a:ext cx="2151888" cy="304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1600200"/>
            <a:ext cx="21518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Low-Code App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8156" y="1790700"/>
            <a:ext cx="2075687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B6C0C8"/>
                </a:solidFill>
                <a:latin typeface="Calibri"/>
              </a:rPr>
              <a:t>Eigene Apps und Workflows ohne klassische Entwicklung – durch Fachbereich.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3383" y="1539240"/>
            <a:ext cx="2151888" cy="571500"/>
          </a:xfrm>
          <a:prstGeom prst="roundRect">
            <a:avLst/>
          </a:prstGeom>
          <a:solidFill>
            <a:srgbClr val="053B55"/>
          </a:solidFill>
          <a:ln w="9525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3383" y="1539240"/>
            <a:ext cx="2151888" cy="304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3383" y="1600200"/>
            <a:ext cx="21518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Integration 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1483" y="1790700"/>
            <a:ext cx="2075687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B6C0C8"/>
                </a:solidFill>
                <a:latin typeface="Calibri"/>
              </a:rPr>
              <a:t>200+ Standard-Konnektoren zu SAP, M365, Cloud-Diensten und Custom-APIs.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6712" y="1539240"/>
            <a:ext cx="2151888" cy="571500"/>
          </a:xfrm>
          <a:prstGeom prst="roundRect">
            <a:avLst/>
          </a:prstGeom>
          <a:solidFill>
            <a:srgbClr val="053B55"/>
          </a:solidFill>
          <a:ln w="9525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06712" y="1539240"/>
            <a:ext cx="2151888" cy="3048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6712" y="1600200"/>
            <a:ext cx="21518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Eine Datenbasis &amp; CMDB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4812" y="1790700"/>
            <a:ext cx="2075687" cy="2971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900" b="0" i="0">
                <a:solidFill>
                  <a:srgbClr val="B6C0C8"/>
                </a:solidFill>
                <a:latin typeface="Calibri"/>
              </a:rPr>
              <a:t>Gemeinsames Datenmodell für IT, HR, Service, Risiko und Finanzen.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800" y="23241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2552700"/>
            <a:ext cx="1394460" cy="5715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80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8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60220" y="2552700"/>
            <a:ext cx="1394460" cy="5715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6022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02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15640" y="2552700"/>
            <a:ext cx="1394460" cy="5715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1564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156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71060" y="2552700"/>
            <a:ext cx="1394460" cy="5715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106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106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0" y="2552700"/>
            <a:ext cx="1394460" cy="5715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81900" y="2552700"/>
            <a:ext cx="1394460" cy="5715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190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19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37320" y="2552700"/>
            <a:ext cx="1394460" cy="5715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3732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73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92740" y="2552700"/>
            <a:ext cx="1394460" cy="5715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92740" y="2552700"/>
            <a:ext cx="139446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927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4800" y="3543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References, öffentliche Quellen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4800" y="377190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4800" y="3886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48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048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7838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838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91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91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164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164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6954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954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307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07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280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1280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6070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6070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423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423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Lizenz, Betrieb, Schulung.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Quellen: ServiceNow Produkt- und Kunden-Referenzen (servicenow.com); STIHL IT (Bestand seit 2014, Hosting Frankfurt + Düsseldorf, DSGVO-konform).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