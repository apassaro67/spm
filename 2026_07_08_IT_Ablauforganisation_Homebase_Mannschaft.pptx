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24000"/>
            <a:ext cx="10363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F07F12"/>
                </a:solidFill>
                <a:latin typeface="Calibri"/>
              </a:rPr>
              <a:t>ZIELBILD ABLAUFORGANISATION · IT / 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81200"/>
            <a:ext cx="10515600" cy="1524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Die Einheit ist die Homebase.</a:t>
            </a:r>
          </a:p>
          <a:p>
            <a:pPr algn="l"/>
            <a:r>
              <a:rPr sz="4000" b="1" i="0">
                <a:solidFill>
                  <a:srgbClr val="F07F12"/>
                </a:solidFill>
                <a:latin typeface="Calibri"/>
              </a:rPr>
              <a:t>Gespielt wird in Mannschaften.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62400"/>
            <a:ext cx="100584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C7CDD4"/>
                </a:solidFill>
                <a:latin typeface="Calibri"/>
              </a:rPr>
              <a:t>Betriebs- und Zusammenarbeitsmodell für eine IT-Organisation mit verteiltem Operations – fachliche Heimat erhalten, Wertschöpfung End-to-End über Einheitsgrenzen organisieren.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76800"/>
            <a:ext cx="5029200" cy="1219200"/>
          </a:xfrm>
          <a:prstGeom prst="roundRect">
            <a:avLst>
              <a:gd name="adj" fmla="val 8000"/>
            </a:avLst>
          </a:prstGeom>
          <a:solidFill>
            <a:srgbClr val="27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876800"/>
            <a:ext cx="68580" cy="1219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50292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8FB4DB"/>
                </a:solidFill>
                <a:latin typeface="Calibri"/>
              </a:rPr>
              <a:t>HOMEBASE – LINIENORGANISATION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9590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C7CDD4"/>
                </a:solidFill>
                <a:latin typeface="Calibri"/>
              </a:rPr>
              <a:t>Fachliche Heimat, Skill-Aufbau, Kapazität, Personalentwicklung. Die Org-Einheiten aus dem Chart.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400" y="4876800"/>
            <a:ext cx="5029200" cy="1219200"/>
          </a:xfrm>
          <a:prstGeom prst="roundRect">
            <a:avLst>
              <a:gd name="adj" fmla="val 8000"/>
            </a:avLst>
          </a:prstGeom>
          <a:solidFill>
            <a:srgbClr val="27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8400" y="4876800"/>
            <a:ext cx="68580" cy="1219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0" y="50292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F2B277"/>
                </a:solidFill>
                <a:latin typeface="Calibri"/>
              </a:rPr>
              <a:t>MANNSCHAFT – WERTSTROM /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529590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C7CDD4"/>
                </a:solidFill>
                <a:latin typeface="Calibri"/>
              </a:rPr>
              <a:t>End-to-End-Verantwortung für Services &amp; Produkte, besetzt aus mehreren Homebases. Hier wird geliefert.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Operations nicht zentralisieren, sondern integrieren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85900"/>
            <a:ext cx="11125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Betrieb liegt heute an vier sinnvollen Stellen – nah an der Technologie. Die Klammer entsteht durch eine SIAM-Integrationsschicht statt struktureller Zusammenlegung.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2057400"/>
            <a:ext cx="268224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057400"/>
            <a:ext cx="2682240" cy="76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3880" y="2164080"/>
            <a:ext cx="26212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2E5A8F"/>
                </a:solidFill>
                <a:latin typeface="Calibri"/>
              </a:rPr>
              <a:t>HOMEBASE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3880" y="2362200"/>
            <a:ext cx="26212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Platform &amp; Infra 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3880" y="2667000"/>
            <a:ext cx="262128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Base ITSM Ops, Service Desk, Datacenter, Netzwerk, Compute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057400"/>
            <a:ext cx="268224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2057400"/>
            <a:ext cx="2682240" cy="76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8040" y="2164080"/>
            <a:ext cx="26212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2E5A8F"/>
                </a:solidFill>
                <a:latin typeface="Calibri"/>
              </a:rPr>
              <a:t>HOMEBASE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8040" y="2362200"/>
            <a:ext cx="26212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Application / Business Ops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8040" y="2667000"/>
            <a:ext cx="262128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Solution Operations, SAP AMS, Release &amp; Deployment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1720" y="2057400"/>
            <a:ext cx="268224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1720" y="2057400"/>
            <a:ext cx="2682240" cy="76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164080"/>
            <a:ext cx="26212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2E5A8F"/>
                </a:solidFill>
                <a:latin typeface="Calibri"/>
              </a:rPr>
              <a:t>HOMEBASE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362200"/>
            <a:ext cx="26212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Local IT 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667000"/>
            <a:ext cx="262128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Local Service Desk, Device- &amp; Server-Support vor 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45880" y="2057400"/>
            <a:ext cx="268224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45880" y="2057400"/>
            <a:ext cx="2682240" cy="76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76360" y="2164080"/>
            <a:ext cx="26212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2E5A8F"/>
                </a:solidFill>
                <a:latin typeface="Calibri"/>
              </a:rPr>
              <a:t>HOMEBASE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6360" y="2362200"/>
            <a:ext cx="26212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Security Operations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6360" y="2667000"/>
            <a:ext cx="262128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SOC, Threat Detection, Incident Response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3400" y="3505200"/>
            <a:ext cx="11125200" cy="10287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3400" y="3505200"/>
            <a:ext cx="11125200" cy="76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1188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B4531A"/>
                </a:solidFill>
                <a:latin typeface="Calibri"/>
              </a:rPr>
              <a:t>DIE KLAMMER – SERVICE-INTEGRATION-LAYER (SIAM)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3870960"/>
            <a:ext cx="108204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Service Integrator</a:t>
            </a:r>
            <a:r>
              <a:rPr sz="1100" b="0" i="0">
                <a:solidFill>
                  <a:srgbClr val="4B5563"/>
                </a:solidFill>
                <a:latin typeface="Calibri"/>
              </a:rPr>
              <a:t>  · orchestriert interne Ops + Dienstleister als ein Liefernetzwerk       </a:t>
            </a:r>
            <a:r>
              <a:rPr sz="1100" b="1" i="0">
                <a:solidFill>
                  <a:srgbClr val="1F2937"/>
                </a:solidFill>
                <a:latin typeface="Calibri"/>
              </a:rPr>
              <a:t>End-to-End Service Owner</a:t>
            </a:r>
            <a:r>
              <a:rPr sz="1100" b="0" i="0">
                <a:solidFill>
                  <a:srgbClr val="4B5563"/>
                </a:solidFill>
                <a:latin typeface="Calibri"/>
              </a:rPr>
              <a:t>  · je Service verantwortlich über alle Einheiten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b="1" i="0">
                <a:solidFill>
                  <a:srgbClr val="1F2937"/>
                </a:solidFill>
                <a:latin typeface="Calibri"/>
              </a:rPr>
              <a:t>Gemeinsame ITSM-Prozesse &amp; ServiceNow</a:t>
            </a:r>
            <a:r>
              <a:rPr sz="1100" b="0" i="0">
                <a:solidFill>
                  <a:srgbClr val="4B5563"/>
                </a:solidFill>
                <a:latin typeface="Calibri"/>
              </a:rPr>
              <a:t>  · ein Incident/Problem/Change/Request       </a:t>
            </a:r>
            <a:r>
              <a:rPr sz="1100" b="1" i="0">
                <a:solidFill>
                  <a:srgbClr val="1F2937"/>
                </a:solidFill>
                <a:latin typeface="Calibri"/>
              </a:rPr>
              <a:t>Operations Command Layer</a:t>
            </a:r>
            <a:r>
              <a:rPr sz="1100" b="0" i="0">
                <a:solidFill>
                  <a:srgbClr val="4B5563"/>
                </a:solidFill>
                <a:latin typeface="Calibri"/>
              </a:rPr>
              <a:t>  · Major-Incident-Mgmt + Ops-Board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400" y="4724400"/>
            <a:ext cx="11125200" cy="6858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815840"/>
            <a:ext cx="108204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07F12"/>
                </a:solidFill>
                <a:latin typeface="Calibri"/>
              </a:rPr>
              <a:t>Kernprinzip:  </a:t>
            </a:r>
            <a:r>
              <a:rPr sz="1200" b="0" i="0">
                <a:solidFill>
                  <a:srgbClr val="1F2937"/>
                </a:solidFill>
                <a:latin typeface="Calibri"/>
              </a:rPr>
              <a:t>Betrieb bleibt fachlich in den Einheiten (Homebase). Die SIAM-Schicht macht aus vier getrennten Betrieben </a:t>
            </a:r>
            <a:r>
              <a:rPr sz="1200" b="1" i="1">
                <a:solidFill>
                  <a:srgbClr val="1F2937"/>
                </a:solidFill>
                <a:latin typeface="Calibri"/>
              </a:rPr>
              <a:t>ein</a:t>
            </a:r>
            <a:r>
              <a:rPr sz="1200" b="0" i="0">
                <a:solidFill>
                  <a:srgbClr val="1F2937"/>
                </a:solidFill>
                <a:latin typeface="Calibri"/>
              </a:rPr>
              <a:t> Betriebssystem – Dienstleister inklusive, gekoppelt über OLAs/UCs an dieselbe Prozess- und SLA-Logik.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MANNSCHAFTEN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Value-Stream-Schnitte – konkret auf Ihre Organisation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859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Sieben End-to-End-Services als dauerhafte Mannschaften. Jede besetzt aus mehreren Homebases; je ein Service Owner ist accountable.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905000"/>
            <a:ext cx="11125200" cy="3352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905000"/>
            <a:ext cx="34290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Value Stream (Mannschaft)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9560" y="1905000"/>
            <a:ext cx="34290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Service-Owner-Heimat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4760" y="1905000"/>
            <a:ext cx="40386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Beitragende Homebases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2240280"/>
            <a:ext cx="11125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3400" y="22402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840" y="22402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Modern Workplace &amp; Collaboration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9560" y="22402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Technical Sol. › Workplace Solutions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4760" y="22402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Local IT Ops · Cyber (Endpoint) · Business Sol. (Collab-Apps)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3400" y="2697480"/>
            <a:ext cx="11125200" cy="4572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400" y="26974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840" y="26974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Network &amp; Connectivity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9560" y="26974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Infra &amp; Platforms › Network &amp; Security Infra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4760" y="26974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Local Network Support · Cyber (Network Sec.)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3154680"/>
            <a:ext cx="11125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3400" y="31546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840" y="31546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Compute, Cloud &amp; Datacenter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99560" y="31546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Infra &amp; Platforms › Compute Platform Mgmt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04760" y="31546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Local Server Support · SAP Basis · Cyber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3400" y="3611880"/>
            <a:ext cx="11125200" cy="4572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33400" y="36118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840" y="36118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Identity &amp; Access (IAM)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99560" y="36118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Infra &amp; Platforms › Authentication / IDM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4760" y="36118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Cyber (Identity Sec.) · Business Solutions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4069080"/>
            <a:ext cx="11125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33400" y="40690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4840" y="40690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SAP &amp; Business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99560" y="40690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Business Sol. › Solution Operations (AMS)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04760" y="40690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Technical Sol. (SAP Basis, Release &amp; Deployment)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" y="4526280"/>
            <a:ext cx="11125200" cy="4572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33400" y="45262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4840" y="45262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Data, Analytics &amp; KI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9560" y="45262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Business Sol. › Reporting &amp; Analytics &amp; KI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04760" y="45262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EA &amp; Innovation · Master Data Management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3400" y="4983480"/>
            <a:ext cx="11125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3400" y="49834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4840" y="49834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Digital Service Desk / ITSM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99560" y="49834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Technical Sol. › Base ITSM Ops / Service Desk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04760" y="49834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Local Service Desk · alle L2/L3 · SIAM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3400" y="1905000"/>
            <a:ext cx="11125200" cy="353568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3400" y="553212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6B4FA0"/>
                </a:solidFill>
                <a:latin typeface="Calibri"/>
              </a:rPr>
              <a:t>Quer dazu: </a:t>
            </a:r>
            <a:r>
              <a:rPr sz="1050" b="0" i="0">
                <a:solidFill>
                  <a:srgbClr val="4B5563"/>
                </a:solidFill>
                <a:latin typeface="Calibri"/>
              </a:rPr>
              <a:t>Cyber-Security-Services (SOC) werden von allen Streams konsumiert; Owner bleibt Cyber Defense. Optional OT / Shopfloor-IT als eigener Stream, falls relevant.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ZUSAMMENARBEIT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Drei Typen virtueller Teams – und wer sie führt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676400"/>
            <a:ext cx="3604260" cy="259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1676400"/>
            <a:ext cx="3604260" cy="8382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320" y="1828800"/>
            <a:ext cx="33756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07F12"/>
                </a:solidFill>
                <a:latin typeface="Calibri"/>
              </a:rPr>
              <a:t>VERTIKAL · WERTSTROM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" y="2057400"/>
            <a:ext cx="33756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Value-Stream- / Service-Teams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" y="2590800"/>
            <a:ext cx="337566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B5563"/>
                </a:solidFill>
                <a:latin typeface="Calibri"/>
              </a:rPr>
              <a:t>Liefern das End-to-End-Ergebnis. Dauerhaft, cross-funktional aus mehreren Homebases.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5320" y="3695700"/>
            <a:ext cx="3360419" cy="4572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1040" y="3695700"/>
            <a:ext cx="32994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80" b="1" i="0">
                <a:solidFill>
                  <a:srgbClr val="1F2937"/>
                </a:solidFill>
                <a:latin typeface="Calibri"/>
              </a:rPr>
              <a:t>Rolle: Service / Product Owner  +  Delivery Lead („Kapitän“)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8160" y="1676400"/>
            <a:ext cx="3604260" cy="259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28160" y="1676400"/>
            <a:ext cx="3604260" cy="8382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50080" y="1828800"/>
            <a:ext cx="33756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6B4FA0"/>
                </a:solidFill>
                <a:latin typeface="Calibri"/>
              </a:rPr>
              <a:t>HORIZONTAL · HANDWERK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0080" y="2057400"/>
            <a:ext cx="33756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Chapters / Communities of Practice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0080" y="2590800"/>
            <a:ext cx="337566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B5563"/>
                </a:solidFill>
                <a:latin typeface="Calibri"/>
              </a:rPr>
              <a:t>Bauen Standards, Skills, Wiederverwendung. Gleiche Disziplin über alle Teams.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50080" y="3695700"/>
            <a:ext cx="3360419" cy="4572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95800" y="3695700"/>
            <a:ext cx="32994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80" b="1" i="0">
                <a:solidFill>
                  <a:srgbClr val="1F2937"/>
                </a:solidFill>
                <a:latin typeface="Calibri"/>
              </a:rPr>
              <a:t>Rolle: Chapter Lead / CoP Lead   (z. B. Ops, Automation, Security)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2920" y="1676400"/>
            <a:ext cx="3604260" cy="259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2920" y="1676400"/>
            <a:ext cx="3604260" cy="8382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4839" y="1828800"/>
            <a:ext cx="33756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GOVERNANCE · ENTSCHEIDUNG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4839" y="2057400"/>
            <a:ext cx="33756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Boards / Gremien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4839" y="2590800"/>
            <a:ext cx="337566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B5563"/>
                </a:solidFill>
                <a:latin typeface="Calibri"/>
              </a:rPr>
              <a:t>Treffen übergreifende Entscheidungen &amp; Priorisierung. Entscheider aus allen Bereichen.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44839" y="3695700"/>
            <a:ext cx="3360419" cy="4572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0560" y="3695700"/>
            <a:ext cx="32994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80" b="1" i="0">
                <a:solidFill>
                  <a:srgbClr val="1F2937"/>
                </a:solidFill>
                <a:latin typeface="Calibri"/>
              </a:rPr>
              <a:t>Rolle: Board-Chair   (Portfolio, CAB, ARB, SIAM-Board)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44577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Schlüsselrollen, die das Modell tragen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3400" y="48006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3400" y="4800600"/>
            <a:ext cx="60960" cy="6858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5320" y="48463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Service Owner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320" y="51054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accountable für Ergebnis, Kosten, SLA – über alle Einheiten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8160" y="48006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28160" y="4800600"/>
            <a:ext cx="60960" cy="6858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50080" y="48463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Delivery Lead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50080" y="51054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führt die Mannschaft durch die Lieferung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2920" y="48006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22920" y="4800600"/>
            <a:ext cx="60960" cy="6858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44839" y="48463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Homebase / People Lead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44839" y="51054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Menschen, Skill, Kapazität – sagt Kapazität zu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3400" y="56007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33400" y="5600700"/>
            <a:ext cx="60960" cy="68580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320" y="56464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Chapter Lead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320" y="59055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Standards &amp; Handwerk über Teams hinweg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28160" y="56007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28160" y="5600700"/>
            <a:ext cx="60960" cy="68580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50080" y="56464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SIAM Lead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50080" y="59055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Betrieb &amp; Provider als ein Netzwerk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22920" y="56007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22920" y="5600700"/>
            <a:ext cx="60960" cy="6858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44839" y="56464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Capacity Manager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44839" y="59055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vermittelt Angebot &amp; Nachfrage – Schiedsrichter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SPIELREGELN DER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Homebase entscheidet über Menschen – Mannschaft über Ergebnis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562100"/>
            <a:ext cx="541020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1562100"/>
            <a:ext cx="68580" cy="11430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040" y="1630680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2E5A8F"/>
                </a:solidFill>
                <a:latin typeface="Calibri"/>
              </a:rPr>
              <a:t>HOMEBASE ENTSCHEIDET ÜBER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040" y="1874520"/>
            <a:ext cx="510540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Einstellung / Entwicklung / Beförderung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Skill-Profile &amp; fachliche Standards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Verfügbare Kapazität (Zusage an Mannschaften)</a:t>
            </a:r>
          </a:p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•  Personalthemen, Feedback, Disziplinarik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8400" y="1562100"/>
            <a:ext cx="5410200" cy="11430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8400" y="1562100"/>
            <a:ext cx="68580" cy="1143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6040" y="1630680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B4531A"/>
                </a:solidFill>
                <a:latin typeface="Calibri"/>
              </a:rPr>
              <a:t>MANNSCHAFT ENTSCHEIDET ÜBER 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6040" y="1874520"/>
            <a:ext cx="510540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Was priorisiert und geliefert wird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Wie die tägliche Arbeit im Team abläuft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Service-/Produkt-Ergebnis, SLA, Roadmap</a:t>
            </a:r>
          </a:p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•  Fachliche Zuweisung im Sprint/Betrieb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85750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RACI – wer verantwortet was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2880360"/>
            <a:ext cx="198120" cy="19812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895600"/>
            <a:ext cx="198120" cy="167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86512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Responsible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2880360"/>
            <a:ext cx="198120" cy="19812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895600"/>
            <a:ext cx="198120" cy="167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6512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Accountable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80360"/>
            <a:ext cx="198120" cy="19812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895600"/>
            <a:ext cx="198120" cy="167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86512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Consulted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2880360"/>
            <a:ext cx="198120" cy="19812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895600"/>
            <a:ext cx="198120" cy="167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286512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Informed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3200400"/>
            <a:ext cx="35052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200400"/>
            <a:ext cx="3429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Entscheidung / Aktivität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3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Homebase Lead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0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Service Owner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7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7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Delivery Lead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4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4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Chapter Lead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1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1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SIAM / Capacity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8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8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CIO / Portfolio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3400" y="3550920"/>
            <a:ext cx="35052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355092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Einstellung &amp; Personalentwicklung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3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55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5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0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82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2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7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09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9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4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36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6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1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63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3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38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090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90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3400" y="3909060"/>
            <a:ext cx="35052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390906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Kapazitäts-Zusage an Mannschaften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3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55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5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30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82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2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7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09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9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84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836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6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1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963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63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38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1090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90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33400" y="4267200"/>
            <a:ext cx="35052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4360" y="426720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Service-/Produkt-Priorisierung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03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55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5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30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82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2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57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709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09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84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36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36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11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63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63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38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1090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90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33400" y="4625340"/>
            <a:ext cx="35052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94360" y="462534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Betrieb &amp; SLA (End-to-End)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03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55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55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30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2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82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57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709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09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84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36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36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11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3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63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38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1090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90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33400" y="4983480"/>
            <a:ext cx="35052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94360" y="498348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Provider-/Dienstleister-Steuerung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03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55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5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30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582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82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57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709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09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84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836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36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11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963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63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038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1090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90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33400" y="5341620"/>
            <a:ext cx="35052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94360" y="534162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Major Incident (P1/P2)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03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455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55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30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82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82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57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709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09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84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836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36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11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963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63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038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1090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90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533400" y="5699760"/>
            <a:ext cx="35052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94360" y="569976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Ressourcen-Konflikt zw. Teams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403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455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5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30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582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82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57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709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709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84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836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36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911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963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963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038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1090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090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533400" y="3200400"/>
            <a:ext cx="11125200" cy="285750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533400" y="64008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F07F12"/>
                </a:solidFill>
                <a:latin typeface="Calibri"/>
              </a:rPr>
              <a:t>Der Kern: </a:t>
            </a:r>
            <a:r>
              <a:rPr sz="1000" b="0" i="0">
                <a:solidFill>
                  <a:srgbClr val="4B5563"/>
                </a:solidFill>
                <a:latin typeface="Calibri"/>
              </a:rPr>
              <a:t>Kapazität = Homebase accountable, Priorität = Service Owner accountable. Genau ein A pro Zeile.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BETRIEBSRHYTHMUS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Ritual-Kalender – vier Ebenen, ein Takt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1600200"/>
            <a:ext cx="2743200" cy="32004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6002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QUARTAL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930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IPS Steering / Portfolio-Board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7838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Priorisierung, Budget &amp; Kapazität → Roadmap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9748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Architecture Review 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5656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Standards &amp; Design-Reviews → ADR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7566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Quarterly Business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34739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Wertbeitrag &amp; OKR je Wertstrom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77946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77946" y="1600200"/>
            <a:ext cx="2743200" cy="32004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77946" y="16002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MONAT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4625" y="201930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Demand &amp; Sponsoring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4625" y="227838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Bewertung neuer Anforderungen → Backlog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4625" y="269748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Service Management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4625" y="295656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SLA/OLA, Provider-Steuerung → Maßnahmen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22492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22492" y="1600200"/>
            <a:ext cx="2743200" cy="32004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2492" y="16002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WOCHE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9172" y="201930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CAB – Change Advisory 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9172" y="227838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Risikobewertung &amp; Freigabe von Changes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9172" y="269748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Value-Stream Planning (2-wöch.)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9172" y="295656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Increment-Planung → Team-Backlog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9172" y="337566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Provider Ops Jour Fixe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9172" y="3634739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Operative Provider-Steuerung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67038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67038" y="1600200"/>
            <a:ext cx="2743200" cy="3200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67038" y="16002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TÄGLICH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73718" y="201930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Ops Sync / Service Desk Standup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3718" y="227838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Lage, Incidents, Eskalationen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3718" y="269748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Squad Daily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73718" y="295656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Fortschritt &amp; Hindernisse der Mannschaft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73718" y="337566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Major Incident Mgmt (bei Bedarf)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73718" y="3634739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P1/P2 → Wiederherstellung + Post-Mortem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400" y="49911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Einführung in vier Schritten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3400" y="53340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3400" y="5334000"/>
            <a:ext cx="60960" cy="9144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0560" y="539496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000" b="1" i="0">
                <a:solidFill>
                  <a:srgbClr val="F07F12"/>
                </a:solidFill>
                <a:latin typeface="Calibr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6800" y="54102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Klammer setzen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6800" y="566928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5–8 Kern-Services definieren, Service Owner benennen, SIAM verankern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377946" y="53340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77946" y="5334000"/>
            <a:ext cx="60960" cy="9144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15105" y="539496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000" b="1" i="0">
                <a:solidFill>
                  <a:srgbClr val="F07F12"/>
                </a:solidFill>
                <a:latin typeface="Calibri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11346" y="54102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Prozesse vereinheitlichen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11346" y="566928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Ein ITSM-Modell auf ServiceNow, OLAs/UCs mit Providern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22492" y="53340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22492" y="5334000"/>
            <a:ext cx="60960" cy="9144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59651" y="539496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000" b="1" i="0">
                <a:solidFill>
                  <a:srgbClr val="F07F12"/>
                </a:solidFill>
                <a:latin typeface="Calibri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55892" y="54102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Rhythmus starten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55892" y="566928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Wenige Rituale einführen – jedes mit einem Output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038" y="53340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067038" y="5334000"/>
            <a:ext cx="60960" cy="9144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04198" y="539496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000" b="1" i="0">
                <a:solidFill>
                  <a:srgbClr val="F07F12"/>
                </a:solidFill>
                <a:latin typeface="Calibri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0438" y="54102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Matrix leben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00438" y="566928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1–2 Pilot-Streams, %-Kapazitätszusagen, Capacity-Board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