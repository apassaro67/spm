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24000"/>
            <a:ext cx="10363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F07F12"/>
                </a:solidFill>
                <a:latin typeface="Calibri"/>
              </a:rPr>
              <a:t>ZIELBILD ABLAUFORGANISATION · IT / 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81200"/>
            <a:ext cx="10515600" cy="1524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Die Einheit ist die Homebase.</a:t>
            </a:r>
          </a:p>
          <a:p>
            <a:pPr algn="l"/>
            <a:r>
              <a:rPr sz="4000" b="1" i="0">
                <a:solidFill>
                  <a:srgbClr val="F07F12"/>
                </a:solidFill>
                <a:latin typeface="Calibri"/>
              </a:rPr>
              <a:t>Gespielt wird in Mannschaften.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7CDD4"/>
                </a:solidFill>
                <a:latin typeface="Calibri"/>
              </a:rPr>
              <a:t>Betriebs- und Zusammenarbeitsmodell für eine IT-Organisation mit verteiltem Operations – fachliche Heimat erhalten, Wertschöpfung End-to-End über Einheitsgrenzen organisieren.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876800"/>
            <a:ext cx="68580" cy="1219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8FB4DB"/>
                </a:solidFill>
                <a:latin typeface="Calibri"/>
              </a:rPr>
              <a:t>HOMEBASE – LINIENORGANISATION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Fachliche Heimat, Skill-Aufbau, Kapazität, Personalentwicklung. Die Org-Einheiten aus dem Chart.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8400" y="4876800"/>
            <a:ext cx="68580" cy="1219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2B277"/>
                </a:solidFill>
                <a:latin typeface="Calibri"/>
              </a:rPr>
              <a:t>MANNSCHAFT – WERTSTROM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End-to-End-Verantwortung für Services &amp; Produkte, besetzt aus mehreren Homebases. Hier wird geliefert.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Operations nicht zentralisieren, sondern integrieren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Betrieb liegt heute an vier sinnvollen Stellen – nah an der Technologie. Die Klammer entsteht durch eine SIAM-Integrationsschicht statt struktureller Zusammenlegung.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88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88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Platform &amp; Infra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88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Base ITSM Ops, Service Desk, Datacenter, Netzwerk, Compute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804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804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Application / Business 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804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Solution Operations, SAP AMS, Release &amp;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72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172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Local Service Desk, Device- &amp; Server-Support vor 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588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588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636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636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Security 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636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SOC, Threat Detection, Incident 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" y="3505200"/>
            <a:ext cx="11125200" cy="1028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400" y="3505200"/>
            <a:ext cx="11125200" cy="76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1188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B4531A"/>
                </a:solidFill>
                <a:latin typeface="Calibri"/>
              </a:rPr>
              <a:t>DIE KLAMMER – SERVICE-INTEGRATION-LAYER (SIAM)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870960"/>
            <a:ext cx="1082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Service Integrator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orchestriert interne Ops + Dienstleister als ein Liefernetzwerk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End-to-End Service Owner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je Service verantwortlich über alle Einheiten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Gemeinsame ITSM-Prozesse &amp; ServiceNow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ein Incident/Problem/Change/Request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Operations Command Layer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Major-Incident-Mgmt + Ops-Board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4724400"/>
            <a:ext cx="11125200" cy="6858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81584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07F12"/>
                </a:solidFill>
                <a:latin typeface="Calibri"/>
              </a:rPr>
              <a:t>Kernprinzip: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Betrieb bleibt fachlich in den Einheiten (Homebase). Die SIAM-Schicht macht aus vier getrennten Betrieben </a:t>
            </a:r>
            <a:r>
              <a:rPr sz="1200" b="1" i="1">
                <a:solidFill>
                  <a:srgbClr val="1F2937"/>
                </a:solidFill>
                <a:latin typeface="Calibri"/>
              </a:rPr>
              <a:t>ein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 Betriebssystem – Dienstleister inklusive, gekoppelt über OLAs/UCs an dieselbe Prozess- und SLA-Logik.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MANNSCHAFTEN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Value-Stream-Schnitte – konkret auf Ihre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Sieben End-to-End-Services als dauerhafte Mannschaften. Jede besetzt aus mehreren Homebases; je ein Service Owner ist accountable.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05000"/>
            <a:ext cx="11125200" cy="3352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Value Stream (Mannschaft)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95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Service-Owner-Heimat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4760" y="1905000"/>
            <a:ext cx="4038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Beitragende Homebases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22402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3400" y="2240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" y="2240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Modern Workplace &amp;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9560" y="2240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Workplace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4760" y="2240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IT Ops · Cyber (Endpoint) · Business Sol. (Collab-Apps)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26974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400" y="2697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" y="2697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2697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Network &amp; Security Infra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697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Network Support · Cyber (Network Sec.)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31546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31546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" y="31546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Compute, Cloud &amp; Datacenter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9560" y="31546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Compute Platform Mgmt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4760" y="31546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Server Support · SAP Basis · Cyber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3400" y="36118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36118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" y="36118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Identity &amp; Access (IAM)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9560" y="36118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Authentication / IDM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4760" y="36118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Cyber (Identity Sec.) · Business Solutions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40690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3400" y="40690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" y="40690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SAP &amp; Business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40690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Solution Operations (AMS)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4760" y="40690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Technical Sol. (SAP Basis, Release &amp; Deployment)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" y="45262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3400" y="4526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" y="4526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4526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Reporting &amp; Analytics &amp; 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4760" y="4526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EA &amp; Innovation · Master Data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49834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83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" y="4983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Digital Service Desk / ITSM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9560" y="4983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Base ITSM Ops / Service Desk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4760" y="4983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Service Desk · alle L2/L3 · SIAM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3400" y="1905000"/>
            <a:ext cx="11125200" cy="353568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400" y="553212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B4FA0"/>
                </a:solidFill>
                <a:latin typeface="Calibri"/>
              </a:rPr>
              <a:t>Quer dazu: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Cyber-Security-Services (SOC) werden von allen Streams konsumiert; Owner bleibt Cyber Defense. Optional OT / Shopfloor-IT als eigener Stream, falls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Drei Typen virtueller Teams – und wer sie führt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76400"/>
            <a:ext cx="3604260" cy="8382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07F12"/>
                </a:solidFill>
                <a:latin typeface="Calibri"/>
              </a:rPr>
              <a:t>VERTIKAL · WERTSTROM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Value-Stream- / Service-Teams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Liefern das End-to-End-Ergebnis. Dauerhaft, cross-funktional aus mehreren Homebases.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2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04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Service / Product Owner  +  Delivery Lead („Kapitän“)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8160" y="1676400"/>
            <a:ext cx="3604260" cy="8382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6B4FA0"/>
                </a:solidFill>
                <a:latin typeface="Calibri"/>
              </a:rPr>
              <a:t>HORIZONTAL · HANDWERK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Chapters / Communities of Practice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08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Bauen Standards, Skills, Wiederverwendung. Gleiche Disziplin über alle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08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580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Chapter Lead / CoP Lead   (z. B. Ops, Automation, Security)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292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2920" y="1676400"/>
            <a:ext cx="3604260" cy="8382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4839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GOVERNANCE · ENTSCHEIDUNG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39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Boards / Gremien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4839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Treffen übergreifende Entscheidungen &amp; Priorisierung. Entscheider aus allen Bereichen.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44839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56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Board-Chair   (Portfolio, CAB, ARB, SIAM-Board)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4457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Schlüsselrollen, die das Modell tragen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40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32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accountable für Ergebnis, Kosten, SLA – über alle Einheiten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816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816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8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Delivery Lead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008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Mannschaft durch die Lieferung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292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2920" y="48006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4839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Homebase / People Lead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4839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Menschen, Skill, Kapazität – sagt Kapazität zu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32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Chapter Lead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Standards &amp; Handwerk über Teams hinweg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816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2816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008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Lead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008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Betrieb &amp; Provider als ein Netzwerk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2292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920" y="56007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4839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Capacity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4839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vermittelt Angebot &amp; Nachfrage – Schiedsrichter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SPIELREGELN DER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Homebase entscheidet über Menschen – Mannschaft über Ergebnis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562100"/>
            <a:ext cx="68580" cy="11430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5A8F"/>
                </a:solidFill>
                <a:latin typeface="Calibri"/>
              </a:rPr>
              <a:t>HOMEBASE ENTSCHEIDET ÜBER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Einstellung / Entwicklung / Beförderung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Skill-Profile &amp; fachliche Standards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Verfügbare Kapazität (Zusage an Mannschaften)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Personalthemen, Feedback, Disziplinarik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8400" y="1562100"/>
            <a:ext cx="68580" cy="1143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6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4531A"/>
                </a:solidFill>
                <a:latin typeface="Calibri"/>
              </a:rPr>
              <a:t>MANNSCHAFT ENTSCHEIDET ÜBER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Was priorisiert und geliefert wird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Wie die tägliche Arbeit im Team abläuft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Service-/Produkt-Ergebnis, SLA, Roadmap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Fachliche Zuweisung im Sprint/Betrieb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85750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RACI – wer verantwortet was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Responsible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Accountable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Consulted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Informed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3200400"/>
            <a:ext cx="35052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200400"/>
            <a:ext cx="3429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Entscheidung / Aktivität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Homebase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Service Owner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Delivery Lead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Chapter Lead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SIAM / Capacity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CIO / Portfolio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355092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35509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Einstellung &amp; Personalentwicklung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3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5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82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7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09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9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4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6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1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63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3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8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0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0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390906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9090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Kapazitäts-Zusage an Mannschaften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3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5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5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0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2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7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09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9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84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36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1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3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8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90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0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3400" y="426720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426720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Service-/Produkt-Priorisierung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03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55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5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82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2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7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09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4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36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1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3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3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38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90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0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33400" y="462534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462534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Betrieb &amp; SLA (End-to-End)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3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55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5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0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2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2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7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09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9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84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6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6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1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3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63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38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90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90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3400" y="498348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94360" y="498348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Provider-/Dienstleister-Steuerung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03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55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5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0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82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2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57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09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9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84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36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6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1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63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38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90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90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3400" y="534162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94360" y="53416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Major Incident (P1/P2)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03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55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5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0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82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2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57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09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9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84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36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6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11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63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63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38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1090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0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69976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94360" y="56997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Ressourcen-Konflikt zw. Teams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3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55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5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0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582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82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57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709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09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84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836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36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1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63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63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38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090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90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33400" y="3200400"/>
            <a:ext cx="11125200" cy="285750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07F12"/>
                </a:solidFill>
                <a:latin typeface="Calibri"/>
              </a:rPr>
              <a:t>Der Kern: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Kapazität = Homebase accountable, Priorität = Service Owner accountable. Genau ein A pro Zeile.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BETRIEBSRHYTHMUS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Ritual-Kalender – vier Ebenen, ein Takt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IPS Steering / Portfolio-Board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Priorisierung, Budget &amp; Kapazität →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Architecture Review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Standards &amp; Design-Reviews → ADR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Quarterly Business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Wertbeitrag &amp; OKR je Wertstrom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7946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4625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Demand &amp; Sponsoring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4625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Bewertung neuer Anforderungen →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4625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Service Management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4625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SLA/OLA, Provider-Steuerung → Maßnahmen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2492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9172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CAB – Change Advisory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9172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Risikobewertung &amp; Freigabe von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172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Value-Stream Planning (2-wöch.)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172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Increment-Planung → Team-Backlog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9172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Provider Ops Jour Fixe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9172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Operative Provider-Steuerung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67038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TÄGLICH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3718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Ops Sync / Service Desk Standup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3718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Lage, Incidents, Eskalationen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3718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Squad Daily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3718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Fortschritt &amp; Hindernisse der Mannschaft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3718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Major Incident Mgmt (bei Bedarf)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3718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P1/P2 → Wiederherstellung + Post-Mortem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9911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Einführung in vier Schritten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0560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6800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Klammer setzen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6800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5–8 Kern-Services definieren, Service Owner benennen, SIAM verankern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77946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77946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15105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1346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Prozesse vereinheitlichen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1346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Ein ITSM-Modell auf ServiceNow, OLAs/UCs mit Providern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22492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22492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9651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5892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Rhythmus starten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55892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Wenige Rituale einführen – jedes mit einem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038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67038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04198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0438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Matrix leben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0438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1–2 Pilot-Streams, %-Kapazitätszusagen, Capacity-Board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 → OLA → UC – eine Zusage, back-to-back zerlegt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Der Service Owner gibt dem Business eine SLA. Diese wird intern in OLAs (Homebases) und extern in Underpinning Contracts (Dienstleister) zerlegt – ohne Lücke.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812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20650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→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23317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Zugesagte Verfügbarkeit &amp; Reaktionszeit je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400" y="28194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OLA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29032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↔ Homebases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" y="31699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Interne Betriebsvereinbarungen je beitragende Einheit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36576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" y="37414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→ Dienstleister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" y="40081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Underpinning Contracts – Ziele strenger als OLA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4533900"/>
            <a:ext cx="5334000" cy="6096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20" y="4533900"/>
            <a:ext cx="5105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7F12"/>
                </a:solidFill>
                <a:latin typeface="Calibri"/>
              </a:rPr>
              <a:t>Goldene Regel: 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UC-Ziel ≤ OLA-Ziel ≤ SLA-Ziel.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 Jede Provider-Zusage ist strenger als die interne, jede interne strenger als die Business-Zusage – so entstehen keine Deckungslücken.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19050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Verfügbarkeitsklassen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22098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8400" y="2209800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Klasse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22098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Verfügb.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5800" y="2209800"/>
            <a:ext cx="1219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220980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Beispiele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8400" y="248412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248412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Platinum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1400" y="248412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5800" y="248412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248412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IAM, Netzwerk, Compute, SAP-Prod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8400" y="2819400"/>
            <a:ext cx="5410200" cy="3352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4120" y="281940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Gold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1400" y="281940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99,5 %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81940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 + Rufb.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281940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Workplace, Data, Service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8400" y="315468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4120" y="315468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Silver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91400" y="315468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99,0 %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5800" y="315468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0" y="315468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nachrangige Services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8400" y="2209800"/>
            <a:ext cx="5410200" cy="12801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8400" y="36195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Prioritäten – Reaktion / Wiederherstellung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8400" y="39243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48400" y="392430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Priorität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58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Reaktion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22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Wiederherst.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986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94120" y="41986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91C1C"/>
                </a:solidFill>
                <a:latin typeface="Calibri"/>
              </a:rPr>
              <a:t>P1 kritisch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58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15 min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22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4 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8400" y="44653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4120" y="44653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4531A"/>
                </a:solidFill>
                <a:latin typeface="Calibri"/>
              </a:rPr>
              <a:t>P2 hoch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58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30 min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8 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8400" y="47320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4120" y="47320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P3 mittel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058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4 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822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2 AT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8400" y="49987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120" y="49987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P4 niedrig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058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8 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22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5 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8400" y="52654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94120" y="52654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Service Request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058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822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 AT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3924300"/>
            <a:ext cx="5410200" cy="160782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SLA- &amp; OLA-Skizze je Value 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1600200"/>
            <a:ext cx="11125200" cy="4191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1600200"/>
            <a:ext cx="1844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Value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6500" y="1600200"/>
            <a:ext cx="1082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Ziel-SLA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10058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1600200"/>
            <a:ext cx="853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0700" y="1600200"/>
            <a:ext cx="3139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OLA-Bausteine (intern)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1600200"/>
            <a:ext cx="28346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Underpinning Contracts (Provider)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01930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3400" y="20193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9120" y="20193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20193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120" y="20193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 +Rufb.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3920" y="20193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4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8320" y="20193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Client Platform Ops (WS) · Endpoint-Sec (Cyber) · Collab-Apps (BusSol) · Vor-Ort (Local)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8720" y="20193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Field-/Deskside-Services · MDM-Provider · Print-Services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265938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26593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120" y="26593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4120" y="26593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7120" y="26593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3920" y="26593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8320" y="26593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Network Ops (Infra) · Local Network (Local) · Network-Sec (Cyber)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8720" y="26593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WAN-Carrier · SD-WAN Managed Service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329946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400" y="329946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20" y="329946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Compute, Cloud &amp; DC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4120" y="329946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7120" y="329946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3920" y="329946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8320" y="329946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Platform Ops (Infra) · Server Vor-Ort (Local) · Cloud-Sec (Cyber)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8720" y="329946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Hyperscaler · Colocation-DC · Backup-Provider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" y="393954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400" y="393954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9120" y="39395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Identity &amp;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4120" y="393954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7120" y="393954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3920" y="393954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1 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8320" y="393954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IDM Ops (Infra) · Identity-Security (Cyber)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08720" y="393954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IAM-SaaS (Entra/Okta) · PKI-Provider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3400" y="457962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3400" y="457962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9120" y="45796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SAP &amp; Business Apps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4120" y="457962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7120" y="457962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6×14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93920" y="457962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08320" y="457962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AMS (BusSol) · SAP Basis (AppTech) · Release &amp; Deploy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08720" y="457962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SAP-AMS-Dienstleister · Hosting (RISE/Hyperscaler)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" y="521970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3400" y="52197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9120" y="52197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84120" y="52197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27120" y="52197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3920" y="52197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8 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08320" y="52197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BI Ops (BusSol) · Data Platform (EA/Infra) · MDM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08720" y="52197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Cloud-Analytics-Provider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585978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400" y="58597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9120" y="58597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Service Desk / ITSM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4120" y="58597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27120" y="58597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 (SD)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93920" y="58597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Disp. &lt;15m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08320" y="58597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Base ITSM Ops · Local Service Desk · ServiceNow-Plattform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08720" y="58597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Service-Desk-Dienstleister (1st Level) · ServiceNow (SaaS)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3400" y="1600200"/>
            <a:ext cx="11125200" cy="48996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6B4FA0"/>
                </a:solidFill>
                <a:latin typeface="Calibri"/>
              </a:rPr>
              <a:t>Quer: </a:t>
            </a:r>
            <a:r>
              <a:rPr sz="950" b="0" i="0">
                <a:solidFill>
                  <a:srgbClr val="4B5563"/>
                </a:solidFill>
                <a:latin typeface="Calibri"/>
              </a:rPr>
              <a:t>SOC (Cyber Defense) – 24×7-Monitoring, SecInc-Reaktion 30 min, UC mit MDR-Provider; als Sicherheits-OLA in jeden Stream eingebunden.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STEUERUNG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Kapazitäts-Allokationsmatrix – Homebase × Mannschaft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Wie viel Kapazität sagt jede Homebase welcher Mannschaft zu? Editierbares Steuerungs-Template fürs Capacity-Board (Excel beiliegend). Beispielwerte in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" y="1981200"/>
            <a:ext cx="243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M.Work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Compute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IAM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Svc Desk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Chapter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Run&amp;Line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400" y="247650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3400" y="24765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840" y="24765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Workplace Solutions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381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86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99199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797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602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3400" y="288798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3400" y="28879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840" y="28879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Infrastructure &amp; Platforms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30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79733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60266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408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3400" y="329946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3400" y="32994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840" y="32994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86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99199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79733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602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3400" y="371094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33400" y="371094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840" y="371094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Business Solutions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38133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8666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408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3400" y="412242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33400" y="412242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4840" y="412242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Application Technology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38133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18666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99199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408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33400" y="453390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33400" y="45339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24840" y="45339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Defense/SecOps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79733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060266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solidFill>
            <a:srgbClr val="F3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33400" y="494538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33400" y="49453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24840" y="49453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GRC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5381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4186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1797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0602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9408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35686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33400" y="53568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24840" y="53568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EA &amp; Innovation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5381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418666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299199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797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89408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33400" y="1981200"/>
            <a:ext cx="11049000" cy="378714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33400" y="58293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Angebot vs. Nachfrage (FTE) – aus % × FTE berechnet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334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38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19.8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22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(-2.2)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21259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1564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Network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1564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71856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74904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Compute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74904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9.6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(-0.4)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531114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34162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IAM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34162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9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690372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3420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SAP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93420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18.8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18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(+0.8)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84963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5267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Data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5267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9.1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(-0.9)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888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1193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Service Desk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1193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STATUS QUO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Heute koordiniert jeder Service Owner seinen Support selbst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Beispiel BSS: ein Service = Applikation + DXC (AMS) + TSS-Services (Windows Server) + Service Desk. Alle Koordinationslinien laufen beim Service Owner zusammen.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1981200"/>
            <a:ext cx="1981200" cy="6477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981200"/>
            <a:ext cx="19812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 (BSS)</a:t>
            </a:r>
          </a:p>
          <a:p>
            <a:pPr algn="ctr"/>
            <a:r>
              <a:rPr sz="850" b="0" i="0">
                <a:solidFill>
                  <a:srgbClr val="FDE6CC"/>
                </a:solidFill>
                <a:latin typeface="Calibri"/>
              </a:rPr>
              <a:t>koordiniert ALLES selbst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990600" y="2628900"/>
            <a:ext cx="16002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590800" y="2628900"/>
            <a:ext cx="2667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90800" y="2628900"/>
            <a:ext cx="21336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990600" y="2628900"/>
            <a:ext cx="16002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90800" y="2628900"/>
            <a:ext cx="2667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90800" y="2628900"/>
            <a:ext cx="21336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86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Business-Applikation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(BSS)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55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55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AMS · DXC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SAP L1–L3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24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24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weitere AMS-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Dienstleister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TSS · Windows Server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Infra-Operations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55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55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Zentraler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Service Desk (L1)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24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624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47625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ctr"/>
            <a:r>
              <a:rPr sz="850" b="0" i="1">
                <a:solidFill>
                  <a:srgbClr val="B91C1C"/>
                </a:solidFill>
                <a:latin typeface="Calibri"/>
              </a:rPr>
              <a:t>Jede Linie = manuelle, individuelle Koordination — keine Klammer, kein Standard.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8800" y="1905000"/>
            <a:ext cx="60198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Probleme, die daraus entstehen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38800" y="228600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38800" y="228600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5480" y="232410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P1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Rollenüberladung Service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5480" y="259080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Service fachlich verantworten UND alle Service Levels koordinieren = zwei Jobs.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38800" y="299466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38800" y="299466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480" y="303276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P2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Keine Klammerfunktion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45480" y="329946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Niemand ist übergeordnet für alle Supportaktivitäten zuständig.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38800" y="370331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38800" y="370331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5480" y="374141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P3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Fragmentierte Provider-Steuerung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45480" y="400811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Jeder SO steuert DXC &amp; Co. einzeln — keine Skaleneffekte, uneinheitliche SLAs.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38800" y="441197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38800" y="441197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5480" y="445007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P4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 End-to-End-SLA über die Kette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45480" y="471677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App (DXC) + Infra (TSS) + Desk je eigene Zusage — niemand verantwortet das Ganze.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38800" y="512063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38800" y="512063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45480" y="515873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P5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Ungeregelte Schnittstellen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5480" y="542543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An Übergaben BSS↔TSS↔AMS↔SD versanden Tickets &amp; Eskalationen.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38800" y="582929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38800" y="582929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45480" y="586739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P6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Personen- statt Prozessabhängigkeit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45480" y="613409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„SO kennt Service am besten“ → Key-Person-Risiko, keine Skalierung, keine Transparenz.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  <a:latin typeface="Calibri"/>
              </a:rPr>
              <a:t>Kernbefund: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Die IPS hat die richtigen Bausteine, aber keinen Dirigenten — Koordination ist Privatsache des Service Owners. Genau hier fordert BSS die „dedizierte Ressource“.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ZIELMODELL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Eine Klammer trennt „WAS“ vom „WIE“ und bündelt die Koordination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Der Service Owner bleibt fürs Ergebnis (WAS) accountable. Die operative Koordination über alle Provider und internen Einheiten (WIE) übernimmt ein Service Delivery Manager.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05000"/>
            <a:ext cx="3200400" cy="6096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905000"/>
            <a:ext cx="320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</a:t>
            </a:r>
          </a:p>
          <a:p>
            <a:pPr algn="ctr"/>
            <a:r>
              <a:rPr sz="830" b="0" i="0">
                <a:solidFill>
                  <a:srgbClr val="FDE6CC"/>
                </a:solidFill>
                <a:latin typeface="Calibri"/>
              </a:rPr>
              <a:t>Ergebnis · WAS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3600" y="2514600"/>
            <a:ext cx="0" cy="228600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3400" y="2743200"/>
            <a:ext cx="3200400" cy="647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5875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743200"/>
            <a:ext cx="32004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7A3D05"/>
                </a:solidFill>
                <a:latin typeface="Calibri"/>
              </a:rPr>
              <a:t>Service Delivery Manager</a:t>
            </a:r>
          </a:p>
          <a:p>
            <a:pPr algn="ctr"/>
            <a:r>
              <a:rPr sz="830" b="0" i="0">
                <a:solidFill>
                  <a:srgbClr val="B4531A"/>
                </a:solidFill>
                <a:latin typeface="Calibri"/>
              </a:rPr>
              <a:t>Koordination · WIE   (neu)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46888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Ziele, SLA →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8382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4859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133600" y="3390900"/>
            <a:ext cx="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336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336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34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AMS · DXC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11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1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weitere AMS /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Ops-Provider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TSS · Infra-Ops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765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765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Service Desk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(L1)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242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242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905000"/>
            <a:ext cx="5257800" cy="1714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100" y="19812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C4A35"/>
                </a:solidFill>
                <a:latin typeface="Calibri"/>
              </a:rPr>
              <a:t>KLAMMER: Service Integration &amp; Operations (SIAM)</a:t>
            </a:r>
          </a:p>
          <a:p>
            <a:pPr algn="l">
              <a:lnSpc>
                <a:spcPct val="105000"/>
              </a:lnSpc>
            </a:pPr>
            <a:r>
              <a:rPr sz="850" b="0" i="1">
                <a:solidFill>
                  <a:srgbClr val="2E7D32"/>
                </a:solidFill>
                <a:latin typeface="Calibri"/>
              </a:rPr>
              <a:t>verankert im IPS Management Office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151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51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Practice Supplier Mgmt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678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8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Service Level Mgmt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51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Major Incident Mgmt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678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678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Prozess-Owner (Inc/Prob/Change)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733800" y="3048000"/>
            <a:ext cx="2667000" cy="1524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810000" y="339852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Standards · Verträge · Prozesse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5720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libri"/>
              </a:rPr>
              <a:t>Zusätzlich benötigt — zwei neue Rollen, ein neuer 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14900"/>
            <a:ext cx="3604260" cy="685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532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Service Delivery Manager (neu)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32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Die „dedizierte Ressource“, die BSS fordert: koordiniert alle AMS-Provider + interne Support-Einheiten (TSS, Service Desk, RSC) je Service-Cluster.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816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8160" y="4914900"/>
            <a:ext cx="3604260" cy="685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008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SIAM / Service Integration Lead (neu)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5008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Klammer: End-to-End-Prozesse, Provider-Integration, konsolidierte Service- &amp; Kostensicht.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2292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22920" y="4914900"/>
            <a:ext cx="3604260" cy="685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44839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Verortung: IPS Management Office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4839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Neutral über BSS/TSS/Cyber; Andockpunkte (Governance, ITSM, Practice Supplier Mgmt, ServiceNow) sind dort schon vorhanden.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362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Fazit: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Keine neue Säule — eine Klammer. SIAM im IPS MO mit dem SDM als operativem Koordinator entlastet die Service Owner, bündelt die Provider-Steuerung und schließt die Schnittstellen.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NEUE ROLLE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Service Delivery Manager (SDM) – Rollenprofil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485900"/>
            <a:ext cx="11125200" cy="647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485900"/>
            <a:ext cx="76200" cy="6477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24000"/>
            <a:ext cx="108204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4531A"/>
                </a:solidFill>
                <a:latin typeface="Calibri"/>
              </a:rPr>
              <a:t>Mission: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Sichert den durchgängigen, wirtschaftlichen Betrieb eines Service-Clusters, indem er/sie alle internen Support-Einheiten und externen Dienstleister end-to-end koordiniert – und entlastet den Service Owner vom operativen „Wie“.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22860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3400" y="2286000"/>
            <a:ext cx="5448300" cy="685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60" y="23926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Kernaufgaben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" y="27127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E2E-Koordination aller Support-Ebenen (L1 Desk, L2/L3 intern &amp; Provider, Onsite/RSC)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Tägliche Steuerung der AMS-/Ops-Dienstleister (Tickets, UC/SLA, Eskalation)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Sicherstellung des End-to-End-SLA über die gesamte Kette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Betrieb der Ops-Rituale: Service Operations Review, Provider Jour Fixe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Incident-/Problem-/Change-Koordination über Einheiten hinweg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Konsolidiertes Reporting (Health, SLA, Provider, Kosten) in ServiceNow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22860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300" y="2286000"/>
            <a:ext cx="544830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7460" y="23926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Macht NICHT (Abgrenzung)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460" y="27127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Fachliche Service-Definition, Priorisierung, Business-Wert → Service Owner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Vertragshoheit, kommerzielle Verhandlung, Lieferantenauswahl → Practice Supplier Mgmt / Einkauf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Technische Betriebsausführung → TSS-Ops-Teams / Provider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Disziplinarische Führung der Support-Mitarbeitenden → Linie (Homebase)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3815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400" y="4381500"/>
            <a:ext cx="5448300" cy="685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" y="44881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Mandat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48082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Fachliches Weisungsrecht ggü. beteiligten Einheiten &amp; Providern im Service-Kontext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Eskalationsrecht bei SLA-Gefährdung, Auslöser Major Incident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KPIs: E2E-SLA-Erfüllung · MTTR · Provider-SLA · Erstlösungsquote · Kosten/Service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43815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300" y="4381500"/>
            <a:ext cx="5448300" cy="6858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7460" y="44881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Profil &amp;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7460" y="48082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ITIL 4 / ITSM (Service Integration, Inc/Prob/Change), SIAM-Verständnis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Provider-/Vendor-Management, Vertrags- &amp; SLA-Kompetenz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Erfahrung mit AMS (z. B. SAP/DXC) und Infrastruktur-Betrieb; ServiceNow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Laterale Führung &amp; Durchsetzungsstärke ohne disziplinarische Macht; DE/EN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UMSETZUNG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Migration: vom „pro Service Owner“ zur SIAM-Klammer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Wellenweise über ~12 Monate – ohne Big Bang. Der Service Owner behält seine Accountability; die Koordination wandert schrittweise in die Klammer.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232660"/>
            <a:ext cx="11125200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31620" y="2171700"/>
            <a:ext cx="137160" cy="137160"/>
          </a:xfrm>
          <a:prstGeom prst="ellipse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0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Wo.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C3E50"/>
                </a:solidFill>
                <a:latin typeface="Calibri"/>
              </a:rPr>
              <a:t>Setup &amp; Mandat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CIO-Entscheid: Klammer im IPS MO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SIAM-Lead benennen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Zielbild &amp; Guardrails</a:t>
            </a:r>
          </a:p>
        </p:txBody>
      </p:sp>
      <p:sp>
        <p:nvSpPr>
          <p:cNvPr id="17" name="Oval 16"/>
          <p:cNvSpPr/>
          <p:nvPr/>
        </p:nvSpPr>
        <p:spPr>
          <a:xfrm>
            <a:off x="3779520" y="2171700"/>
            <a:ext cx="137160" cy="137160"/>
          </a:xfrm>
          <a:prstGeom prst="ellipse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813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13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1–3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13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27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5A8F"/>
                </a:solidFill>
                <a:latin typeface="Calibri"/>
              </a:rPr>
              <a:t>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727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ITSM-Prozesse auf ServiceNow harmonisieren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Practice Supplier Mgmt stärken (SLA/KPI/Stammdaten)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Service-Kataster: Einheiten &amp; Provider je Service mappen</a:t>
            </a:r>
          </a:p>
        </p:txBody>
      </p:sp>
      <p:sp>
        <p:nvSpPr>
          <p:cNvPr id="23" name="Oval 22"/>
          <p:cNvSpPr/>
          <p:nvPr/>
        </p:nvSpPr>
        <p:spPr>
          <a:xfrm>
            <a:off x="6027420" y="2171700"/>
            <a:ext cx="137160" cy="137160"/>
          </a:xfrm>
          <a:prstGeom prst="ellipse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3–6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07F12"/>
                </a:solidFill>
                <a:latin typeface="Calibri"/>
              </a:rPr>
              <a:t>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1 Pilot-Cluster (z. B. SAP: DXC + TSS + Desk)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SDM besetzen, OLAs/UCs schließen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Service Operations Review starten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E2E-SLA messen · Lessons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8275320" y="2171700"/>
            <a:ext cx="137160" cy="137160"/>
          </a:xfrm>
          <a:prstGeom prst="ellipse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771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71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6–12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771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685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4FA0"/>
                </a:solidFill>
                <a:latin typeface="Calibri"/>
              </a:rPr>
              <a:t>Rollout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85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Cluster wellenweise anbinden, SDM-Team aufbauen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Supplier &amp; Operations Board etablieren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Major-Incident-Prozess zentralisieren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Dashboards produktiv</a:t>
            </a:r>
          </a:p>
        </p:txBody>
      </p:sp>
      <p:sp>
        <p:nvSpPr>
          <p:cNvPr id="35" name="Oval 34"/>
          <p:cNvSpPr/>
          <p:nvPr/>
        </p:nvSpPr>
        <p:spPr>
          <a:xfrm>
            <a:off x="10523220" y="2171700"/>
            <a:ext cx="137160" cy="1371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250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50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4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ab M 12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250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164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Stabilisierung &amp; 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164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Betriebsmodell als Standard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KPI-Steuerung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Kontinuierliche Verbesserung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" y="6019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Zentrale Risiken &amp; Gegenmaßnahmen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340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484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Widerstand der Service Owner (Machtverlust)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klare WAS/WIE-Trennung – SO behält Accountability, wird entlastet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816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960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„SO kennt Service am besten“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SDM arbeitet MIT dem SO, Wissenstransfer, SO bleibt fachlicher Sponsor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292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436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Verträge nicht back-to-back (UC≤OLA≤SLA)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Practice Supplier Mgmt priorisiert UC-Anpassung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SDM-VERORTUNG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Nicht einer, sondern ein Pool — zentral verankert, dezentral eingesetzt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Je Service-Cluster ein SDM (große Cluster ggf. ein Team). Alle SDMs haben dieselbe Heimat im IPS MO und werden fachlich an die Cluster ausgeliehen.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1905000"/>
            <a:ext cx="3657600" cy="426720"/>
          </a:xfrm>
          <a:prstGeom prst="roundRect">
            <a:avLst>
              <a:gd name="adj" fmla="val 8000"/>
            </a:avLst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7200" y="1905000"/>
            <a:ext cx="3657600" cy="4267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IPS Management Office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6000" y="2331720"/>
            <a:ext cx="0" cy="121920"/>
          </a:xfrm>
          <a:prstGeom prst="line">
            <a:avLst/>
          </a:prstGeom>
          <a:ln w="15875">
            <a:solidFill>
              <a:srgbClr val="D1D5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67200" y="2453640"/>
            <a:ext cx="3657600" cy="4267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200" y="2453640"/>
            <a:ext cx="3657600" cy="4267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Service Integration &amp; Operations (SIAM)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2880360"/>
            <a:ext cx="0" cy="121920"/>
          </a:xfrm>
          <a:prstGeom prst="line">
            <a:avLst/>
          </a:prstGeom>
          <a:ln w="15875">
            <a:solidFill>
              <a:srgbClr val="D1D5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67200" y="3002280"/>
            <a:ext cx="3657600" cy="42672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7200" y="3002280"/>
            <a:ext cx="3657600" cy="4267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Head of Service Delivery (führt den SDM-Pool)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600200" y="3429000"/>
            <a:ext cx="4495800" cy="381000"/>
          </a:xfrm>
          <a:prstGeom prst="line">
            <a:avLst/>
          </a:prstGeom>
          <a:ln w="12700">
            <a:solidFill>
              <a:srgbClr val="F07F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848100" y="3429000"/>
            <a:ext cx="2247900" cy="381000"/>
          </a:xfrm>
          <a:prstGeom prst="line">
            <a:avLst/>
          </a:prstGeom>
          <a:ln w="12700">
            <a:solidFill>
              <a:srgbClr val="F07F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0" y="3429000"/>
            <a:ext cx="0" cy="381000"/>
          </a:xfrm>
          <a:prstGeom prst="line">
            <a:avLst/>
          </a:prstGeom>
          <a:ln w="12700">
            <a:solidFill>
              <a:srgbClr val="F07F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6000" y="3429000"/>
            <a:ext cx="2247900" cy="381000"/>
          </a:xfrm>
          <a:prstGeom prst="line">
            <a:avLst/>
          </a:prstGeom>
          <a:ln w="12700">
            <a:solidFill>
              <a:srgbClr val="F07F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3429000"/>
            <a:ext cx="4495800" cy="381000"/>
          </a:xfrm>
          <a:prstGeom prst="line">
            <a:avLst/>
          </a:prstGeom>
          <a:ln w="12700">
            <a:solidFill>
              <a:srgbClr val="F07F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3400" y="38100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2700">
            <a:solidFill>
              <a:srgbClr val="F07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3400" y="38100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80" b="1" i="0">
                <a:solidFill>
                  <a:srgbClr val="7A3D05"/>
                </a:solidFill>
                <a:latin typeface="Calibri"/>
              </a:rPr>
              <a:t>SDM · SAP / BSS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00200" y="4305300"/>
            <a:ext cx="0" cy="190500"/>
          </a:xfrm>
          <a:prstGeom prst="line">
            <a:avLst/>
          </a:prstGeom>
          <a:ln w="11430">
            <a:solidFill>
              <a:srgbClr val="6B4F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3400" y="44958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44958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 i="0">
                <a:solidFill>
                  <a:srgbClr val="2E5A8F"/>
                </a:solidFill>
                <a:latin typeface="Calibri"/>
              </a:rPr>
              <a:t>Cluster:</a:t>
            </a:r>
          </a:p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1F2937"/>
                </a:solidFill>
                <a:latin typeface="Calibri"/>
              </a:rPr>
              <a:t>SAP &amp; Business Apps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81300" y="38100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2700">
            <a:solidFill>
              <a:srgbClr val="F07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81300" y="38100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80" b="1" i="0">
                <a:solidFill>
                  <a:srgbClr val="7A3D05"/>
                </a:solidFill>
                <a:latin typeface="Calibri"/>
              </a:rPr>
              <a:t>SDM · Workplace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8100" y="4305300"/>
            <a:ext cx="0" cy="190500"/>
          </a:xfrm>
          <a:prstGeom prst="line">
            <a:avLst/>
          </a:prstGeom>
          <a:ln w="11430">
            <a:solidFill>
              <a:srgbClr val="6B4F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781300" y="44958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1300" y="44958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 i="0">
                <a:solidFill>
                  <a:srgbClr val="2E5A8F"/>
                </a:solidFill>
                <a:latin typeface="Calibri"/>
              </a:rPr>
              <a:t>Cluster:</a:t>
            </a:r>
          </a:p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0" y="38100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2700">
            <a:solidFill>
              <a:srgbClr val="F07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8100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80" b="1" i="0">
                <a:solidFill>
                  <a:srgbClr val="7A3D05"/>
                </a:solidFill>
                <a:latin typeface="Calibri"/>
              </a:rPr>
              <a:t>SDM · Network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0" y="4305300"/>
            <a:ext cx="0" cy="190500"/>
          </a:xfrm>
          <a:prstGeom prst="line">
            <a:avLst/>
          </a:prstGeom>
          <a:ln w="11430">
            <a:solidFill>
              <a:srgbClr val="6B4F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029200" y="44958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0" y="44958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 i="0">
                <a:solidFill>
                  <a:srgbClr val="2E5A8F"/>
                </a:solidFill>
                <a:latin typeface="Calibri"/>
              </a:rPr>
              <a:t>Cluster:</a:t>
            </a:r>
          </a:p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77100" y="38100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2700">
            <a:solidFill>
              <a:srgbClr val="F07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7100" y="38100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80" b="1" i="0">
                <a:solidFill>
                  <a:srgbClr val="7A3D05"/>
                </a:solidFill>
                <a:latin typeface="Calibri"/>
              </a:rPr>
              <a:t>SDM · Compute/IAM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343900" y="4305300"/>
            <a:ext cx="0" cy="190500"/>
          </a:xfrm>
          <a:prstGeom prst="line">
            <a:avLst/>
          </a:prstGeom>
          <a:ln w="11430">
            <a:solidFill>
              <a:srgbClr val="6B4F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277100" y="44958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7100" y="44958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 i="0">
                <a:solidFill>
                  <a:srgbClr val="2E5A8F"/>
                </a:solidFill>
                <a:latin typeface="Calibri"/>
              </a:rPr>
              <a:t>Cluster:</a:t>
            </a:r>
          </a:p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1F2937"/>
                </a:solidFill>
                <a:latin typeface="Calibri"/>
              </a:rPr>
              <a:t>Compute · Cloud · IAM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5000" y="38100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2700">
            <a:solidFill>
              <a:srgbClr val="F07F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5000" y="38100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80" b="1" i="0">
                <a:solidFill>
                  <a:srgbClr val="7A3D05"/>
                </a:solidFill>
                <a:latin typeface="Calibri"/>
              </a:rPr>
              <a:t>SDM · Service Desk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591800" y="4305300"/>
            <a:ext cx="0" cy="190500"/>
          </a:xfrm>
          <a:prstGeom prst="line">
            <a:avLst/>
          </a:prstGeom>
          <a:ln w="11430">
            <a:solidFill>
              <a:srgbClr val="6B4F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525000" y="4495800"/>
            <a:ext cx="2133600" cy="4953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25000" y="4495800"/>
            <a:ext cx="2133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 i="0">
                <a:solidFill>
                  <a:srgbClr val="2E5A8F"/>
                </a:solidFill>
                <a:latin typeface="Calibri"/>
              </a:rPr>
              <a:t>Cluster:</a:t>
            </a:r>
          </a:p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1F2937"/>
                </a:solidFill>
                <a:latin typeface="Calibri"/>
              </a:rPr>
              <a:t>ITSM / End-User (quer)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400" y="5143500"/>
            <a:ext cx="11125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07F12"/>
                </a:solidFill>
                <a:latin typeface="Calibri"/>
              </a:rPr>
              <a:t>——  </a:t>
            </a:r>
            <a:r>
              <a:rPr sz="900" b="0" i="0">
                <a:solidFill>
                  <a:srgbClr val="4B5563"/>
                </a:solidFill>
                <a:latin typeface="Calibri"/>
              </a:rPr>
              <a:t>Solid-Line: Heimat &amp; Führung (Head of SDM)      </a:t>
            </a:r>
            <a:r>
              <a:rPr sz="900" b="1" i="0">
                <a:solidFill>
                  <a:srgbClr val="6B4FA0"/>
                </a:solidFill>
                <a:latin typeface="Calibri"/>
              </a:rPr>
              <a:t>- - -  </a:t>
            </a:r>
            <a:r>
              <a:rPr sz="900" b="0" i="0">
                <a:solidFill>
                  <a:srgbClr val="4B5563"/>
                </a:solidFill>
                <a:latin typeface="Calibri"/>
              </a:rPr>
              <a:t>Dotted-Line: fachlicher Einsatz im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3400" y="5448300"/>
            <a:ext cx="11125200" cy="9525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516880"/>
            <a:ext cx="108204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Sizing-Regel — nicht nach Anzahl Services, sondern nach Koordinationslast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582168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Maßstab: Zahl beteiligter Provider + interner Einheiten, Kritikalität, Ticketvolumen. Faustwert: ein SDM steuert eine große oder eine Handvoll mittlerer Services. Kleine/verwandte Services bündeln; große Cluster (z. B. SAP/DXC) ggf. mit zweitem SDM. Head of Service Delivery balanciert die Last über den Pool.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VERORTUNGSENTSCHEIDUNG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Zentraler SDM-Pool statt verteilter Berichtslinien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2937"/>
                </a:solidFill>
                <a:latin typeface="Calibri"/>
              </a:rPr>
              <a:t>Entscheidend ist, was „verteilt“ meint:  </a:t>
            </a:r>
            <a:r>
              <a:rPr sz="1150" b="0" i="0">
                <a:solidFill>
                  <a:srgbClr val="4B5563"/>
                </a:solidFill>
                <a:latin typeface="Calibri"/>
              </a:rPr>
              <a:t>verteilter </a:t>
            </a:r>
            <a:r>
              <a:rPr sz="1150" b="1" i="0">
                <a:solidFill>
                  <a:srgbClr val="2E5A8F"/>
                </a:solidFill>
                <a:latin typeface="Calibri"/>
              </a:rPr>
              <a:t>Sitz/Einsatz</a:t>
            </a:r>
            <a:r>
              <a:rPr sz="1150" b="0" i="0">
                <a:solidFill>
                  <a:srgbClr val="4B5563"/>
                </a:solidFill>
                <a:latin typeface="Calibri"/>
              </a:rPr>
              <a:t> ist gut — verteilte </a:t>
            </a:r>
            <a:r>
              <a:rPr sz="1150" b="1" i="0">
                <a:solidFill>
                  <a:srgbClr val="B91C1C"/>
                </a:solidFill>
                <a:latin typeface="Calibri"/>
              </a:rPr>
              <a:t>Berichtslinie</a:t>
            </a:r>
            <a:r>
              <a:rPr sz="1150" b="0" i="0">
                <a:solidFill>
                  <a:srgbClr val="4B5563"/>
                </a:solidFill>
                <a:latin typeface="Calibri"/>
              </a:rPr>
              <a:t> in die Liefereinheiten ist riskant.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057400"/>
            <a:ext cx="5448300" cy="198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057400"/>
            <a:ext cx="5448300" cy="381000"/>
          </a:xfrm>
          <a:prstGeom prst="rect">
            <a:avLst/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560" y="2057400"/>
            <a:ext cx="51816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C4A35"/>
                </a:solidFill>
                <a:latin typeface="Calibri"/>
              </a:rPr>
              <a:t>✓  Zentraler Pool im IPS MO  (Empfehlung)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1460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Neutrales Mandat über BSS / TSS / Cyber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Ein Standard: Methode, KPIs, ServiceNow, Vertretung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Gegenseitige Vertretung &amp; Karrierepfad im Pool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Head of SDM balanciert Kapazität über Cluster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Kein Rückfall in „pro-Service-Owner“-Silos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2057400"/>
            <a:ext cx="5448300" cy="198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057400"/>
            <a:ext cx="5448300" cy="381000"/>
          </a:xfrm>
          <a:prstGeom prst="rect">
            <a:avLst/>
          </a:prstGeom>
          <a:solidFill>
            <a:srgbClr val="FB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7460" y="2057400"/>
            <a:ext cx="51816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B91C1C"/>
                </a:solidFill>
                <a:latin typeface="Calibri"/>
              </a:rPr>
              <a:t>✗  SDMs berichten IN die Einheiten  (Risiko)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51460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Peer koordiniert Peer → schwaches Mandat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Loyalitätskonflikt zur eigenen Einheit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„Acht Dialekte“: Methode/KPI/Tool driften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Head of SDM trägt Verantwortung ohne Autorität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30" b="0" i="0">
                <a:solidFill>
                  <a:srgbClr val="1F2937"/>
                </a:solidFill>
                <a:latin typeface="Calibri"/>
              </a:rPr>
              <a:t>•  Faktischer Rückfall zum heutigen Status quo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400" y="4267200"/>
            <a:ext cx="11125200" cy="9906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3400" y="4267200"/>
            <a:ext cx="76200" cy="9906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4328160"/>
            <a:ext cx="108204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B4531A"/>
                </a:solidFill>
                <a:latin typeface="Calibri"/>
              </a:rPr>
              <a:t>Head of SDM zentral + SDMs verteilt — geht das?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" y="4617720"/>
            <a:ext cx="1082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F2937"/>
                </a:solidFill>
                <a:latin typeface="Calibri"/>
              </a:rPr>
              <a:t>Ja — unter Bedingungen.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Tragfähig, solange der Head of SDM eine fachliche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Solid-Line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 zu allen SDMs hat und Methode, KPIs, Tooling sowie das einheitenübergreifende Mandat zentral bleiben. Dann ist es faktisch der zentrale Pool mit dezentralem Einsatz — nicht „verteilt“ im problematischen Sinn. Ohne diese Guardrails kippt es in die rechte Spalte.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448300"/>
            <a:ext cx="11125200" cy="9144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900" y="5509260"/>
            <a:ext cx="108204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C4A35"/>
                </a:solidFill>
                <a:latin typeface="Calibri"/>
              </a:rPr>
              <a:t>Empfehlung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900" y="579120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Zielbild: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zentraler SDM-Pool im IPS MO.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Übergang / politischer Kompromiss: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Head of SDM zentral, SDMs co-located in den Clustern, aber mit Solid-Line zum Head of SDM — als Phase-3-Etappe der Migration. Entscheidend ist die Berichtslinie, nicht der Schreibtisch.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