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00" b="1" i="0">
                <a:solidFill>
                  <a:srgbClr val="F07F12"/>
                </a:solidFill>
                <a:latin typeface="Calibri"/>
              </a:rPr>
              <a:t>ZIELBILD ABLAUFORGANISATION · IT / 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1200"/>
            <a:ext cx="105156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Die Einheit ist die Homebase.</a:t>
            </a:r>
          </a:p>
          <a:p>
            <a:pPr algn="l"/>
            <a:r>
              <a:rPr sz="4000" b="1" i="0">
                <a:solidFill>
                  <a:srgbClr val="F07F12"/>
                </a:solidFill>
                <a:latin typeface="Calibri"/>
              </a:rPr>
              <a:t>Gespielt wird in Mannschaften.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62400"/>
            <a:ext cx="10058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7CDD4"/>
                </a:solidFill>
                <a:latin typeface="Calibri"/>
              </a:rPr>
              <a:t>Betriebs- und Zusammenarbeitsmodell für eine IT-Organisation mit verteiltem Operations – fachliche Heimat erhalten, Wertschöpfung End-to-End über Einheitsgrenzen organisieren.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76800"/>
            <a:ext cx="5029200" cy="1219200"/>
          </a:xfrm>
          <a:prstGeom prst="roundRect">
            <a:avLst>
              <a:gd name="adj" fmla="val 8000"/>
            </a:avLst>
          </a:prstGeom>
          <a:solidFill>
            <a:srgbClr val="27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876800"/>
            <a:ext cx="68580" cy="12192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029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8FB4DB"/>
                </a:solidFill>
                <a:latin typeface="Calibri"/>
              </a:rPr>
              <a:t>HOMEBASE – LINIENORGANISATION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959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DD4"/>
                </a:solidFill>
                <a:latin typeface="Calibri"/>
              </a:rPr>
              <a:t>Fachliche Heimat, Skill-Aufbau, Kapazität, Personalentwicklung. Die Org-Einheiten aus dem Chart.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0" y="4876800"/>
            <a:ext cx="5029200" cy="1219200"/>
          </a:xfrm>
          <a:prstGeom prst="roundRect">
            <a:avLst>
              <a:gd name="adj" fmla="val 8000"/>
            </a:avLst>
          </a:prstGeom>
          <a:solidFill>
            <a:srgbClr val="27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4876800"/>
            <a:ext cx="68580" cy="1219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5029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F2B277"/>
                </a:solidFill>
                <a:latin typeface="Calibri"/>
              </a:rPr>
              <a:t>MANNSCHAFT – WERTSTROM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52959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DD4"/>
                </a:solidFill>
                <a:latin typeface="Calibri"/>
              </a:rPr>
              <a:t>End-to-End-Verantwortung für Services &amp; Produkte, besetzt aus mehreren Homebases. Hier wird geliefert.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Operations nicht zentralisieren, sondern integrieren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Betrieb liegt heute an vier sinnvollen Stellen – nah an der Technologie. Die Klammer entsteht durch eine SIAM-Integrationsschicht statt struktureller Zusammenlegung.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057400"/>
            <a:ext cx="2682240" cy="1143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057400"/>
            <a:ext cx="2682240" cy="762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880" y="2164080"/>
            <a:ext cx="2621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850" b="1" i="0">
                <a:solidFill>
                  <a:srgbClr val="2E5A8F"/>
                </a:solidFill>
                <a:latin typeface="Calibri"/>
              </a:rPr>
              <a:t>HOMEBASE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80" y="2362200"/>
            <a:ext cx="26212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Platform &amp; Infra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" y="2667000"/>
            <a:ext cx="262128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Base ITSM Ops, Service Desk, Datacenter, Netzwerk, Compute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057400"/>
            <a:ext cx="2682240" cy="1143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057400"/>
            <a:ext cx="2682240" cy="762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8040" y="2164080"/>
            <a:ext cx="2621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850" b="1" i="0">
                <a:solidFill>
                  <a:srgbClr val="2E5A8F"/>
                </a:solidFill>
                <a:latin typeface="Calibri"/>
              </a:rPr>
              <a:t>HOMEBASE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8040" y="2362200"/>
            <a:ext cx="26212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Application / Business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8040" y="2667000"/>
            <a:ext cx="262128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Solution Operations, SAP AMS, Release &amp;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720" y="2057400"/>
            <a:ext cx="2682240" cy="1143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1720" y="2057400"/>
            <a:ext cx="2682240" cy="762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164080"/>
            <a:ext cx="2621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850" b="1" i="0">
                <a:solidFill>
                  <a:srgbClr val="2E5A8F"/>
                </a:solidFill>
                <a:latin typeface="Calibri"/>
              </a:rPr>
              <a:t>HOMEBASE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362200"/>
            <a:ext cx="26212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Local IT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67000"/>
            <a:ext cx="262128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Local Service Desk, Device- &amp; Server-Support vor 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5880" y="2057400"/>
            <a:ext cx="2682240" cy="1143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45880" y="2057400"/>
            <a:ext cx="2682240" cy="762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6360" y="2164080"/>
            <a:ext cx="2621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850" b="1" i="0">
                <a:solidFill>
                  <a:srgbClr val="2E5A8F"/>
                </a:solidFill>
                <a:latin typeface="Calibri"/>
              </a:rPr>
              <a:t>HOMEBASE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6360" y="2362200"/>
            <a:ext cx="26212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Security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6360" y="2667000"/>
            <a:ext cx="262128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SOC, Threat Detection, Incident 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3505200"/>
            <a:ext cx="11125200" cy="1028700"/>
          </a:xfrm>
          <a:prstGeom prst="roundRect">
            <a:avLst>
              <a:gd name="adj" fmla="val 8000"/>
            </a:avLst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400" y="3505200"/>
            <a:ext cx="11125200" cy="76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1188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B4531A"/>
                </a:solidFill>
                <a:latin typeface="Calibri"/>
              </a:rPr>
              <a:t>DIE KLAMMER – SERVICE-INTEGRATION-LAYER (SIAM)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870960"/>
            <a:ext cx="10820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Service Integrator</a:t>
            </a:r>
            <a:r>
              <a:rPr sz="1100" b="0" i="0">
                <a:solidFill>
                  <a:srgbClr val="4B5563"/>
                </a:solidFill>
                <a:latin typeface="Calibri"/>
              </a:rPr>
              <a:t>  · orchestriert interne Ops + Dienstleister als ein Liefernetzwerk       </a:t>
            </a:r>
            <a:r>
              <a:rPr sz="1100" b="1" i="0">
                <a:solidFill>
                  <a:srgbClr val="1F2937"/>
                </a:solidFill>
                <a:latin typeface="Calibri"/>
              </a:rPr>
              <a:t>End-to-End Service Owner</a:t>
            </a:r>
            <a:r>
              <a:rPr sz="1100" b="0" i="0">
                <a:solidFill>
                  <a:srgbClr val="4B5563"/>
                </a:solidFill>
                <a:latin typeface="Calibri"/>
              </a:rPr>
              <a:t>  · je Service verantwortlich über alle Einheiten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1" i="0">
                <a:solidFill>
                  <a:srgbClr val="1F2937"/>
                </a:solidFill>
                <a:latin typeface="Calibri"/>
              </a:rPr>
              <a:t>Gemeinsame ITSM-Prozesse &amp; ServiceNow</a:t>
            </a:r>
            <a:r>
              <a:rPr sz="1100" b="0" i="0">
                <a:solidFill>
                  <a:srgbClr val="4B5563"/>
                </a:solidFill>
                <a:latin typeface="Calibri"/>
              </a:rPr>
              <a:t>  · ein Incident/Problem/Change/Request       </a:t>
            </a:r>
            <a:r>
              <a:rPr sz="1100" b="1" i="0">
                <a:solidFill>
                  <a:srgbClr val="1F2937"/>
                </a:solidFill>
                <a:latin typeface="Calibri"/>
              </a:rPr>
              <a:t>Operations Command Layer</a:t>
            </a:r>
            <a:r>
              <a:rPr sz="1100" b="0" i="0">
                <a:solidFill>
                  <a:srgbClr val="4B5563"/>
                </a:solidFill>
                <a:latin typeface="Calibri"/>
              </a:rPr>
              <a:t>  · Major-Incident-Mgmt + Ops-Board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4724400"/>
            <a:ext cx="11125200" cy="6858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15840"/>
            <a:ext cx="10820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7F12"/>
                </a:solidFill>
                <a:latin typeface="Calibri"/>
              </a:rPr>
              <a:t>Kernprinzip: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Betrieb bleibt fachlich in den Einheiten (Homebase). Die SIAM-Schicht macht aus vier getrennten Betrieben </a:t>
            </a:r>
            <a:r>
              <a:rPr sz="1200" b="1" i="1">
                <a:solidFill>
                  <a:srgbClr val="1F2937"/>
                </a:solidFill>
                <a:latin typeface="Calibri"/>
              </a:rPr>
              <a:t>ein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Betriebssystem – Dienstleister inklusive, gekoppelt über OLAs/UCs an dieselbe Prozess- und SLA-Logik.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MANNSCHAFTEN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Value-Stream-Schnitte – konkret auf Ihre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Sieben End-to-End-Services als dauerhafte Mannschaften. Jede besetzt aus mehreren Homebases; je ein Service Owner ist accountable.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1905000"/>
            <a:ext cx="11125200" cy="3352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3429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Value Stream (Mannschaft)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9560" y="1905000"/>
            <a:ext cx="3429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Service-Owner-Heimat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4760" y="1905000"/>
            <a:ext cx="40386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Beitragende Homebases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2240280"/>
            <a:ext cx="1112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" y="22402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40" y="22402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Modern Workplace &amp;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9560" y="22402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Technical Sol. › Workplace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4760" y="22402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Local IT Ops · Cyber (Endpoint) · Business Sol. (Collab-Apps)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2697480"/>
            <a:ext cx="11125200" cy="4572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26974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" y="26974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Network &amp; 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26974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Infra &amp; Platforms › Network &amp; Security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26974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Local Network Support · Cyber (Network Sec.)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3154680"/>
            <a:ext cx="1112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31546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" y="31546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Compute, Cloud &amp; Datacenter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9560" y="31546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Infra &amp; Platforms › Compute Platform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4760" y="31546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Local Server Support · SAP Basis · Cyber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3611880"/>
            <a:ext cx="11125200" cy="4572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36118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840" y="36118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Identity &amp; Access (IAM)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9560" y="36118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Infra &amp; Platforms › Authentication / IDM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4760" y="36118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Cyber (Identity Sec.) · Business Solutions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4069080"/>
            <a:ext cx="1112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3400" y="40690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840" y="40690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SAP &amp; Business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9560" y="40690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Business Sol. › Solution Operations (AMS)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4760" y="40690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Technical Sol. (SAP Basis, Release &amp; Deployment)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3400" y="4526280"/>
            <a:ext cx="11125200" cy="4572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3400" y="45262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45262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Data, Analytics &amp; KI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9560" y="45262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Business Sol. › Reporting &amp; Analytics &amp; KI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4760" y="45262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EA &amp; Innovation · Master Data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400" y="4983480"/>
            <a:ext cx="11125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3400" y="4983480"/>
            <a:ext cx="5334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840" y="4983480"/>
            <a:ext cx="3390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Digital Service Desk / ITSM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9560" y="49834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2E5A8F"/>
                </a:solidFill>
                <a:latin typeface="Calibri"/>
              </a:rPr>
              <a:t>Technical Sol. › Base ITSM Ops / Service Desk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4760" y="498348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4B5563"/>
                </a:solidFill>
                <a:latin typeface="Calibri"/>
              </a:rPr>
              <a:t>Local Service Desk · alle L2/L3 · SIAM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3400" y="1905000"/>
            <a:ext cx="11125200" cy="353568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400" y="553212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B4FA0"/>
                </a:solidFill>
                <a:latin typeface="Calibri"/>
              </a:rPr>
              <a:t>Quer dazu: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Cyber-Security-Services (SOC) werden von allen Streams konsumiert; Owner bleibt Cyber Defense. Optional OT / Shopfloor-IT als eigener Stream, falls relevant.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ZUSAMMENARBEIT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Drei Typen virtueller Teams – und wer sie führt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676400"/>
            <a:ext cx="3604260" cy="259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1676400"/>
            <a:ext cx="3604260" cy="838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" y="1828800"/>
            <a:ext cx="33756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07F12"/>
                </a:solidFill>
                <a:latin typeface="Calibri"/>
              </a:rPr>
              <a:t>VERTIKAL · WERTSTROM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" y="2057400"/>
            <a:ext cx="33756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Value-Stream- / Service-Teams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" y="2590800"/>
            <a:ext cx="337566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Liefern das End-to-End-Ergebnis. Dauerhaft, cross-funktional aus mehreren Homebases.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20" y="3695700"/>
            <a:ext cx="3360419" cy="4572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040" y="3695700"/>
            <a:ext cx="3299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Rolle: Service / Product Owner  +  Delivery Lead („Kapitän“)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8160" y="1676400"/>
            <a:ext cx="3604260" cy="259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8160" y="1676400"/>
            <a:ext cx="3604260" cy="83820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0080" y="1828800"/>
            <a:ext cx="33756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6B4FA0"/>
                </a:solidFill>
                <a:latin typeface="Calibri"/>
              </a:rPr>
              <a:t>HORIZONTAL · HANDWERK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0080" y="2057400"/>
            <a:ext cx="33756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Chapters / Communities of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080" y="2590800"/>
            <a:ext cx="337566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Bauen Standards, Skills, Wiederverwendung. Gleiche Disziplin über alle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080" y="3695700"/>
            <a:ext cx="3360419" cy="4572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800" y="3695700"/>
            <a:ext cx="3299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Rolle: Chapter Lead / CoP Lead   (z. B. Ops, Automation, Security)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2920" y="1676400"/>
            <a:ext cx="3604260" cy="259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2920" y="1676400"/>
            <a:ext cx="3604260" cy="8382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39" y="1828800"/>
            <a:ext cx="33756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GOVERNANCE · ENTSCHEIDUNG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4839" y="2057400"/>
            <a:ext cx="33756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Boards / Gremien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4839" y="2590800"/>
            <a:ext cx="337566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Treffen übergreifende Entscheidungen &amp; Priorisierung. Entscheider aus allen Bereichen.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4839" y="3695700"/>
            <a:ext cx="3360419" cy="4572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560" y="3695700"/>
            <a:ext cx="3299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80" b="1" i="0">
                <a:solidFill>
                  <a:srgbClr val="1F2937"/>
                </a:solidFill>
                <a:latin typeface="Calibri"/>
              </a:rPr>
              <a:t>Rolle: Board-Chair   (Portfolio, CAB, ARB, SIAM-Board)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44577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Schlüsselrollen, die das Modell tragen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48006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400" y="480060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320" y="48463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Service 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" y="51054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accountable für Ergebnis, Kosten, SLA – über alle Einheiten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8160" y="48006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8160" y="480060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0080" y="48463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Delivery Lead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0080" y="51054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führt die Mannschaft durch die Lieferung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2920" y="48006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2920" y="4800600"/>
            <a:ext cx="60960" cy="6858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4839" y="48463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Homebase / People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4839" y="51054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Menschen, Skill, Kapazität – sagt Kapazität zu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400" y="56007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3400" y="5600700"/>
            <a:ext cx="60960" cy="685800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320" y="56464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Chapter 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320" y="59055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Standards &amp; Handwerk über Teams hinweg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28160" y="56007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28160" y="5600700"/>
            <a:ext cx="60960" cy="685800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0080" y="56464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SIAM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0080" y="59055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Betrieb &amp; Provider als ein Netzwerk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2920" y="5600700"/>
            <a:ext cx="36042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22920" y="5600700"/>
            <a:ext cx="60960" cy="6858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4839" y="5646420"/>
            <a:ext cx="3413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Capacity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4839" y="5905500"/>
            <a:ext cx="341376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B5563"/>
                </a:solidFill>
                <a:latin typeface="Calibri"/>
              </a:rPr>
              <a:t>vermittelt Angebot &amp; Nachfrage – Schiedsrichter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SPIELREGELN DER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Homebase entscheidet über Menschen – Mannschaft über Ergebnis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562100"/>
            <a:ext cx="5410200" cy="1143000"/>
          </a:xfrm>
          <a:prstGeom prst="roundRect">
            <a:avLst>
              <a:gd name="adj" fmla="val 8000"/>
            </a:avLst>
          </a:prstGeom>
          <a:solidFill>
            <a:srgbClr val="E4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1562100"/>
            <a:ext cx="68580" cy="11430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" y="16306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2E5A8F"/>
                </a:solidFill>
                <a:latin typeface="Calibri"/>
              </a:rPr>
              <a:t>HOMEBASE ENTSCHEIDET ÜBER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" y="1874520"/>
            <a:ext cx="51054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Einstellung / Entwicklung / Beförderung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Skill-Profile &amp; fachliche Standards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Verfügbare Kapazität (Zusage an Mannschaften)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•  Personalthemen, Feedback, Disziplinarik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400" y="1562100"/>
            <a:ext cx="5410200" cy="1143000"/>
          </a:xfrm>
          <a:prstGeom prst="roundRect">
            <a:avLst>
              <a:gd name="adj" fmla="val 8000"/>
            </a:avLst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400" y="1562100"/>
            <a:ext cx="68580" cy="1143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6040" y="16306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B4531A"/>
                </a:solidFill>
                <a:latin typeface="Calibri"/>
              </a:rPr>
              <a:t>MANNSCHAFT ENTSCHEIDET ÜBER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040" y="1874520"/>
            <a:ext cx="51054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Was priorisiert und geliefert wird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Wie die tägliche Arbeit im Team abläuft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•  Service-/Produkt-Ergebnis, SLA, Roadmap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•  Fachliche Zuweisung im Sprint/Betrieb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85750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RACI – wer verantwortet was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880360"/>
            <a:ext cx="198120" cy="19812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895600"/>
            <a:ext cx="1981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6512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Responsible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80360"/>
            <a:ext cx="198120" cy="19812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95600"/>
            <a:ext cx="1981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6512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Accountable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80360"/>
            <a:ext cx="198120" cy="19812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895600"/>
            <a:ext cx="1981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86512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Consulted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880360"/>
            <a:ext cx="198120" cy="19812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895600"/>
            <a:ext cx="1981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86512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Informed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3200400"/>
            <a:ext cx="35052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00400"/>
            <a:ext cx="3429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Entscheidung / Aktivität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Homebase Lead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Service Owner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Delivery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4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Chapter Lead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SIAM / Capacity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88600" y="3200400"/>
            <a:ext cx="1270000" cy="35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88600" y="3200400"/>
            <a:ext cx="12700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CIO / Portfolio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400" y="3550920"/>
            <a:ext cx="35052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355092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Einstellung &amp; Personalentwicklung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3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5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82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7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9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6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1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63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3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88600" y="355092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909300" y="36271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09300" y="362331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3400" y="3909060"/>
            <a:ext cx="35052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390906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Kapazitäts-Zusage an Mannschaften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3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5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5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82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2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7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09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4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36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6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1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63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3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88600" y="390906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909300" y="39852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909300" y="39814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3400" y="4267200"/>
            <a:ext cx="35052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426720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Service-/Produkt-Priorisierung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3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55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5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82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2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7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09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9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4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36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6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1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63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3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88600" y="426720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909300" y="434340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909300" y="433959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3400" y="4625340"/>
            <a:ext cx="35052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360" y="462534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Betrieb &amp; SLA (End-to-End)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3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5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5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0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2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2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7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09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9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4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36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6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1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63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3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388600" y="462534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0909300" y="470154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909300" y="469773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3400" y="4983480"/>
            <a:ext cx="35052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94360" y="498348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Provider-/Dienstleister-Steuerung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03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55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5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0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82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82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7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09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9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84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36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36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11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63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3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388600" y="498348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909300" y="505968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909300" y="505587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33400" y="5341620"/>
            <a:ext cx="35052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4360" y="534162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Major Incident (P1/P2)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03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55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5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0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582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82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57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09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09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84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836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36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1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63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3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88600" y="5341620"/>
            <a:ext cx="1270000" cy="3581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0909300" y="541782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909300" y="5414009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33400" y="5699760"/>
            <a:ext cx="35052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94360" y="5699760"/>
            <a:ext cx="3429000" cy="358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Ressourcen-Konflikt zw. Teams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03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455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5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0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582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4A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82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57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709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9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84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836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8A9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36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11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63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63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388600" y="5699760"/>
            <a:ext cx="1270000" cy="358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10909300" y="5775960"/>
            <a:ext cx="228600" cy="205740"/>
          </a:xfrm>
          <a:prstGeom prst="roundRect">
            <a:avLst>
              <a:gd name="adj" fmla="val 8000"/>
            </a:avLst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909300" y="5772150"/>
            <a:ext cx="2286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33400" y="3200400"/>
            <a:ext cx="11125200" cy="285750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3400" y="64008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00" b="1" i="0">
                <a:solidFill>
                  <a:srgbClr val="F07F12"/>
                </a:solidFill>
                <a:latin typeface="Calibri"/>
              </a:rPr>
              <a:t>Der Kern: </a:t>
            </a:r>
            <a:r>
              <a:rPr sz="1000" b="0" i="0">
                <a:solidFill>
                  <a:srgbClr val="4B5563"/>
                </a:solidFill>
                <a:latin typeface="Calibri"/>
              </a:rPr>
              <a:t>Kapazität = Homebase accountable, Priorität = Service Owner accountable. Genau ein A pro Zeile.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BETRIEBSRHYTHMUS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Ritual-Kalender – vier Ebenen, ein Takt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60020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1600200"/>
            <a:ext cx="2743200" cy="320040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600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930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IPS Steering / Portfolio-Board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838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Priorisierung, Budget &amp; Kapazität →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Architecture Review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5656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Standards &amp; Design-Reviews → 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566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Quarterly Business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34739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Wertbeitrag &amp; OKR je Wertstrom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7946" y="160020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7946" y="1600200"/>
            <a:ext cx="2743200" cy="32004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7946" y="1600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4625" y="201930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Demand &amp; Sponsoring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4625" y="227838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Bewertung neuer Anforderungen →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4625" y="269748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Service Management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4625" y="295656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SLA/OLA, Provider-Steuerung → Maßnahmen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160020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1600200"/>
            <a:ext cx="2743200" cy="3200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2492" y="1600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172" y="201930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CAB – Change Advisory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172" y="227838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Risikobewertung &amp; Freigabe von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172" y="269748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Value-Stream Planning (2-wöch.)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9172" y="295656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Increment-Planung → Team-Backlog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9172" y="337566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Provider Ops Jour Fixe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9172" y="3634739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Operative Provider-Steuerung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7038" y="160020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7038" y="1600200"/>
            <a:ext cx="274320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7038" y="1600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TÄGLICH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3718" y="201930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Ops Sync / Service Desk Standup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3718" y="227838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Lage, Incidents, Eskalationen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3718" y="269748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Squad Daily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3718" y="2956560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Fortschritt &amp; Hindernisse der Mannschaft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3718" y="3375660"/>
            <a:ext cx="254508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Major Incident Mgmt (bei Bedarf)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3718" y="3634739"/>
            <a:ext cx="254508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P1/P2 → Wiederherstellung + Post-Mortem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49911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Einführung in vier Schritten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400" y="5334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3400" y="5334000"/>
            <a:ext cx="60960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560" y="539496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000" b="1" i="0">
                <a:solidFill>
                  <a:srgbClr val="F07F12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800" y="54102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Klammer setzen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" y="566928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5–8 Kern-Services definieren, Service Owner benennen, SIAM verankern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77946" y="5334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77946" y="5334000"/>
            <a:ext cx="60960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5105" y="539496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000" b="1" i="0">
                <a:solidFill>
                  <a:srgbClr val="F07F12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1346" y="54102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Prozesse vereinheitlichen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1346" y="566928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Ein ITSM-Modell auf ServiceNow, OLAs/UCs mit Providern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22492" y="5334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22492" y="5334000"/>
            <a:ext cx="60960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9651" y="539496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000" b="1" i="0">
                <a:solidFill>
                  <a:srgbClr val="F07F12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5892" y="54102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Rhythmus starten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55892" y="566928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Wenige Rituale einführen – jedes mit einem Output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67038" y="5334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67038" y="5334000"/>
            <a:ext cx="60960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04198" y="539496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000" b="1" i="0">
                <a:solidFill>
                  <a:srgbClr val="F07F12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0438" y="54102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Matrix leben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0438" y="5669280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4B5563"/>
                </a:solidFill>
                <a:latin typeface="Calibri"/>
              </a:rPr>
              <a:t>1–2 Pilot-Streams, %-Kapazitätszusagen, Capacity-Board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SERVICE-LEVEL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SLA → OLA → UC – eine Zusage, back-to-back zerlegt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Der Service Owner gibt dem Business eine SLA. Diese wird intern in OLAs (Homebases) und extern in Underpinning Contracts (Dienstleister) zerlegt – ohne Lücke.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981200"/>
            <a:ext cx="53340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1981200"/>
            <a:ext cx="838200" cy="7239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981200"/>
            <a:ext cx="8382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206502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Service Owner →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2331720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Zugesagte Verfügbarkeit &amp; Reaktionszeit je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2819400"/>
            <a:ext cx="53340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2819400"/>
            <a:ext cx="838200" cy="72390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2819400"/>
            <a:ext cx="8382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290322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Service Owner ↔ Homebases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3169920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Interne Betriebsvereinbarungen je beitragende Einheit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3657600"/>
            <a:ext cx="53340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400" y="3657600"/>
            <a:ext cx="838200" cy="723900"/>
          </a:xfrm>
          <a:prstGeom prst="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3657600"/>
            <a:ext cx="8382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" y="374142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SIAM → Dienstleister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4008120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B5563"/>
                </a:solidFill>
                <a:latin typeface="Calibri"/>
              </a:rPr>
              <a:t>Underpinning Contracts – Ziele strenger als OLA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45339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" y="4533900"/>
            <a:ext cx="5105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07F12"/>
                </a:solidFill>
                <a:latin typeface="Calibri"/>
              </a:rPr>
              <a:t>Goldene Regel: 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UC-Ziel ≤ OLA-Ziel ≤ SLA-Ziel.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 Jede Provider-Zusage ist strenger als die interne, jede interne strenger als die Business-Zusage – so entstehen keine Deckungslücken.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1905000"/>
            <a:ext cx="5410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Verfügbarkeitsklassen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8400" y="2209800"/>
            <a:ext cx="5410200" cy="2743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0" y="22098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Klasse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2209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Verfügb.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800" y="2209800"/>
            <a:ext cx="121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Kernzeit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220980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Beispiele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8400" y="2484120"/>
            <a:ext cx="5410200" cy="335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4120" y="2484120"/>
            <a:ext cx="1143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Platinum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1400" y="2484120"/>
            <a:ext cx="914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99,9 %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2484120"/>
            <a:ext cx="12192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24×7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0" y="2484120"/>
            <a:ext cx="21336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IAM, Netzwerk, Compute, SAP-Prod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8400" y="2819400"/>
            <a:ext cx="5410200" cy="3352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4120" y="2819400"/>
            <a:ext cx="1143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Gold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1400" y="2819400"/>
            <a:ext cx="914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99,5 %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800" y="2819400"/>
            <a:ext cx="12192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5×11 + Rufb.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0" y="2819400"/>
            <a:ext cx="21336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Workplace, Data, Service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8400" y="3154680"/>
            <a:ext cx="5410200" cy="335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4120" y="3154680"/>
            <a:ext cx="1143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Silver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91400" y="3154680"/>
            <a:ext cx="914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99,0 %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5800" y="3154680"/>
            <a:ext cx="12192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5×11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0" y="3154680"/>
            <a:ext cx="21336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nachrangige Services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8400" y="2209800"/>
            <a:ext cx="5410200" cy="128016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0" y="3619500"/>
            <a:ext cx="5410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Prioritäten – Reaktion / Wiederherstellung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8400" y="3924300"/>
            <a:ext cx="5410200" cy="2743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8400" y="392430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Priorität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5800" y="39243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Reaktion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2200" y="3924300"/>
            <a:ext cx="167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Wiederherst.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8400" y="4198620"/>
            <a:ext cx="54102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4120" y="419862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B91C1C"/>
                </a:solidFill>
                <a:latin typeface="Calibri"/>
              </a:rPr>
              <a:t>P1 kritisch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5800" y="41986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15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82200" y="41986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≤ 4 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8400" y="4465320"/>
            <a:ext cx="5410200" cy="2667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4120" y="446532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1" i="0">
                <a:solidFill>
                  <a:srgbClr val="B4531A"/>
                </a:solidFill>
                <a:latin typeface="Calibri"/>
              </a:rPr>
              <a:t>P2 hoch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4653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30 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2200" y="44653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≤ 8 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48400" y="4732020"/>
            <a:ext cx="54102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4120" y="473202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P3 mittel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5800" y="47320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4 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82200" y="47320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2 AT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8400" y="4998720"/>
            <a:ext cx="5410200" cy="2667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94120" y="499872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P4 niedrig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5800" y="49987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8 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82200" y="49987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5 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48400" y="5265420"/>
            <a:ext cx="54102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94120" y="526542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Service Request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05800" y="52654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82200" y="526542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30" b="0" i="0">
                <a:solidFill>
                  <a:srgbClr val="1F2937"/>
                </a:solidFill>
                <a:latin typeface="Calibri"/>
              </a:rPr>
              <a:t>3 AT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48400" y="3924300"/>
            <a:ext cx="5410200" cy="160782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SERVICE-LEVEL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SLA- &amp; OLA-Skizze je Value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1600200"/>
            <a:ext cx="11125200" cy="419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600200"/>
            <a:ext cx="18440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Value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0" y="1600200"/>
            <a:ext cx="10820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Ziel-SLA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600200"/>
            <a:ext cx="10058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Kernzeit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1600200"/>
            <a:ext cx="8534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700" y="1600200"/>
            <a:ext cx="31394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OLA-Bausteine (intern)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1600200"/>
            <a:ext cx="283464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Underpinning Contracts (Provider)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019300"/>
            <a:ext cx="1112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201930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20" y="20193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Modern Workplace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120" y="201930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B4531A"/>
                </a:solidFill>
                <a:latin typeface="Calibri"/>
              </a:rPr>
              <a:t>Gold
99,5 %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7120" y="201930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5×11 +Rufb.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3920" y="201930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4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8320" y="201930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Client Platform Ops (WS) · Endpoint-Sec (Cyber) · Collab-Apps (BusSol) · Vor-Ort (Local)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8720" y="201930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Field-/Deskside-Services · MDM-Provider · Print-Services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2659380"/>
            <a:ext cx="11125200" cy="6400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265938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120" y="26593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Network &amp; Connectivity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4120" y="265938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2E5A8F"/>
                </a:solidFill>
                <a:latin typeface="Calibri"/>
              </a:rPr>
              <a:t>Platinum
99,9 %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7120" y="265938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24×7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3920" y="265938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2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8320" y="265938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Network Ops (Infra) · Local Network (Local) · Network-Sec (Cyber)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8720" y="265938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WAN-Carrier · SD-WAN Managed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3299460"/>
            <a:ext cx="1112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3400" y="329946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9120" y="32994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Compute, Cloud &amp; 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4120" y="329946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2E5A8F"/>
                </a:solidFill>
                <a:latin typeface="Calibri"/>
              </a:rPr>
              <a:t>Platinum
99,9 %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7120" y="329946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24×7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3920" y="329946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2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8320" y="329946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Platform Ops (Infra) · Server Vor-Ort (Local) · Cloud-Sec (Cyber)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8720" y="329946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Hyperscaler · Colocation-DC · Backup-Provider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3939540"/>
            <a:ext cx="11125200" cy="6400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400" y="393954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9120" y="39395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Identity &amp;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4120" y="393954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2E5A8F"/>
                </a:solidFill>
                <a:latin typeface="Calibri"/>
              </a:rPr>
              <a:t>Platinum
99,9 %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7120" y="393954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24×7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3920" y="393954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1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8320" y="393954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IDM Ops (Infra) · Identity-Security (Cyber)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8720" y="393954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IAM-SaaS (Entra/Okta) · PKI-Provider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3400" y="4579620"/>
            <a:ext cx="1112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3400" y="457962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9120" y="45796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SAP &amp; Business Apps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4120" y="457962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2E5A8F"/>
                </a:solidFill>
                <a:latin typeface="Calibri"/>
              </a:rPr>
              <a:t>Platinum
99,9 %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7120" y="457962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6×14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3920" y="457962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2 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8320" y="457962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AMS (BusSol) · SAP Basis (AppTech) · Release &amp; Deploy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8720" y="457962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SAP-AMS-Dienstleister · Hosting (RISE/Hyperscaler)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400" y="5219700"/>
            <a:ext cx="11125200" cy="6400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3400" y="521970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9120" y="52197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Data, Analytics &amp; KI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84120" y="521970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B4531A"/>
                </a:solidFill>
                <a:latin typeface="Calibri"/>
              </a:rPr>
              <a:t>Gold
99,5 %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27120" y="521970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5×11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3920" y="521970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8 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8320" y="521970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BI Ops (BusSol) · Data Platform (EA/Infra) · MDM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08720" y="521970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Cloud-Analytics-Provider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3400" y="5859780"/>
            <a:ext cx="11125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400" y="5859780"/>
            <a:ext cx="45720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9120" y="58597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1" i="0">
                <a:solidFill>
                  <a:srgbClr val="1F2937"/>
                </a:solidFill>
                <a:latin typeface="Calibri"/>
              </a:rPr>
              <a:t>Service Desk / ITSM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4120" y="5859780"/>
            <a:ext cx="1066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1" i="0">
                <a:solidFill>
                  <a:srgbClr val="B4531A"/>
                </a:solidFill>
                <a:latin typeface="Calibri"/>
              </a:rPr>
              <a:t>Gold
99,5 %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27120" y="5859780"/>
            <a:ext cx="99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0" i="0">
                <a:solidFill>
                  <a:srgbClr val="1F2937"/>
                </a:solidFill>
                <a:latin typeface="Calibri"/>
              </a:rPr>
              <a:t>24×7 (SD)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3920" y="5859780"/>
            <a:ext cx="838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>
              <a:lnSpc>
                <a:spcPct val="102000"/>
              </a:lnSpc>
            </a:pPr>
            <a:r>
              <a:rPr sz="880" b="1" i="0">
                <a:solidFill>
                  <a:srgbClr val="B91C1C"/>
                </a:solidFill>
                <a:latin typeface="Calibri"/>
              </a:rPr>
              <a:t>Disp. &lt;15m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08320" y="5859780"/>
            <a:ext cx="3124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4B5563"/>
                </a:solidFill>
                <a:latin typeface="Calibri"/>
              </a:rPr>
              <a:t>Base ITSM Ops · Local Service Desk · ServiceNow-Plattform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08720" y="5859780"/>
            <a:ext cx="2819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6B4FA0"/>
                </a:solidFill>
                <a:latin typeface="Calibri"/>
              </a:rPr>
              <a:t>Service-Desk-Dienstleister (1st Level) · ServiceNow (SaaS)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3400" y="1600200"/>
            <a:ext cx="11125200" cy="489966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3400" y="64008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50" b="1" i="0">
                <a:solidFill>
                  <a:srgbClr val="6B4FA0"/>
                </a:solidFill>
                <a:latin typeface="Calibri"/>
              </a:rPr>
              <a:t>Quer: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SOC (Cyber Defense) – 24×7-Monitoring, SecInc-Reaktion 30 min, UC mit MDR-Provider; als Sicherheits-OLA in jeden Stream eingebunden.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" cy="6858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F07F12"/>
                </a:solidFill>
                <a:latin typeface="Calibri"/>
              </a:rPr>
              <a:t>STEUERUNG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Kapazitäts-Allokationsmatrix – Homebase × Mannschaft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33500"/>
            <a:ext cx="11125200" cy="914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38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r"/>
            <a:r>
              <a:rPr sz="1000" b="0" i="0">
                <a:solidFill>
                  <a:srgbClr val="D1D5D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389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IT-Ablauforganisation · Zielbild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859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Wie viel Kapazität sagt jede Homebase welcher Mannschaft zu? Editierbares Steuerungs-Template fürs Capacity-Board (Excel beiliegend). Beispielwerte in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98120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Homebase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81200"/>
            <a:ext cx="2514600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120" y="198120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Homebase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0" y="1981200"/>
            <a:ext cx="609600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8000" y="1981200"/>
            <a:ext cx="6096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M.Work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8133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8133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8666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8666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9199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9199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IAM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9733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9733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0266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266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0800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Svc Desk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1333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1333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Chapter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01866" y="1981200"/>
            <a:ext cx="880533" cy="4953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01866" y="1981200"/>
            <a:ext cx="880533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Calibri"/>
              </a:rPr>
              <a:t>Run&amp;Line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2476500"/>
            <a:ext cx="2514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400" y="247650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840" y="247650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Workplace Solutions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48000" y="2476500"/>
            <a:ext cx="60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8000" y="247650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476500"/>
            <a:ext cx="880533" cy="4114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24765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38133" y="24765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18666" y="24765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9199" y="24765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79733" y="24765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0266" y="24765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40800" y="247650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0800" y="24765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1333" y="247650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1333" y="24765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701866" y="247650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01866" y="24765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3400" y="2887980"/>
            <a:ext cx="2514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3400" y="288798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840" y="288798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Infrastructure &amp; Platforms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0" y="2887980"/>
            <a:ext cx="609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8000" y="288798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8879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38133" y="2887980"/>
            <a:ext cx="880533" cy="411480"/>
          </a:xfrm>
          <a:prstGeom prst="rect">
            <a:avLst/>
          </a:prstGeom>
          <a:solidFill>
            <a:srgbClr val="F8C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8133" y="28879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18666" y="2887980"/>
            <a:ext cx="880533" cy="411480"/>
          </a:xfrm>
          <a:prstGeom prst="rect">
            <a:avLst/>
          </a:prstGeom>
          <a:solidFill>
            <a:srgbClr val="F7B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8666" y="28879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9199" y="2887980"/>
            <a:ext cx="880533" cy="411480"/>
          </a:xfrm>
          <a:prstGeom prst="rect">
            <a:avLst/>
          </a:prstGeom>
          <a:solidFill>
            <a:srgbClr val="F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9199" y="28879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9733" y="28879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60266" y="28879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40800" y="28879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21333" y="288798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21333" y="28879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01866" y="288798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01866" y="28879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3400" y="3299460"/>
            <a:ext cx="2514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3400" y="329946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840" y="329946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Local IT Operations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48000" y="3299460"/>
            <a:ext cx="60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8000" y="329946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22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3299460"/>
            <a:ext cx="880533" cy="411480"/>
          </a:xfrm>
          <a:prstGeom prst="rect">
            <a:avLst/>
          </a:prstGeom>
          <a:solidFill>
            <a:srgbClr val="F7B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0" y="32994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38133" y="329946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38133" y="32994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18666" y="32994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99199" y="32994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79733" y="32994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60266" y="32994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40800" y="3299460"/>
            <a:ext cx="880533" cy="411480"/>
          </a:xfrm>
          <a:prstGeom prst="rect">
            <a:avLst/>
          </a:prstGeom>
          <a:solidFill>
            <a:srgbClr val="F5A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40800" y="32994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21333" y="329946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21333" y="32994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01866" y="329946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01866" y="32994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3400" y="3710940"/>
            <a:ext cx="2514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33400" y="371094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4840" y="371094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Business Solutions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48000" y="3710940"/>
            <a:ext cx="609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48000" y="371094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26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0" y="371094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38133" y="371094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18666" y="371094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99199" y="371094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99199" y="371094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79733" y="3710940"/>
            <a:ext cx="880533" cy="411480"/>
          </a:xfrm>
          <a:prstGeom prst="rect">
            <a:avLst/>
          </a:prstGeom>
          <a:solidFill>
            <a:srgbClr val="F5A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9733" y="371094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60266" y="3710940"/>
            <a:ext cx="880533" cy="411480"/>
          </a:xfrm>
          <a:prstGeom prst="rect">
            <a:avLst/>
          </a:prstGeom>
          <a:solidFill>
            <a:srgbClr val="F8C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60266" y="371094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25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40800" y="371094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21333" y="371094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21333" y="371094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01866" y="371094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701866" y="371094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3400" y="4122420"/>
            <a:ext cx="2514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3400" y="412242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4840" y="412242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Application Technology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48000" y="4122420"/>
            <a:ext cx="60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048000" y="412242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0" y="412242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538133" y="412242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18666" y="412242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299199" y="412242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179733" y="4122420"/>
            <a:ext cx="880533" cy="411480"/>
          </a:xfrm>
          <a:prstGeom prst="rect">
            <a:avLst/>
          </a:prstGeom>
          <a:solidFill>
            <a:srgbClr val="F18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79733" y="412242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060266" y="412242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60266" y="412242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40800" y="412242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21333" y="412242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821333" y="412242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701866" y="4122420"/>
            <a:ext cx="880533" cy="411480"/>
          </a:xfrm>
          <a:prstGeom prst="rect">
            <a:avLst/>
          </a:prstGeom>
          <a:solidFill>
            <a:srgbClr val="FA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701866" y="412242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33400" y="4533900"/>
            <a:ext cx="2514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33400" y="453390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840" y="453390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Cyber Defense/SecOps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048000" y="4533900"/>
            <a:ext cx="609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048000" y="453390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12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0" y="453390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0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38133" y="453390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38133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18666" y="453390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418666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299199" y="453390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99199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79733" y="45339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060266" y="453390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40800" y="4533900"/>
            <a:ext cx="880533" cy="411480"/>
          </a:xfrm>
          <a:prstGeom prst="rect">
            <a:avLst/>
          </a:prstGeom>
          <a:solidFill>
            <a:srgbClr val="FCD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940800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821333" y="4533900"/>
            <a:ext cx="880533" cy="411480"/>
          </a:xfrm>
          <a:prstGeom prst="rect">
            <a:avLst/>
          </a:prstGeom>
          <a:solidFill>
            <a:srgbClr val="F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821333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701866" y="4533900"/>
            <a:ext cx="880533" cy="411480"/>
          </a:xfrm>
          <a:prstGeom prst="rect">
            <a:avLst/>
          </a:prstGeom>
          <a:solidFill>
            <a:srgbClr val="F3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701866" y="453390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3400" y="4945380"/>
            <a:ext cx="2514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33400" y="494538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4840" y="494538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Cyber GRC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048000" y="4945380"/>
            <a:ext cx="609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048000" y="494538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0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538133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418666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199" y="4945380"/>
            <a:ext cx="880533" cy="411480"/>
          </a:xfrm>
          <a:prstGeom prst="rect">
            <a:avLst/>
          </a:prstGeom>
          <a:solidFill>
            <a:srgbClr val="FBD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99199" y="49453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179733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060266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40800" y="494538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21333" y="4945380"/>
            <a:ext cx="880533" cy="411480"/>
          </a:xfrm>
          <a:prstGeom prst="rect">
            <a:avLst/>
          </a:prstGeom>
          <a:solidFill>
            <a:srgbClr val="F7B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821333" y="49453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30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701866" y="4945380"/>
            <a:ext cx="880533" cy="411480"/>
          </a:xfrm>
          <a:prstGeom prst="rect">
            <a:avLst/>
          </a:prstGeom>
          <a:solidFill>
            <a:srgbClr val="F18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701866" y="494538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33400" y="5356860"/>
            <a:ext cx="2514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33400" y="5356860"/>
            <a:ext cx="53340" cy="411480"/>
          </a:xfrm>
          <a:prstGeom prst="rect">
            <a:avLst/>
          </a:prstGeom>
          <a:solidFill>
            <a:srgbClr val="2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4840" y="5356860"/>
            <a:ext cx="24003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l"/>
            <a:r>
              <a:rPr sz="830" b="1" i="0">
                <a:solidFill>
                  <a:srgbClr val="1F2937"/>
                </a:solidFill>
                <a:latin typeface="Calibri"/>
              </a:rPr>
              <a:t>EA &amp; Innovation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048000" y="5356860"/>
            <a:ext cx="609600" cy="4114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048000" y="5356860"/>
            <a:ext cx="609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50" b="1" i="0">
                <a:solidFill>
                  <a:srgbClr val="2E5A8F"/>
                </a:solidFill>
                <a:latin typeface="Calibri"/>
              </a:rPr>
              <a:t>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0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538133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418666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299199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179733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060266" y="5356860"/>
            <a:ext cx="880533" cy="411480"/>
          </a:xfrm>
          <a:prstGeom prst="rect">
            <a:avLst/>
          </a:prstGeom>
          <a:solidFill>
            <a:srgbClr val="F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060266" y="53568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0" i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940800" y="5356860"/>
            <a:ext cx="880533" cy="411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821333" y="5356860"/>
            <a:ext cx="880533" cy="411480"/>
          </a:xfrm>
          <a:prstGeom prst="rect">
            <a:avLst/>
          </a:prstGeom>
          <a:solidFill>
            <a:srgbClr val="F5A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821333" y="53568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701866" y="5356860"/>
            <a:ext cx="880533" cy="411480"/>
          </a:xfrm>
          <a:prstGeom prst="rect">
            <a:avLst/>
          </a:prstGeom>
          <a:solidFill>
            <a:srgbClr val="F5A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701866" y="5356860"/>
            <a:ext cx="880533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000" rIns="45000" tIns="15000" bIns="15000">
            <a:spAutoFit/>
          </a:bodyPr>
          <a:lstStyle/>
          <a:p>
            <a:pPr algn="ctr"/>
            <a:r>
              <a:rPr sz="830" b="1" i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33400" y="1981200"/>
            <a:ext cx="11049000" cy="3787140"/>
          </a:xfrm>
          <a:prstGeom prst="rect">
            <a:avLst/>
          </a:prstGeom>
          <a:noFill/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33400" y="58293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Angebot vs. Nachfrage (FTE) – aus % × FTE berechnet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3340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6388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Modern Workplace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6388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19.8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22</a:t>
            </a:r>
            <a:r>
              <a:rPr sz="850" b="1" i="0">
                <a:solidFill>
                  <a:srgbClr val="B91C1C"/>
                </a:solidFill>
                <a:latin typeface="Calibri"/>
              </a:rPr>
              <a:t>  (-2.2)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12598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15646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Network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15646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10.3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10</a:t>
            </a:r>
            <a:r>
              <a:rPr sz="850" b="1" i="0">
                <a:solidFill>
                  <a:srgbClr val="2E7D32"/>
                </a:solidFill>
                <a:latin typeface="Calibri"/>
              </a:rPr>
              <a:t>  (+0.3)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371856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74904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Compute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74904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9.6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10</a:t>
            </a:r>
            <a:r>
              <a:rPr sz="850" b="1" i="0">
                <a:solidFill>
                  <a:srgbClr val="B91C1C"/>
                </a:solidFill>
                <a:latin typeface="Calibri"/>
              </a:rPr>
              <a:t>  (-0.4)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531114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34162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IAM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34162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9.3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9</a:t>
            </a:r>
            <a:r>
              <a:rPr sz="850" b="1" i="0">
                <a:solidFill>
                  <a:srgbClr val="2E7D32"/>
                </a:solidFill>
                <a:latin typeface="Calibri"/>
              </a:rPr>
              <a:t>  (+0.3)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90372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93420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SAP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93420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18.8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18</a:t>
            </a:r>
            <a:r>
              <a:rPr sz="850" b="1" i="0">
                <a:solidFill>
                  <a:srgbClr val="2E7D32"/>
                </a:solidFill>
                <a:latin typeface="Calibri"/>
              </a:rPr>
              <a:t>  (+0.8)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49630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FD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52678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Data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52678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9.1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10</a:t>
            </a:r>
            <a:r>
              <a:rPr sz="850" b="1" i="0">
                <a:solidFill>
                  <a:srgbClr val="B91C1C"/>
                </a:solidFill>
                <a:latin typeface="Calibri"/>
              </a:rPr>
              <a:t>  (-0.9)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0088880" y="6096000"/>
            <a:ext cx="1569720" cy="5715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119360" y="611886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760" b="1" i="0">
                <a:solidFill>
                  <a:srgbClr val="1F2937"/>
                </a:solidFill>
                <a:latin typeface="Calibri"/>
              </a:rPr>
              <a:t>Service Desk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119360" y="6339840"/>
            <a:ext cx="150876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000" rIns="45000" tIns="15000" bIns="15000">
            <a:spAutoFit/>
          </a:bodyPr>
          <a:lstStyle/>
          <a:p>
            <a:pPr algn="l"/>
            <a:r>
              <a:rPr sz="900" b="1" i="0">
                <a:solidFill>
                  <a:srgbClr val="2E5A8F"/>
                </a:solidFill>
                <a:latin typeface="Calibri"/>
              </a:rPr>
              <a:t>10.3</a:t>
            </a:r>
            <a:r>
              <a:rPr sz="800" b="0" i="0">
                <a:solidFill>
                  <a:srgbClr val="4B5563"/>
                </a:solidFill>
                <a:latin typeface="Calibri"/>
              </a:rPr>
              <a:t> /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10</a:t>
            </a:r>
            <a:r>
              <a:rPr sz="850" b="1" i="0">
                <a:solidFill>
                  <a:srgbClr val="2E7D32"/>
                </a:solidFill>
                <a:latin typeface="Calibri"/>
              </a:rPr>
              <a:t>  (+0.3)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