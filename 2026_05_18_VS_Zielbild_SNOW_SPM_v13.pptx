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2147483633" r:id="rId19"/>
    <p:sldId id="569" r:id="rId15"/>
    <p:sldId id="570" r:id="rId16"/>
    <p:sldId id="2147483631" r:id="rId17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9" Type="http://schemas.openxmlformats.org/officeDocument/2006/relationships/slide" Target="slides/slide12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Bewertung der Plattformstrategie mit 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Wirtschaftlichkeit (TCO) · Vergleich SPM-Plattform vs. Best-of-Breed · Gartner Executive Summary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715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Vergleichsmatrix – SPM-Plattform vs. Best-of-Breed (Gartner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62000"/>
            <a:ext cx="28956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76200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Kriterium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762000"/>
            <a:ext cx="42672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6600" y="762000"/>
            <a:ext cx="4114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7600" y="762000"/>
            <a:ext cx="44196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7620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(z. B. Planisware, Meisterplan)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51560"/>
            <a:ext cx="11582400" cy="2667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800" y="105156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105156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05156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6600" y="105156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Nativ integriert über Strategie, Portfolio, Projekte, Produkte, IT,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05156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Hohe Integrationskosten, oft Schnittstellen-Risiken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800" y="1333500"/>
            <a:ext cx="11582400" cy="2667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4800" y="133350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" y="133350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Datenmodell &amp;
Governance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33350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6600" y="133350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Einheitlich, plattformweit, KPI-konsistent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33350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Unterschiedliche Datenmodelle, Risiko für Schatten-Reporting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800" y="1615440"/>
            <a:ext cx="11582400" cy="2667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4800" y="161544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161544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Collaboration &amp;
Workflow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161544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6600" y="161544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Durchgängige Workflows über Teams hinweg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161544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Mehrere Tools – Medienbrüche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800" y="1897380"/>
            <a:ext cx="11582400" cy="2667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4800" y="189738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000" y="189738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TCO / Betrieb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189738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6600" y="189738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Geringer Footprint (eine Plattform)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189738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Höhere Betriebs-/Lizenz-Kosten (mehrere Produkte + Integrationen)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2179320"/>
            <a:ext cx="11582400" cy="2667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217932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000" y="217932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Transparenz &amp;
Reporting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217932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6600" y="217932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Single Source of Truth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17932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Aggregation aufwendig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4800" y="2461260"/>
            <a:ext cx="11582400" cy="2667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800" y="246126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1000" y="246126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246126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76600" y="246126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Plattformweit nutzbar, MQ-Leader bei ITSM-AI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246126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Jeder Vendor separat, unterschiedliche Reife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4800" y="2743200"/>
            <a:ext cx="11582400" cy="2667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4800" y="2743200"/>
            <a:ext cx="2895600" cy="2667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000" y="274320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Fit für STIHL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2743200"/>
            <a:ext cx="45720" cy="2667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76600" y="2743200"/>
            <a:ext cx="41757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Sehr hoch (bestehende Plattform-Strategie)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2743200"/>
            <a:ext cx="43281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Niedriger (erfordert Umbauten und Mehr-System-Standards)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4800" y="3101340"/>
            <a:ext cx="53340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9100" y="3101340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TCO-Dimensionen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4800" y="3444240"/>
            <a:ext cx="5334000" cy="2895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7200" y="365760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65760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356616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Lizenzkosten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400812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00812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391668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Implementierung &amp; Integration</a:t>
            </a:r>
          </a:p>
        </p:txBody>
      </p:sp>
      <p:sp>
        <p:nvSpPr>
          <p:cNvPr id="65" name="Oval 64"/>
          <p:cNvSpPr/>
          <p:nvPr/>
        </p:nvSpPr>
        <p:spPr>
          <a:xfrm>
            <a:off x="457200" y="435864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35864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426720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Customizing / Configuration</a:t>
            </a:r>
          </a:p>
        </p:txBody>
      </p:sp>
      <p:sp>
        <p:nvSpPr>
          <p:cNvPr id="68" name="Oval 67"/>
          <p:cNvSpPr/>
          <p:nvPr/>
        </p:nvSpPr>
        <p:spPr>
          <a:xfrm>
            <a:off x="457200" y="470916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461772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Schnittstellen (APIs) · Datenkonsistenz · Pflege</a:t>
            </a:r>
          </a:p>
        </p:txBody>
      </p:sp>
      <p:sp>
        <p:nvSpPr>
          <p:cNvPr id="71" name="Oval 70"/>
          <p:cNvSpPr/>
          <p:nvPr/>
        </p:nvSpPr>
        <p:spPr>
          <a:xfrm>
            <a:off x="457200" y="505968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05968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496824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Betrieb &amp; Wartung</a:t>
            </a:r>
          </a:p>
        </p:txBody>
      </p:sp>
      <p:sp>
        <p:nvSpPr>
          <p:cNvPr id="74" name="Oval 73"/>
          <p:cNvSpPr/>
          <p:nvPr/>
        </p:nvSpPr>
        <p:spPr>
          <a:xfrm>
            <a:off x="457200" y="541020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41020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531876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Release-Management</a:t>
            </a:r>
          </a:p>
        </p:txBody>
      </p:sp>
      <p:sp>
        <p:nvSpPr>
          <p:cNvPr id="77" name="Oval 76"/>
          <p:cNvSpPr/>
          <p:nvPr/>
        </p:nvSpPr>
        <p:spPr>
          <a:xfrm>
            <a:off x="457200" y="5760720"/>
            <a:ext cx="121920" cy="1219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76072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7700" y="566928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Support-Strukturen (intern FTE &amp; extern)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111240"/>
            <a:ext cx="50292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TCO basiert auf Annahmen / Schätzungen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791200" y="3101340"/>
            <a:ext cx="60960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05500" y="3101340"/>
            <a:ext cx="5867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791200" y="3444240"/>
            <a:ext cx="6096000" cy="2895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905500" y="3520440"/>
            <a:ext cx="5867400" cy="838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981700" y="3596640"/>
            <a:ext cx="228600" cy="228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81700" y="35966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86500" y="3566160"/>
            <a:ext cx="541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86500" y="3779520"/>
            <a:ext cx="54102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Nur eine Plattform ermöglicht echte End-to-End-Governance über Strategie, Projekte, Produkte, IT &amp; Finance hinweg.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05500" y="4434840"/>
            <a:ext cx="5867400" cy="838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981700" y="4511040"/>
            <a:ext cx="228600" cy="228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981700" y="45110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86500" y="4480560"/>
            <a:ext cx="541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86500" y="4693920"/>
            <a:ext cx="54102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05500" y="5349240"/>
            <a:ext cx="5867400" cy="838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981700" y="5425440"/>
            <a:ext cx="228600" cy="228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981700" y="54254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86500" y="5394960"/>
            <a:ext cx="541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86500" y="5608320"/>
            <a:ext cx="54102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43600" y="6156960"/>
            <a:ext cx="5791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Gartner 2025 – Pure-Play Versus Platform, Comparing SPM and APMR Solutions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800" y="657606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 aus 'Bewertung_der_Plattformstrategie_mit_ServiceNow.pptx' (TCO · Vergleichsmatrix · Gartner Executive Summary).</a:t>
            </a:r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