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6858000" cy="9144000"/>
  <p:custDataLst>
    <p:tags r:id="rId1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7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tags" Target="tags/tag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8/10/relationships/authors" Target="authors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tags" Target="../tags/tag2.xml"/><Relationship Id="rId28" Type="http://schemas.openxmlformats.org/officeDocument/2006/relationships/tags" Target="../tags/tag3.xml"/><Relationship Id="rId29" Type="http://schemas.openxmlformats.org/officeDocument/2006/relationships/oleObject" Target="../embeddings/oleObject1.bin"/><Relationship Id="rId30" Type="http://schemas.openxmlformats.org/officeDocument/2006/relationships/image" Target="../media/image1.emf"/><Relationship Id="rId31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408" imgH="408" progId="TCLayout.ActiveDocument.1">
                  <p:embed/>
                </p:oleObj>
              </mc:Choice>
              <mc:Fallback>
                <p:oleObj name="think-cell Slide" r:id="rId29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‹Nr.›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2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Bewertung der Plattform-Strategie mit ServiceNow · nach 4 Vorstands-Aufgaben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Alex Passaro · Torsten Zahn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Stand: 08.07.2026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Case SEPM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Inhaltsverzeichnis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655564" cy="85953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655564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4904" y="1014984"/>
            <a:ext cx="329184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014984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96696"/>
            <a:ext cx="510692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AUFGABE 1 — Massnahmen-Mgmt 'Hype'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" y="1417320"/>
            <a:ext cx="292608" cy="22860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417320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417320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Hype = OUT OF SCOPE — Begruendung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" y="1956816"/>
            <a:ext cx="5655564" cy="144475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1752" y="1956816"/>
            <a:ext cx="5655564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904" y="2011680"/>
            <a:ext cx="329184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2011680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993392"/>
            <a:ext cx="510692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AUFGABE 2 — SNOW-Prozessabdeckung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" y="2414016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2414016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14016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Schluesselprozesse @ STIHL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" y="2706624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706624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2706624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Reifebewertung ServiceNow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" y="2999232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299923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2999232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Alternativen (mit Nachteilen)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" y="3538728"/>
            <a:ext cx="5655564" cy="17373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01752" y="3538728"/>
            <a:ext cx="5655564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74904" y="3593592"/>
            <a:ext cx="329184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" y="3593592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575304"/>
            <a:ext cx="510692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AUFGABE 3 — Governance-Strukturen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3192" y="3995928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3995928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3995928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Governance-Modelle A / B / 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3192" y="4288536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4288536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4288536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Was aendert sich pro Schluesselprozess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3192" y="4581144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4581144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4581144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Benefits (Zeit · Qualitaet · Kosten)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3192" y="4873752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487375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" y="4873752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Einmalaufwaende + Betriebsthemen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31636" y="960120"/>
            <a:ext cx="5655564" cy="17373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31636" y="960120"/>
            <a:ext cx="5655564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04788" y="1014984"/>
            <a:ext cx="329184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4788" y="1014984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07123" y="996696"/>
            <a:ext cx="510692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AUFGABE 4 — Plattform-Abhaengigkeit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23075" y="1417320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3075" y="1417320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88836" y="1417320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Risikomatrix neu (BoB vs. Plattform)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23075" y="1709928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3075" y="1709928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88836" y="1709928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Lockin Pro/Con + Anpassungsaufwaende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23075" y="2002536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3075" y="2002536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88836" y="2002536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SAP-SNOW Vergleich + Vertragshistorie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23075" y="2295144"/>
            <a:ext cx="292608" cy="228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23075" y="2295144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88836" y="2295144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Referenzkunden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31636" y="2834639"/>
            <a:ext cx="5655564" cy="202996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231636" y="2834639"/>
            <a:ext cx="5655564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304788" y="2889503"/>
            <a:ext cx="329184" cy="25603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4788" y="2889503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07123" y="2871215"/>
            <a:ext cx="510692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GESAMTDARSTELLUNG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23075" y="3291839"/>
            <a:ext cx="292608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23075" y="3291839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88836" y="3291839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Qualitative Analyse (5 Dimensionen)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23075" y="3584447"/>
            <a:ext cx="292608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23075" y="3584447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88836" y="3584447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Strategische Ausrichtung / neue Geschaeftsfelder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23075" y="3877055"/>
            <a:ext cx="292608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23075" y="3877055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88836" y="3877055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TCO und Betrieb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23075" y="4169663"/>
            <a:ext cx="292608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23075" y="4169663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88836" y="4169663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Umsetzungsvorschlag Szenario 1 + 2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323075" y="4462272"/>
            <a:ext cx="292608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23075" y="446227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88836" y="4462272"/>
            <a:ext cx="51069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Empfehlung + Entscheidungsvorlage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1752" y="6172200"/>
            <a:ext cx="115854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Farben: rot = out of scope, navy = Kapitel-Detail, orange = Gesamtdarstellung / Empfehlung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Rahmen — 4 Aufgaben aus dem Vorstandsprotokoll SEPM (01.07.2026)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96012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Aufgabe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4792" y="96012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Fragestellung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192" y="96012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Ansatz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4472" y="96012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Status / Ergebnis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14632" y="960120"/>
            <a:ext cx="57607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Folie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" y="1325880"/>
            <a:ext cx="11585448" cy="9601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" y="1325880"/>
            <a:ext cx="91440" cy="960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32588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B91C1C"/>
                </a:solidFill>
                <a:latin typeface="Calibri"/>
              </a:rPr>
              <a:t>A1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1399032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Ablose Software 'Hype' (Massnahmenmgmt) durch SNOW?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139903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Hype stark angepasst → OUT-OF-SCOPE-Begruendung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34472" y="1645920"/>
            <a:ext cx="1188720" cy="329184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34472" y="164592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OUT OF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14632" y="132588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" y="2331720"/>
            <a:ext cx="11585448" cy="9601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1752" y="2331720"/>
            <a:ext cx="91440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233172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  <a:latin typeface="Calibri"/>
              </a:rPr>
              <a:t>A2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2404872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Kann SNOW die STIHL-Schluesselprozesse abbilden (oder App Engine) — ohne Standardisierung um jeden Preis?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240487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Schluesselprozesse listen · Reife SNOW bewerten · Alternativen mit Nachteilen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34472" y="2651760"/>
            <a:ext cx="1188720" cy="32918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34472" y="265176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14632" y="233172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5-7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" y="3337560"/>
            <a:ext cx="11585448" cy="9601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1752" y="3337560"/>
            <a:ext cx="91440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333756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  <a:latin typeface="Calibri"/>
              </a:rPr>
              <a:t>A3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3410712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Governance-Strukturen bewerten — Komplexitaet in der Organisation vermeiden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341071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Governance-Modelle A/B/C · Prozess-Governance · Benefits · Aufwaende · Betrieb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34472" y="3657600"/>
            <a:ext cx="1188720" cy="32918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34472" y="365760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914632" y="333756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8-11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" y="4343400"/>
            <a:ext cx="11585448" cy="9601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1752" y="4343400"/>
            <a:ext cx="91440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434340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  <a:latin typeface="Calibri"/>
              </a:rPr>
              <a:t>A4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64792" y="4416552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Abhaengigkeitsrisiko SNOW (Vergleich SAP) im Folgeprojekt bewerten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51192" y="441655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Risikomatrix neu · Lockin/Vibe Coding · SAP-Vergleich · Vertragshistorie · Referenzen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34472" y="4663440"/>
            <a:ext cx="1188720" cy="32918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34472" y="466344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914632" y="434340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12-15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752" y="5349240"/>
            <a:ext cx="11585448" cy="9601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01752" y="5349240"/>
            <a:ext cx="91440" cy="9601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" y="534924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07F12"/>
                </a:solidFill>
                <a:latin typeface="Calibri"/>
              </a:rPr>
              <a:t>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64792" y="5422392"/>
            <a:ext cx="5394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Gesamtdarstellung fuer Vorstand + Entscheidungsvorlage (VS Q3/2026)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51192" y="542239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Qualitative Analyse · Strategische Ausrichtung · TCO · Szenarien 1+2 · Empfehlung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34472" y="5669280"/>
            <a:ext cx="1188720" cy="32918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34472" y="566928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914632" y="5349240"/>
            <a:ext cx="6400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16-20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1 — Massnahmen-Management 'Hype': OUT OF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85800"/>
          </a:xfrm>
          <a:prstGeom prst="roundRect">
            <a:avLst/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91440" cy="6858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960120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Calibri"/>
              </a:rPr>
              <a:t>STATUS: OUT OF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9672" y="960120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Vorstands-Vorschlag: Hype-Ablose nicht Teil dieser Untersuchung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" y="1828800"/>
            <a:ext cx="5724144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" y="1828800"/>
            <a:ext cx="5724144" cy="38404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3192" y="188366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88366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B91C1C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83664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Stark customized ueber Jahre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331720"/>
            <a:ext cx="544982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Hype wurde ueber mehrere Release-Zyklen fuer STIHL-spezifische Massnahmen-Logik erweitert. Eine Ablose muesste alle Customizings inhaltlich nachziehen — enormer Migrationsaufwand.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828800"/>
            <a:ext cx="5724144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3056" y="1828800"/>
            <a:ext cx="5724144" cy="38404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54496" y="188366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88366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B91C1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1883664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Zusatzfunktionen mit hoher Fachtiefe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31720"/>
            <a:ext cx="544982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Hype-Funktionen fuer Zielkosten-Verfolgung / Massnahmen-Backlog sind stark in der Produktentwicklung verwurzelt. Nicht 1:1 auf SNOW SPM abbildbar ohne massive Anpassung.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" y="4069079"/>
            <a:ext cx="5724144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01752" y="4069079"/>
            <a:ext cx="5724144" cy="384048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3192" y="4123943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4123943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E96C0C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123943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Keine PPM-Kernfunktion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4571999"/>
            <a:ext cx="544982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Hype gehoert nicht in den Kern des Portfolio-Managements. Der Business Case konzentriert sich auf Strategy, Portfolio, Demand, Projekt- und Ressourcen-Management — nicht auf Massnahmen-Details.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4069079"/>
            <a:ext cx="5724144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63056" y="4069079"/>
            <a:ext cx="5724144" cy="384048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54496" y="4123943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4123943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E96C0C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4536" y="4123943"/>
            <a:ext cx="52212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Vermeidung von Scope-Creep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571999"/>
            <a:ext cx="544982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Erweiterung um Hype wuerde die Aufwaende und Risiken erheblich vergroessern und den Zeitplan fuer die Jahresplanung 2027 gefaehrden.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" y="6355079"/>
            <a:ext cx="11585448" cy="502920"/>
          </a:xfrm>
          <a:prstGeom prst="roundRect">
            <a:avLst/>
          </a:prstGeom>
          <a:solidFill>
            <a:srgbClr val="FFF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1752" y="6355079"/>
            <a:ext cx="73152" cy="502920"/>
          </a:xfrm>
          <a:prstGeom prst="rect">
            <a:avLst/>
          </a:prstGeom>
          <a:solidFill>
            <a:srgbClr val="F5C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355079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Zukunftsoption: lose Integration Hype ↔ SNOW (z.B. Massnahmen-Referenz auf Portfolio-Ebene) im spaeteren Projekt-Follow-up — nicht Teil dieses Business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2 — Schluesselprozesse @ STIHL  (aus Excel-Liste)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73152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Basis fuer die Reife-Bewertung: 8 zentrale STIHL-Schluesselprozesse rund um das Portfolio-Management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645920"/>
            <a:ext cx="2793492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" y="1645920"/>
            <a:ext cx="2793492" cy="5486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1480" y="1828800"/>
            <a:ext cx="365760" cy="36576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783080"/>
            <a:ext cx="2107692" cy="1097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Strategisches Portfolio-
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017520"/>
            <a:ext cx="2519172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OKR-Verfolgung, Konzern-Priorisierung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2404" y="1645920"/>
            <a:ext cx="2793492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32404" y="1645920"/>
            <a:ext cx="2793492" cy="5486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42132" y="1828800"/>
            <a:ext cx="365760" cy="36576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2132" y="18288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1044" y="1783080"/>
            <a:ext cx="2107692" cy="1097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Demand-Management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9564" y="3017520"/>
            <a:ext cx="2519172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Idee bis Vorhaben, Freigabe-Workflow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1645920"/>
            <a:ext cx="2793492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3056" y="1645920"/>
            <a:ext cx="2793492" cy="5486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72784" y="1828800"/>
            <a:ext cx="365760" cy="36576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18288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1696" y="1783080"/>
            <a:ext cx="2107692" cy="1097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Projekt- &amp; Ressourcen-
planung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3017520"/>
            <a:ext cx="2519172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Ressourcen, Skills, Kapazitaeten, Gantt/Agile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3708" y="1645920"/>
            <a:ext cx="2793492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3708" y="1645920"/>
            <a:ext cx="2793492" cy="5486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03436" y="1828800"/>
            <a:ext cx="365760" cy="36576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03436" y="18288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2348" y="1783080"/>
            <a:ext cx="2107692" cy="1097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0868" y="3017520"/>
            <a:ext cx="2519172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Ampel-Reporting, KPI-Dashboards Vorstand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1752" y="4160520"/>
            <a:ext cx="2793492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1752" y="4160520"/>
            <a:ext cx="2793492" cy="54864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11480" y="4343400"/>
            <a:ext cx="365760" cy="36576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343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4297680"/>
            <a:ext cx="2107692" cy="1097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Entwicklungsprojekte (PEP)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5532120"/>
            <a:ext cx="2519172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Stage-Gate, Reifegrade, Product-Backlog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32404" y="4160520"/>
            <a:ext cx="2793492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32404" y="4160520"/>
            <a:ext cx="2793492" cy="54864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42132" y="4343400"/>
            <a:ext cx="365760" cy="36576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2132" y="4343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1044" y="4297680"/>
            <a:ext cx="2107692" cy="1097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EV-Prozess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69564" y="5532120"/>
            <a:ext cx="2519172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Entscheidungsvorlage, Freigabe-Workflow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63056" y="4160520"/>
            <a:ext cx="2793492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63056" y="4160520"/>
            <a:ext cx="2793492" cy="54864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272784" y="4343400"/>
            <a:ext cx="365760" cy="36576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72784" y="4343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11696" y="4297680"/>
            <a:ext cx="2107692" cy="1097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Application Portfolio Mgmt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0216" y="5532120"/>
            <a:ext cx="2519172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Anwendungs-Lifecycle, Kosten, TCO je App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93708" y="4160520"/>
            <a:ext cx="2793492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93708" y="4160520"/>
            <a:ext cx="2793492" cy="5486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03436" y="4343400"/>
            <a:ext cx="365760" cy="36576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03436" y="4343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2348" y="4297680"/>
            <a:ext cx="2107692" cy="1097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Massnahmen-Management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0868" y="5532120"/>
            <a:ext cx="2519172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Zielkosten-Steuerung Produktentw. (Hype!)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752" y="6172200"/>
            <a:ext cx="115854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Farbe:  orange = klassische PPM-Prozesse  ·  navy = SNOW-nahe Erweiterung  ·  rot = out of scope (Hype)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2 — Reifebewertung ServiceNow pro Schluesselprozess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Schluesselprozess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6512" y="960120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SNOW-Modul / Ansatz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96912" y="96012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Reifegrad (1-5)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82912" y="960120"/>
            <a:ext cx="230428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Kommentar / Handlungsbedarf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" y="1289304"/>
            <a:ext cx="11585448" cy="56692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289304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Strategisches Portfolio-Mgmt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791" y="1289304"/>
            <a:ext cx="30632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SPM Pro · Strategic Planning</a:t>
            </a:r>
          </a:p>
        </p:txBody>
      </p:sp>
      <p:sp>
        <p:nvSpPr>
          <p:cNvPr id="12" name="Oval 11"/>
          <p:cNvSpPr/>
          <p:nvPr/>
        </p:nvSpPr>
        <p:spPr>
          <a:xfrm>
            <a:off x="7388352" y="1435608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17536" y="1435608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0" y="1435608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75904" y="1435608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05088" y="1435608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5711" y="1289304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5/5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5792" y="1289304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Standard, direkt einsetzbar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" y="1892808"/>
            <a:ext cx="11585448" cy="56692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1892808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Demand-Management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1892808"/>
            <a:ext cx="30632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SPM Pro · Demand Mgmt</a:t>
            </a:r>
          </a:p>
        </p:txBody>
      </p:sp>
      <p:sp>
        <p:nvSpPr>
          <p:cNvPr id="22" name="Oval 21"/>
          <p:cNvSpPr/>
          <p:nvPr/>
        </p:nvSpPr>
        <p:spPr>
          <a:xfrm>
            <a:off x="7388352" y="2039112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17536" y="2039112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46720" y="2039112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75904" y="2039112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05088" y="2039112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5711" y="1892808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5/5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89280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Standard, direkt einsetzbar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" y="2496312"/>
            <a:ext cx="11585448" cy="56692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2496312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Projekt- &amp; Ressourcenplanung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50791" y="2496312"/>
            <a:ext cx="30632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SPM Pro · Project &amp; Resource</a:t>
            </a:r>
          </a:p>
        </p:txBody>
      </p:sp>
      <p:sp>
        <p:nvSpPr>
          <p:cNvPr id="32" name="Oval 31"/>
          <p:cNvSpPr/>
          <p:nvPr/>
        </p:nvSpPr>
        <p:spPr>
          <a:xfrm>
            <a:off x="7388352" y="264261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17536" y="264261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46720" y="264261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75904" y="264261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05088" y="2642616"/>
            <a:ext cx="274320" cy="2743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25711" y="2496312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4/5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5792" y="249631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Standard, kleinere Anpassung fuer VEW/VPM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1752" y="3099816"/>
            <a:ext cx="11585448" cy="56692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3099816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50791" y="3099816"/>
            <a:ext cx="30632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SPM Pro · Performance Analytics</a:t>
            </a:r>
          </a:p>
        </p:txBody>
      </p:sp>
      <p:sp>
        <p:nvSpPr>
          <p:cNvPr id="42" name="Oval 41"/>
          <p:cNvSpPr/>
          <p:nvPr/>
        </p:nvSpPr>
        <p:spPr>
          <a:xfrm>
            <a:off x="7388352" y="324612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17536" y="324612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046720" y="324612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375904" y="324612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705088" y="324612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25711" y="3099816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5/5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65792" y="3099816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Standard, Live-Dashboards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1752" y="3703320"/>
            <a:ext cx="11585448" cy="56692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3703320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Entwicklungsprojekte (PEP)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50791" y="3703320"/>
            <a:ext cx="30632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SPM Pro + App Engine</a:t>
            </a:r>
          </a:p>
        </p:txBody>
      </p:sp>
      <p:sp>
        <p:nvSpPr>
          <p:cNvPr id="52" name="Oval 51"/>
          <p:cNvSpPr/>
          <p:nvPr/>
        </p:nvSpPr>
        <p:spPr>
          <a:xfrm>
            <a:off x="7388352" y="3849624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717536" y="3849624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046720" y="3849624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375904" y="3849624"/>
            <a:ext cx="274320" cy="2743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705088" y="3849624"/>
            <a:ext cx="274320" cy="2743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25711" y="3703320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3/5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65792" y="370332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Stage-Gate teils Standard, PEP-Detail via App Engine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01752" y="4306824"/>
            <a:ext cx="11585448" cy="56692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8912" y="4306824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EV-Prozess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50791" y="4306824"/>
            <a:ext cx="30632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App Engine (Low-Code Workflow)</a:t>
            </a:r>
          </a:p>
        </p:txBody>
      </p:sp>
      <p:sp>
        <p:nvSpPr>
          <p:cNvPr id="62" name="Oval 61"/>
          <p:cNvSpPr/>
          <p:nvPr/>
        </p:nvSpPr>
        <p:spPr>
          <a:xfrm>
            <a:off x="7388352" y="445312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717536" y="445312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46720" y="445312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75904" y="4453128"/>
            <a:ext cx="274320" cy="2743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05088" y="4453128"/>
            <a:ext cx="274320" cy="2743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25711" y="4306824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3/5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65792" y="4306824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kein Modul, aber gut mit App Engine baubar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01752" y="4910328"/>
            <a:ext cx="11585448" cy="56692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8912" y="4910328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Application Portfolio Mgmt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50791" y="4910328"/>
            <a:ext cx="30632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SNOW APM (bereits vorhanden)</a:t>
            </a:r>
          </a:p>
        </p:txBody>
      </p:sp>
      <p:sp>
        <p:nvSpPr>
          <p:cNvPr id="72" name="Oval 71"/>
          <p:cNvSpPr/>
          <p:nvPr/>
        </p:nvSpPr>
        <p:spPr>
          <a:xfrm>
            <a:off x="7388352" y="5056632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17536" y="5056632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046720" y="5056632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75904" y="5056632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705088" y="5056632"/>
            <a:ext cx="274320" cy="2743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25711" y="4910328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4/5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65792" y="491032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Erweiterung des vorhandenen ITSM/APM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01752" y="5513832"/>
            <a:ext cx="11585448" cy="56692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8912" y="5513832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Massnahmen-Management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50791" y="5513832"/>
            <a:ext cx="30632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— (out of scope)</a:t>
            </a:r>
          </a:p>
        </p:txBody>
      </p:sp>
      <p:sp>
        <p:nvSpPr>
          <p:cNvPr id="82" name="Oval 81"/>
          <p:cNvSpPr/>
          <p:nvPr/>
        </p:nvSpPr>
        <p:spPr>
          <a:xfrm>
            <a:off x="7388352" y="5660136"/>
            <a:ext cx="274320" cy="2743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717536" y="5660136"/>
            <a:ext cx="274320" cy="2743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046720" y="5660136"/>
            <a:ext cx="274320" cy="2743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375904" y="5660136"/>
            <a:ext cx="274320" cy="2743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705088" y="5660136"/>
            <a:ext cx="274320" cy="2743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25711" y="5513832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65792" y="551383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Hype bleibt, siehe Aufgabe 1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01752" y="6254496"/>
            <a:ext cx="11585448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01752" y="6254496"/>
            <a:ext cx="73152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38912" y="6254496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Fazit:  6 von 7 Prozessen mit Reifegrad ≥ 3 durch SNOW SPM Pro + App Engine abdeckbar. Kein Kernprozess erfordert Standardisierung 'um jeden Preis'.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2 — Alternativen mit aehnlicher Reife: Nachteile im Vergleich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Schluesselprozess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9312" y="960120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Alternative (Best-of-Breed)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2512" y="96012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Reife Alternative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4112" y="960120"/>
            <a:ext cx="41330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Wesentliche Nachteile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" y="1289304"/>
            <a:ext cx="11585448" cy="58521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289304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Strategisches Portfolio-Mgmt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1289304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Planisware, SAP EPPM</a:t>
            </a:r>
          </a:p>
        </p:txBody>
      </p:sp>
      <p:sp>
        <p:nvSpPr>
          <p:cNvPr id="12" name="Oval 11"/>
          <p:cNvSpPr/>
          <p:nvPr/>
        </p:nvSpPr>
        <p:spPr>
          <a:xfrm>
            <a:off x="6336792" y="1463040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74536" y="1463040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12279" y="1463040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50024" y="1463040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87768" y="1463040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1289304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1289304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Separates Tool, keine ITSM-Integration, hoehere TCO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" y="1911096"/>
            <a:ext cx="11585448" cy="585216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1911096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Demand-Management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1911096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Workpath / SharePoint</a:t>
            </a:r>
          </a:p>
        </p:txBody>
      </p:sp>
      <p:sp>
        <p:nvSpPr>
          <p:cNvPr id="22" name="Oval 21"/>
          <p:cNvSpPr/>
          <p:nvPr/>
        </p:nvSpPr>
        <p:spPr>
          <a:xfrm>
            <a:off x="6336792" y="2084832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74536" y="2084832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12279" y="2084832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50024" y="2084832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87768" y="2084832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1911096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1911096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Custom-Bau, kein Standardprodukt, Wartung teuer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" y="2532888"/>
            <a:ext cx="11585448" cy="58521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2532888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Projekt- &amp; Ressourcenplanung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2532888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Planisware Enterprise</a:t>
            </a:r>
          </a:p>
        </p:txBody>
      </p:sp>
      <p:sp>
        <p:nvSpPr>
          <p:cNvPr id="32" name="Oval 31"/>
          <p:cNvSpPr/>
          <p:nvPr/>
        </p:nvSpPr>
        <p:spPr>
          <a:xfrm>
            <a:off x="6336792" y="270662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74536" y="270662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12279" y="270662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50024" y="270662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287768" y="2706624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08392" y="2532888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6992" y="2532888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Sehr maechtig aber personell-hungrig, Insellandschaft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1752" y="3154680"/>
            <a:ext cx="11585448" cy="585216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3154680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3592" y="3154680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Power BI + SharePoint</a:t>
            </a:r>
          </a:p>
        </p:txBody>
      </p:sp>
      <p:sp>
        <p:nvSpPr>
          <p:cNvPr id="42" name="Oval 41"/>
          <p:cNvSpPr/>
          <p:nvPr/>
        </p:nvSpPr>
        <p:spPr>
          <a:xfrm>
            <a:off x="6336792" y="3328416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574536" y="3328416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812279" y="3328416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050024" y="3328416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287768" y="3328416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08392" y="3154680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36992" y="3154680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Nur Dashboarding, keine PPM-Prozess-Integration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1752" y="3776472"/>
            <a:ext cx="11585448" cy="58521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3776472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Entwicklungsprojekte (PEP)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93592" y="3776472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Planisware / Siemens Teamcenter</a:t>
            </a:r>
          </a:p>
        </p:txBody>
      </p:sp>
      <p:sp>
        <p:nvSpPr>
          <p:cNvPr id="52" name="Oval 51"/>
          <p:cNvSpPr/>
          <p:nvPr/>
        </p:nvSpPr>
        <p:spPr>
          <a:xfrm>
            <a:off x="6336792" y="395020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574536" y="395020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812279" y="395020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50024" y="3950208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87768" y="3950208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08392" y="3776472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3776472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Enge Kopplung an PLM, hohe Umstellungskosten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01752" y="4398264"/>
            <a:ext cx="11585448" cy="585216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8912" y="4398264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EV-Prozess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3592" y="4398264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Lucom + SharePoint</a:t>
            </a:r>
          </a:p>
        </p:txBody>
      </p:sp>
      <p:sp>
        <p:nvSpPr>
          <p:cNvPr id="62" name="Oval 61"/>
          <p:cNvSpPr/>
          <p:nvPr/>
        </p:nvSpPr>
        <p:spPr>
          <a:xfrm>
            <a:off x="6336792" y="4572000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574536" y="4572000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812279" y="4572000"/>
            <a:ext cx="201168" cy="20116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050024" y="4572000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87768" y="4572000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08392" y="4398264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4398264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Bestand, aber Wartungsvertrag limitiert, Insel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01752" y="5020056"/>
            <a:ext cx="11585448" cy="58521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8912" y="5020056"/>
            <a:ext cx="3063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Application Portfolio Mgmt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93592" y="5020056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LeanIX / eigenes Excel</a:t>
            </a:r>
          </a:p>
        </p:txBody>
      </p:sp>
      <p:sp>
        <p:nvSpPr>
          <p:cNvPr id="72" name="Oval 71"/>
          <p:cNvSpPr/>
          <p:nvPr/>
        </p:nvSpPr>
        <p:spPr>
          <a:xfrm>
            <a:off x="6336792" y="5193792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574536" y="5193792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812279" y="5193792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050024" y="5193792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287768" y="5193792"/>
            <a:ext cx="201168" cy="201168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08392" y="5020056"/>
            <a:ext cx="1920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(Best-of-Breed)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36992" y="5020056"/>
            <a:ext cx="420624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B91C1C"/>
                </a:solidFill>
                <a:latin typeface="Calibri"/>
              </a:rPr>
              <a:t>Zusatzliches Tool, kein Anschluss an SPM/Demand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01752" y="5779008"/>
            <a:ext cx="11585448" cy="502920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01752" y="5779008"/>
            <a:ext cx="73152" cy="5029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8912" y="5779008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Kernaussage:  Alternativen haben aehnliche Reife, aber alle bringen Insel-Betrieb, hoehere TCO und fehlende Prozess-Integration mit sich — SNOW ist strategisch ueberlegen.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3 — Governance-Modelle:  A · Vollharmonisiert  ·  B · Foederiert  ·  C · Status quo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73152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Bewertung dreier Governance-Modelle — B (Foederiert) wird empfohlen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645920"/>
            <a:ext cx="11585448" cy="38404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64592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Szenario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1645920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Governance-Modell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164592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FTE (laufend)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164592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Komplexitaet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4432" y="1645920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Change (einmalig)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" y="2066544"/>
            <a:ext cx="11585448" cy="10515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" y="2066544"/>
            <a:ext cx="109728" cy="10515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066544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A · Vollharmonisiert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2066544"/>
            <a:ext cx="35204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 Standard, comply-or-explain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76872" y="2340864"/>
            <a:ext cx="118872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234086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niedrig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14232" y="2340864"/>
            <a:ext cx="118872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4232" y="234086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niedrig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51592" y="2340864"/>
            <a:ext cx="1188720" cy="50292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51592" y="234086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" y="3163824"/>
            <a:ext cx="11585448" cy="105156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1752" y="3163824"/>
            <a:ext cx="109728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163824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2E7D32"/>
                </a:solidFill>
                <a:latin typeface="Calibri"/>
              </a:rPr>
              <a:t>B · Foederiert  (Empfehlung)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2112" y="3163824"/>
            <a:ext cx="35204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Standard + wenige def. Varianten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76872" y="3438144"/>
            <a:ext cx="1188720" cy="502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343814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14232" y="3438144"/>
            <a:ext cx="1188720" cy="502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14232" y="343814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3438144"/>
            <a:ext cx="1188720" cy="502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51592" y="343814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109960" y="3255264"/>
            <a:ext cx="685800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09960" y="3255264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★ EMPF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" y="4261104"/>
            <a:ext cx="11585448" cy="10515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1752" y="4261104"/>
            <a:ext cx="109728" cy="10515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4261104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C · Status quo digitalisiert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82112" y="4261104"/>
            <a:ext cx="35204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je Fachbereich eigenes Modell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76872" y="4535424"/>
            <a:ext cx="1188720" cy="50292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76872" y="453542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14232" y="4535424"/>
            <a:ext cx="1188720" cy="50292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14232" y="453542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51592" y="4535424"/>
            <a:ext cx="118872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51592" y="4535424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niedrig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" y="5449823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FTE-Zahlen werden im Folgeprojekt bottom-up je Governance-Rolle × Fachbereich × Standardisierungsgrad ermittelt.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" y="5769863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Bewertung: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673352" y="5788151"/>
            <a:ext cx="219456" cy="16459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65960" y="5769863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niedrig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27832" y="5788151"/>
            <a:ext cx="219456" cy="16459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40" y="5769863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mittel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82312" y="5788151"/>
            <a:ext cx="219456" cy="164592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74920" y="5769863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hoch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3 — Was aendert sich pro Schluesselprozess  (Prozess-Governance)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Schluesselprozess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9312" y="96012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Heute (Rollen · Owner)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4032" y="96012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Mit SEPM (Rollen · Owner)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88752" y="960120"/>
            <a:ext cx="12984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Delta / Governance-Anspruch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23192" y="960120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Aufwand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" y="1289304"/>
            <a:ext cx="11585448" cy="62179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289304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Strat. Portfolio-Mgmt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289304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Excel · dezentral, VS-Sekretariat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1289304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SPM · Portfolio-Board (SCD/SEH)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43032" y="1426464"/>
            <a:ext cx="1097280" cy="34747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43032" y="1426464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86032" y="1289304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  <a:latin typeface="Calibri"/>
              </a:rPr>
              <a:t>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" y="1947672"/>
            <a:ext cx="11585448" cy="621792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1947672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Demand-Management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194767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SharePoint · manuell je Ressort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194767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Demand · Fachbereich + IT-Demand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43032" y="2084831"/>
            <a:ext cx="1097280" cy="34747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43032" y="2084831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86032" y="1947672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07F12"/>
                </a:solidFill>
                <a:latin typeface="Calibri"/>
              </a:rPr>
              <a:t>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" y="2606040"/>
            <a:ext cx="11585448" cy="62179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2606040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Projekt-/Ressourcen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3592" y="260604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PIT · Ressort-Leitung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312" y="260604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PM/RM · zentral + Ressort-Owner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43032" y="2743200"/>
            <a:ext cx="1097280" cy="34747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43032" y="274320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86032" y="2606040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07F12"/>
                </a:solidFill>
                <a:latin typeface="Calibri"/>
              </a:rPr>
              <a:t>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1752" y="3264408"/>
            <a:ext cx="11585448" cy="621792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264408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Reporting/Dashboards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93592" y="3264408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Excel · manuell Zusammenstellen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3264408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Live-Dashboards · Self-Service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43032" y="3401568"/>
            <a:ext cx="1097280" cy="34747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43032" y="3401568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gering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86032" y="3264408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  <a:latin typeface="Calibri"/>
              </a:rPr>
              <a:t>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1752" y="3922776"/>
            <a:ext cx="11585448" cy="62179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3922776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Entwicklungs-Projekte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93592" y="3922776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PIT + Excel · EWW Portfolio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8312" y="3922776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SPM + App Engine · EWW-Board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43032" y="4059936"/>
            <a:ext cx="1097280" cy="347472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43032" y="4059936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hoch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86032" y="3922776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B91C1C"/>
                </a:solidFill>
                <a:latin typeface="Calibri"/>
              </a:rPr>
              <a:t>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1752" y="4581144"/>
            <a:ext cx="11585448" cy="621792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4581144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EV-Prozess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3592" y="4581144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Lucom + manuelle Freigabe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68312" y="4581144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App-Engine-Workflow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43032" y="4718304"/>
            <a:ext cx="1097280" cy="34747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43032" y="4718304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86032" y="4581144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07F12"/>
                </a:solidFill>
                <a:latin typeface="Calibri"/>
              </a:rPr>
              <a:t>●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1752" y="5239512"/>
            <a:ext cx="11585448" cy="62179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2" y="5239512"/>
            <a:ext cx="3063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App Portfolio Mgmt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93592" y="523951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kein zentraler Owner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68312" y="5239512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C3E50"/>
                </a:solidFill>
                <a:latin typeface="Calibri"/>
              </a:rPr>
              <a:t>SNOW APM · IT-Architektur-Board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543032" y="5376672"/>
            <a:ext cx="1097280" cy="34747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43032" y="537667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86032" y="5239512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07F12"/>
                </a:solidFill>
                <a:latin typeface="Calibri"/>
              </a:rPr>
              <a:t>●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01752" y="5989320"/>
            <a:ext cx="11585448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01752" y="5989320"/>
            <a:ext cx="73152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912" y="5989320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Prinzip:  Klare Owner-Zuordnung je Prozess-Rolle in einer Plattform — Komplexitaet in der Organisation sinkt.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3 — Benefits durch neue Governance:  Zeit · Qualitaet · Kosten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3770375" cy="5943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38912" y="106984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698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07F12"/>
                </a:solidFill>
                <a:latin typeface="Calibri"/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097280"/>
            <a:ext cx="308457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Zeit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" y="1618488"/>
            <a:ext cx="3587495" cy="27432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6184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1" i="0">
                <a:solidFill>
                  <a:srgbClr val="4B5563"/>
                </a:solidFill>
                <a:latin typeface="Calibri"/>
              </a:rPr>
              <a:t>Kennzahl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161848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Heute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1618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Mit SEPM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16184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" y="196596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192" y="1965960"/>
            <a:ext cx="54864" cy="9601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00253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Idee → Freigabe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201168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6-8 Wochen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2" y="20116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1-2 Wochen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46888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07F12"/>
                </a:solidFill>
                <a:latin typeface="Calibri"/>
              </a:rPr>
              <a:t>− 75 %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" y="301752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3192" y="3017520"/>
            <a:ext cx="54864" cy="9601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05409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Reporting-Zyklus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306324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monatlich manuell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0632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52044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07F12"/>
                </a:solidFill>
                <a:latin typeface="Calibri"/>
              </a:rPr>
              <a:t>sofort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" y="406908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2" y="4069080"/>
            <a:ext cx="54864" cy="9601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410565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Governance-Entscheidungen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41148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3-4 Meetings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2112" y="41148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1 Meeting +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457200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07F12"/>
                </a:solidFill>
                <a:latin typeface="Calibri"/>
              </a:rPr>
              <a:t>− 60 %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" y="512064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3192" y="5120640"/>
            <a:ext cx="54864" cy="9601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515721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Onboarding neuer 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76272" y="5166359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3-4 Wochen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2112" y="5166359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1 Woche (Standardrollen)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623559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07F12"/>
                </a:solidFill>
                <a:latin typeface="Calibri"/>
              </a:rPr>
              <a:t>− 70 %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9288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09288" y="960120"/>
            <a:ext cx="3770375" cy="5943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46448" y="106984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6448" y="10698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3648" y="1097280"/>
            <a:ext cx="308457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Qualitaet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00728" y="1618488"/>
            <a:ext cx="3587495" cy="27432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6448" y="16184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1" i="0">
                <a:solidFill>
                  <a:srgbClr val="4B5563"/>
                </a:solidFill>
                <a:latin typeface="Calibri"/>
              </a:rPr>
              <a:t>Kennzahl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3808" y="161848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Heute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9648" y="1618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Mit SEPM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8368" y="16184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00728" y="196596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00728" y="1965960"/>
            <a:ext cx="54864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7888" y="200253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Datenkonsistenz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3808" y="201168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Insel-Excels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9648" y="20116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1 Datenmodell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37888" y="246888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100 %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00728" y="301752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00728" y="3017520"/>
            <a:ext cx="54864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37888" y="305409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Audit-Faehigkeit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3808" y="306324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manuell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9648" y="30632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Standard-Reports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7888" y="352044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hoch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00728" y="406908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00728" y="4069080"/>
            <a:ext cx="54864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37888" y="410565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Fehlerquote Berichte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83808" y="41148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5-10 %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89648" y="41148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&lt; 1 %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37888" y="457200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− 90 %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00728" y="512064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300728" y="5120640"/>
            <a:ext cx="54864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37888" y="515721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Nachvollziehbarkeit OKR→Projekt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83808" y="5166359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keine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89648" y="5166359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durchgaengig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37888" y="5623559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neu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16824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116824" y="960120"/>
            <a:ext cx="3770375" cy="5943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53984" y="106984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53984" y="10698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2C3E50"/>
                </a:solidFill>
                <a:latin typeface="Calibri"/>
              </a:rPr>
              <a:t>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11184" y="1097280"/>
            <a:ext cx="308457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Kosten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08264" y="1618488"/>
            <a:ext cx="3587495" cy="27432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53984" y="161848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1" i="0">
                <a:solidFill>
                  <a:srgbClr val="4B5563"/>
                </a:solidFill>
                <a:latin typeface="Calibri"/>
              </a:rPr>
              <a:t>Kennzahl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91344" y="161848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Heute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997184" y="1618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Mit SEPM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85904" y="16184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4B5563"/>
                </a:solidFill>
                <a:latin typeface="Calibri"/>
              </a:rPr>
              <a:t>Δ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08264" y="196596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208264" y="1965960"/>
            <a:ext cx="54864" cy="9601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45424" y="200253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Reporting-Aufwand p.a.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91344" y="201168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~ 3 FTE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997184" y="20116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~ 1 FTE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45424" y="246888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− 260 k€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208264" y="301752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208264" y="3017520"/>
            <a:ext cx="54864" cy="9601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345424" y="305409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Governance-FTE Ressorts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991344" y="306324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~ 4-6 FTE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997184" y="306324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~ 2-3 FTE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45424" y="352044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− 350 k€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208264" y="406908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08264" y="4069080"/>
            <a:ext cx="54864" cy="9601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45424" y="410565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Tool-Betrieb (Konsol.)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91344" y="41148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~ 6 Tools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997184" y="411480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1 Plattform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45424" y="4572000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− 950 k€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208264" y="5120640"/>
            <a:ext cx="3587495" cy="96012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208264" y="5120640"/>
            <a:ext cx="54864" cy="96012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345424" y="5157216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Change-Aufwand Ressorts (einm.)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991344" y="5166359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B91C1C"/>
                </a:solidFill>
                <a:latin typeface="Calibri"/>
              </a:rPr>
              <a:t>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97184" y="5166359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~ 200 k€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45424" y="5623559"/>
            <a:ext cx="326745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+ 200 k€ einm.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3 — Einmalaufwaende (Training/Enablement) + Betriebsthemen (Fachbereich/IT)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701284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701284" cy="4114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EINMALIGE AUFWAENDE — Training &amp; Enablement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508760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508760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554480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Basis-Training Anwender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1783080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~ 400 Personen · 4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2057400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e-Learning + Praesenz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8556" y="1764792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8556" y="176479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80 k€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2441448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2441448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" y="2487168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Power-User-Training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2715768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~ 40 Personen · 2 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2990088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SNOW-Standard + STIHL-Prozesse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8556" y="2697480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8556" y="26974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60 k€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3374136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" y="3374136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3419856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Governance-Board-Onboarding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" y="3648456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je Ressort · 1 Tag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" y="3922776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SCD/SEH + Fachbereichsleiter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8556" y="3630168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8556" y="36301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30 k€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4306824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" y="4306824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" y="4352544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Change-Kommunikation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" y="4581144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Kick-off · Roadshow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" y="4855464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internes Marketing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8556" y="4562856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48556" y="456285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50 k€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" y="5239512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" y="5239512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5285232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Prozess-Doku + Playbooks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" y="5513832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~ 30 Dokumente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" y="5788152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Standard first — Anpassung dokumentiert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48556" y="5495544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48556" y="5495544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40 k€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" y="6172200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8912" y="6172200"/>
            <a:ext cx="54864" cy="8686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" y="6217920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Datenmigration + Bereinigung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" y="6446520"/>
            <a:ext cx="387248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PIT → SNOW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" y="6720840"/>
            <a:ext cx="38724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einmalig, mit Data-Owner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48556" y="6428232"/>
            <a:ext cx="13716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48556" y="642823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~ 120 k€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" y="6126480"/>
            <a:ext cx="54269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100" b="1" i="0">
                <a:solidFill>
                  <a:srgbClr val="F07F12"/>
                </a:solidFill>
                <a:latin typeface="Calibri"/>
              </a:rPr>
              <a:t>Summe einmalig: ~ 380 k€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85916" y="960120"/>
            <a:ext cx="5701284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85916" y="960120"/>
            <a:ext cx="5701284" cy="4114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3076" y="9601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BETRIEBSTHEMEN — Fachbereich &amp; IT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23076" y="1508760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23076" y="150876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41948" y="1563624"/>
            <a:ext cx="1051560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1948" y="1563624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Fachbereich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03236" y="1545336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Prozess-Owner je Schluesselprozess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3236" y="1837943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2E7D32"/>
                </a:solidFill>
                <a:latin typeface="Calibri"/>
              </a:rPr>
              <a:t>0,5-1,0 FTE / Ressort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1948" y="2057400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Owner haelt Standard, Fachbereichs-Anpassungen im Rahmen der Foederierung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23076" y="2441448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23076" y="2441448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441948" y="2496312"/>
            <a:ext cx="1051560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1948" y="2496312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Fachbereich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03236" y="2478024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Governance-Boards (SCD/SEH + FB)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3236" y="2770632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2E7D32"/>
                </a:solidFill>
                <a:latin typeface="Calibri"/>
              </a:rPr>
              <a:t>quartalsweise 0,5 Tag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1948" y="2990088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Portfolio-Priorisierung, OKR-Alignment, Approvals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23076" y="3374136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3076" y="3374136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441948" y="3429000"/>
            <a:ext cx="1051560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41948" y="3429000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Fachbereich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03236" y="3410712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Anwender-Support 1st Level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03236" y="3703320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2E7D32"/>
                </a:solidFill>
                <a:latin typeface="Calibri"/>
              </a:rPr>
              <a:t>0,2 FTE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41948" y="3922776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Fragen Standard-Bedienung, im Ressort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23076" y="4306824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23076" y="4306824"/>
            <a:ext cx="54864" cy="86868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41948" y="4361688"/>
            <a:ext cx="1051560" cy="29260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41948" y="4361688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03236" y="4343400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SNOW-Plattform-Admin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03236" y="4636008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3B6BA5"/>
                </a:solidFill>
                <a:latin typeface="Calibri"/>
              </a:rPr>
              <a:t>1,0 FTE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41948" y="4855464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im bestehenden ITSM-Team, Erweiterung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23076" y="5239512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323076" y="5239512"/>
            <a:ext cx="54864" cy="86868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441948" y="5294376"/>
            <a:ext cx="1051560" cy="29260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41948" y="5294376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03236" y="5276088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SPM Business Analyst / SI-Partner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03236" y="5568696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3B6BA5"/>
                </a:solidFill>
                <a:latin typeface="Calibri"/>
              </a:rPr>
              <a:t>1,0 FTE + Externer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41948" y="5788152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Erweiterungen, App Engine, Prozess-Anpassungen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323076" y="6172200"/>
            <a:ext cx="542696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23076" y="6172200"/>
            <a:ext cx="54864" cy="86868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441948" y="6227064"/>
            <a:ext cx="1051560" cy="29260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41948" y="6227064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03236" y="6208776"/>
            <a:ext cx="268376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Integration / API-Betreuung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03236" y="6501384"/>
            <a:ext cx="414680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1">
                <a:solidFill>
                  <a:srgbClr val="3B6BA5"/>
                </a:solidFill>
                <a:latin typeface="Calibri"/>
              </a:rPr>
              <a:t>0,5 FTE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41948" y="6720840"/>
            <a:ext cx="51983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SAP FI/HCM, PIT-Ausrollung, Monitoring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23076" y="6126480"/>
            <a:ext cx="54269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050" b="1" i="0">
                <a:solidFill>
                  <a:srgbClr val="2C3E50"/>
                </a:solidFill>
                <a:latin typeface="Calibri"/>
              </a:rPr>
              <a:t>Gesamt Betriebs-FTE:  ~ 2,5 FTE IT · ~ 0,7 FTE / Ressort Fachbereich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4 — Risikomatrix neu:  Best-of-Breed vs. SNOW als Plattform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73152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1">
                <a:solidFill>
                  <a:srgbClr val="1F2937"/>
                </a:solidFill>
                <a:latin typeface="Calibri"/>
              </a:rPr>
              <a:t>Umdenken: heute BoB-Risiken (viele Tools) — kuenftig Plattform-Risiken (eine Plattform)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645920"/>
            <a:ext cx="5701284" cy="48006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" y="1645920"/>
            <a:ext cx="5701284" cy="41148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459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HEUTE — Best-of-Breed-Risiken (~ 6 Tools)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14884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14884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" y="240487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4048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20370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Multi-Vendor-Abhaengigkeit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49631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je Tool eigenes Update-/Support-Risiko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292608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292608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6072" y="318211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18211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298094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Schnittstellen-Bruchgefahr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27355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APIs zwischen Tools brechen bei Upgrades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370332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370332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6072" y="395935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95935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58183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Datenkonsistenz nicht sicher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050791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Insel-Datenmodelle, Aggregation manuell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448056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" y="448056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6072" y="473659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4736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53542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Support-EOL (PIT/MSPO)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82803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Bestandsprodukte werden abgekuendigt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" y="525780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" y="525780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6072" y="551383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551383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531266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Hohe Betriebs-FTE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560527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~ 4-6 FTE fuer Multi-Tool-Betrieb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" y="603504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8912" y="6035040"/>
            <a:ext cx="54864" cy="7132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76072" y="6291072"/>
            <a:ext cx="219456" cy="219456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" y="62910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6089903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Governance-Fragmentierung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638251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je Tool eigene Rollen, keine Uebersicht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5916" y="1645920"/>
            <a:ext cx="5701284" cy="48006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85916" y="1645920"/>
            <a:ext cx="5701284" cy="4114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3076" y="16459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MIT SEPM — Plattform-Risiken (1 Plattform)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23076" y="214884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23076" y="214884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60236" y="240487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60236" y="24048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80276" y="220370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Vendor Lock-in SNOW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80276" y="249631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Standard-Config, Migrations-Klauseln, Marktscreening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23076" y="292608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23076" y="292608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60236" y="318211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60236" y="318211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80276" y="298094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Preis-Eskalation Renewal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80276" y="327355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Vertragsklausel 7% nach 4 Jahren (siehe F14)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23076" y="370332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23076" y="370332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460236" y="395935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60236" y="395935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80276" y="3758183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Plattform-Ausfall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80276" y="4050791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SLA 99,9%, DC Frankfurt/Duesseldorf, DSGVO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23076" y="448056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3076" y="448056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460236" y="473659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60236" y="4736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80276" y="453542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Roadmap-Divergenz SNOW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80276" y="482803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Standard first · halbjaehrliche Roadmap-Reviews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23076" y="525780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23076" y="525780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460236" y="551383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60236" y="551383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80276" y="5312664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Kompetenz-Aufbau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80276" y="560527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Erweiterung ITSM-Team +1,5-2 FTE, Ausbildung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323076" y="6035040"/>
            <a:ext cx="5426964" cy="713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323076" y="6035040"/>
            <a:ext cx="54864" cy="713232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460236" y="6291072"/>
            <a:ext cx="219456" cy="21945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60236" y="629107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80276" y="6089903"/>
            <a:ext cx="49240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Governance-Zentralismus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80276" y="6382512"/>
            <a:ext cx="49240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Foederiertes Modell (Empfehlung B) mildert das ab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4 — Lockin Pro/Con  +  Anpassungsaufwaende (Vibe Coding · Beratungsumfeld)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701284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701284" cy="4114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LOCKIN-EFFEKTE — Pro / Con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508760"/>
            <a:ext cx="5426964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508760"/>
            <a:ext cx="54269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 — Vorteile der Plattform-Bindung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874519"/>
            <a:ext cx="5426964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1874519"/>
            <a:ext cx="54864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920239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Ein Datenmodell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103120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durchgaengige Traceability, keine Aggregations-Insel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2423160"/>
            <a:ext cx="5426964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2423160"/>
            <a:ext cx="54864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" y="2468879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Einheitliche Rollen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" y="2651760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reduzierter Governance-Overhead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2971800"/>
            <a:ext cx="5426964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2971800"/>
            <a:ext cx="54864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3017520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Skaleneffekte Lizenz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3200400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Volumen-Rabatte bei mehreren SNOW-Modulen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3657599"/>
            <a:ext cx="5426964" cy="27432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657599"/>
            <a:ext cx="54269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 — Nachteile der Plattform-Bindung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4023359"/>
            <a:ext cx="5426964" cy="502920"/>
          </a:xfrm>
          <a:prstGeom prst="roundRect">
            <a:avLst/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" y="4023359"/>
            <a:ext cx="54864" cy="5029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4069079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Vendor-Abhaengigkeit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" y="4251959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SNOW-Preis-/Roadmap-Diktat moeglich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" y="4571999"/>
            <a:ext cx="5426964" cy="502920"/>
          </a:xfrm>
          <a:prstGeom prst="roundRect">
            <a:avLst/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" y="4571999"/>
            <a:ext cx="54864" cy="5029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" y="4617719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Exit-Kosten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" y="4800599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Migrationsaufwand bei Vendor-Wechsel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5120640"/>
            <a:ext cx="5426964" cy="502920"/>
          </a:xfrm>
          <a:prstGeom prst="roundRect">
            <a:avLst/>
          </a:prstGeom>
          <a:solidFill>
            <a:srgbClr val="FB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" y="5120640"/>
            <a:ext cx="54864" cy="5029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" y="5166359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Skalier-Kosten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" y="5349240"/>
            <a:ext cx="51983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1F2937"/>
                </a:solidFill>
                <a:latin typeface="Calibri"/>
              </a:rPr>
              <a:t>mit mehr Named Users steigen Lizenzkosten stark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5916" y="960120"/>
            <a:ext cx="5701284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85916" y="960120"/>
            <a:ext cx="5701284" cy="411480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3076" y="960120"/>
            <a:ext cx="547268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ANPASSUNGSAUFWAENDE — Vibe Coding · Beratungsumfeld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3076" y="1508760"/>
            <a:ext cx="5426964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23076" y="1508760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1948" y="1545336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SNOW Standard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1948" y="1783080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Konfiguration via Now Studio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1948" y="2057400"/>
            <a:ext cx="51983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  <a:latin typeface="Calibri"/>
              </a:rPr>
              <a:t>kein Coding — nur Klicks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49840" y="1783080"/>
            <a:ext cx="160020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49840" y="178308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0-5 PT / Prozess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23076" y="2496312"/>
            <a:ext cx="5426964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23076" y="2496312"/>
            <a:ext cx="54864" cy="9144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1948" y="2532888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Vibe Coding / App Engine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1948" y="2770632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Low-Code Custom-Apps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1948" y="3044952"/>
            <a:ext cx="51983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F07F12"/>
                </a:solidFill>
                <a:latin typeface="Calibri"/>
              </a:rPr>
              <a:t>eigene Entwickler + SNOW-Zertifizierung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49840" y="2770632"/>
            <a:ext cx="1600200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49840" y="27706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5-15 PT / Prozess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23076" y="3483864"/>
            <a:ext cx="5426964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23076" y="3483864"/>
            <a:ext cx="54864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1948" y="3520440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Custom-Skripte (Server)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1948" y="3758184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JavaScript/GlideScript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1948" y="4032504"/>
            <a:ext cx="51983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B91C1C"/>
                </a:solidFill>
                <a:latin typeface="Calibri"/>
              </a:rPr>
              <a:t>wird moeglichst vermieden — Standard first!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49840" y="3758184"/>
            <a:ext cx="1600200" cy="36576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49840" y="3758184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10-30 PT / Modul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23076" y="4471416"/>
            <a:ext cx="5426964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23076" y="4471416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1948" y="4507992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Beratungsumfeld 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1948" y="4745736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SNOW-Partner (T-Systems, Devoteam, ...)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1948" y="5020056"/>
            <a:ext cx="51983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  <a:latin typeface="Calibri"/>
              </a:rPr>
              <a:t>reifer Markt in Deutschland, Wettbewerb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49840" y="4745736"/>
            <a:ext cx="160020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49840" y="4745736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800-1500 €/PT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23076" y="5458968"/>
            <a:ext cx="5426964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3076" y="5458968"/>
            <a:ext cx="54864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41948" y="5495544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STIHL internes Know-how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1948" y="5733288"/>
            <a:ext cx="36896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ITSM-Team seit 2014 + Ausbau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41948" y="6007608"/>
            <a:ext cx="51983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  <a:latin typeface="Calibri"/>
              </a:rPr>
              <a:t>kein Blackbox-Wissen, gute Basis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149840" y="5733288"/>
            <a:ext cx="160020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49840" y="5733288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wachsend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4 — SAP vs. ServiceNow-Vergleich  +  Vertragshistorie mit Erhoehungsklausel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960120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07F12"/>
                </a:solidFill>
                <a:latin typeface="Calibri"/>
              </a:rPr>
              <a:t>Vergleich Plattform-Abhaengigkeit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" y="1280160"/>
            <a:ext cx="11585448" cy="2926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280160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0752" y="1280160"/>
            <a:ext cx="3977639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SAP (Bestand)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552" y="1280160"/>
            <a:ext cx="3977639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ServiceNow (SEPM)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128016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" y="1609343"/>
            <a:ext cx="11585448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609343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Lockin-Historie STIHL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160934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seit ~ 25 Jahren, tief verwurzelt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160934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seit 2014, kontrolliert wachsend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84280" y="1664207"/>
            <a:ext cx="384048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84280" y="1664207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" y="2020824"/>
            <a:ext cx="11585448" cy="38404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020824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Preisentwicklung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202082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regelmaessige Anpassungen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202082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Renewal +7 % nach 4 Jahren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384280" y="2075688"/>
            <a:ext cx="384048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84280" y="20756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=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" y="2432303"/>
            <a:ext cx="11585448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432303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Migrations-Optionen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243230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sehr eingeschraenkt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243230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Standard-Exports, APIs, Migrationstools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384280" y="2487168"/>
            <a:ext cx="384048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84280" y="24871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2843784"/>
            <a:ext cx="11585448" cy="38404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2843784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Marktreife DACH-Partner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0752" y="284378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sehr hoch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284378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hoch — Devoteam, T-Systems, ...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384280" y="2898648"/>
            <a:ext cx="384048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84280" y="28986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" y="3255263"/>
            <a:ext cx="11585448" cy="38404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3255263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Cloud-Betrieb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0752" y="325526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S/4HANA-Roadmap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3255263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SaaS DE, DSGVO, DC FRA/DUS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384280" y="3310127"/>
            <a:ext cx="384048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384280" y="3310127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1752" y="3666744"/>
            <a:ext cx="11585448" cy="38404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3666744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AI-Faehigkeiten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0752" y="366674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Joule (im Aufbau)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5552" y="3666744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Now Assist (produktiv seit 2024)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384280" y="3721607"/>
            <a:ext cx="384048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84280" y="3721607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" y="3986784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07F12"/>
                </a:solidFill>
                <a:latin typeface="Calibri"/>
              </a:rPr>
              <a:t>Vertragshistorie ServiceNow bei STIHL  —  Renewal 2028 mit +7 % Erhoehungsklausel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1752" y="4261104"/>
            <a:ext cx="11585448" cy="14630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" y="5449824"/>
            <a:ext cx="10945368" cy="182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75487" y="5271734"/>
            <a:ext cx="292608" cy="178089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30352" y="5180294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-155448" y="497912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180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-155448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2014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39111" y="5192583"/>
            <a:ext cx="292608" cy="2572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093975" y="5101143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08175" y="4899975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260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8175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2016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602735" y="5113433"/>
            <a:ext cx="292608" cy="33639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657599" y="5021993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71799" y="4820825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340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71799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2018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66359" y="5044176"/>
            <a:ext cx="292608" cy="405647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221224" y="4952736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35424" y="4751568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410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35424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2020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729983" y="4965025"/>
            <a:ext cx="292608" cy="48479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784848" y="4873585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99048" y="4672417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490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9048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2022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93608" y="4895768"/>
            <a:ext cx="292608" cy="554055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348472" y="4804328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62672" y="4603160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560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62672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2024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57232" y="4638528"/>
            <a:ext cx="292608" cy="811295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912096" y="4547088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26296" y="4345920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820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26296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2026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1420856" y="4581144"/>
            <a:ext cx="292608" cy="86868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475720" y="4489704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89920" y="428853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B91C1C"/>
                </a:solidFill>
                <a:latin typeface="Calibri"/>
              </a:rPr>
              <a:t>878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89920" y="550468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2028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378440" y="4315968"/>
            <a:ext cx="1097280" cy="29260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378440" y="431596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+7 % Klausel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01752" y="5907024"/>
            <a:ext cx="11585448" cy="41148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01752" y="5907024"/>
            <a:ext cx="73152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8912" y="5907024"/>
            <a:ext cx="11356848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Calibri"/>
              </a:rPr>
              <a:t>Fazit: SNOW-Abhaengigkeit strukturell aehnlich SAP — kontrollierbar durch Standard-first + Vertragsklauseln.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4 — Referenzkunden ServiceNow  (Grosskonzerne in Deutschland)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50292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73152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960120"/>
            <a:ext cx="11356848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&gt;85 % der Fortune 500 · nahezu alle DAX-Konzerne · fuehrende deutsche Industrieunternehmen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737360"/>
            <a:ext cx="1328166" cy="201168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7078" y="1737360"/>
            <a:ext cx="1328166" cy="201168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67078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7078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2403" y="1737360"/>
            <a:ext cx="1328166" cy="201168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32403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2403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97729" y="1737360"/>
            <a:ext cx="1328166" cy="201168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7729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7729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1737360"/>
            <a:ext cx="1328166" cy="201168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5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5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8381" y="1737360"/>
            <a:ext cx="1328166" cy="201168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8381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8381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Industrie / Auto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3707" y="1737360"/>
            <a:ext cx="1328166" cy="201168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3707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3707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59034" y="1737360"/>
            <a:ext cx="1328166" cy="201168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59034" y="1737360"/>
            <a:ext cx="1328166" cy="2011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59034" y="3794759"/>
            <a:ext cx="13281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" y="4297679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07F12"/>
                </a:solidFill>
                <a:latin typeface="Calibri"/>
              </a:rPr>
              <a:t>Referenz-Use-Cases im Markt (nicht nur IT):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" y="4617719"/>
            <a:ext cx="220736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01752" y="4617719"/>
            <a:ext cx="2207361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" y="4617719"/>
            <a:ext cx="220736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ITSM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5029199"/>
            <a:ext cx="193304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1F2937"/>
                </a:solidFill>
                <a:latin typeface="Calibri"/>
              </a:rPr>
              <a:t>Basis-Modul, seit 10+ Jahren produktiv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46273" y="4617719"/>
            <a:ext cx="220736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46273" y="4617719"/>
            <a:ext cx="2207361" cy="3200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46273" y="4617719"/>
            <a:ext cx="220736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SPM / Portfolio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3433" y="5029199"/>
            <a:ext cx="193304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1F2937"/>
                </a:solidFill>
                <a:latin typeface="Calibri"/>
              </a:rPr>
              <a:t>Wachstumsbereich, viele Bosch/Siemens-Referenzen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90795" y="4617719"/>
            <a:ext cx="220736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990795" y="4617719"/>
            <a:ext cx="2207361" cy="3200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90795" y="4617719"/>
            <a:ext cx="220736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HR Service Delivery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7955" y="5029199"/>
            <a:ext cx="193304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1F2937"/>
                </a:solidFill>
                <a:latin typeface="Calibri"/>
              </a:rPr>
              <a:t>Employee Portal, Onboarding-Workflows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35316" y="4617719"/>
            <a:ext cx="220736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35316" y="4617719"/>
            <a:ext cx="2207361" cy="32004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35316" y="4617719"/>
            <a:ext cx="220736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Customer Service Mgmt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72476" y="5029199"/>
            <a:ext cx="193304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1F2937"/>
                </a:solidFill>
                <a:latin typeface="Calibri"/>
              </a:rPr>
              <a:t>Field Service, Kundenprozesse (v.a. Telekom)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79838" y="4617719"/>
            <a:ext cx="2207361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679838" y="4617719"/>
            <a:ext cx="2207361" cy="320040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79838" y="4617719"/>
            <a:ext cx="220736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GRC / Risk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16998" y="5029199"/>
            <a:ext cx="1933041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1F2937"/>
                </a:solidFill>
                <a:latin typeface="Calibri"/>
              </a:rPr>
              <a:t>Compliance-Automation (v.a. Banking / Insurance)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GESAMTDARSTELLUNG — Qualitative Analyse der Plattform  (5 Dimensionen)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969263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960120"/>
            <a:ext cx="137160" cy="969263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6072" y="114300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1430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05156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Datenintegritaet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4173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ein Datenmodell, keine Insel-Aggregation</a:t>
            </a:r>
          </a:p>
        </p:txBody>
      </p:sp>
      <p:sp>
        <p:nvSpPr>
          <p:cNvPr id="10" name="Oval 9"/>
          <p:cNvSpPr/>
          <p:nvPr/>
        </p:nvSpPr>
        <p:spPr>
          <a:xfrm>
            <a:off x="5330952" y="123444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0136" y="123444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89320" y="123444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18504" y="123444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47688" y="1234440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2" y="11430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  <a:latin typeface="Calibri"/>
              </a:rPr>
              <a:t>5/5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1097280"/>
            <a:ext cx="3950208" cy="740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OKR → Portfolio → Projekt → Kosten durchgaengig verfolgbar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" y="2020824"/>
            <a:ext cx="11585448" cy="969263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1752" y="2020824"/>
            <a:ext cx="137160" cy="969263"/>
          </a:xfrm>
          <a:prstGeom prst="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" y="2203704"/>
            <a:ext cx="548640" cy="548640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220370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211226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KI (Now Assist)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592" y="247802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GenAI produktiv seit 2024, Vibe Coding moeglich</a:t>
            </a:r>
          </a:p>
        </p:txBody>
      </p:sp>
      <p:sp>
        <p:nvSpPr>
          <p:cNvPr id="23" name="Oval 22"/>
          <p:cNvSpPr/>
          <p:nvPr/>
        </p:nvSpPr>
        <p:spPr>
          <a:xfrm>
            <a:off x="5330952" y="2295144"/>
            <a:ext cx="274320" cy="274320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60136" y="2295144"/>
            <a:ext cx="274320" cy="274320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89320" y="2295144"/>
            <a:ext cx="274320" cy="274320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18504" y="2295144"/>
            <a:ext cx="274320" cy="274320"/>
          </a:xfrm>
          <a:prstGeom prst="ellipse">
            <a:avLst/>
          </a:prstGeom>
          <a:solidFill>
            <a:srgbClr val="865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47688" y="2295144"/>
            <a:ext cx="274320" cy="2743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2203704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865DE4"/>
                </a:solidFill>
                <a:latin typeface="Calibri"/>
              </a:rPr>
              <a:t>4/5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1" y="2157984"/>
            <a:ext cx="3950208" cy="740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Risk-Frueherkennung, Auto-Reports, Chat-Assistent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" y="3081528"/>
            <a:ext cx="11585448" cy="969263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" y="3081528"/>
            <a:ext cx="137160" cy="969263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76072" y="3264408"/>
            <a:ext cx="548640" cy="5486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326440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7592" y="317296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Schnelligkeit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07592" y="353872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Reporting live, Freigaben in Stunden statt Wochen</a:t>
            </a:r>
          </a:p>
        </p:txBody>
      </p:sp>
      <p:sp>
        <p:nvSpPr>
          <p:cNvPr id="36" name="Oval 35"/>
          <p:cNvSpPr/>
          <p:nvPr/>
        </p:nvSpPr>
        <p:spPr>
          <a:xfrm>
            <a:off x="5330952" y="335584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60136" y="335584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89320" y="335584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18504" y="335584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47688" y="3355848"/>
            <a:ext cx="274320" cy="27432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14032" y="3264408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07F12"/>
                </a:solidFill>
                <a:latin typeface="Calibri"/>
              </a:rPr>
              <a:t>5/5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9831" y="3218688"/>
            <a:ext cx="3950208" cy="740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Live-Dashboards, Auto-Approvals nach Regelwerk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1752" y="4142231"/>
            <a:ext cx="11585448" cy="969263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1752" y="4142231"/>
            <a:ext cx="137160" cy="969263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6072" y="4325112"/>
            <a:ext cx="548640" cy="54864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432511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07592" y="4233671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Prozesse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07592" y="4599431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Standard-Prozesse SPM Pro + App-Engine-Erweiterungen</a:t>
            </a:r>
          </a:p>
        </p:txBody>
      </p:sp>
      <p:sp>
        <p:nvSpPr>
          <p:cNvPr id="49" name="Oval 48"/>
          <p:cNvSpPr/>
          <p:nvPr/>
        </p:nvSpPr>
        <p:spPr>
          <a:xfrm>
            <a:off x="5330952" y="4416551"/>
            <a:ext cx="274320" cy="2743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660136" y="4416551"/>
            <a:ext cx="274320" cy="2743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989320" y="4416551"/>
            <a:ext cx="274320" cy="2743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18504" y="4416551"/>
            <a:ext cx="274320" cy="2743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647688" y="4416551"/>
            <a:ext cx="274320" cy="27432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14032" y="432511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2C3E50"/>
                </a:solidFill>
                <a:latin typeface="Calibri"/>
              </a:rPr>
              <a:t>4/5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99831" y="4279392"/>
            <a:ext cx="3950208" cy="740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Standardisiert wo moeglich, foederiert wo noetig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1752" y="5202936"/>
            <a:ext cx="11585448" cy="969263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01752" y="5202936"/>
            <a:ext cx="137160" cy="969263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6072" y="5385816"/>
            <a:ext cx="548640" cy="54864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" y="538581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07592" y="5294375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Transparenz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07592" y="566013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Vorstand sieht Portfolio-Status in Echtzeit</a:t>
            </a:r>
          </a:p>
        </p:txBody>
      </p:sp>
      <p:sp>
        <p:nvSpPr>
          <p:cNvPr id="62" name="Oval 61"/>
          <p:cNvSpPr/>
          <p:nvPr/>
        </p:nvSpPr>
        <p:spPr>
          <a:xfrm>
            <a:off x="5330952" y="5477255"/>
            <a:ext cx="274320" cy="27432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660136" y="5477255"/>
            <a:ext cx="274320" cy="27432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989320" y="5477255"/>
            <a:ext cx="274320" cy="27432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318504" y="5477255"/>
            <a:ext cx="274320" cy="27432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47688" y="5477255"/>
            <a:ext cx="274320" cy="27432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14032" y="5385816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3B6BA5"/>
                </a:solidFill>
                <a:latin typeface="Calibri"/>
              </a:rPr>
              <a:t>5/5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99831" y="5340096"/>
            <a:ext cx="3950208" cy="740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Ampeln, Budget, OKR-Beitrag pro Vorhaben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1752" y="6309359"/>
            <a:ext cx="11585448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1">
                <a:solidFill>
                  <a:srgbClr val="2E7D32"/>
                </a:solidFill>
                <a:latin typeface="Calibri"/>
              </a:rPr>
              <a:t>Gesamt-Bewertung:  4,6 / 5,0  —  reife Plattform, mit klarem Vorteil in allen 5 Dimensionen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GESAMTDARSTELLUNG — Strategische Ausrichtung + neue Geschaeftsfelder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960120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0" i="1">
                <a:solidFill>
                  <a:srgbClr val="4B5563"/>
                </a:solidFill>
                <a:latin typeface="Calibri"/>
              </a:rPr>
              <a:t>Von PPM-Konsolidierung zu einer echten Plattform-Strategie fuer STIHL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" y="1417320"/>
            <a:ext cx="11585448" cy="4572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417320"/>
            <a:ext cx="2317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Heute 2026 — ITSM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1409" y="1508760"/>
            <a:ext cx="54864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18841" y="1417320"/>
            <a:ext cx="2317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2027 — SEPM Phase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908499" y="1508760"/>
            <a:ext cx="54864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5931" y="1417320"/>
            <a:ext cx="2317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2028 — SEPM Phase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5588" y="1508760"/>
            <a:ext cx="54864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53020" y="1417320"/>
            <a:ext cx="2317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2029+ — HR/CSM/GRC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42678" y="1508760"/>
            <a:ext cx="54864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0110" y="1417320"/>
            <a:ext cx="2317089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Zukunft — Vibe Coding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" y="21945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1752" y="2194560"/>
            <a:ext cx="3770375" cy="38404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2311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SEPM heute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26974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Portfolio · Projekt · Ressourcen ·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1089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Ableitung aus laufendem Business Case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6208" y="3703320"/>
            <a:ext cx="1508760" cy="31089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6208" y="37033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 Umsetzung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9288" y="21945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09288" y="2194560"/>
            <a:ext cx="3770375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6448" y="22311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HR Service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6448" y="26974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Onboarding, Employee Self-Service, HR-Ticketing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6448" y="31089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Nutzung SNOW HR-Modul, gemeinsame Plattform mit ITSM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3744" y="3703320"/>
            <a:ext cx="1508760" cy="31089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3744" y="37033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12-18 Mo Vorlauf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6824" y="21945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16824" y="2194560"/>
            <a:ext cx="3770375" cy="38404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3984" y="22311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Customer Service Mgmt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3984" y="26974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Field Service Techniker, Ersatzteil-Case-Mgmt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3984" y="31089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SNOW CSM/FSM — Bindeglied zu Aftersales &amp; Handel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0" y="3703320"/>
            <a:ext cx="1508760" cy="310896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0" y="37033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Potenzial gross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1752" y="42519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5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01752" y="4251960"/>
            <a:ext cx="3770375" cy="384048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42885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GRC / Risk-Mgmt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47548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Compliance-Automation, DSGVO, Audit-Trails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" y="51663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SNOW GRC — Ergaenzung zu SAP-Kernprozessen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26208" y="5760720"/>
            <a:ext cx="1508760" cy="310896"/>
          </a:xfrm>
          <a:prstGeom prst="roundRect">
            <a:avLst/>
          </a:prstGeom>
          <a:solidFill>
            <a:srgbClr val="865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26208" y="57607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Mittelfristig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9288" y="42519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09288" y="4251960"/>
            <a:ext cx="3770375" cy="384048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6448" y="42885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Custom Solutions (App Engine)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6448" y="47548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Vibe Coding fuer STIHL-spezifische Workflows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6448" y="51663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Interne Loesungen ohne 3rd-Party-Tool, schneller als Custom Coding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33744" y="5760720"/>
            <a:ext cx="1508760" cy="310896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33744" y="57607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Ab Jahr 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6824" y="4251960"/>
            <a:ext cx="3770375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116824" y="4251960"/>
            <a:ext cx="3770375" cy="38404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53984" y="4288536"/>
            <a:ext cx="3496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KI / Now Assist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53984" y="4754880"/>
            <a:ext cx="34960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Generative KI ueber alle Bereiche hinweg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53984" y="5166360"/>
            <a:ext cx="3496056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STIHL-eigene GPT-Anwendungen auf SNOW-Datenbasis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241280" y="5760720"/>
            <a:ext cx="1508760" cy="310896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41280" y="5760720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Zukunft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GESAMTDARSTELLUNG — TCO und Betrieb  (kompakte Zusammenfassung)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279349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2793492" cy="292608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960120"/>
            <a:ext cx="27934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5-Jahres-TCO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1307592"/>
            <a:ext cx="2793492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2C3E50"/>
                </a:solidFill>
                <a:latin typeface="Calibri"/>
              </a:rPr>
              <a:t>~ 7,0 M€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1874519"/>
            <a:ext cx="27934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einmalig + laufend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2404" y="960120"/>
            <a:ext cx="279349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32404" y="960120"/>
            <a:ext cx="2793492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2404" y="960120"/>
            <a:ext cx="27934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Nutzen (5 J.)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2404" y="1307592"/>
            <a:ext cx="2793492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Calibri"/>
              </a:rPr>
              <a:t>~ 22,7 M€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2404" y="1874519"/>
            <a:ext cx="27934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Konsol.+Value+Flanking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960120"/>
            <a:ext cx="279349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3056" y="960120"/>
            <a:ext cx="2793492" cy="29260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960120"/>
            <a:ext cx="27934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Netto-Effekt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1307592"/>
            <a:ext cx="2793492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Calibri"/>
              </a:rPr>
              <a:t>~ +15,7 M€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1874519"/>
            <a:ext cx="27934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Cash Flow ueber 5 Jahre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3708" y="960120"/>
            <a:ext cx="279349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93708" y="960120"/>
            <a:ext cx="2793492" cy="29260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3708" y="960120"/>
            <a:ext cx="27934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Betriebs-FTE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3708" y="1307592"/>
            <a:ext cx="2793492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3B6BA5"/>
                </a:solidFill>
                <a:latin typeface="Calibri"/>
              </a:rPr>
              <a:t>~ 2,5 FTE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3708" y="1874519"/>
            <a:ext cx="27934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im Endzustand, Erweiterung ITSM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" y="2468880"/>
            <a:ext cx="115854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07F12"/>
                </a:solidFill>
                <a:latin typeface="Calibri"/>
              </a:rPr>
              <a:t>Zusammensetzung TCO und Nutzen (5 Jahre kumuliert, Base Case)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" y="2788920"/>
            <a:ext cx="11585448" cy="34747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80720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KOSTEN — Implementierung + Change (einmalig)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2807208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B91C1C"/>
                </a:solidFill>
                <a:latin typeface="Calibri"/>
              </a:rPr>
              <a:t>- 3,0 M€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3172968"/>
            <a:ext cx="11585448" cy="347472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191256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KOSTEN — Lizenz + Betrieb + Weiterentwicklung (5 J.)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88552" y="3191256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B91C1C"/>
                </a:solidFill>
                <a:latin typeface="Calibri"/>
              </a:rPr>
              <a:t>- 4,0 M€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1752" y="3557016"/>
            <a:ext cx="11585448" cy="34747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575304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— Konsolidierung Tools &amp; Schnittstellen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88552" y="3575304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+ 5,8 M€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" y="3941064"/>
            <a:ext cx="11585448" cy="347472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3959352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— Business Value (Effizienz, TTM, Governance)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552" y="3959352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+ 11,6 M€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1752" y="4325112"/>
            <a:ext cx="11585448" cy="34747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4343400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— Flankierende Prozesse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2" y="4343400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+ 5,3 M€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1752" y="4709160"/>
            <a:ext cx="11585448" cy="347472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472744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NETTO 5 Jahre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88552" y="4727448"/>
            <a:ext cx="27614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400" b="1" i="0">
                <a:solidFill>
                  <a:srgbClr val="F07F12"/>
                </a:solidFill>
                <a:latin typeface="Calibri"/>
              </a:rPr>
              <a:t>+ 15,7 M€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GESAMTDARSTELLUNG — Umsetzungsvorschlag Szenario 1 &amp;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701284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701284" cy="502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005840"/>
            <a:ext cx="378104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SZENARIO 1 — Full Scope 24 Monate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5676" y="1051560"/>
            <a:ext cx="1600200" cy="32004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5676" y="105156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★ EMPFEHLUNG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" y="160020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3192" y="160020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63677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0512" y="163677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Alle Module Phase 1 (Demand · Strategy · Portfolio · Reporting) + Phase 2 (PM · Ress.)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" y="219456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192" y="219456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2311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Zeit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223113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24 Monate ab Kickoff (Nov 2026)  ·  Go-Live Phase 1 Q1/2028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" y="278892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3192" y="278892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82549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Kosten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0512" y="282549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~ 3,0 M€ einmalig  ·  ~ 0,8 M€ p.a. Steady 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" y="338328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3192" y="338328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41985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Milestones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0512" y="341985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Q4/26 Kickoff · Q3/27 Phase 1 UAT · Q1/28 Go-Live · Q3/28 Phase 2 GL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" y="3977639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192" y="3977639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014215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Quickwins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0512" y="4014215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Demand-Backlog (Q2/27) · Live-Portfolio-Dashboard (Q3/27) · OKR-Cascade (Q4/27)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" y="457200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3192" y="457200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60857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0512" y="460857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Investitionsbeschluss zur Jahresplanung 2027 (Q3/2026)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3192" y="516636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3192" y="5166360"/>
            <a:ext cx="54864" cy="5486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52029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F07F12"/>
                </a:solidFill>
                <a:latin typeface="Calibri"/>
              </a:rPr>
              <a:t>Risiko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10512" y="520293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Mittel — Change-intensiv, ausreichende Ressourcen noetig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5916" y="960120"/>
            <a:ext cx="5701284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85916" y="960120"/>
            <a:ext cx="5701284" cy="5029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3076" y="1005840"/>
            <a:ext cx="378104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SZENARIO 2 — Extended Ramp 36 Monate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49840" y="1051560"/>
            <a:ext cx="1600200" cy="32004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0" y="105156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3B6BA5"/>
                </a:solidFill>
                <a:latin typeface="Calibri"/>
              </a:rPr>
              <a:t>Konservativ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77356" y="160020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77356" y="160020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4516" y="163677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Scope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4676" y="163677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Alle Module verteilt auf 3 Jahre — Phase 1 in 18 Mo, Phase 2 danach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77356" y="219456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77356" y="219456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4516" y="22311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Zeit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4676" y="223113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36 Monate ab Kickoff  ·  Go-Live Phase 1 Q3/2028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77356" y="278892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77356" y="278892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14516" y="282549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Kosten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94676" y="282549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~ 2,7 M€ einmalig  ·  ~ 0,75 M€ p.a. Steady State (spaeter)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77356" y="338328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77356" y="338328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14516" y="341985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Milestones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94676" y="341985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Q4/26 Kickoff · Q1/28 Phase 1 UAT · Q3/28 Go-Live · Q4/29 Phase 2 GL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77356" y="3977639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77356" y="3977639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4516" y="4014215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Quickwins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94676" y="4014215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Demand-Backlog erst Q3/27 · Dashboards Q1/28 · Full Portfolio Q3/28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77356" y="4572000"/>
            <a:ext cx="5518404" cy="5486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77356" y="457200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14516" y="460857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EV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94676" y="460857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Zweistufig: Rahmen 2027, Vollbudget 2028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77356" y="5166360"/>
            <a:ext cx="5518404" cy="5486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77356" y="5166360"/>
            <a:ext cx="54864" cy="54864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14516" y="52029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3B6BA5"/>
                </a:solidFill>
                <a:latin typeface="Calibri"/>
              </a:rPr>
              <a:t>Risiko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94676" y="5202936"/>
            <a:ext cx="405536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Calibri"/>
              </a:rPr>
              <a:t>Niedrig — mehr Puffer, aber laengerer Payback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01752" y="6080760"/>
            <a:ext cx="11585448" cy="3657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4632" y="6080760"/>
            <a:ext cx="1121968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Empfehlung:  Szenario 1 — Full Scope 24 Monate. Deutlich schnellerer Payback + hoehere Nutzen-Kumulation.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GESAMTDARSTELLUNG — Empfehlung + Entscheidungsvorlage (EV)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85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960120"/>
            <a:ext cx="11219688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★ BESCHLUSSVORSCHLAG:  Umsetzung Szenario 1 (Full Scope 24 Mo) · Governance-Modell B (Foederiert)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" y="1828800"/>
            <a:ext cx="572414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" y="1828800"/>
            <a:ext cx="5724144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865376"/>
            <a:ext cx="544982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1 — Was wird beschlossen?</a:t>
            </a:r>
          </a:p>
        </p:txBody>
      </p:sp>
      <p:sp>
        <p:nvSpPr>
          <p:cNvPr id="9" name="Oval 8"/>
          <p:cNvSpPr/>
          <p:nvPr/>
        </p:nvSpPr>
        <p:spPr>
          <a:xfrm>
            <a:off x="484632" y="2441448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331720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Investitionsentscheidung SEPM (Szenario 1) fuer Jahresplanung 2027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2825496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715768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Governance-Modell B (Foederiert) — Standard first, definierte Varianten je Ressort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" y="3209544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099815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SI-Partner-Auswahl per RFP im Q4/2026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" y="3593591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483863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Kickoff Detail-Konzept Q4/2026, Umsetzungs-Start Q1/2027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828800"/>
            <a:ext cx="572414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63056" y="1828800"/>
            <a:ext cx="5724144" cy="384048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865376"/>
            <a:ext cx="544982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2 — Was ist zu erwarten?</a:t>
            </a:r>
          </a:p>
        </p:txBody>
      </p:sp>
      <p:sp>
        <p:nvSpPr>
          <p:cNvPr id="20" name="Oval 19"/>
          <p:cNvSpPr/>
          <p:nvPr/>
        </p:nvSpPr>
        <p:spPr>
          <a:xfrm>
            <a:off x="6345936" y="2441448"/>
            <a:ext cx="146304" cy="14630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6" y="2331720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TCO ~ 7,0 M€ ueber 5 Jahre  ·  Netto-Effekt ~ + 15,7 M€</a:t>
            </a:r>
          </a:p>
        </p:txBody>
      </p:sp>
      <p:sp>
        <p:nvSpPr>
          <p:cNvPr id="22" name="Oval 21"/>
          <p:cNvSpPr/>
          <p:nvPr/>
        </p:nvSpPr>
        <p:spPr>
          <a:xfrm>
            <a:off x="6345936" y="2825496"/>
            <a:ext cx="146304" cy="14630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2715768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Payback ~ 3,5 Jahre  ·  IRR ~ 32 %  ·  NPV ~ + 8,5 M€</a:t>
            </a:r>
          </a:p>
        </p:txBody>
      </p:sp>
      <p:sp>
        <p:nvSpPr>
          <p:cNvPr id="24" name="Oval 23"/>
          <p:cNvSpPr/>
          <p:nvPr/>
        </p:nvSpPr>
        <p:spPr>
          <a:xfrm>
            <a:off x="6345936" y="3209544"/>
            <a:ext cx="146304" cy="14630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4536" y="3099815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Konsolidierung von 6+ Tools · Ablose PIT im Rahmen Phase 1/2</a:t>
            </a:r>
          </a:p>
        </p:txBody>
      </p:sp>
      <p:sp>
        <p:nvSpPr>
          <p:cNvPr id="26" name="Oval 25"/>
          <p:cNvSpPr/>
          <p:nvPr/>
        </p:nvSpPr>
        <p:spPr>
          <a:xfrm>
            <a:off x="6345936" y="3593591"/>
            <a:ext cx="146304" cy="14630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3483863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Foederiertes Governance-Modell — Komplexitaet mittel gehalten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4069079"/>
            <a:ext cx="572414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1752" y="4069079"/>
            <a:ext cx="5724144" cy="38404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4105655"/>
            <a:ext cx="544982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3 — Welche Ressourcen sind noetig?</a:t>
            </a:r>
          </a:p>
        </p:txBody>
      </p:sp>
      <p:sp>
        <p:nvSpPr>
          <p:cNvPr id="31" name="Oval 30"/>
          <p:cNvSpPr/>
          <p:nvPr/>
        </p:nvSpPr>
        <p:spPr>
          <a:xfrm>
            <a:off x="484632" y="4681727"/>
            <a:ext cx="146304" cy="14630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571999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4 FTE intern (Phase 1+2) · ~ 2,5 FTE Steady State</a:t>
            </a:r>
          </a:p>
        </p:txBody>
      </p:sp>
      <p:sp>
        <p:nvSpPr>
          <p:cNvPr id="33" name="Oval 32"/>
          <p:cNvSpPr/>
          <p:nvPr/>
        </p:nvSpPr>
        <p:spPr>
          <a:xfrm>
            <a:off x="484632" y="5065775"/>
            <a:ext cx="146304" cy="14630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4956047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SI-Partner (SNOW-zertifiziert) · Retainer + T&amp;M</a:t>
            </a:r>
          </a:p>
        </p:txBody>
      </p:sp>
      <p:sp>
        <p:nvSpPr>
          <p:cNvPr id="35" name="Oval 34"/>
          <p:cNvSpPr/>
          <p:nvPr/>
        </p:nvSpPr>
        <p:spPr>
          <a:xfrm>
            <a:off x="484632" y="5449823"/>
            <a:ext cx="146304" cy="14630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340095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Change-Programm + Trainings (~ 380 k€ einmalig)</a:t>
            </a:r>
          </a:p>
        </p:txBody>
      </p:sp>
      <p:sp>
        <p:nvSpPr>
          <p:cNvPr id="37" name="Oval 36"/>
          <p:cNvSpPr/>
          <p:nvPr/>
        </p:nvSpPr>
        <p:spPr>
          <a:xfrm>
            <a:off x="484632" y="5833871"/>
            <a:ext cx="146304" cy="146304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724143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Governance-Board etablieren (Q4/2026)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63056" y="4069079"/>
            <a:ext cx="572414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63056" y="4069079"/>
            <a:ext cx="5724144" cy="38404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0216" y="4105655"/>
            <a:ext cx="544982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4 — Wann und wie geht es weiter?</a:t>
            </a:r>
          </a:p>
        </p:txBody>
      </p:sp>
      <p:sp>
        <p:nvSpPr>
          <p:cNvPr id="42" name="Oval 41"/>
          <p:cNvSpPr/>
          <p:nvPr/>
        </p:nvSpPr>
        <p:spPr>
          <a:xfrm>
            <a:off x="6345936" y="4681727"/>
            <a:ext cx="146304" cy="146304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74536" y="4571999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Q3/2026: EV zur Jahresplanung (Vorstand)</a:t>
            </a:r>
          </a:p>
        </p:txBody>
      </p:sp>
      <p:sp>
        <p:nvSpPr>
          <p:cNvPr id="44" name="Oval 43"/>
          <p:cNvSpPr/>
          <p:nvPr/>
        </p:nvSpPr>
        <p:spPr>
          <a:xfrm>
            <a:off x="6345936" y="5065775"/>
            <a:ext cx="146304" cy="146304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74536" y="4956047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Q4/2026: SI-Auswahl + Detail-Konzept</a:t>
            </a:r>
          </a:p>
        </p:txBody>
      </p:sp>
      <p:sp>
        <p:nvSpPr>
          <p:cNvPr id="46" name="Oval 45"/>
          <p:cNvSpPr/>
          <p:nvPr/>
        </p:nvSpPr>
        <p:spPr>
          <a:xfrm>
            <a:off x="6345936" y="5449823"/>
            <a:ext cx="146304" cy="146304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74536" y="5340095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Q1/2027: Kickoff Umsetzung Phase 1</a:t>
            </a:r>
          </a:p>
        </p:txBody>
      </p:sp>
      <p:sp>
        <p:nvSpPr>
          <p:cNvPr id="48" name="Oval 47"/>
          <p:cNvSpPr/>
          <p:nvPr/>
        </p:nvSpPr>
        <p:spPr>
          <a:xfrm>
            <a:off x="6345936" y="5833871"/>
            <a:ext cx="146304" cy="146304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74536" y="5724143"/>
            <a:ext cx="522122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Q1/2028: Go-Live Phase 1 (Demand, Portfolio, Strategy)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Vielen Dank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81C1C579840D48AC999B396FE66310" ma:contentTypeVersion="12" ma:contentTypeDescription="Create a new document." ma:contentTypeScope="" ma:versionID="646d29713344052343ad324215fc0f96">
  <xsd:schema xmlns:xsd="http://www.w3.org/2001/XMLSchema" xmlns:xs="http://www.w3.org/2001/XMLSchema" xmlns:p="http://schemas.microsoft.com/office/2006/metadata/properties" xmlns:ns2="523280cd-a023-47fb-9c6b-d00b9095b7ab" xmlns:ns3="1449935d-50da-41e9-87a8-3306d78bd466" targetNamespace="http://schemas.microsoft.com/office/2006/metadata/properties" ma:root="true" ma:fieldsID="7a04719490a9881a1c9c6d2c79e269f8" ns2:_="" ns3:_="">
    <xsd:import namespace="523280cd-a023-47fb-9c6b-d00b9095b7ab"/>
    <xsd:import namespace="1449935d-50da-41e9-87a8-3306d78bd4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3280cd-a023-47fb-9c6b-d00b9095b7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49935d-50da-41e9-87a8-3306d78bd46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1aa8117-7af4-4a81-9c32-6097d7e72bd7}" ma:internalName="TaxCatchAll" ma:showField="CatchAllData" ma:web="1449935d-50da-41e9-87a8-3306d78bd4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449935d-50da-41e9-87a8-3306d78bd466" xsi:nil="true"/>
    <lcf76f155ced4ddcb4097134ff3c332f xmlns="523280cd-a023-47fb-9c6b-d00b9095b7a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5E7DB3-A956-4506-AAD6-F0A62C6F1C01}">
  <ds:schemaRefs>
    <ds:schemaRef ds:uri="1449935d-50da-41e9-87a8-3306d78bd466"/>
    <ds:schemaRef ds:uri="523280cd-a023-47fb-9c6b-d00b9095b7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1449935d-50da-41e9-87a8-3306d78bd466"/>
    <ds:schemaRef ds:uri="2f256423-360f-43c8-9cc5-edab87e38065"/>
    <ds:schemaRef ds:uri="523280cd-a023-47fb-9c6b-d00b9095b7ab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TotalTime>0</TotalTime>
  <Words>677</Words>
  <Application>Microsoft Office PowerPoint</Application>
  <PresentationFormat>Breitbild</PresentationFormat>
  <Paragraphs>132</Paragraphs>
  <Slides>6</Slides>
  <Notes>4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6</vt:i4>
      </vt:variant>
    </vt:vector>
  </HeadingPairs>
  <TitlesOfParts>
    <vt:vector size="14" baseType="lpstr">
      <vt:lpstr>Arial</vt:lpstr>
      <vt:lpstr>Calibri</vt:lpstr>
      <vt:lpstr>STIHL Contraface Display Title</vt:lpstr>
      <vt:lpstr>STIHL Contraface Text</vt:lpstr>
      <vt:lpstr>Symbol</vt:lpstr>
      <vt:lpstr>STIHL EN 16:9</vt:lpstr>
      <vt:lpstr>think-cell Slide</vt:lpstr>
      <vt:lpstr>think-cell Folie</vt:lpstr>
      <vt:lpstr>SEPM Weiteres Vorgehen  ƒ</vt:lpstr>
      <vt:lpstr>Weiteres Vorgehen </vt:lpstr>
      <vt:lpstr>Vorstandsprotokoll SEPM </vt:lpstr>
      <vt:lpstr>Vorgänge </vt:lpstr>
      <vt:lpstr>Detail-Terminierung</vt:lpstr>
      <vt:lpstr>PowerPoint-Präsentation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lastModifiedBy>D8/ODS Passaro, Alexander</cp:lastModifiedBy>
  <cp:revision>2</cp:revision>
  <dcterms:created xsi:type="dcterms:W3CDTF">2025-07-07T10:08:27Z</dcterms:created>
  <dcterms:modified xsi:type="dcterms:W3CDTF">2026-07-01T14:46:47Z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0x0101003681C1C579840D48AC999B396FE66310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