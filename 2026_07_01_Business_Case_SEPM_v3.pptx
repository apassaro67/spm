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embeddings/oleObject1.bin" ContentType="application/vnd.openxmlformats-officedocument.oleObject"/>
  <Override PartName="/ppt/embeddings/oleObject10.bin" ContentType="application/vnd.openxmlformats-officedocument.oleObject"/>
  <Override PartName="/ppt/embeddings/oleObject11.bin" ContentType="application/vnd.openxmlformats-officedocument.oleObject"/>
  <Override PartName="/ppt/embeddings/oleObject12.bin" ContentType="application/vnd.openxmlformats-officedocument.oleObject"/>
  <Override PartName="/ppt/embeddings/oleObject13.bin" ContentType="application/vnd.openxmlformats-officedocument.oleObject"/>
  <Override PartName="/ppt/embeddings/oleObject14.bin" ContentType="application/vnd.openxmlformats-officedocument.oleObject"/>
  <Override PartName="/ppt/embeddings/oleObject15.bin" ContentType="application/vnd.openxmlformats-officedocument.oleObject"/>
  <Override PartName="/ppt/embeddings/oleObject16.bin" ContentType="application/vnd.openxmlformats-officedocument.oleObject"/>
  <Override PartName="/ppt/embeddings/oleObject2.bin" ContentType="application/vnd.openxmlformats-officedocument.oleObject"/>
  <Override PartName="/ppt/embeddings/oleObject3.bin" ContentType="application/vnd.openxmlformats-officedocument.oleObject"/>
  <Override PartName="/ppt/embeddings/oleObject4.bin" ContentType="application/vnd.openxmlformats-officedocument.oleObject"/>
  <Override PartName="/ppt/embeddings/oleObject5.bin" ContentType="application/vnd.openxmlformats-officedocument.oleObject"/>
  <Override PartName="/ppt/embeddings/oleObject6.bin" ContentType="application/vnd.openxmlformats-officedocument.oleObject"/>
  <Override PartName="/ppt/embeddings/oleObject7.bin" ContentType="application/vnd.openxmlformats-officedocument.oleObject"/>
  <Override PartName="/ppt/embeddings/oleObject8.bin" ContentType="application/vnd.openxmlformats-officedocument.oleObject"/>
  <Override PartName="/ppt/embeddings/oleObject9.bin" ContentType="application/vnd.openxmlformats-officedocument.oleObject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4"/>
  </p:sldMasterIdLst>
  <p:notesMasterIdLst>
    <p:notesMasterId r:id="rId11"/>
  </p:notesMasterIdLst>
  <p:sldIdLst>
    <p:sldId id="256" r:id="rId10"/>
    <p:sldId id="257" r:id="rId9"/>
    <p:sldId id="258" r:id="rId8"/>
    <p:sldId id="259" r:id="rId7"/>
    <p:sldId id="260" r:id="rId6"/>
    <p:sldId id="261" r:id="rId5"/>
    <p:sldId id="262" r:id="rId19"/>
    <p:sldId id="263" r:id="rId20"/>
    <p:sldId id="264" r:id="rId21"/>
    <p:sldId id="265" r:id="rId22"/>
    <p:sldId id="266" r:id="rId23"/>
    <p:sldId id="267" r:id="rId24"/>
    <p:sldId id="268" r:id="rId25"/>
    <p:sldId id="269" r:id="rId26"/>
    <p:sldId id="270" r:id="rId27"/>
    <p:sldId id="271" r:id="rId28"/>
    <p:sldId id="272" r:id="rId29"/>
    <p:sldId id="273" r:id="rId30"/>
    <p:sldId id="274" r:id="rId31"/>
    <p:sldId id="275" r:id="rId32"/>
    <p:sldId id="276" r:id="rId33"/>
    <p:sldId id="277" r:id="rId34"/>
    <p:sldId id="278" r:id="rId35"/>
  </p:sldIdLst>
  <p:sldSz cx="12192000" cy="6858000"/>
  <p:notesSz cx="6858000" cy="9144000"/>
  <p:custDataLst>
    <p:tags r:id="rId12"/>
  </p:custDataLst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78703C2-CE7A-A6E6-F672-41AF8EBE77F5}" name="D1/SP1 Voss, Julia" initials="DJ" userId="S::julia.voss@stihl.de::f87d376c-395b-4d21-8036-37e0fcfef90f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1/MCD Brenner, Damaris" initials="DB" lastIdx="12" clrIdx="0">
    <p:extLst>
      <p:ext uri="{19B8F6BF-5375-455C-9EA6-DF929625EA0E}">
        <p15:presenceInfo xmlns:p15="http://schemas.microsoft.com/office/powerpoint/2012/main" userId="S::damaris.brenner@stihl.de::c0224df7-585a-493d-840a-5fc0188c5fc4" providerId="AD"/>
      </p:ext>
    </p:extLst>
  </p:cmAuthor>
  <p:cmAuthor id="2" name="D1/MCG-sr Schramm, Benedikt" initials="DB" lastIdx="2" clrIdx="1">
    <p:extLst>
      <p:ext uri="{19B8F6BF-5375-455C-9EA6-DF929625EA0E}">
        <p15:presenceInfo xmlns:p15="http://schemas.microsoft.com/office/powerpoint/2012/main" userId="S::benedikt.schramm@stihl.de::b9b01b33-59af-4d45-91d2-53f551bfe4e7" providerId="AD"/>
      </p:ext>
    </p:extLst>
  </p:cmAuthor>
  <p:cmAuthor id="3" name="D1/MC2 Ecke, Oliver" initials="OE" lastIdx="1" clrIdx="2">
    <p:extLst>
      <p:ext uri="{19B8F6BF-5375-455C-9EA6-DF929625EA0E}">
        <p15:presenceInfo xmlns:p15="http://schemas.microsoft.com/office/powerpoint/2012/main" userId="S::oliver.ecke@stihl.de::ec09961d-ee56-4f4a-96cf-13a7f9ec3e5e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2" d="100"/>
          <a:sy n="102" d="100"/>
        </p:scale>
        <p:origin x="1758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6.xml"/><Relationship Id="rId6" Type="http://schemas.openxmlformats.org/officeDocument/2006/relationships/slide" Target="slides/slide5.xml"/><Relationship Id="rId7" Type="http://schemas.openxmlformats.org/officeDocument/2006/relationships/slide" Target="slides/slide4.xml"/><Relationship Id="rId8" Type="http://schemas.openxmlformats.org/officeDocument/2006/relationships/slide" Target="slides/slide3.xml"/><Relationship Id="rId9" Type="http://schemas.openxmlformats.org/officeDocument/2006/relationships/slide" Target="slides/slide2.xml"/><Relationship Id="rId10" Type="http://schemas.openxmlformats.org/officeDocument/2006/relationships/slide" Target="slides/slide1.xml"/><Relationship Id="rId11" Type="http://schemas.openxmlformats.org/officeDocument/2006/relationships/notesMaster" Target="notesMasters/notesMaster1.xml"/><Relationship Id="rId12" Type="http://schemas.openxmlformats.org/officeDocument/2006/relationships/tags" Target="tags/tag1.xml"/><Relationship Id="rId13" Type="http://schemas.openxmlformats.org/officeDocument/2006/relationships/commentAuthors" Target="commentAuthors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18" Type="http://schemas.microsoft.com/office/2018/10/relationships/authors" Target="authors.xml"/><Relationship Id="rId19" Type="http://schemas.openxmlformats.org/officeDocument/2006/relationships/slide" Target="slides/slide7.xml"/><Relationship Id="rId20" Type="http://schemas.openxmlformats.org/officeDocument/2006/relationships/slide" Target="slides/slide8.xml"/><Relationship Id="rId21" Type="http://schemas.openxmlformats.org/officeDocument/2006/relationships/slide" Target="slides/slide9.xml"/><Relationship Id="rId22" Type="http://schemas.openxmlformats.org/officeDocument/2006/relationships/slide" Target="slides/slide10.xml"/><Relationship Id="rId23" Type="http://schemas.openxmlformats.org/officeDocument/2006/relationships/slide" Target="slides/slide11.xml"/><Relationship Id="rId24" Type="http://schemas.openxmlformats.org/officeDocument/2006/relationships/slide" Target="slides/slide12.xml"/><Relationship Id="rId25" Type="http://schemas.openxmlformats.org/officeDocument/2006/relationships/slide" Target="slides/slide13.xml"/><Relationship Id="rId26" Type="http://schemas.openxmlformats.org/officeDocument/2006/relationships/slide" Target="slides/slide14.xml"/><Relationship Id="rId27" Type="http://schemas.openxmlformats.org/officeDocument/2006/relationships/slide" Target="slides/slide15.xml"/><Relationship Id="rId28" Type="http://schemas.openxmlformats.org/officeDocument/2006/relationships/slide" Target="slides/slide16.xml"/><Relationship Id="rId29" Type="http://schemas.openxmlformats.org/officeDocument/2006/relationships/slide" Target="slides/slide17.xml"/><Relationship Id="rId30" Type="http://schemas.openxmlformats.org/officeDocument/2006/relationships/slide" Target="slides/slide18.xml"/><Relationship Id="rId31" Type="http://schemas.openxmlformats.org/officeDocument/2006/relationships/slide" Target="slides/slide19.xml"/><Relationship Id="rId32" Type="http://schemas.openxmlformats.org/officeDocument/2006/relationships/slide" Target="slides/slide20.xml"/><Relationship Id="rId33" Type="http://schemas.openxmlformats.org/officeDocument/2006/relationships/slide" Target="slides/slide21.xml"/><Relationship Id="rId34" Type="http://schemas.openxmlformats.org/officeDocument/2006/relationships/slide" Target="slides/slide22.xml"/><Relationship Id="rId35" Type="http://schemas.openxmlformats.org/officeDocument/2006/relationships/slide" Target="slides/slide2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339CC96-28B7-4EB5-AF28-4751D63D6205}" type="datetimeFigureOut">
              <a:rPr lang="de-DE" smtClean="0"/>
              <a:t>01.07.2026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F3E65A7-789D-47E6-985F-DF61FF0CF57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860411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tags" Target="../tags/tag4.xml"/><Relationship Id="rId2" Type="http://schemas.openxmlformats.org/officeDocument/2006/relationships/tags" Target="../tags/tag5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2.bin"/><Relationship Id="rId5" Type="http://schemas.openxmlformats.org/officeDocument/2006/relationships/image" Target="../media/image3.emf"/><Relationship Id="rId6" Type="http://schemas.openxmlformats.org/officeDocument/2006/relationships/image" Target="../media/image4.png"/><Relationship Id="rId7" Type="http://schemas.openxmlformats.org/officeDocument/2006/relationships/hyperlink" Target="https://dam.stihl.com/" TargetMode="Externa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tags" Target="../tags/tag6.xml"/><Relationship Id="rId2" Type="http://schemas.openxmlformats.org/officeDocument/2006/relationships/tags" Target="../tags/tag7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3.bin"/><Relationship Id="rId5" Type="http://schemas.openxmlformats.org/officeDocument/2006/relationships/image" Target="../media/image3.emf"/><Relationship Id="rId6" Type="http://schemas.openxmlformats.org/officeDocument/2006/relationships/image" Target="../media/image4.png"/><Relationship Id="rId7" Type="http://schemas.openxmlformats.org/officeDocument/2006/relationships/hyperlink" Target="https://dam.stihl.com/" TargetMode="Externa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tags" Target="../tags/tag8.xml"/><Relationship Id="rId2" Type="http://schemas.openxmlformats.org/officeDocument/2006/relationships/tags" Target="../tags/tag9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4.bin"/><Relationship Id="rId5" Type="http://schemas.openxmlformats.org/officeDocument/2006/relationships/image" Target="../media/image3.emf"/><Relationship Id="rId6" Type="http://schemas.openxmlformats.org/officeDocument/2006/relationships/image" Target="../media/image2.png"/><Relationship Id="rId7" Type="http://schemas.openxmlformats.org/officeDocument/2006/relationships/hyperlink" Target="https://dam.stihl.com/" TargetMode="Externa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tags" Target="../tags/tag10.xml"/><Relationship Id="rId2" Type="http://schemas.openxmlformats.org/officeDocument/2006/relationships/tags" Target="../tags/tag11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5.bin"/><Relationship Id="rId5" Type="http://schemas.openxmlformats.org/officeDocument/2006/relationships/image" Target="../media/image1.emf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tags" Target="../tags/tag12.xml"/><Relationship Id="rId2" Type="http://schemas.openxmlformats.org/officeDocument/2006/relationships/tags" Target="../tags/tag13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6.bin"/><Relationship Id="rId5" Type="http://schemas.openxmlformats.org/officeDocument/2006/relationships/image" Target="../media/image1.emf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tags" Target="../tags/tag14.xml"/><Relationship Id="rId2" Type="http://schemas.openxmlformats.org/officeDocument/2006/relationships/tags" Target="../tags/tag15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7.bin"/><Relationship Id="rId5" Type="http://schemas.openxmlformats.org/officeDocument/2006/relationships/image" Target="../media/image1.emf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tags" Target="../tags/tag16.xml"/><Relationship Id="rId2" Type="http://schemas.openxmlformats.org/officeDocument/2006/relationships/tags" Target="../tags/tag17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8.bin"/><Relationship Id="rId5" Type="http://schemas.openxmlformats.org/officeDocument/2006/relationships/image" Target="../media/image1.emf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tags" Target="../tags/tag18.xml"/><Relationship Id="rId2" Type="http://schemas.openxmlformats.org/officeDocument/2006/relationships/tags" Target="../tags/tag19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3.bin"/><Relationship Id="rId5" Type="http://schemas.openxmlformats.org/officeDocument/2006/relationships/image" Target="../media/image3.emf"/><Relationship Id="rId6" Type="http://schemas.openxmlformats.org/officeDocument/2006/relationships/image" Target="../media/image4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tags" Target="../tags/tag20.xml"/><Relationship Id="rId2" Type="http://schemas.openxmlformats.org/officeDocument/2006/relationships/tags" Target="../tags/tag21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9.bin"/><Relationship Id="rId5" Type="http://schemas.openxmlformats.org/officeDocument/2006/relationships/image" Target="../media/image1.emf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tags" Target="../tags/tag22.xml"/><Relationship Id="rId2" Type="http://schemas.openxmlformats.org/officeDocument/2006/relationships/tags" Target="../tags/tag23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10.bin"/><Relationship Id="rId5" Type="http://schemas.openxmlformats.org/officeDocument/2006/relationships/image" Target="../media/image1.emf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tags" Target="../tags/tag24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1.bin"/><Relationship Id="rId4" Type="http://schemas.openxmlformats.org/officeDocument/2006/relationships/image" Target="../media/image3.emf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tags" Target="../tags/tag25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1.bin"/><Relationship Id="rId4" Type="http://schemas.openxmlformats.org/officeDocument/2006/relationships/image" Target="../media/image3.emf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tags" Target="../tags/tag26.xml"/><Relationship Id="rId2" Type="http://schemas.openxmlformats.org/officeDocument/2006/relationships/tags" Target="../tags/tag27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12.bin"/><Relationship Id="rId5" Type="http://schemas.openxmlformats.org/officeDocument/2006/relationships/image" Target="../media/image1.emf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tags" Target="../tags/tag28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1.bin"/><Relationship Id="rId4" Type="http://schemas.openxmlformats.org/officeDocument/2006/relationships/image" Target="../media/image3.emf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tags" Target="../tags/tag29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1.bin"/><Relationship Id="rId4" Type="http://schemas.openxmlformats.org/officeDocument/2006/relationships/image" Target="../media/image3.emf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tags" Target="../tags/tag30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1.bin"/><Relationship Id="rId4" Type="http://schemas.openxmlformats.org/officeDocument/2006/relationships/image" Target="../media/image3.emf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tags" Target="../tags/tag31.xml"/><Relationship Id="rId2" Type="http://schemas.openxmlformats.org/officeDocument/2006/relationships/tags" Target="../tags/tag32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12.bin"/><Relationship Id="rId5" Type="http://schemas.openxmlformats.org/officeDocument/2006/relationships/image" Target="../media/image1.emf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tags" Target="../tags/tag33.xml"/><Relationship Id="rId2" Type="http://schemas.openxmlformats.org/officeDocument/2006/relationships/tags" Target="../tags/tag34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13.bin"/><Relationship Id="rId5" Type="http://schemas.openxmlformats.org/officeDocument/2006/relationships/image" Target="../media/image3.emf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tags" Target="../tags/tag35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1.bin"/><Relationship Id="rId4" Type="http://schemas.openxmlformats.org/officeDocument/2006/relationships/image" Target="../media/image3.emf"/><Relationship Id="rId5" Type="http://schemas.openxmlformats.org/officeDocument/2006/relationships/image" Target="../media/image2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tags" Target="../tags/tag36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1.bin"/><Relationship Id="rId4" Type="http://schemas.openxmlformats.org/officeDocument/2006/relationships/image" Target="../media/image3.emf"/><Relationship Id="rId5" Type="http://schemas.openxmlformats.org/officeDocument/2006/relationships/image" Target="../media/image2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tags" Target="../tags/tag37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1.bin"/><Relationship Id="rId4" Type="http://schemas.openxmlformats.org/officeDocument/2006/relationships/image" Target="../media/image3.emf"/><Relationship Id="rId5" Type="http://schemas.openxmlformats.org/officeDocument/2006/relationships/image" Target="../media/image4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tags" Target="../tags/tag38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1.bin"/><Relationship Id="rId4" Type="http://schemas.openxmlformats.org/officeDocument/2006/relationships/image" Target="../media/image3.emf"/><Relationship Id="rId5" Type="http://schemas.openxmlformats.org/officeDocument/2006/relationships/image" Target="../media/image4.pn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tags" Target="../tags/tag39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4.bin"/><Relationship Id="rId4" Type="http://schemas.openxmlformats.org/officeDocument/2006/relationships/image" Target="../media/image3.emf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tags" Target="../tags/tag40.xml"/><Relationship Id="rId2" Type="http://schemas.openxmlformats.org/officeDocument/2006/relationships/tags" Target="../tags/tag41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15.bin"/><Relationship Id="rId5" Type="http://schemas.openxmlformats.org/officeDocument/2006/relationships/image" Target="../media/image3.emf"/><Relationship Id="rId6" Type="http://schemas.openxmlformats.org/officeDocument/2006/relationships/image" Target="../media/image4.png"/><Relationship Id="rId7" Type="http://schemas.openxmlformats.org/officeDocument/2006/relationships/hyperlink" Target="https://dam.stihl.com/" TargetMode="External"/><Relationship Id="rId8" Type="http://schemas.openxmlformats.org/officeDocument/2006/relationships/image" Target="../media/image5.pn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tags" Target="../tags/tag42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6.bin"/><Relationship Id="rId4" Type="http://schemas.openxmlformats.org/officeDocument/2006/relationships/image" Target="../media/image3.emf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backgrou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70" imgH="371" progId="TCLayout.ActiveDocument.1">
                  <p:embed/>
                </p:oleObj>
              </mc:Choice>
              <mc:Fallback>
                <p:oleObj name="think-cell Slide" r:id="rId4" imgW="370" imgH="371" progId="TCLayout.ActiveDocument.1">
                  <p:embed/>
                  <p:pic>
                    <p:nvPicPr>
                      <p:cNvPr id="4" name="Objekt 3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hteck 2" hidden="1"/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GB" sz="3200" b="1" i="0" baseline="0">
              <a:solidFill>
                <a:schemeClr val="tx1"/>
              </a:solidFill>
              <a:latin typeface="STIHL Contraface Display Title"/>
              <a:ea typeface="+mn-ea"/>
              <a:cs typeface="+mn-cs"/>
              <a:sym typeface="STIHL Contraface Display Title"/>
            </a:endParaRPr>
          </a:p>
        </p:txBody>
      </p:sp>
      <p:pic>
        <p:nvPicPr>
          <p:cNvPr id="12" name="Grafik 11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6060" y="258750"/>
            <a:ext cx="1774212" cy="775631"/>
          </a:xfrm>
          <a:prstGeom prst="rect">
            <a:avLst/>
          </a:prstGeom>
        </p:spPr>
      </p:pic>
      <p:sp>
        <p:nvSpPr>
          <p:cNvPr id="15" name="Bildplatzhalter 14">
            <a:extLst>
              <a:ext uri="{FF2B5EF4-FFF2-40B4-BE49-F238E27FC236}">
                <a16:creationId xmlns:a16="http://schemas.microsoft.com/office/drawing/2014/main" id="{F81A1AFD-D231-4C55-9AAB-DA10BA8E7D1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10129345 w 12192000"/>
              <a:gd name="connsiteY4" fmla="*/ 344401 h 6858000"/>
              <a:gd name="connsiteX5" fmla="*/ 10129345 w 12192000"/>
              <a:gd name="connsiteY5" fmla="*/ 1099696 h 6858000"/>
              <a:gd name="connsiteX6" fmla="*/ 11857039 w 12192000"/>
              <a:gd name="connsiteY6" fmla="*/ 1099696 h 6858000"/>
              <a:gd name="connsiteX7" fmla="*/ 11857039 w 12192000"/>
              <a:gd name="connsiteY7" fmla="*/ 344401 h 6858000"/>
              <a:gd name="connsiteX8" fmla="*/ 0 w 12192000"/>
              <a:gd name="connsiteY8" fmla="*/ 0 h 6858000"/>
              <a:gd name="connsiteX9" fmla="*/ 12192000 w 12192000"/>
              <a:gd name="connsiteY9" fmla="*/ 0 h 6858000"/>
              <a:gd name="connsiteX10" fmla="*/ 12192000 w 12192000"/>
              <a:gd name="connsiteY10" fmla="*/ 6858000 h 6858000"/>
              <a:gd name="connsiteX11" fmla="*/ 0 w 12192000"/>
              <a:gd name="connsiteY11" fmla="*/ 685800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29345 w 12192000"/>
              <a:gd name="connsiteY6" fmla="*/ 1099696 h 6858000"/>
              <a:gd name="connsiteX7" fmla="*/ 11857039 w 12192000"/>
              <a:gd name="connsiteY7" fmla="*/ 1099696 h 6858000"/>
              <a:gd name="connsiteX8" fmla="*/ 11857039 w 12192000"/>
              <a:gd name="connsiteY8" fmla="*/ 34440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29345 w 12192000"/>
              <a:gd name="connsiteY6" fmla="*/ 1099696 h 6858000"/>
              <a:gd name="connsiteX7" fmla="*/ 11857039 w 12192000"/>
              <a:gd name="connsiteY7" fmla="*/ 109969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29345 w 12192000"/>
              <a:gd name="connsiteY6" fmla="*/ 1099696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31885 w 12192000"/>
              <a:gd name="connsiteY6" fmla="*/ 1033656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2680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42680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2680 w 12192000"/>
              <a:gd name="connsiteY5" fmla="*/ 258041 h 6858000"/>
              <a:gd name="connsiteX6" fmla="*/ 1013950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42680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2680 w 12192000"/>
              <a:gd name="connsiteY5" fmla="*/ 258041 h 6858000"/>
              <a:gd name="connsiteX6" fmla="*/ 1014331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42680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2680 w 12192000"/>
              <a:gd name="connsiteY5" fmla="*/ 258041 h 6858000"/>
              <a:gd name="connsiteX6" fmla="*/ 10143315 w 12192000"/>
              <a:gd name="connsiteY6" fmla="*/ 1031751 h 6858000"/>
              <a:gd name="connsiteX7" fmla="*/ 11907839 w 12192000"/>
              <a:gd name="connsiteY7" fmla="*/ 1031116 h 6858000"/>
              <a:gd name="connsiteX8" fmla="*/ 11904029 w 12192000"/>
              <a:gd name="connsiteY8" fmla="*/ 258041 h 6858000"/>
              <a:gd name="connsiteX9" fmla="*/ 10142680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2680 w 12192000"/>
              <a:gd name="connsiteY5" fmla="*/ 258041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58041 h 6858000"/>
              <a:gd name="connsiteX9" fmla="*/ 10142680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0775 w 12192000"/>
              <a:gd name="connsiteY5" fmla="*/ 259946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58041 h 6858000"/>
              <a:gd name="connsiteX9" fmla="*/ 10140775 w 12192000"/>
              <a:gd name="connsiteY9" fmla="*/ 25994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59946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58041 h 6858000"/>
              <a:gd name="connsiteX9" fmla="*/ 10146490 w 12192000"/>
              <a:gd name="connsiteY9" fmla="*/ 25994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0775 w 12192000"/>
              <a:gd name="connsiteY5" fmla="*/ 263756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58041 h 6858000"/>
              <a:gd name="connsiteX9" fmla="*/ 10140775 w 12192000"/>
              <a:gd name="connsiteY9" fmla="*/ 26375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0775 w 12192000"/>
              <a:gd name="connsiteY5" fmla="*/ 263756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63756 h 6858000"/>
              <a:gd name="connsiteX9" fmla="*/ 10140775 w 12192000"/>
              <a:gd name="connsiteY9" fmla="*/ 26375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3756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63756 h 6858000"/>
              <a:gd name="connsiteX9" fmla="*/ 10146490 w 12192000"/>
              <a:gd name="connsiteY9" fmla="*/ 26375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047430 w 12192000"/>
              <a:gd name="connsiteY5" fmla="*/ 197081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63756 h 6858000"/>
              <a:gd name="connsiteX9" fmla="*/ 10047430 w 12192000"/>
              <a:gd name="connsiteY9" fmla="*/ 19708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207450 w 12192000"/>
              <a:gd name="connsiteY5" fmla="*/ 338051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63756 h 6858000"/>
              <a:gd name="connsiteX9" fmla="*/ 10207450 w 12192000"/>
              <a:gd name="connsiteY9" fmla="*/ 33805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4585 w 12192000"/>
              <a:gd name="connsiteY5" fmla="*/ 263756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63756 h 6858000"/>
              <a:gd name="connsiteX9" fmla="*/ 10144585 w 12192000"/>
              <a:gd name="connsiteY9" fmla="*/ 26375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4585 w 12192000"/>
              <a:gd name="connsiteY5" fmla="*/ 263756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0219 w 12192000"/>
              <a:gd name="connsiteY8" fmla="*/ 267566 h 6858000"/>
              <a:gd name="connsiteX9" fmla="*/ 10144585 w 12192000"/>
              <a:gd name="connsiteY9" fmla="*/ 26375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4585 w 12192000"/>
              <a:gd name="connsiteY5" fmla="*/ 263756 h 6858000"/>
              <a:gd name="connsiteX6" fmla="*/ 10143315 w 12192000"/>
              <a:gd name="connsiteY6" fmla="*/ 1031751 h 6858000"/>
              <a:gd name="connsiteX7" fmla="*/ 11858309 w 12192000"/>
              <a:gd name="connsiteY7" fmla="*/ 994921 h 6858000"/>
              <a:gd name="connsiteX8" fmla="*/ 11900219 w 12192000"/>
              <a:gd name="connsiteY8" fmla="*/ 267566 h 6858000"/>
              <a:gd name="connsiteX9" fmla="*/ 10144585 w 12192000"/>
              <a:gd name="connsiteY9" fmla="*/ 26375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3315 w 12192000"/>
              <a:gd name="connsiteY6" fmla="*/ 1031751 h 6858000"/>
              <a:gd name="connsiteX7" fmla="*/ 11858309 w 12192000"/>
              <a:gd name="connsiteY7" fmla="*/ 994921 h 6858000"/>
              <a:gd name="connsiteX8" fmla="*/ 11900219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3315 w 12192000"/>
              <a:gd name="connsiteY6" fmla="*/ 1031751 h 6858000"/>
              <a:gd name="connsiteX7" fmla="*/ 11904029 w 12192000"/>
              <a:gd name="connsiteY7" fmla="*/ 1025401 h 6858000"/>
              <a:gd name="connsiteX8" fmla="*/ 11900219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5220 w 12192000"/>
              <a:gd name="connsiteY6" fmla="*/ 1026036 h 6858000"/>
              <a:gd name="connsiteX7" fmla="*/ 11904029 w 12192000"/>
              <a:gd name="connsiteY7" fmla="*/ 1025401 h 6858000"/>
              <a:gd name="connsiteX8" fmla="*/ 11900219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5220 w 12192000"/>
              <a:gd name="connsiteY6" fmla="*/ 1029846 h 6858000"/>
              <a:gd name="connsiteX7" fmla="*/ 11904029 w 12192000"/>
              <a:gd name="connsiteY7" fmla="*/ 1025401 h 6858000"/>
              <a:gd name="connsiteX8" fmla="*/ 11900219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9030 w 12192000"/>
              <a:gd name="connsiteY6" fmla="*/ 1029846 h 6858000"/>
              <a:gd name="connsiteX7" fmla="*/ 11904029 w 12192000"/>
              <a:gd name="connsiteY7" fmla="*/ 1025401 h 6858000"/>
              <a:gd name="connsiteX8" fmla="*/ 11900219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7125 w 12192000"/>
              <a:gd name="connsiteY6" fmla="*/ 1029846 h 6858000"/>
              <a:gd name="connsiteX7" fmla="*/ 11904029 w 12192000"/>
              <a:gd name="connsiteY7" fmla="*/ 1025401 h 6858000"/>
              <a:gd name="connsiteX8" fmla="*/ 11900219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7125 w 12192000"/>
              <a:gd name="connsiteY6" fmla="*/ 1029846 h 6858000"/>
              <a:gd name="connsiteX7" fmla="*/ 11904029 w 12192000"/>
              <a:gd name="connsiteY7" fmla="*/ 1025401 h 6858000"/>
              <a:gd name="connsiteX8" fmla="*/ 1190593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7125 w 12192000"/>
              <a:gd name="connsiteY6" fmla="*/ 1029846 h 6858000"/>
              <a:gd name="connsiteX7" fmla="*/ 11904029 w 12192000"/>
              <a:gd name="connsiteY7" fmla="*/ 1025401 h 6858000"/>
              <a:gd name="connsiteX8" fmla="*/ 11709719 w 12192000"/>
              <a:gd name="connsiteY8" fmla="*/ 452351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7125 w 12192000"/>
              <a:gd name="connsiteY6" fmla="*/ 1029846 h 6858000"/>
              <a:gd name="connsiteX7" fmla="*/ 11904029 w 12192000"/>
              <a:gd name="connsiteY7" fmla="*/ 1025401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398585 w 12192000"/>
              <a:gd name="connsiteY6" fmla="*/ 778386 h 6858000"/>
              <a:gd name="connsiteX7" fmla="*/ 11904029 w 12192000"/>
              <a:gd name="connsiteY7" fmla="*/ 1025401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5401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85750 w 12192000"/>
              <a:gd name="connsiteY0" fmla="*/ 282220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285750 w 12192000"/>
              <a:gd name="connsiteY4" fmla="*/ 2822204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5401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85750 w 12192000"/>
              <a:gd name="connsiteY0" fmla="*/ 2822204 h 6858000"/>
              <a:gd name="connsiteX1" fmla="*/ 285750 w 12192000"/>
              <a:gd name="connsiteY1" fmla="*/ 660084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285750 w 12192000"/>
              <a:gd name="connsiteY4" fmla="*/ 2822204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5401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85750 w 12192000"/>
              <a:gd name="connsiteY0" fmla="*/ 2822204 h 6858000"/>
              <a:gd name="connsiteX1" fmla="*/ 285750 w 12192000"/>
              <a:gd name="connsiteY1" fmla="*/ 6600847 h 6858000"/>
              <a:gd name="connsiteX2" fmla="*/ 5325750 w 12192000"/>
              <a:gd name="connsiteY2" fmla="*/ 6595767 h 6858000"/>
              <a:gd name="connsiteX3" fmla="*/ 5401950 w 12192000"/>
              <a:gd name="connsiteY3" fmla="*/ 2751084 h 6858000"/>
              <a:gd name="connsiteX4" fmla="*/ 285750 w 12192000"/>
              <a:gd name="connsiteY4" fmla="*/ 2822204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5401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85750 w 12192000"/>
              <a:gd name="connsiteY0" fmla="*/ 2822204 h 6858000"/>
              <a:gd name="connsiteX1" fmla="*/ 285750 w 12192000"/>
              <a:gd name="connsiteY1" fmla="*/ 6600847 h 6858000"/>
              <a:gd name="connsiteX2" fmla="*/ 5325750 w 12192000"/>
              <a:gd name="connsiteY2" fmla="*/ 6595767 h 6858000"/>
              <a:gd name="connsiteX3" fmla="*/ 5325750 w 12192000"/>
              <a:gd name="connsiteY3" fmla="*/ 2817124 h 6858000"/>
              <a:gd name="connsiteX4" fmla="*/ 285750 w 12192000"/>
              <a:gd name="connsiteY4" fmla="*/ 2822204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5401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85750 w 12192000"/>
              <a:gd name="connsiteY0" fmla="*/ 2822204 h 6858000"/>
              <a:gd name="connsiteX1" fmla="*/ 285750 w 12192000"/>
              <a:gd name="connsiteY1" fmla="*/ 6600847 h 6858000"/>
              <a:gd name="connsiteX2" fmla="*/ 5325750 w 12192000"/>
              <a:gd name="connsiteY2" fmla="*/ 6595767 h 6858000"/>
              <a:gd name="connsiteX3" fmla="*/ 5320670 w 12192000"/>
              <a:gd name="connsiteY3" fmla="*/ 2817124 h 6858000"/>
              <a:gd name="connsiteX4" fmla="*/ 285750 w 12192000"/>
              <a:gd name="connsiteY4" fmla="*/ 2822204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5401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85750 w 12192000"/>
              <a:gd name="connsiteY0" fmla="*/ 2822204 h 6858000"/>
              <a:gd name="connsiteX1" fmla="*/ 285750 w 12192000"/>
              <a:gd name="connsiteY1" fmla="*/ 6600847 h 6858000"/>
              <a:gd name="connsiteX2" fmla="*/ 5325750 w 12192000"/>
              <a:gd name="connsiteY2" fmla="*/ 6595767 h 6858000"/>
              <a:gd name="connsiteX3" fmla="*/ 5315590 w 12192000"/>
              <a:gd name="connsiteY3" fmla="*/ 2822204 h 6858000"/>
              <a:gd name="connsiteX4" fmla="*/ 285750 w 12192000"/>
              <a:gd name="connsiteY4" fmla="*/ 2822204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5401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2192000" h="6858000">
                <a:moveTo>
                  <a:pt x="285750" y="2822204"/>
                </a:moveTo>
                <a:lnTo>
                  <a:pt x="285750" y="6600847"/>
                </a:lnTo>
                <a:lnTo>
                  <a:pt x="5325750" y="6595767"/>
                </a:lnTo>
                <a:cubicBezTo>
                  <a:pt x="5324057" y="5336219"/>
                  <a:pt x="5317283" y="4081752"/>
                  <a:pt x="5315590" y="2822204"/>
                </a:cubicBezTo>
                <a:lnTo>
                  <a:pt x="285750" y="2822204"/>
                </a:lnTo>
                <a:close/>
                <a:moveTo>
                  <a:pt x="10146490" y="265661"/>
                </a:moveTo>
                <a:cubicBezTo>
                  <a:pt x="10144797" y="524199"/>
                  <a:pt x="10146913" y="769403"/>
                  <a:pt x="10145220" y="1027941"/>
                </a:cubicBezTo>
                <a:lnTo>
                  <a:pt x="11904029" y="1025401"/>
                </a:lnTo>
                <a:lnTo>
                  <a:pt x="11902124" y="267566"/>
                </a:lnTo>
                <a:lnTo>
                  <a:pt x="10146490" y="265661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8" name="Subline">
            <a:extLst>
              <a:ext uri="{FF2B5EF4-FFF2-40B4-BE49-F238E27FC236}">
                <a16:creationId xmlns:a16="http://schemas.microsoft.com/office/drawing/2014/main" id="{F64F20BE-9490-4534-8D22-D527DF582B1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83003" y="5507050"/>
            <a:ext cx="5040000" cy="360000"/>
          </a:xfrm>
          <a:prstGeom prst="rect">
            <a:avLst/>
          </a:prstGeom>
        </p:spPr>
        <p:txBody>
          <a:bodyPr lIns="324000" rIns="288000" anchor="b" anchorCtr="0">
            <a:noAutofit/>
          </a:bodyPr>
          <a:lstStyle>
            <a:lvl1pPr marL="0" indent="0">
              <a:buNone/>
              <a:defRPr sz="1600" b="1" cap="none" baseline="0">
                <a:latin typeface="+mj-lt"/>
              </a:defRPr>
            </a:lvl1pPr>
          </a:lstStyle>
          <a:p>
            <a:pPr lvl="0"/>
            <a:r>
              <a:rPr lang="en-GB"/>
              <a:t>Subline</a:t>
            </a:r>
          </a:p>
        </p:txBody>
      </p:sp>
      <p:sp>
        <p:nvSpPr>
          <p:cNvPr id="9" name="Textplatzhalter 4">
            <a:extLst>
              <a:ext uri="{FF2B5EF4-FFF2-40B4-BE49-F238E27FC236}">
                <a16:creationId xmlns:a16="http://schemas.microsoft.com/office/drawing/2014/main" id="{DCF84473-59A5-4A28-B312-2557D7CFAFB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83003" y="5882290"/>
            <a:ext cx="5040000" cy="189474"/>
          </a:xfrm>
          <a:prstGeom prst="rect">
            <a:avLst/>
          </a:prstGeom>
        </p:spPr>
        <p:txBody>
          <a:bodyPr lIns="324000" tIns="36000">
            <a:noAutofit/>
          </a:bodyPr>
          <a:lstStyle>
            <a:lvl1pPr marL="0" indent="0">
              <a:buNone/>
              <a:defRPr sz="1600" cap="none" baseline="0"/>
            </a:lvl1pPr>
          </a:lstStyle>
          <a:p>
            <a:pPr lvl="0"/>
            <a:r>
              <a:rPr lang="en-GB"/>
              <a:t>First name last name</a:t>
            </a:r>
          </a:p>
        </p:txBody>
      </p:sp>
      <p:sp>
        <p:nvSpPr>
          <p:cNvPr id="10" name="Textplatzhalter 4">
            <a:extLst>
              <a:ext uri="{FF2B5EF4-FFF2-40B4-BE49-F238E27FC236}">
                <a16:creationId xmlns:a16="http://schemas.microsoft.com/office/drawing/2014/main" id="{57D522EB-93F7-49B3-9164-076263457E7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83003" y="6088030"/>
            <a:ext cx="5040000" cy="189474"/>
          </a:xfrm>
          <a:prstGeom prst="rect">
            <a:avLst/>
          </a:prstGeom>
        </p:spPr>
        <p:txBody>
          <a:bodyPr lIns="324000" tIns="36000">
            <a:noAutofit/>
          </a:bodyPr>
          <a:lstStyle>
            <a:lvl1pPr marL="0" indent="0">
              <a:buNone/>
              <a:defRPr sz="1600" cap="none" baseline="0"/>
            </a:lvl1pPr>
          </a:lstStyle>
          <a:p>
            <a:pPr lvl="0"/>
            <a:r>
              <a:rPr lang="en-GB"/>
              <a:t>Date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6C95D28-A98E-4740-A955-E3F7D2C2C72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3003" y="2817195"/>
            <a:ext cx="5040000" cy="2627144"/>
          </a:xfrm>
        </p:spPr>
        <p:txBody>
          <a:bodyPr vert="horz" lIns="288000" tIns="288000" rIns="288000" bIns="288000" rtlCol="0">
            <a:noAutofit/>
          </a:bodyPr>
          <a:lstStyle>
            <a:lvl1pPr>
              <a:defRPr lang="de-DE" sz="3200" cap="none" baseline="0" dirty="0">
                <a:latin typeface="STIHL Contraface Display Title" panose="02000600040000020004" pitchFamily="2" charset="0"/>
                <a:ea typeface="+mn-ea"/>
                <a:cs typeface="+mn-cs"/>
              </a:defRPr>
            </a:lvl1pPr>
          </a:lstStyle>
          <a:p>
            <a:pPr marL="0" lvl="0" indent="0">
              <a:spcBef>
                <a:spcPts val="1000"/>
              </a:spcBef>
              <a:buFont typeface="Arial" panose="020B0604020202020204" pitchFamily="34" charset="0"/>
            </a:pPr>
            <a:r>
              <a:rPr lang="en-GB"/>
              <a:t>Edit master title format</a:t>
            </a:r>
            <a:br>
              <a:rPr lang="en-GB"/>
            </a:br>
            <a:r>
              <a:rPr lang="en-GB"/>
              <a:t>ƒ</a:t>
            </a: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94BC4FC7-E1E4-9FAD-A3D9-49BF44B67F3F}"/>
              </a:ext>
            </a:extLst>
          </p:cNvPr>
          <p:cNvSpPr>
            <a:spLocks/>
          </p:cNvSpPr>
          <p:nvPr userDrawn="1"/>
        </p:nvSpPr>
        <p:spPr>
          <a:xfrm>
            <a:off x="-3139178" y="1477622"/>
            <a:ext cx="2845436" cy="4134191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b" anchorCtr="0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600">
                <a:solidFill>
                  <a:schemeClr val="tx1"/>
                </a:solidFill>
              </a:rPr>
              <a:t>You can find more templates in the Template Library. They are stored in the template folders</a:t>
            </a:r>
            <a:br>
              <a:rPr lang="de-DE" sz="1600">
                <a:solidFill>
                  <a:schemeClr val="tx1"/>
                </a:solidFill>
              </a:rPr>
            </a:br>
            <a:endParaRPr lang="de-DE" sz="1600">
              <a:solidFill>
                <a:schemeClr val="tx1"/>
              </a:solidFill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600">
                <a:solidFill>
                  <a:schemeClr val="tx1"/>
                </a:solidFill>
              </a:rPr>
              <a:t>Images can be found on your local drive under </a:t>
            </a:r>
            <a:r>
              <a:rPr lang="en-US" sz="1600" b="1">
                <a:solidFill>
                  <a:schemeClr val="tx1"/>
                </a:solidFill>
              </a:rPr>
              <a:t>C:\Program Files (x86)\STIHL\PPT Images </a:t>
            </a:r>
            <a:r>
              <a:rPr lang="en-US" sz="1600">
                <a:solidFill>
                  <a:schemeClr val="tx1"/>
                </a:solidFill>
              </a:rPr>
              <a:t>or in the STIHL DAM </a:t>
            </a:r>
            <a:r>
              <a:rPr lang="en-US" sz="1600">
                <a:solidFill>
                  <a:schemeClr val="tx1"/>
                </a:solidFill>
                <a:hlinkClick r:id="rId7"/>
              </a:rPr>
              <a:t>https://dam.stihl.com/</a:t>
            </a:r>
            <a:endParaRPr lang="en-US" sz="1600">
              <a:solidFill>
                <a:schemeClr val="tx1"/>
              </a:solidFill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de-DE" sz="1600"/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600" b="0">
                <a:solidFill>
                  <a:schemeClr val="tx1"/>
                </a:solidFill>
              </a:rPr>
              <a:t>Please do not print slides with full </a:t>
            </a:r>
            <a:r>
              <a:rPr lang="en-US" sz="1600" b="0" err="1">
                <a:solidFill>
                  <a:schemeClr val="tx1"/>
                </a:solidFill>
              </a:rPr>
              <a:t>colour</a:t>
            </a:r>
            <a:r>
              <a:rPr lang="en-US" sz="1600" b="0">
                <a:solidFill>
                  <a:schemeClr val="tx1"/>
                </a:solidFill>
              </a:rPr>
              <a:t> or images </a:t>
            </a: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de-DE" sz="1600" b="0">
              <a:solidFill>
                <a:schemeClr val="tx1"/>
              </a:solidFill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600" b="0">
                <a:solidFill>
                  <a:schemeClr val="tx1"/>
                </a:solidFill>
              </a:rPr>
              <a:t>The stand line can be inserted via the "Insert" tab through the "Symbol" field</a:t>
            </a:r>
          </a:p>
        </p:txBody>
      </p:sp>
    </p:spTree>
    <p:extLst>
      <p:ext uri="{BB962C8B-B14F-4D97-AF65-F5344CB8AC3E}">
        <p14:creationId xmlns:p14="http://schemas.microsoft.com/office/powerpoint/2010/main" val="27963493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Long title backgrou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/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8474616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70" imgH="371" progId="TCLayout.ActiveDocument.1">
                  <p:embed/>
                </p:oleObj>
              </mc:Choice>
              <mc:Fallback>
                <p:oleObj name="think-cell Slide" r:id="rId4" imgW="370" imgH="371" progId="TCLayout.ActiveDocument.1">
                  <p:embed/>
                  <p:pic>
                    <p:nvPicPr>
                      <p:cNvPr id="4" name="Objekt 3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hteck 2" hidden="1"/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GB" sz="3200" b="1" i="0" baseline="0">
              <a:solidFill>
                <a:schemeClr val="tx1"/>
              </a:solidFill>
              <a:latin typeface="STIHL Contraface Display Title"/>
              <a:ea typeface="+mn-ea"/>
              <a:cs typeface="+mn-cs"/>
              <a:sym typeface="STIHL Contraface Display Title"/>
            </a:endParaRPr>
          </a:p>
        </p:txBody>
      </p:sp>
      <p:pic>
        <p:nvPicPr>
          <p:cNvPr id="11" name="Grafik 10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6060" y="258750"/>
            <a:ext cx="1774212" cy="775631"/>
          </a:xfrm>
          <a:prstGeom prst="rect">
            <a:avLst/>
          </a:prstGeom>
        </p:spPr>
      </p:pic>
      <p:sp>
        <p:nvSpPr>
          <p:cNvPr id="17" name="Hintergrundbild">
            <a:extLst>
              <a:ext uri="{FF2B5EF4-FFF2-40B4-BE49-F238E27FC236}">
                <a16:creationId xmlns:a16="http://schemas.microsoft.com/office/drawing/2014/main" id="{91303CF3-1A7E-4149-A9A1-BC9B75037D65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10129345 w 12192000"/>
              <a:gd name="connsiteY4" fmla="*/ 344401 h 6858000"/>
              <a:gd name="connsiteX5" fmla="*/ 10129345 w 12192000"/>
              <a:gd name="connsiteY5" fmla="*/ 1099696 h 6858000"/>
              <a:gd name="connsiteX6" fmla="*/ 11857039 w 12192000"/>
              <a:gd name="connsiteY6" fmla="*/ 1099696 h 6858000"/>
              <a:gd name="connsiteX7" fmla="*/ 11857039 w 12192000"/>
              <a:gd name="connsiteY7" fmla="*/ 344401 h 6858000"/>
              <a:gd name="connsiteX8" fmla="*/ 0 w 12192000"/>
              <a:gd name="connsiteY8" fmla="*/ 0 h 6858000"/>
              <a:gd name="connsiteX9" fmla="*/ 12192000 w 12192000"/>
              <a:gd name="connsiteY9" fmla="*/ 0 h 6858000"/>
              <a:gd name="connsiteX10" fmla="*/ 12192000 w 12192000"/>
              <a:gd name="connsiteY10" fmla="*/ 6858000 h 6858000"/>
              <a:gd name="connsiteX11" fmla="*/ 0 w 12192000"/>
              <a:gd name="connsiteY11" fmla="*/ 685800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29345 w 12192000"/>
              <a:gd name="connsiteY6" fmla="*/ 1099696 h 6858000"/>
              <a:gd name="connsiteX7" fmla="*/ 11857039 w 12192000"/>
              <a:gd name="connsiteY7" fmla="*/ 1099696 h 6858000"/>
              <a:gd name="connsiteX8" fmla="*/ 11857039 w 12192000"/>
              <a:gd name="connsiteY8" fmla="*/ 34440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29345 w 12192000"/>
              <a:gd name="connsiteY6" fmla="*/ 1099696 h 6858000"/>
              <a:gd name="connsiteX7" fmla="*/ 11857039 w 12192000"/>
              <a:gd name="connsiteY7" fmla="*/ 1099696 h 6858000"/>
              <a:gd name="connsiteX8" fmla="*/ 11910379 w 12192000"/>
              <a:gd name="connsiteY8" fmla="*/ 26058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29345 w 12192000"/>
              <a:gd name="connsiteY6" fmla="*/ 1099696 h 6858000"/>
              <a:gd name="connsiteX7" fmla="*/ 11910379 w 12192000"/>
              <a:gd name="connsiteY7" fmla="*/ 1029211 h 6858000"/>
              <a:gd name="connsiteX8" fmla="*/ 11910379 w 12192000"/>
              <a:gd name="connsiteY8" fmla="*/ 26058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38870 w 12192000"/>
              <a:gd name="connsiteY6" fmla="*/ 1034926 h 6858000"/>
              <a:gd name="connsiteX7" fmla="*/ 11910379 w 12192000"/>
              <a:gd name="connsiteY7" fmla="*/ 1029211 h 6858000"/>
              <a:gd name="connsiteX8" fmla="*/ 11910379 w 12192000"/>
              <a:gd name="connsiteY8" fmla="*/ 26058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38870 w 12192000"/>
              <a:gd name="connsiteY6" fmla="*/ 1034926 h 6858000"/>
              <a:gd name="connsiteX7" fmla="*/ 11910379 w 12192000"/>
              <a:gd name="connsiteY7" fmla="*/ 1029211 h 6858000"/>
              <a:gd name="connsiteX8" fmla="*/ 11902759 w 12192000"/>
              <a:gd name="connsiteY8" fmla="*/ 26820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38870 w 12192000"/>
              <a:gd name="connsiteY6" fmla="*/ 1034926 h 6858000"/>
              <a:gd name="connsiteX7" fmla="*/ 11923714 w 12192000"/>
              <a:gd name="connsiteY7" fmla="*/ 1048261 h 6858000"/>
              <a:gd name="connsiteX8" fmla="*/ 11902759 w 12192000"/>
              <a:gd name="connsiteY8" fmla="*/ 26820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38870 w 12192000"/>
              <a:gd name="connsiteY6" fmla="*/ 1034926 h 6858000"/>
              <a:gd name="connsiteX7" fmla="*/ 11904664 w 12192000"/>
              <a:gd name="connsiteY7" fmla="*/ 1029211 h 6858000"/>
              <a:gd name="connsiteX8" fmla="*/ 11902759 w 12192000"/>
              <a:gd name="connsiteY8" fmla="*/ 26820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42680 w 12192000"/>
              <a:gd name="connsiteY6" fmla="*/ 1025401 h 6858000"/>
              <a:gd name="connsiteX7" fmla="*/ 11904664 w 12192000"/>
              <a:gd name="connsiteY7" fmla="*/ 1029211 h 6858000"/>
              <a:gd name="connsiteX8" fmla="*/ 11902759 w 12192000"/>
              <a:gd name="connsiteY8" fmla="*/ 26820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9211 h 6858000"/>
              <a:gd name="connsiteX8" fmla="*/ 11902759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295080 w 12192000"/>
              <a:gd name="connsiteY5" fmla="*/ 361546 h 6858000"/>
              <a:gd name="connsiteX6" fmla="*/ 10142680 w 12192000"/>
              <a:gd name="connsiteY6" fmla="*/ 1025401 h 6858000"/>
              <a:gd name="connsiteX7" fmla="*/ 11904664 w 12192000"/>
              <a:gd name="connsiteY7" fmla="*/ 1029211 h 6858000"/>
              <a:gd name="connsiteX8" fmla="*/ 11902759 w 12192000"/>
              <a:gd name="connsiteY8" fmla="*/ 268201 h 6858000"/>
              <a:gd name="connsiteX9" fmla="*/ 10295080 w 12192000"/>
              <a:gd name="connsiteY9" fmla="*/ 36154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42680 w 12192000"/>
              <a:gd name="connsiteY6" fmla="*/ 1025401 h 6858000"/>
              <a:gd name="connsiteX7" fmla="*/ 11904664 w 12192000"/>
              <a:gd name="connsiteY7" fmla="*/ 1029211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42680 w 12192000"/>
              <a:gd name="connsiteY6" fmla="*/ 1025401 h 6858000"/>
              <a:gd name="connsiteX7" fmla="*/ 11830369 w 12192000"/>
              <a:gd name="connsiteY7" fmla="*/ 964441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757979 w 12192000"/>
              <a:gd name="connsiteY8" fmla="*/ 39774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262695 w 12192000"/>
              <a:gd name="connsiteY5" fmla="*/ 35202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262695 w 12192000"/>
              <a:gd name="connsiteY9" fmla="*/ 35202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296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276606 w 12192000"/>
              <a:gd name="connsiteY4" fmla="*/ 252962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2962 h 6858000"/>
              <a:gd name="connsiteX1" fmla="*/ 282702 w 12192000"/>
              <a:gd name="connsiteY1" fmla="*/ 6609554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276606 w 12192000"/>
              <a:gd name="connsiteY4" fmla="*/ 252962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2962 h 6858000"/>
              <a:gd name="connsiteX1" fmla="*/ 282702 w 12192000"/>
              <a:gd name="connsiteY1" fmla="*/ 6609554 h 6858000"/>
              <a:gd name="connsiteX2" fmla="*/ 5328798 w 12192000"/>
              <a:gd name="connsiteY2" fmla="*/ 6597362 h 6858000"/>
              <a:gd name="connsiteX3" fmla="*/ 5401950 w 12192000"/>
              <a:gd name="connsiteY3" fmla="*/ 344402 h 6858000"/>
              <a:gd name="connsiteX4" fmla="*/ 276606 w 12192000"/>
              <a:gd name="connsiteY4" fmla="*/ 252962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2962 h 6858000"/>
              <a:gd name="connsiteX1" fmla="*/ 282702 w 12192000"/>
              <a:gd name="connsiteY1" fmla="*/ 6609554 h 6858000"/>
              <a:gd name="connsiteX2" fmla="*/ 5328798 w 12192000"/>
              <a:gd name="connsiteY2" fmla="*/ 6597362 h 6858000"/>
              <a:gd name="connsiteX3" fmla="*/ 5328798 w 12192000"/>
              <a:gd name="connsiteY3" fmla="*/ 259058 h 6858000"/>
              <a:gd name="connsiteX4" fmla="*/ 276606 w 12192000"/>
              <a:gd name="connsiteY4" fmla="*/ 252962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2962 h 6858000"/>
              <a:gd name="connsiteX1" fmla="*/ 282702 w 12192000"/>
              <a:gd name="connsiteY1" fmla="*/ 6609554 h 6858000"/>
              <a:gd name="connsiteX2" fmla="*/ 5328798 w 12192000"/>
              <a:gd name="connsiteY2" fmla="*/ 6597362 h 6858000"/>
              <a:gd name="connsiteX3" fmla="*/ 4877694 w 12192000"/>
              <a:gd name="connsiteY3" fmla="*/ 899138 h 6858000"/>
              <a:gd name="connsiteX4" fmla="*/ 276606 w 12192000"/>
              <a:gd name="connsiteY4" fmla="*/ 252962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2962 h 6858000"/>
              <a:gd name="connsiteX1" fmla="*/ 282702 w 12192000"/>
              <a:gd name="connsiteY1" fmla="*/ 6609554 h 6858000"/>
              <a:gd name="connsiteX2" fmla="*/ 5328798 w 12192000"/>
              <a:gd name="connsiteY2" fmla="*/ 6597362 h 6858000"/>
              <a:gd name="connsiteX3" fmla="*/ 5328798 w 12192000"/>
              <a:gd name="connsiteY3" fmla="*/ 252962 h 6858000"/>
              <a:gd name="connsiteX4" fmla="*/ 276606 w 12192000"/>
              <a:gd name="connsiteY4" fmla="*/ 252962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2962 h 6858000"/>
              <a:gd name="connsiteX1" fmla="*/ 1002030 w 12192000"/>
              <a:gd name="connsiteY1" fmla="*/ 6140162 h 6858000"/>
              <a:gd name="connsiteX2" fmla="*/ 5328798 w 12192000"/>
              <a:gd name="connsiteY2" fmla="*/ 6597362 h 6858000"/>
              <a:gd name="connsiteX3" fmla="*/ 5328798 w 12192000"/>
              <a:gd name="connsiteY3" fmla="*/ 252962 h 6858000"/>
              <a:gd name="connsiteX4" fmla="*/ 276606 w 12192000"/>
              <a:gd name="connsiteY4" fmla="*/ 252962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2962 h 6858000"/>
              <a:gd name="connsiteX1" fmla="*/ 276606 w 12192000"/>
              <a:gd name="connsiteY1" fmla="*/ 6603458 h 6858000"/>
              <a:gd name="connsiteX2" fmla="*/ 5328798 w 12192000"/>
              <a:gd name="connsiteY2" fmla="*/ 6597362 h 6858000"/>
              <a:gd name="connsiteX3" fmla="*/ 5328798 w 12192000"/>
              <a:gd name="connsiteY3" fmla="*/ 252962 h 6858000"/>
              <a:gd name="connsiteX4" fmla="*/ 276606 w 12192000"/>
              <a:gd name="connsiteY4" fmla="*/ 252962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2962 h 6858000"/>
              <a:gd name="connsiteX1" fmla="*/ 276606 w 12192000"/>
              <a:gd name="connsiteY1" fmla="*/ 6603458 h 6858000"/>
              <a:gd name="connsiteX2" fmla="*/ 4481454 w 12192000"/>
              <a:gd name="connsiteY2" fmla="*/ 5591522 h 6858000"/>
              <a:gd name="connsiteX3" fmla="*/ 5328798 w 12192000"/>
              <a:gd name="connsiteY3" fmla="*/ 252962 h 6858000"/>
              <a:gd name="connsiteX4" fmla="*/ 276606 w 12192000"/>
              <a:gd name="connsiteY4" fmla="*/ 252962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2962 h 6858000"/>
              <a:gd name="connsiteX1" fmla="*/ 276606 w 12192000"/>
              <a:gd name="connsiteY1" fmla="*/ 6603458 h 6858000"/>
              <a:gd name="connsiteX2" fmla="*/ 5328798 w 12192000"/>
              <a:gd name="connsiteY2" fmla="*/ 6603458 h 6858000"/>
              <a:gd name="connsiteX3" fmla="*/ 5328798 w 12192000"/>
              <a:gd name="connsiteY3" fmla="*/ 252962 h 6858000"/>
              <a:gd name="connsiteX4" fmla="*/ 276606 w 12192000"/>
              <a:gd name="connsiteY4" fmla="*/ 252962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2962 h 6858000"/>
              <a:gd name="connsiteX1" fmla="*/ 276606 w 12192000"/>
              <a:gd name="connsiteY1" fmla="*/ 6603458 h 6858000"/>
              <a:gd name="connsiteX2" fmla="*/ 5147823 w 12192000"/>
              <a:gd name="connsiteY2" fmla="*/ 6481538 h 6858000"/>
              <a:gd name="connsiteX3" fmla="*/ 5328798 w 12192000"/>
              <a:gd name="connsiteY3" fmla="*/ 252962 h 6858000"/>
              <a:gd name="connsiteX4" fmla="*/ 276606 w 12192000"/>
              <a:gd name="connsiteY4" fmla="*/ 252962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2962 h 6858000"/>
              <a:gd name="connsiteX1" fmla="*/ 276606 w 12192000"/>
              <a:gd name="connsiteY1" fmla="*/ 6603458 h 6858000"/>
              <a:gd name="connsiteX2" fmla="*/ 5321178 w 12192000"/>
              <a:gd name="connsiteY2" fmla="*/ 6605363 h 6858000"/>
              <a:gd name="connsiteX3" fmla="*/ 5328798 w 12192000"/>
              <a:gd name="connsiteY3" fmla="*/ 252962 h 6858000"/>
              <a:gd name="connsiteX4" fmla="*/ 276606 w 12192000"/>
              <a:gd name="connsiteY4" fmla="*/ 252962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2962 h 6858000"/>
              <a:gd name="connsiteX1" fmla="*/ 547116 w 12192000"/>
              <a:gd name="connsiteY1" fmla="*/ 6291038 h 6858000"/>
              <a:gd name="connsiteX2" fmla="*/ 5321178 w 12192000"/>
              <a:gd name="connsiteY2" fmla="*/ 6605363 h 6858000"/>
              <a:gd name="connsiteX3" fmla="*/ 5328798 w 12192000"/>
              <a:gd name="connsiteY3" fmla="*/ 252962 h 6858000"/>
              <a:gd name="connsiteX4" fmla="*/ 276606 w 12192000"/>
              <a:gd name="connsiteY4" fmla="*/ 252962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2962 h 6858000"/>
              <a:gd name="connsiteX1" fmla="*/ 284226 w 12192000"/>
              <a:gd name="connsiteY1" fmla="*/ 6607268 h 6858000"/>
              <a:gd name="connsiteX2" fmla="*/ 5321178 w 12192000"/>
              <a:gd name="connsiteY2" fmla="*/ 6605363 h 6858000"/>
              <a:gd name="connsiteX3" fmla="*/ 5328798 w 12192000"/>
              <a:gd name="connsiteY3" fmla="*/ 252962 h 6858000"/>
              <a:gd name="connsiteX4" fmla="*/ 276606 w 12192000"/>
              <a:gd name="connsiteY4" fmla="*/ 252962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93776 w 12192000"/>
              <a:gd name="connsiteY0" fmla="*/ 430127 h 6858000"/>
              <a:gd name="connsiteX1" fmla="*/ 284226 w 12192000"/>
              <a:gd name="connsiteY1" fmla="*/ 6607268 h 6858000"/>
              <a:gd name="connsiteX2" fmla="*/ 5321178 w 12192000"/>
              <a:gd name="connsiteY2" fmla="*/ 6605363 h 6858000"/>
              <a:gd name="connsiteX3" fmla="*/ 5328798 w 12192000"/>
              <a:gd name="connsiteY3" fmla="*/ 252962 h 6858000"/>
              <a:gd name="connsiteX4" fmla="*/ 493776 w 12192000"/>
              <a:gd name="connsiteY4" fmla="*/ 430127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82321 w 12192000"/>
              <a:gd name="connsiteY0" fmla="*/ 258677 h 6858000"/>
              <a:gd name="connsiteX1" fmla="*/ 284226 w 12192000"/>
              <a:gd name="connsiteY1" fmla="*/ 6607268 h 6858000"/>
              <a:gd name="connsiteX2" fmla="*/ 5321178 w 12192000"/>
              <a:gd name="connsiteY2" fmla="*/ 6605363 h 6858000"/>
              <a:gd name="connsiteX3" fmla="*/ 5328798 w 12192000"/>
              <a:gd name="connsiteY3" fmla="*/ 252962 h 6858000"/>
              <a:gd name="connsiteX4" fmla="*/ 282321 w 12192000"/>
              <a:gd name="connsiteY4" fmla="*/ 258677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82321 w 12192000"/>
              <a:gd name="connsiteY0" fmla="*/ 258677 h 6858000"/>
              <a:gd name="connsiteX1" fmla="*/ 284226 w 12192000"/>
              <a:gd name="connsiteY1" fmla="*/ 6607268 h 6858000"/>
              <a:gd name="connsiteX2" fmla="*/ 5321178 w 12192000"/>
              <a:gd name="connsiteY2" fmla="*/ 6605363 h 6858000"/>
              <a:gd name="connsiteX3" fmla="*/ 5323083 w 12192000"/>
              <a:gd name="connsiteY3" fmla="*/ 258677 h 6858000"/>
              <a:gd name="connsiteX4" fmla="*/ 282321 w 12192000"/>
              <a:gd name="connsiteY4" fmla="*/ 258677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2192000" h="6858000">
                <a:moveTo>
                  <a:pt x="282321" y="258677"/>
                </a:moveTo>
                <a:lnTo>
                  <a:pt x="284226" y="6607268"/>
                </a:lnTo>
                <a:lnTo>
                  <a:pt x="5321178" y="6605363"/>
                </a:lnTo>
                <a:lnTo>
                  <a:pt x="5323083" y="258677"/>
                </a:lnTo>
                <a:lnTo>
                  <a:pt x="282321" y="258677"/>
                </a:lnTo>
                <a:close/>
                <a:moveTo>
                  <a:pt x="10146490" y="268201"/>
                </a:moveTo>
                <a:lnTo>
                  <a:pt x="10142680" y="1025401"/>
                </a:lnTo>
                <a:lnTo>
                  <a:pt x="11904664" y="1025401"/>
                </a:lnTo>
                <a:lnTo>
                  <a:pt x="11904664" y="268201"/>
                </a:lnTo>
                <a:lnTo>
                  <a:pt x="10146490" y="268201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6D20123-1501-4CA7-AA2F-3112A033196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3003" y="258750"/>
            <a:ext cx="5040000" cy="5040000"/>
          </a:xfrm>
        </p:spPr>
        <p:txBody>
          <a:bodyPr vert="horz" lIns="288000" tIns="288000" rIns="288000" bIns="288000" rtlCol="0">
            <a:noAutofit/>
          </a:bodyPr>
          <a:lstStyle>
            <a:lvl1pPr>
              <a:defRPr lang="de-DE" sz="3200" cap="none" baseline="0" dirty="0">
                <a:latin typeface="STIHL Contraface Display Title" panose="02000600040000020004" pitchFamily="50" charset="0"/>
                <a:ea typeface="+mn-ea"/>
                <a:cs typeface="+mn-cs"/>
              </a:defRPr>
            </a:lvl1pPr>
          </a:lstStyle>
          <a:p>
            <a:pPr marL="0" lvl="0" indent="0">
              <a:spcBef>
                <a:spcPts val="1000"/>
              </a:spcBef>
              <a:buFont typeface="Arial" panose="020B0604020202020204" pitchFamily="34" charset="0"/>
            </a:pPr>
            <a:r>
              <a:rPr lang="en-GB"/>
              <a:t>Add a title by clicking on it</a:t>
            </a:r>
            <a:br>
              <a:rPr lang="en-GB"/>
            </a:br>
            <a:r>
              <a:rPr lang="en-GB"/>
              <a:t>ƒ</a:t>
            </a:r>
          </a:p>
        </p:txBody>
      </p:sp>
      <p:sp>
        <p:nvSpPr>
          <p:cNvPr id="15" name="Subline">
            <a:extLst>
              <a:ext uri="{FF2B5EF4-FFF2-40B4-BE49-F238E27FC236}">
                <a16:creationId xmlns:a16="http://schemas.microsoft.com/office/drawing/2014/main" id="{F64F20BE-9490-4534-8D22-D527DF582B1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83003" y="5507050"/>
            <a:ext cx="5040000" cy="360000"/>
          </a:xfrm>
          <a:prstGeom prst="rect">
            <a:avLst/>
          </a:prstGeom>
        </p:spPr>
        <p:txBody>
          <a:bodyPr lIns="324000" rIns="288000" anchor="b" anchorCtr="0">
            <a:noAutofit/>
          </a:bodyPr>
          <a:lstStyle>
            <a:lvl1pPr marL="0" indent="0">
              <a:buNone/>
              <a:defRPr sz="1600" b="1" cap="none" baseline="0">
                <a:latin typeface="+mj-lt"/>
              </a:defRPr>
            </a:lvl1pPr>
          </a:lstStyle>
          <a:p>
            <a:pPr lvl="0"/>
            <a:r>
              <a:rPr lang="en-GB"/>
              <a:t>Subline</a:t>
            </a:r>
          </a:p>
        </p:txBody>
      </p:sp>
      <p:sp>
        <p:nvSpPr>
          <p:cNvPr id="16" name="Textplatzhalter 4">
            <a:extLst>
              <a:ext uri="{FF2B5EF4-FFF2-40B4-BE49-F238E27FC236}">
                <a16:creationId xmlns:a16="http://schemas.microsoft.com/office/drawing/2014/main" id="{DCF84473-59A5-4A28-B312-2557D7CFAFB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83003" y="5882290"/>
            <a:ext cx="5040000" cy="189474"/>
          </a:xfrm>
          <a:prstGeom prst="rect">
            <a:avLst/>
          </a:prstGeom>
        </p:spPr>
        <p:txBody>
          <a:bodyPr lIns="324000" tIns="36000">
            <a:noAutofit/>
          </a:bodyPr>
          <a:lstStyle>
            <a:lvl1pPr marL="0" indent="0">
              <a:buNone/>
              <a:defRPr sz="1600" cap="none" baseline="0"/>
            </a:lvl1pPr>
          </a:lstStyle>
          <a:p>
            <a:pPr lvl="0"/>
            <a:r>
              <a:rPr lang="en-GB"/>
              <a:t>First name last name</a:t>
            </a:r>
          </a:p>
        </p:txBody>
      </p:sp>
      <p:sp>
        <p:nvSpPr>
          <p:cNvPr id="19" name="Textplatzhalter 4">
            <a:extLst>
              <a:ext uri="{FF2B5EF4-FFF2-40B4-BE49-F238E27FC236}">
                <a16:creationId xmlns:a16="http://schemas.microsoft.com/office/drawing/2014/main" id="{57D522EB-93F7-49B3-9164-076263457E7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83003" y="6088030"/>
            <a:ext cx="5040000" cy="189474"/>
          </a:xfrm>
          <a:prstGeom prst="rect">
            <a:avLst/>
          </a:prstGeom>
        </p:spPr>
        <p:txBody>
          <a:bodyPr lIns="324000" tIns="36000">
            <a:noAutofit/>
          </a:bodyPr>
          <a:lstStyle>
            <a:lvl1pPr marL="0" indent="0">
              <a:buNone/>
              <a:defRPr sz="1600" cap="none" baseline="0"/>
            </a:lvl1pPr>
          </a:lstStyle>
          <a:p>
            <a:pPr lvl="0"/>
            <a:r>
              <a:rPr lang="en-GB"/>
              <a:t>Date</a:t>
            </a: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7F9C6E9C-7482-8BA6-FA8A-F9B75621B89B}"/>
              </a:ext>
            </a:extLst>
          </p:cNvPr>
          <p:cNvSpPr>
            <a:spLocks/>
          </p:cNvSpPr>
          <p:nvPr userDrawn="1"/>
        </p:nvSpPr>
        <p:spPr>
          <a:xfrm>
            <a:off x="-3139178" y="1477622"/>
            <a:ext cx="2845436" cy="4134191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b" anchorCtr="0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600">
                <a:solidFill>
                  <a:schemeClr val="tx1"/>
                </a:solidFill>
              </a:rPr>
              <a:t>You can find more templates in the Template Library. They are stored in the template folders</a:t>
            </a:r>
            <a:br>
              <a:rPr lang="de-DE" sz="1600">
                <a:solidFill>
                  <a:schemeClr val="tx1"/>
                </a:solidFill>
              </a:rPr>
            </a:br>
            <a:endParaRPr lang="de-DE" sz="1600">
              <a:solidFill>
                <a:schemeClr val="tx1"/>
              </a:solidFill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600">
                <a:solidFill>
                  <a:schemeClr val="tx1"/>
                </a:solidFill>
              </a:rPr>
              <a:t>Images can be found on your local drive under </a:t>
            </a:r>
            <a:r>
              <a:rPr lang="en-US" sz="1600" b="1">
                <a:solidFill>
                  <a:schemeClr val="tx1"/>
                </a:solidFill>
              </a:rPr>
              <a:t>C:\Program Files (x86)\STIHL\PPT Images </a:t>
            </a:r>
            <a:r>
              <a:rPr lang="en-US" sz="1600">
                <a:solidFill>
                  <a:schemeClr val="tx1"/>
                </a:solidFill>
              </a:rPr>
              <a:t>or in the STIHL DAM </a:t>
            </a:r>
            <a:r>
              <a:rPr lang="en-US" sz="1600">
                <a:solidFill>
                  <a:schemeClr val="tx1"/>
                </a:solidFill>
                <a:hlinkClick r:id="rId7"/>
              </a:rPr>
              <a:t>https://dam.stihl.com/</a:t>
            </a:r>
            <a:endParaRPr lang="en-US" sz="1600">
              <a:solidFill>
                <a:schemeClr val="tx1"/>
              </a:solidFill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de-DE" sz="1600"/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600" b="0">
                <a:solidFill>
                  <a:schemeClr val="tx1"/>
                </a:solidFill>
              </a:rPr>
              <a:t>Please do not print slides with full </a:t>
            </a:r>
            <a:r>
              <a:rPr lang="en-US" sz="1600" b="0" err="1">
                <a:solidFill>
                  <a:schemeClr val="tx1"/>
                </a:solidFill>
              </a:rPr>
              <a:t>colour</a:t>
            </a:r>
            <a:r>
              <a:rPr lang="en-US" sz="1600" b="0">
                <a:solidFill>
                  <a:schemeClr val="tx1"/>
                </a:solidFill>
              </a:rPr>
              <a:t> or images </a:t>
            </a: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de-DE" sz="1600" b="0">
              <a:solidFill>
                <a:schemeClr val="tx1"/>
              </a:solidFill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600" b="0">
                <a:solidFill>
                  <a:schemeClr val="tx1"/>
                </a:solidFill>
              </a:rPr>
              <a:t>The stand line can be inserted via the "Insert" tab through the "Symbol" field</a:t>
            </a:r>
          </a:p>
        </p:txBody>
      </p:sp>
    </p:spTree>
    <p:extLst>
      <p:ext uri="{BB962C8B-B14F-4D97-AF65-F5344CB8AC3E}">
        <p14:creationId xmlns:p14="http://schemas.microsoft.com/office/powerpoint/2010/main" val="38536773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70" imgH="371" progId="TCLayout.ActiveDocument.1">
                  <p:embed/>
                </p:oleObj>
              </mc:Choice>
              <mc:Fallback>
                <p:oleObj name="think-cell Slide" r:id="rId4" imgW="370" imgH="371" progId="TCLayout.ActiveDocument.1">
                  <p:embed/>
                  <p:pic>
                    <p:nvPicPr>
                      <p:cNvPr id="4" name="Objekt 3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hteck 2" hidden="1"/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GB" sz="4800" b="1" i="0" baseline="0">
              <a:solidFill>
                <a:schemeClr val="tx1"/>
              </a:solidFill>
              <a:latin typeface="STIHL Contraface Display Title"/>
              <a:ea typeface="+mn-ea"/>
              <a:cs typeface="+mn-cs"/>
              <a:sym typeface="STIHL Contraface Display Title"/>
            </a:endParaRPr>
          </a:p>
        </p:txBody>
      </p:sp>
      <p:sp>
        <p:nvSpPr>
          <p:cNvPr id="11" name="Subline">
            <a:extLst>
              <a:ext uri="{FF2B5EF4-FFF2-40B4-BE49-F238E27FC236}">
                <a16:creationId xmlns:a16="http://schemas.microsoft.com/office/drawing/2014/main" id="{93378434-A597-4F7F-B029-ECD35EA41BC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71500" y="5706830"/>
            <a:ext cx="8640000" cy="216000"/>
          </a:xfrm>
          <a:prstGeom prst="rect">
            <a:avLst/>
          </a:prstGeom>
        </p:spPr>
        <p:txBody>
          <a:bodyPr lIns="0" rIns="0" anchor="b" anchorCtr="0">
            <a:noAutofit/>
          </a:bodyPr>
          <a:lstStyle>
            <a:lvl1pPr marL="0" indent="0">
              <a:buNone/>
              <a:defRPr sz="1800" b="1" cap="none" baseline="0">
                <a:latin typeface="+mj-lt"/>
              </a:defRPr>
            </a:lvl1pPr>
          </a:lstStyle>
          <a:p>
            <a:pPr lvl="0"/>
            <a:r>
              <a:rPr lang="en-GB"/>
              <a:t>Subline</a:t>
            </a:r>
          </a:p>
        </p:txBody>
      </p:sp>
      <p:sp>
        <p:nvSpPr>
          <p:cNvPr id="12" name="Name">
            <a:extLst>
              <a:ext uri="{FF2B5EF4-FFF2-40B4-BE49-F238E27FC236}">
                <a16:creationId xmlns:a16="http://schemas.microsoft.com/office/drawing/2014/main" id="{78096696-CF0D-4E90-AD93-F265006F555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71500" y="6049289"/>
            <a:ext cx="8640000" cy="216000"/>
          </a:xfrm>
          <a:prstGeom prst="rect">
            <a:avLst/>
          </a:prstGeom>
        </p:spPr>
        <p:txBody>
          <a:bodyPr lIns="0" rIns="0" anchor="t" anchorCtr="0">
            <a:noAutofit/>
          </a:bodyPr>
          <a:lstStyle>
            <a:lvl1pPr marL="0" indent="0">
              <a:buNone/>
              <a:defRPr sz="1800" cap="none" baseline="0">
                <a:latin typeface="+mn-lt"/>
              </a:defRPr>
            </a:lvl1pPr>
          </a:lstStyle>
          <a:p>
            <a:pPr lvl="0"/>
            <a:r>
              <a:rPr lang="en-GB"/>
              <a:t>First name last name</a:t>
            </a:r>
          </a:p>
        </p:txBody>
      </p:sp>
      <p:sp>
        <p:nvSpPr>
          <p:cNvPr id="9" name="Datum">
            <a:extLst>
              <a:ext uri="{FF2B5EF4-FFF2-40B4-BE49-F238E27FC236}">
                <a16:creationId xmlns:a16="http://schemas.microsoft.com/office/drawing/2014/main" id="{93CE0D43-2D94-4A12-94F6-C940A9EBB10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71500" y="6283748"/>
            <a:ext cx="8640000" cy="216000"/>
          </a:xfrm>
          <a:prstGeom prst="rect">
            <a:avLst/>
          </a:prstGeom>
        </p:spPr>
        <p:txBody>
          <a:bodyPr lIns="0" rIns="0" anchor="t" anchorCtr="0">
            <a:noAutofit/>
          </a:bodyPr>
          <a:lstStyle>
            <a:lvl1pPr marL="0" indent="0">
              <a:buNone/>
              <a:defRPr sz="1800" cap="none" baseline="0">
                <a:latin typeface="+mn-lt"/>
              </a:defRPr>
            </a:lvl1pPr>
          </a:lstStyle>
          <a:p>
            <a:pPr lvl="0"/>
            <a:r>
              <a:rPr lang="en-GB"/>
              <a:t>Date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D970E17-5A52-472F-AD9C-2A0296A4495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1500" y="2113200"/>
            <a:ext cx="8640000" cy="3240000"/>
          </a:xfrm>
        </p:spPr>
        <p:txBody>
          <a:bodyPr vert="horz" lIns="0" tIns="0" rIns="0" bIns="0" rtlCol="0">
            <a:noAutofit/>
          </a:bodyPr>
          <a:lstStyle>
            <a:lvl1pPr>
              <a:defRPr lang="de-DE" sz="4800" cap="none" baseline="0">
                <a:latin typeface="STIHL Contraface Display Title" panose="02000600040000020004" pitchFamily="50" charset="0"/>
                <a:ea typeface="+mn-ea"/>
                <a:cs typeface="+mn-cs"/>
              </a:defRPr>
            </a:lvl1pPr>
          </a:lstStyle>
          <a:p>
            <a:pPr marL="0" lvl="0" indent="0">
              <a:spcBef>
                <a:spcPts val="1000"/>
              </a:spcBef>
              <a:buFont typeface="Arial" panose="020B0604020202020204" pitchFamily="34" charset="0"/>
            </a:pPr>
            <a:r>
              <a:rPr lang="en-GB"/>
              <a:t>Edit master title format</a:t>
            </a:r>
            <a:br>
              <a:rPr lang="en-GB"/>
            </a:br>
            <a:r>
              <a:rPr lang="en-GB"/>
              <a:t>ƒ</a:t>
            </a:r>
          </a:p>
        </p:txBody>
      </p:sp>
      <p:pic>
        <p:nvPicPr>
          <p:cNvPr id="10" name="Grafik 9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30261" y="502821"/>
            <a:ext cx="1385810" cy="287488"/>
          </a:xfrm>
          <a:prstGeom prst="rect">
            <a:avLst/>
          </a:prstGeom>
        </p:spPr>
      </p:pic>
      <p:sp>
        <p:nvSpPr>
          <p:cNvPr id="5" name="Rechteck 4">
            <a:extLst>
              <a:ext uri="{FF2B5EF4-FFF2-40B4-BE49-F238E27FC236}">
                <a16:creationId xmlns:a16="http://schemas.microsoft.com/office/drawing/2014/main" id="{EDFE4EF3-E694-84AE-1AE6-1C292CC7C560}"/>
              </a:ext>
            </a:extLst>
          </p:cNvPr>
          <p:cNvSpPr>
            <a:spLocks/>
          </p:cNvSpPr>
          <p:nvPr userDrawn="1"/>
        </p:nvSpPr>
        <p:spPr>
          <a:xfrm>
            <a:off x="-3139178" y="1477622"/>
            <a:ext cx="2845436" cy="4134191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b" anchorCtr="0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600">
                <a:solidFill>
                  <a:schemeClr val="tx1"/>
                </a:solidFill>
              </a:rPr>
              <a:t>You can find more templates in the Template Library. They are stored in the template folders</a:t>
            </a:r>
            <a:br>
              <a:rPr lang="de-DE" sz="1600">
                <a:solidFill>
                  <a:schemeClr val="tx1"/>
                </a:solidFill>
              </a:rPr>
            </a:br>
            <a:endParaRPr lang="de-DE" sz="1600">
              <a:solidFill>
                <a:schemeClr val="tx1"/>
              </a:solidFill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600">
                <a:solidFill>
                  <a:schemeClr val="tx1"/>
                </a:solidFill>
              </a:rPr>
              <a:t>Images can be found on your local drive under </a:t>
            </a:r>
            <a:r>
              <a:rPr lang="en-US" sz="1600" b="1">
                <a:solidFill>
                  <a:schemeClr val="tx1"/>
                </a:solidFill>
              </a:rPr>
              <a:t>C:\Program Files (x86)\STIHL\PPT Images </a:t>
            </a:r>
            <a:r>
              <a:rPr lang="en-US" sz="1600">
                <a:solidFill>
                  <a:schemeClr val="tx1"/>
                </a:solidFill>
              </a:rPr>
              <a:t>or in the STIHL DAM </a:t>
            </a:r>
            <a:r>
              <a:rPr lang="en-US" sz="1600">
                <a:solidFill>
                  <a:schemeClr val="tx1"/>
                </a:solidFill>
                <a:hlinkClick r:id="rId7"/>
              </a:rPr>
              <a:t>https://dam.stihl.com/</a:t>
            </a:r>
            <a:endParaRPr lang="en-US" sz="1600">
              <a:solidFill>
                <a:schemeClr val="tx1"/>
              </a:solidFill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de-DE" sz="1600"/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600" b="0">
                <a:solidFill>
                  <a:schemeClr val="tx1"/>
                </a:solidFill>
              </a:rPr>
              <a:t>Please do not print slides with full </a:t>
            </a:r>
            <a:r>
              <a:rPr lang="en-US" sz="1600" b="0" err="1">
                <a:solidFill>
                  <a:schemeClr val="tx1"/>
                </a:solidFill>
              </a:rPr>
              <a:t>colour</a:t>
            </a:r>
            <a:r>
              <a:rPr lang="en-US" sz="1600" b="0">
                <a:solidFill>
                  <a:schemeClr val="tx1"/>
                </a:solidFill>
              </a:rPr>
              <a:t> or images </a:t>
            </a: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de-DE" sz="1600" b="0">
              <a:solidFill>
                <a:schemeClr val="tx1"/>
              </a:solidFill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600" b="0">
                <a:solidFill>
                  <a:schemeClr val="tx1"/>
                </a:solidFill>
              </a:rPr>
              <a:t>The stand line can be inserted via the "Insert" tab through the "Symbol" field</a:t>
            </a:r>
          </a:p>
        </p:txBody>
      </p:sp>
    </p:spTree>
    <p:extLst>
      <p:ext uri="{BB962C8B-B14F-4D97-AF65-F5344CB8AC3E}">
        <p14:creationId xmlns:p14="http://schemas.microsoft.com/office/powerpoint/2010/main" val="7971992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Objekt 9" hidden="1">
            <a:extLst>
              <a:ext uri="{FF2B5EF4-FFF2-40B4-BE49-F238E27FC236}">
                <a16:creationId xmlns:a16="http://schemas.microsoft.com/office/drawing/2014/main" id="{25DBC705-8149-459E-9D73-71848E406B17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8" imgH="408" progId="TCLayout.ActiveDocument.1">
                  <p:embed/>
                </p:oleObj>
              </mc:Choice>
              <mc:Fallback>
                <p:oleObj name="think-cell Slide" r:id="rId4" imgW="408" imgH="408" progId="TCLayout.ActiveDocument.1">
                  <p:embed/>
                  <p:pic>
                    <p:nvPicPr>
                      <p:cNvPr id="10" name="Objekt 9" hidden="1">
                        <a:extLst>
                          <a:ext uri="{FF2B5EF4-FFF2-40B4-BE49-F238E27FC236}">
                            <a16:creationId xmlns:a16="http://schemas.microsoft.com/office/drawing/2014/main" id="{25DBC705-8149-459E-9D73-71848E406B1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hteck 7" hidden="1">
            <a:extLst>
              <a:ext uri="{FF2B5EF4-FFF2-40B4-BE49-F238E27FC236}">
                <a16:creationId xmlns:a16="http://schemas.microsoft.com/office/drawing/2014/main" id="{39010A7A-64D4-40B1-96E7-BCEEBB7E8A3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GB" sz="2200" b="1" i="0" baseline="0">
              <a:solidFill>
                <a:schemeClr val="tx1"/>
              </a:solidFill>
              <a:latin typeface="STIHL Contraface Text"/>
              <a:ea typeface="+mj-ea"/>
              <a:cs typeface="+mj-cs"/>
              <a:sym typeface="STIHL Contraface Text"/>
            </a:endParaRP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DE73F636-8F03-4538-831F-37B264F004C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9426" y="1128730"/>
            <a:ext cx="11244913" cy="249299"/>
          </a:xfrm>
          <a:prstGeom prst="rect">
            <a:avLst/>
          </a:prstGeom>
        </p:spPr>
        <p:txBody>
          <a:bodyPr vert="horz" lIns="0" tIns="0" rIns="0" bIns="0" rtlCol="0" anchor="t" anchorCtr="0">
            <a:spAutoFit/>
          </a:bodyPr>
          <a:lstStyle>
            <a:lvl1pPr marL="0" indent="0">
              <a:lnSpc>
                <a:spcPct val="90000"/>
              </a:lnSpc>
              <a:buNone/>
              <a:defRPr lang="de-DE" sz="1800" cap="none" baseline="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marL="114300" lvl="0" indent="-342900">
              <a:spcBef>
                <a:spcPct val="0"/>
              </a:spcBef>
            </a:pPr>
            <a:r>
              <a:rPr lang="en-GB"/>
              <a:t>Sub headline</a:t>
            </a:r>
          </a:p>
        </p:txBody>
      </p:sp>
      <p:sp>
        <p:nvSpPr>
          <p:cNvPr id="7" name="Titel 6">
            <a:extLst>
              <a:ext uri="{FF2B5EF4-FFF2-40B4-BE49-F238E27FC236}">
                <a16:creationId xmlns:a16="http://schemas.microsoft.com/office/drawing/2014/main" id="{753CF0BC-3DA6-4688-820F-374B0CB9CAD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9426" y="503546"/>
            <a:ext cx="9579925" cy="304699"/>
          </a:xfrm>
        </p:spPr>
        <p:txBody>
          <a:bodyPr anchor="t" anchorCtr="0">
            <a:noAutofit/>
          </a:bodyPr>
          <a:lstStyle>
            <a:lvl1pPr>
              <a:lnSpc>
                <a:spcPct val="90000"/>
              </a:lnSpc>
              <a:defRPr sz="2200"/>
            </a:lvl1pPr>
          </a:lstStyle>
          <a:p>
            <a:r>
              <a:rPr lang="en-GB"/>
              <a:t>Edit master title format</a:t>
            </a:r>
          </a:p>
        </p:txBody>
      </p:sp>
      <p:sp>
        <p:nvSpPr>
          <p:cNvPr id="5" name="Inhaltsplatzhalter 4"/>
          <p:cNvSpPr>
            <a:spLocks noGrp="1"/>
          </p:cNvSpPr>
          <p:nvPr>
            <p:ph sz="quarter" idx="14" hasCustomPrompt="1"/>
          </p:nvPr>
        </p:nvSpPr>
        <p:spPr>
          <a:xfrm>
            <a:off x="479425" y="1605307"/>
            <a:ext cx="11233149" cy="4855818"/>
          </a:xfrm>
        </p:spPr>
        <p:txBody>
          <a:bodyPr/>
          <a:lstStyle>
            <a:lvl1pPr>
              <a:defRPr baseline="0"/>
            </a:lvl1pPr>
            <a:lvl2pPr>
              <a:defRPr/>
            </a:lvl2pPr>
            <a:lvl3pPr>
              <a:defRPr/>
            </a:lvl3pPr>
            <a:lvl4pPr>
              <a:defRPr baseline="0"/>
            </a:lvl4pPr>
            <a:lvl5pPr>
              <a:defRPr/>
            </a:lvl5pPr>
          </a:lstStyle>
          <a:p>
            <a:pPr lvl="0"/>
            <a:r>
              <a:rPr lang="en-GB"/>
              <a:t>Edit master text format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335988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kt 2" hidden="1">
            <a:extLst>
              <a:ext uri="{FF2B5EF4-FFF2-40B4-BE49-F238E27FC236}">
                <a16:creationId xmlns:a16="http://schemas.microsoft.com/office/drawing/2014/main" id="{F0605A64-2B63-413A-A26B-43B30D77127D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8" imgH="408" progId="TCLayout.ActiveDocument.1">
                  <p:embed/>
                </p:oleObj>
              </mc:Choice>
              <mc:Fallback>
                <p:oleObj name="think-cell Slide" r:id="rId4" imgW="408" imgH="408" progId="TCLayout.ActiveDocument.1">
                  <p:embed/>
                  <p:pic>
                    <p:nvPicPr>
                      <p:cNvPr id="3" name="Objekt 2" hidden="1">
                        <a:extLst>
                          <a:ext uri="{FF2B5EF4-FFF2-40B4-BE49-F238E27FC236}">
                            <a16:creationId xmlns:a16="http://schemas.microsoft.com/office/drawing/2014/main" id="{F0605A64-2B63-413A-A26B-43B30D77127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hteck 1" hidden="1">
            <a:extLst>
              <a:ext uri="{FF2B5EF4-FFF2-40B4-BE49-F238E27FC236}">
                <a16:creationId xmlns:a16="http://schemas.microsoft.com/office/drawing/2014/main" id="{00416A2A-8426-4273-BB96-478B63147052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GB" sz="2200" b="1" i="0" baseline="0">
              <a:solidFill>
                <a:schemeClr val="tx1"/>
              </a:solidFill>
              <a:latin typeface="STIHL Contraface Text"/>
              <a:ea typeface="+mj-ea"/>
              <a:cs typeface="+mj-cs"/>
              <a:sym typeface="STIHL Contraface Text"/>
            </a:endParaRPr>
          </a:p>
        </p:txBody>
      </p:sp>
      <p:sp>
        <p:nvSpPr>
          <p:cNvPr id="7" name="Titel 6">
            <a:extLst>
              <a:ext uri="{FF2B5EF4-FFF2-40B4-BE49-F238E27FC236}">
                <a16:creationId xmlns:a16="http://schemas.microsoft.com/office/drawing/2014/main" id="{F490E706-F8A4-4052-9AE3-BC93A228C90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9426" y="503546"/>
            <a:ext cx="9579925" cy="304699"/>
          </a:xfrm>
        </p:spPr>
        <p:txBody>
          <a:bodyPr vert="horz" lIns="0" tIns="0" rIns="0" bIns="0" rtlCol="0" anchor="t" anchorCtr="0">
            <a:noAutofit/>
          </a:bodyPr>
          <a:lstStyle>
            <a:lvl1pPr>
              <a:lnSpc>
                <a:spcPct val="90000"/>
              </a:lnSpc>
              <a:defRPr lang="de-DE" sz="2200" dirty="0"/>
            </a:lvl1pPr>
          </a:lstStyle>
          <a:p>
            <a:pPr lvl="0"/>
            <a:r>
              <a:rPr lang="en-GB"/>
              <a:t>Edit master title format</a:t>
            </a: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9C20E754-BBFE-4A95-AA44-67ACDA85C71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9427" y="1130300"/>
            <a:ext cx="11233147" cy="2492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>
              <a:lnSpc>
                <a:spcPct val="90000"/>
              </a:lnSpc>
              <a:buNone/>
              <a:defRPr lang="de-DE" sz="1800" cap="none" baseline="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marL="114300" lvl="0" indent="-342900">
              <a:spcBef>
                <a:spcPct val="0"/>
              </a:spcBef>
            </a:pPr>
            <a:r>
              <a:rPr lang="en-GB"/>
              <a:t>Sub headline</a:t>
            </a:r>
          </a:p>
        </p:txBody>
      </p:sp>
    </p:spTree>
    <p:extLst>
      <p:ext uri="{BB962C8B-B14F-4D97-AF65-F5344CB8AC3E}">
        <p14:creationId xmlns:p14="http://schemas.microsoft.com/office/powerpoint/2010/main" val="1144054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kt 2" hidden="1">
            <a:extLst>
              <a:ext uri="{FF2B5EF4-FFF2-40B4-BE49-F238E27FC236}">
                <a16:creationId xmlns:a16="http://schemas.microsoft.com/office/drawing/2014/main" id="{08ED5069-7E91-48C5-95E3-99F57E17659F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8" imgH="408" progId="TCLayout.ActiveDocument.1">
                  <p:embed/>
                </p:oleObj>
              </mc:Choice>
              <mc:Fallback>
                <p:oleObj name="think-cell Slide" r:id="rId4" imgW="408" imgH="408" progId="TCLayout.ActiveDocument.1">
                  <p:embed/>
                  <p:pic>
                    <p:nvPicPr>
                      <p:cNvPr id="3" name="Objekt 2" hidden="1">
                        <a:extLst>
                          <a:ext uri="{FF2B5EF4-FFF2-40B4-BE49-F238E27FC236}">
                            <a16:creationId xmlns:a16="http://schemas.microsoft.com/office/drawing/2014/main" id="{08ED5069-7E91-48C5-95E3-99F57E17659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hteck 1" hidden="1">
            <a:extLst>
              <a:ext uri="{FF2B5EF4-FFF2-40B4-BE49-F238E27FC236}">
                <a16:creationId xmlns:a16="http://schemas.microsoft.com/office/drawing/2014/main" id="{B2A3BD8A-6CFF-48E0-A155-11F4B2BBD557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GB" sz="2200" b="1" i="0" baseline="0">
              <a:solidFill>
                <a:schemeClr val="tx1"/>
              </a:solidFill>
              <a:latin typeface="STIHL Contraface Text"/>
              <a:ea typeface="+mj-ea"/>
              <a:cs typeface="+mj-cs"/>
              <a:sym typeface="STIHL Contraface Text"/>
            </a:endParaRPr>
          </a:p>
        </p:txBody>
      </p:sp>
      <p:sp>
        <p:nvSpPr>
          <p:cNvPr id="11" name="Titel 10">
            <a:extLst>
              <a:ext uri="{FF2B5EF4-FFF2-40B4-BE49-F238E27FC236}">
                <a16:creationId xmlns:a16="http://schemas.microsoft.com/office/drawing/2014/main" id="{A26E03A4-095B-410D-BCF8-3F189668F8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9426" y="503546"/>
            <a:ext cx="9579925" cy="304699"/>
          </a:xfrm>
        </p:spPr>
        <p:txBody>
          <a:bodyPr vert="horz" lIns="0" tIns="0" rIns="0" bIns="0" rtlCol="0" anchor="t" anchorCtr="0">
            <a:noAutofit/>
          </a:bodyPr>
          <a:lstStyle>
            <a:lvl1pPr>
              <a:lnSpc>
                <a:spcPct val="90000"/>
              </a:lnSpc>
              <a:defRPr lang="de-DE" sz="2200" dirty="0"/>
            </a:lvl1pPr>
          </a:lstStyle>
          <a:p>
            <a:pPr lvl="0"/>
            <a:r>
              <a:rPr lang="en-GB"/>
              <a:t>Edit master title format</a:t>
            </a:r>
          </a:p>
        </p:txBody>
      </p:sp>
      <p:sp>
        <p:nvSpPr>
          <p:cNvPr id="12" name="Textplatzhalter 8">
            <a:extLst>
              <a:ext uri="{FF2B5EF4-FFF2-40B4-BE49-F238E27FC236}">
                <a16:creationId xmlns:a16="http://schemas.microsoft.com/office/drawing/2014/main" id="{2EA80287-A2C9-4521-95F7-BFAC821FCA0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79427" y="1130300"/>
            <a:ext cx="11233147" cy="2492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>
              <a:lnSpc>
                <a:spcPct val="90000"/>
              </a:lnSpc>
              <a:buNone/>
              <a:defRPr lang="de-DE" sz="1800" cap="none" baseline="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marL="114300" lvl="0" indent="-342900">
              <a:spcBef>
                <a:spcPct val="0"/>
              </a:spcBef>
            </a:pPr>
            <a:r>
              <a:rPr lang="en-GB"/>
              <a:t>Sub headline</a:t>
            </a:r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15" hasCustomPrompt="1"/>
          </p:nvPr>
        </p:nvSpPr>
        <p:spPr>
          <a:xfrm>
            <a:off x="479427" y="1605435"/>
            <a:ext cx="11233147" cy="4849340"/>
          </a:xfrm>
        </p:spPr>
        <p:txBody>
          <a:bodyPr/>
          <a:lstStyle>
            <a:lvl1pPr>
              <a:defRPr/>
            </a:lvl1pPr>
            <a:lvl2pPr>
              <a:defRPr baseline="0"/>
            </a:lvl2pPr>
            <a:lvl3pPr>
              <a:defRPr/>
            </a:lvl3pPr>
            <a:lvl4pPr>
              <a:defRPr baseline="0"/>
            </a:lvl4pPr>
            <a:lvl5pPr>
              <a:defRPr baseline="0"/>
            </a:lvl5pPr>
          </a:lstStyle>
          <a:p>
            <a:pPr lvl="0"/>
            <a:r>
              <a:rPr lang="en-GB"/>
              <a:t>Edit master text format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8482481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two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kt 2" hidden="1">
            <a:extLst>
              <a:ext uri="{FF2B5EF4-FFF2-40B4-BE49-F238E27FC236}">
                <a16:creationId xmlns:a16="http://schemas.microsoft.com/office/drawing/2014/main" id="{D653AC16-B8BF-4F06-9847-410FBD661142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8" imgH="408" progId="TCLayout.ActiveDocument.1">
                  <p:embed/>
                </p:oleObj>
              </mc:Choice>
              <mc:Fallback>
                <p:oleObj name="think-cell Slide" r:id="rId4" imgW="408" imgH="408" progId="TCLayout.ActiveDocument.1">
                  <p:embed/>
                  <p:pic>
                    <p:nvPicPr>
                      <p:cNvPr id="3" name="Objekt 2" hidden="1">
                        <a:extLst>
                          <a:ext uri="{FF2B5EF4-FFF2-40B4-BE49-F238E27FC236}">
                            <a16:creationId xmlns:a16="http://schemas.microsoft.com/office/drawing/2014/main" id="{D653AC16-B8BF-4F06-9847-410FBD66114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hteck 1" hidden="1">
            <a:extLst>
              <a:ext uri="{FF2B5EF4-FFF2-40B4-BE49-F238E27FC236}">
                <a16:creationId xmlns:a16="http://schemas.microsoft.com/office/drawing/2014/main" id="{D21E1F63-0E73-4BE0-AB62-ECF4E2E15BF1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GB" sz="2200" b="1" i="0" baseline="0">
              <a:solidFill>
                <a:schemeClr val="tx1"/>
              </a:solidFill>
              <a:latin typeface="STIHL Contraface Text"/>
              <a:ea typeface="+mj-ea"/>
              <a:cs typeface="+mj-cs"/>
              <a:sym typeface="STIHL Contraface Text"/>
            </a:endParaRPr>
          </a:p>
        </p:txBody>
      </p:sp>
      <p:sp>
        <p:nvSpPr>
          <p:cNvPr id="11" name="Titel 10">
            <a:extLst>
              <a:ext uri="{FF2B5EF4-FFF2-40B4-BE49-F238E27FC236}">
                <a16:creationId xmlns:a16="http://schemas.microsoft.com/office/drawing/2014/main" id="{A26E03A4-095B-410D-BCF8-3F189668F8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9426" y="503546"/>
            <a:ext cx="9579925" cy="304699"/>
          </a:xfrm>
        </p:spPr>
        <p:txBody>
          <a:bodyPr vert="horz" lIns="0" tIns="0" rIns="0" bIns="0" rtlCol="0" anchor="t" anchorCtr="0">
            <a:noAutofit/>
          </a:bodyPr>
          <a:lstStyle>
            <a:lvl1pPr>
              <a:lnSpc>
                <a:spcPct val="90000"/>
              </a:lnSpc>
              <a:defRPr lang="de-DE" sz="2200" dirty="0"/>
            </a:lvl1pPr>
          </a:lstStyle>
          <a:p>
            <a:pPr lvl="0"/>
            <a:r>
              <a:rPr lang="en-GB"/>
              <a:t>Edit master title format</a:t>
            </a:r>
          </a:p>
        </p:txBody>
      </p:sp>
      <p:sp>
        <p:nvSpPr>
          <p:cNvPr id="13" name="Textplatzhalter 8">
            <a:extLst>
              <a:ext uri="{FF2B5EF4-FFF2-40B4-BE49-F238E27FC236}">
                <a16:creationId xmlns:a16="http://schemas.microsoft.com/office/drawing/2014/main" id="{6DBC4AB2-2C37-4DD5-89D1-6E82832F27B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9427" y="1130300"/>
            <a:ext cx="11233147" cy="2492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>
              <a:lnSpc>
                <a:spcPct val="90000"/>
              </a:lnSpc>
              <a:buNone/>
              <a:defRPr lang="de-DE" sz="1800" cap="none" baseline="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marL="114300" lvl="0" indent="-342900">
              <a:spcBef>
                <a:spcPct val="0"/>
              </a:spcBef>
            </a:pPr>
            <a:r>
              <a:rPr lang="en-GB"/>
              <a:t>Sub headline</a:t>
            </a:r>
          </a:p>
        </p:txBody>
      </p:sp>
      <p:sp>
        <p:nvSpPr>
          <p:cNvPr id="5" name="Inhaltsplatzhalter 4"/>
          <p:cNvSpPr>
            <a:spLocks noGrp="1"/>
          </p:cNvSpPr>
          <p:nvPr>
            <p:ph sz="quarter" idx="21" hasCustomPrompt="1"/>
          </p:nvPr>
        </p:nvSpPr>
        <p:spPr>
          <a:xfrm>
            <a:off x="479427" y="1605435"/>
            <a:ext cx="5384331" cy="484934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GB"/>
              <a:t>Edit master text format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5" name="Inhaltsplatzhalter 4"/>
          <p:cNvSpPr>
            <a:spLocks noGrp="1"/>
          </p:cNvSpPr>
          <p:nvPr>
            <p:ph sz="quarter" idx="22" hasCustomPrompt="1"/>
          </p:nvPr>
        </p:nvSpPr>
        <p:spPr>
          <a:xfrm>
            <a:off x="6328243" y="1605435"/>
            <a:ext cx="5384331" cy="484934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GB"/>
              <a:t>Edit master text format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133694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Background image with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70" imgH="371" progId="TCLayout.ActiveDocument.1">
                  <p:embed/>
                </p:oleObj>
              </mc:Choice>
              <mc:Fallback>
                <p:oleObj name="think-cell Slide" r:id="rId4" imgW="370" imgH="371" progId="TCLayout.ActiveDocument.1">
                  <p:embed/>
                  <p:pic>
                    <p:nvPicPr>
                      <p:cNvPr id="4" name="Objekt 3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hteck 2" hidden="1"/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GB" sz="2200" b="1" i="0" baseline="0">
              <a:solidFill>
                <a:schemeClr val="tx1"/>
              </a:solidFill>
              <a:latin typeface="STIHL Contraface Text"/>
              <a:ea typeface="+mn-ea"/>
              <a:cs typeface="+mn-cs"/>
              <a:sym typeface="STIHL Contraface Text"/>
            </a:endParaRPr>
          </a:p>
        </p:txBody>
      </p:sp>
      <p:pic>
        <p:nvPicPr>
          <p:cNvPr id="10" name="Grafik 9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6060" y="258750"/>
            <a:ext cx="1774212" cy="775631"/>
          </a:xfrm>
          <a:prstGeom prst="rect">
            <a:avLst/>
          </a:prstGeom>
        </p:spPr>
      </p:pic>
      <p:sp>
        <p:nvSpPr>
          <p:cNvPr id="17" name="Hintergrundbild">
            <a:extLst>
              <a:ext uri="{FF2B5EF4-FFF2-40B4-BE49-F238E27FC236}">
                <a16:creationId xmlns:a16="http://schemas.microsoft.com/office/drawing/2014/main" id="{91303CF3-1A7E-4149-A9A1-BC9B75037D65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10129345 w 12192000"/>
              <a:gd name="connsiteY4" fmla="*/ 344401 h 6858000"/>
              <a:gd name="connsiteX5" fmla="*/ 10129345 w 12192000"/>
              <a:gd name="connsiteY5" fmla="*/ 1099696 h 6858000"/>
              <a:gd name="connsiteX6" fmla="*/ 11857039 w 12192000"/>
              <a:gd name="connsiteY6" fmla="*/ 1099696 h 6858000"/>
              <a:gd name="connsiteX7" fmla="*/ 11857039 w 12192000"/>
              <a:gd name="connsiteY7" fmla="*/ 344401 h 6858000"/>
              <a:gd name="connsiteX8" fmla="*/ 0 w 12192000"/>
              <a:gd name="connsiteY8" fmla="*/ 0 h 6858000"/>
              <a:gd name="connsiteX9" fmla="*/ 12192000 w 12192000"/>
              <a:gd name="connsiteY9" fmla="*/ 0 h 6858000"/>
              <a:gd name="connsiteX10" fmla="*/ 12192000 w 12192000"/>
              <a:gd name="connsiteY10" fmla="*/ 6858000 h 6858000"/>
              <a:gd name="connsiteX11" fmla="*/ 0 w 12192000"/>
              <a:gd name="connsiteY11" fmla="*/ 685800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29345 w 12192000"/>
              <a:gd name="connsiteY6" fmla="*/ 1099696 h 6858000"/>
              <a:gd name="connsiteX7" fmla="*/ 11857039 w 12192000"/>
              <a:gd name="connsiteY7" fmla="*/ 1099696 h 6858000"/>
              <a:gd name="connsiteX8" fmla="*/ 11857039 w 12192000"/>
              <a:gd name="connsiteY8" fmla="*/ 34440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29345 w 12192000"/>
              <a:gd name="connsiteY6" fmla="*/ 1099696 h 6858000"/>
              <a:gd name="connsiteX7" fmla="*/ 11857039 w 12192000"/>
              <a:gd name="connsiteY7" fmla="*/ 1099696 h 6858000"/>
              <a:gd name="connsiteX8" fmla="*/ 11910379 w 12192000"/>
              <a:gd name="connsiteY8" fmla="*/ 26058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29345 w 12192000"/>
              <a:gd name="connsiteY6" fmla="*/ 1099696 h 6858000"/>
              <a:gd name="connsiteX7" fmla="*/ 11910379 w 12192000"/>
              <a:gd name="connsiteY7" fmla="*/ 1029211 h 6858000"/>
              <a:gd name="connsiteX8" fmla="*/ 11910379 w 12192000"/>
              <a:gd name="connsiteY8" fmla="*/ 26058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38870 w 12192000"/>
              <a:gd name="connsiteY6" fmla="*/ 1034926 h 6858000"/>
              <a:gd name="connsiteX7" fmla="*/ 11910379 w 12192000"/>
              <a:gd name="connsiteY7" fmla="*/ 1029211 h 6858000"/>
              <a:gd name="connsiteX8" fmla="*/ 11910379 w 12192000"/>
              <a:gd name="connsiteY8" fmla="*/ 26058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4587758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38870 w 12192000"/>
              <a:gd name="connsiteY6" fmla="*/ 1034926 h 6858000"/>
              <a:gd name="connsiteX7" fmla="*/ 11910379 w 12192000"/>
              <a:gd name="connsiteY7" fmla="*/ 1029211 h 6858000"/>
              <a:gd name="connsiteX8" fmla="*/ 11910379 w 12192000"/>
              <a:gd name="connsiteY8" fmla="*/ 26058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68969 w 12192000"/>
              <a:gd name="connsiteY2" fmla="*/ 6536402 h 6858000"/>
              <a:gd name="connsiteX3" fmla="*/ 4587758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38870 w 12192000"/>
              <a:gd name="connsiteY6" fmla="*/ 1034926 h 6858000"/>
              <a:gd name="connsiteX7" fmla="*/ 11910379 w 12192000"/>
              <a:gd name="connsiteY7" fmla="*/ 1029211 h 6858000"/>
              <a:gd name="connsiteX8" fmla="*/ 11910379 w 12192000"/>
              <a:gd name="connsiteY8" fmla="*/ 26058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68969 w 12192000"/>
              <a:gd name="connsiteY2" fmla="*/ 6536402 h 6858000"/>
              <a:gd name="connsiteX3" fmla="*/ 4575232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38870 w 12192000"/>
              <a:gd name="connsiteY6" fmla="*/ 1034926 h 6858000"/>
              <a:gd name="connsiteX7" fmla="*/ 11910379 w 12192000"/>
              <a:gd name="connsiteY7" fmla="*/ 1029211 h 6858000"/>
              <a:gd name="connsiteX8" fmla="*/ 11910379 w 12192000"/>
              <a:gd name="connsiteY8" fmla="*/ 26058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68969 w 12192000"/>
              <a:gd name="connsiteY2" fmla="*/ 6536402 h 6858000"/>
              <a:gd name="connsiteX3" fmla="*/ 4581495 w 12192000"/>
              <a:gd name="connsiteY3" fmla="*/ 338139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38870 w 12192000"/>
              <a:gd name="connsiteY6" fmla="*/ 1034926 h 6858000"/>
              <a:gd name="connsiteX7" fmla="*/ 11910379 w 12192000"/>
              <a:gd name="connsiteY7" fmla="*/ 1029211 h 6858000"/>
              <a:gd name="connsiteX8" fmla="*/ 11910379 w 12192000"/>
              <a:gd name="connsiteY8" fmla="*/ 26058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81495 w 12192000"/>
              <a:gd name="connsiteY3" fmla="*/ 338139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38870 w 12192000"/>
              <a:gd name="connsiteY6" fmla="*/ 1034926 h 6858000"/>
              <a:gd name="connsiteX7" fmla="*/ 11910379 w 12192000"/>
              <a:gd name="connsiteY7" fmla="*/ 1029211 h 6858000"/>
              <a:gd name="connsiteX8" fmla="*/ 11910379 w 12192000"/>
              <a:gd name="connsiteY8" fmla="*/ 26058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600284 w 12192000"/>
              <a:gd name="connsiteY3" fmla="*/ 338139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38870 w 12192000"/>
              <a:gd name="connsiteY6" fmla="*/ 1034926 h 6858000"/>
              <a:gd name="connsiteX7" fmla="*/ 11910379 w 12192000"/>
              <a:gd name="connsiteY7" fmla="*/ 1029211 h 6858000"/>
              <a:gd name="connsiteX8" fmla="*/ 11910379 w 12192000"/>
              <a:gd name="connsiteY8" fmla="*/ 26058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94021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38870 w 12192000"/>
              <a:gd name="connsiteY6" fmla="*/ 1034926 h 6858000"/>
              <a:gd name="connsiteX7" fmla="*/ 11910379 w 12192000"/>
              <a:gd name="connsiteY7" fmla="*/ 1029211 h 6858000"/>
              <a:gd name="connsiteX8" fmla="*/ 11910379 w 12192000"/>
              <a:gd name="connsiteY8" fmla="*/ 26058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94021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38870 w 12192000"/>
              <a:gd name="connsiteY6" fmla="*/ 1034926 h 6858000"/>
              <a:gd name="connsiteX7" fmla="*/ 11910379 w 12192000"/>
              <a:gd name="connsiteY7" fmla="*/ 1029211 h 6858000"/>
              <a:gd name="connsiteX8" fmla="*/ 11904664 w 12192000"/>
              <a:gd name="connsiteY8" fmla="*/ 26820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94021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38870 w 12192000"/>
              <a:gd name="connsiteY6" fmla="*/ 1034926 h 6858000"/>
              <a:gd name="connsiteX7" fmla="*/ 11904664 w 12192000"/>
              <a:gd name="connsiteY7" fmla="*/ 1027306 h 6858000"/>
              <a:gd name="connsiteX8" fmla="*/ 11904664 w 12192000"/>
              <a:gd name="connsiteY8" fmla="*/ 26820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94021 w 12192000"/>
              <a:gd name="connsiteY3" fmla="*/ 34440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38870 w 12192000"/>
              <a:gd name="connsiteY6" fmla="*/ 1034926 h 6858000"/>
              <a:gd name="connsiteX7" fmla="*/ 11904664 w 12192000"/>
              <a:gd name="connsiteY7" fmla="*/ 1027306 h 6858000"/>
              <a:gd name="connsiteX8" fmla="*/ 11904664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94021 w 12192000"/>
              <a:gd name="connsiteY3" fmla="*/ 34440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904664 w 12192000"/>
              <a:gd name="connsiteY7" fmla="*/ 1027306 h 6858000"/>
              <a:gd name="connsiteX8" fmla="*/ 11904664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94021 w 12192000"/>
              <a:gd name="connsiteY3" fmla="*/ 34440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904664 w 12192000"/>
              <a:gd name="connsiteY7" fmla="*/ 1027306 h 6858000"/>
              <a:gd name="connsiteX8" fmla="*/ 11721784 w 12192000"/>
              <a:gd name="connsiteY8" fmla="*/ 39012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94021 w 12192000"/>
              <a:gd name="connsiteY3" fmla="*/ 34440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904664 w 12192000"/>
              <a:gd name="connsiteY7" fmla="*/ 1027306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94021 w 12192000"/>
              <a:gd name="connsiteY3" fmla="*/ 34440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649394 w 12192000"/>
              <a:gd name="connsiteY7" fmla="*/ 871096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94021 w 12192000"/>
              <a:gd name="connsiteY3" fmla="*/ 34440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904664 w 12192000"/>
              <a:gd name="connsiteY7" fmla="*/ 1027306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94021 w 12192000"/>
              <a:gd name="connsiteY3" fmla="*/ 34440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756074 w 12192000"/>
              <a:gd name="connsiteY7" fmla="*/ 953011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94021 w 12192000"/>
              <a:gd name="connsiteY3" fmla="*/ 34440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902759 w 12192000"/>
              <a:gd name="connsiteY7" fmla="*/ 1029211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94021 w 12192000"/>
              <a:gd name="connsiteY3" fmla="*/ 34440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735119 w 12192000"/>
              <a:gd name="connsiteY7" fmla="*/ 899671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94021 w 12192000"/>
              <a:gd name="connsiteY3" fmla="*/ 34440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900854 w 12192000"/>
              <a:gd name="connsiteY7" fmla="*/ 1029211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94021 w 12192000"/>
              <a:gd name="connsiteY3" fmla="*/ 34440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900854 w 12192000"/>
              <a:gd name="connsiteY7" fmla="*/ 1031116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94021 w 12192000"/>
              <a:gd name="connsiteY3" fmla="*/ 34440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900854 w 12192000"/>
              <a:gd name="connsiteY7" fmla="*/ 1027306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20869 w 12192000"/>
              <a:gd name="connsiteY3" fmla="*/ 25296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900854 w 12192000"/>
              <a:gd name="connsiteY7" fmla="*/ 1027306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9058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20869 w 12192000"/>
              <a:gd name="connsiteY3" fmla="*/ 252962 h 6858000"/>
              <a:gd name="connsiteX4" fmla="*/ 276606 w 12192000"/>
              <a:gd name="connsiteY4" fmla="*/ 259058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900854 w 12192000"/>
              <a:gd name="connsiteY7" fmla="*/ 1027306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9058 h 6858000"/>
              <a:gd name="connsiteX1" fmla="*/ 282702 w 12192000"/>
              <a:gd name="connsiteY1" fmla="*/ 6597362 h 6858000"/>
              <a:gd name="connsiteX2" fmla="*/ 4587758 w 12192000"/>
              <a:gd name="connsiteY2" fmla="*/ 6536402 h 6858000"/>
              <a:gd name="connsiteX3" fmla="*/ 4520869 w 12192000"/>
              <a:gd name="connsiteY3" fmla="*/ 252962 h 6858000"/>
              <a:gd name="connsiteX4" fmla="*/ 276606 w 12192000"/>
              <a:gd name="connsiteY4" fmla="*/ 259058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900854 w 12192000"/>
              <a:gd name="connsiteY7" fmla="*/ 1027306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9058 h 6858000"/>
              <a:gd name="connsiteX1" fmla="*/ 282702 w 12192000"/>
              <a:gd name="connsiteY1" fmla="*/ 6597362 h 6858000"/>
              <a:gd name="connsiteX2" fmla="*/ 4508510 w 12192000"/>
              <a:gd name="connsiteY2" fmla="*/ 6603458 h 6858000"/>
              <a:gd name="connsiteX3" fmla="*/ 4520869 w 12192000"/>
              <a:gd name="connsiteY3" fmla="*/ 252962 h 6858000"/>
              <a:gd name="connsiteX4" fmla="*/ 276606 w 12192000"/>
              <a:gd name="connsiteY4" fmla="*/ 259058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900854 w 12192000"/>
              <a:gd name="connsiteY7" fmla="*/ 1027306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9058 h 6858000"/>
              <a:gd name="connsiteX1" fmla="*/ 282702 w 12192000"/>
              <a:gd name="connsiteY1" fmla="*/ 6597362 h 6858000"/>
              <a:gd name="connsiteX2" fmla="*/ 4502795 w 12192000"/>
              <a:gd name="connsiteY2" fmla="*/ 6599648 h 6858000"/>
              <a:gd name="connsiteX3" fmla="*/ 4520869 w 12192000"/>
              <a:gd name="connsiteY3" fmla="*/ 252962 h 6858000"/>
              <a:gd name="connsiteX4" fmla="*/ 276606 w 12192000"/>
              <a:gd name="connsiteY4" fmla="*/ 259058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900854 w 12192000"/>
              <a:gd name="connsiteY7" fmla="*/ 1027306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9058 h 6858000"/>
              <a:gd name="connsiteX1" fmla="*/ 282702 w 12192000"/>
              <a:gd name="connsiteY1" fmla="*/ 6597362 h 6858000"/>
              <a:gd name="connsiteX2" fmla="*/ 4502795 w 12192000"/>
              <a:gd name="connsiteY2" fmla="*/ 6599648 h 6858000"/>
              <a:gd name="connsiteX3" fmla="*/ 4233214 w 12192000"/>
              <a:gd name="connsiteY3" fmla="*/ 468227 h 6858000"/>
              <a:gd name="connsiteX4" fmla="*/ 276606 w 12192000"/>
              <a:gd name="connsiteY4" fmla="*/ 259058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900854 w 12192000"/>
              <a:gd name="connsiteY7" fmla="*/ 1027306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9058 h 6858000"/>
              <a:gd name="connsiteX1" fmla="*/ 282702 w 12192000"/>
              <a:gd name="connsiteY1" fmla="*/ 6597362 h 6858000"/>
              <a:gd name="connsiteX2" fmla="*/ 4502795 w 12192000"/>
              <a:gd name="connsiteY2" fmla="*/ 6599648 h 6858000"/>
              <a:gd name="connsiteX3" fmla="*/ 4503724 w 12192000"/>
              <a:gd name="connsiteY3" fmla="*/ 258677 h 6858000"/>
              <a:gd name="connsiteX4" fmla="*/ 276606 w 12192000"/>
              <a:gd name="connsiteY4" fmla="*/ 259058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900854 w 12192000"/>
              <a:gd name="connsiteY7" fmla="*/ 1027306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549021 w 12192000"/>
              <a:gd name="connsiteY0" fmla="*/ 472418 h 6858000"/>
              <a:gd name="connsiteX1" fmla="*/ 282702 w 12192000"/>
              <a:gd name="connsiteY1" fmla="*/ 6597362 h 6858000"/>
              <a:gd name="connsiteX2" fmla="*/ 4502795 w 12192000"/>
              <a:gd name="connsiteY2" fmla="*/ 6599648 h 6858000"/>
              <a:gd name="connsiteX3" fmla="*/ 4503724 w 12192000"/>
              <a:gd name="connsiteY3" fmla="*/ 258677 h 6858000"/>
              <a:gd name="connsiteX4" fmla="*/ 549021 w 12192000"/>
              <a:gd name="connsiteY4" fmla="*/ 472418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900854 w 12192000"/>
              <a:gd name="connsiteY7" fmla="*/ 1027306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84226 w 12192000"/>
              <a:gd name="connsiteY0" fmla="*/ 259058 h 6858000"/>
              <a:gd name="connsiteX1" fmla="*/ 282702 w 12192000"/>
              <a:gd name="connsiteY1" fmla="*/ 6597362 h 6858000"/>
              <a:gd name="connsiteX2" fmla="*/ 4502795 w 12192000"/>
              <a:gd name="connsiteY2" fmla="*/ 6599648 h 6858000"/>
              <a:gd name="connsiteX3" fmla="*/ 4503724 w 12192000"/>
              <a:gd name="connsiteY3" fmla="*/ 258677 h 6858000"/>
              <a:gd name="connsiteX4" fmla="*/ 284226 w 12192000"/>
              <a:gd name="connsiteY4" fmla="*/ 259058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900854 w 12192000"/>
              <a:gd name="connsiteY7" fmla="*/ 1027306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2192000" h="6858000">
                <a:moveTo>
                  <a:pt x="284226" y="259058"/>
                </a:moveTo>
                <a:lnTo>
                  <a:pt x="282702" y="6597362"/>
                </a:lnTo>
                <a:lnTo>
                  <a:pt x="4502795" y="6599648"/>
                </a:lnTo>
                <a:cubicBezTo>
                  <a:pt x="4504883" y="4535648"/>
                  <a:pt x="4501636" y="2322677"/>
                  <a:pt x="4503724" y="258677"/>
                </a:cubicBezTo>
                <a:lnTo>
                  <a:pt x="284226" y="259058"/>
                </a:lnTo>
                <a:close/>
                <a:moveTo>
                  <a:pt x="10144585" y="266296"/>
                </a:moveTo>
                <a:lnTo>
                  <a:pt x="10144585" y="1025401"/>
                </a:lnTo>
                <a:lnTo>
                  <a:pt x="11900854" y="1027306"/>
                </a:lnTo>
                <a:lnTo>
                  <a:pt x="11902759" y="268201"/>
                </a:lnTo>
                <a:lnTo>
                  <a:pt x="10144585" y="266296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noFill/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8" name="Subline">
            <a:extLst>
              <a:ext uri="{FF2B5EF4-FFF2-40B4-BE49-F238E27FC236}">
                <a16:creationId xmlns:a16="http://schemas.microsoft.com/office/drawing/2014/main" id="{27895B51-0BE5-4A27-BF19-DDD42ED3269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83316" y="5443855"/>
            <a:ext cx="4219882" cy="166199"/>
          </a:xfrm>
          <a:prstGeom prst="rect">
            <a:avLst/>
          </a:prstGeom>
        </p:spPr>
        <p:txBody>
          <a:bodyPr lIns="288000" rIns="288000" anchor="t" anchorCtr="0">
            <a:spAutoFit/>
          </a:bodyPr>
          <a:lstStyle>
            <a:lvl1pPr marL="0" indent="0">
              <a:spcBef>
                <a:spcPts val="0"/>
              </a:spcBef>
              <a:buNone/>
              <a:defRPr sz="1200" b="1" cap="none" baseline="0">
                <a:latin typeface="+mj-lt"/>
              </a:defRPr>
            </a:lvl1pPr>
          </a:lstStyle>
          <a:p>
            <a:pPr lvl="0"/>
            <a:r>
              <a:rPr lang="en-GB"/>
              <a:t>Subline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6D20123-1501-4CA7-AA2F-3112A033196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3316" y="258750"/>
            <a:ext cx="4219882" cy="1191023"/>
          </a:xfrm>
        </p:spPr>
        <p:txBody>
          <a:bodyPr vert="horz" lIns="288000" tIns="288000" rIns="288000" bIns="288000" rtlCol="0">
            <a:noAutofit/>
          </a:bodyPr>
          <a:lstStyle>
            <a:lvl1pPr>
              <a:spcBef>
                <a:spcPts val="0"/>
              </a:spcBef>
              <a:defRPr lang="de-DE" sz="2200" cap="none" baseline="0" dirty="0">
                <a:latin typeface="+mj-lt"/>
                <a:ea typeface="+mn-ea"/>
                <a:cs typeface="+mn-cs"/>
              </a:defRPr>
            </a:lvl1pPr>
          </a:lstStyle>
          <a:p>
            <a:pPr marL="0" lvl="0" indent="0">
              <a:spcBef>
                <a:spcPts val="1000"/>
              </a:spcBef>
              <a:buFont typeface="Arial" panose="020B0604020202020204" pitchFamily="34" charset="0"/>
            </a:pPr>
            <a:r>
              <a:rPr lang="en-GB"/>
              <a:t>Edit master title format</a:t>
            </a:r>
          </a:p>
        </p:txBody>
      </p:sp>
      <p:sp>
        <p:nvSpPr>
          <p:cNvPr id="26" name="Rechteck 25">
            <a:extLst>
              <a:ext uri="{FF2B5EF4-FFF2-40B4-BE49-F238E27FC236}">
                <a16:creationId xmlns:a16="http://schemas.microsoft.com/office/drawing/2014/main" id="{5CF86407-DA27-4CA6-A346-F8477F884E96}"/>
              </a:ext>
            </a:extLst>
          </p:cNvPr>
          <p:cNvSpPr>
            <a:spLocks/>
          </p:cNvSpPr>
          <p:nvPr/>
        </p:nvSpPr>
        <p:spPr>
          <a:xfrm>
            <a:off x="-1943099" y="2913099"/>
            <a:ext cx="1772284" cy="1031803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ctr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90000"/>
              </a:lnSpc>
            </a:pPr>
            <a:r>
              <a:rPr lang="en-GB" sz="1600" b="0">
                <a:solidFill>
                  <a:schemeClr val="tx1"/>
                </a:solidFill>
              </a:rPr>
              <a:t>Please do not print slides with full colour or motifs 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16" hasCustomPrompt="1"/>
          </p:nvPr>
        </p:nvSpPr>
        <p:spPr>
          <a:xfrm>
            <a:off x="283316" y="1533024"/>
            <a:ext cx="4219882" cy="3910831"/>
          </a:xfrm>
        </p:spPr>
        <p:txBody>
          <a:bodyPr lIns="288000" rIns="288000"/>
          <a:lstStyle>
            <a:lvl1pPr>
              <a:defRPr/>
            </a:lvl1pPr>
            <a:lvl2pPr>
              <a:defRPr baseline="0"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GB"/>
              <a:t>Edit master text format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483884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 content left / pictur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>
            <a:extLst>
              <a:ext uri="{FF2B5EF4-FFF2-40B4-BE49-F238E27FC236}">
                <a16:creationId xmlns:a16="http://schemas.microsoft.com/office/drawing/2014/main" id="{7533893B-821E-4ADE-9220-F4BFD56A94D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8" imgH="408" progId="TCLayout.ActiveDocument.1">
                  <p:embed/>
                </p:oleObj>
              </mc:Choice>
              <mc:Fallback>
                <p:oleObj name="think-cell Slide" r:id="rId4" imgW="408" imgH="408" progId="TCLayout.ActiveDocument.1">
                  <p:embed/>
                  <p:pic>
                    <p:nvPicPr>
                      <p:cNvPr id="4" name="Objekt 3" hidden="1">
                        <a:extLst>
                          <a:ext uri="{FF2B5EF4-FFF2-40B4-BE49-F238E27FC236}">
                            <a16:creationId xmlns:a16="http://schemas.microsoft.com/office/drawing/2014/main" id="{7533893B-821E-4ADE-9220-F4BFD56A94D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hteck 1" hidden="1">
            <a:extLst>
              <a:ext uri="{FF2B5EF4-FFF2-40B4-BE49-F238E27FC236}">
                <a16:creationId xmlns:a16="http://schemas.microsoft.com/office/drawing/2014/main" id="{459E3539-5FD6-406C-97C0-23B63907A3AF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GB" sz="2200" b="1" i="0" baseline="0">
              <a:solidFill>
                <a:schemeClr val="tx1"/>
              </a:solidFill>
              <a:latin typeface="STIHL Contraface Text"/>
              <a:ea typeface="+mj-ea"/>
              <a:cs typeface="+mj-cs"/>
              <a:sym typeface="STIHL Contraface Text"/>
            </a:endParaRPr>
          </a:p>
        </p:txBody>
      </p:sp>
      <p:sp>
        <p:nvSpPr>
          <p:cNvPr id="8" name="Titel 7">
            <a:extLst>
              <a:ext uri="{FF2B5EF4-FFF2-40B4-BE49-F238E27FC236}">
                <a16:creationId xmlns:a16="http://schemas.microsoft.com/office/drawing/2014/main" id="{3645C76C-2B5D-4ED3-8A37-4C9BFA9F1DA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9425" y="503546"/>
            <a:ext cx="9579925" cy="304699"/>
          </a:xfrm>
        </p:spPr>
        <p:txBody>
          <a:bodyPr vert="horz" lIns="0" tIns="0" rIns="0" bIns="0" rtlCol="0" anchor="t" anchorCtr="0">
            <a:noAutofit/>
          </a:bodyPr>
          <a:lstStyle>
            <a:lvl1pPr>
              <a:lnSpc>
                <a:spcPct val="90000"/>
              </a:lnSpc>
              <a:defRPr lang="de-DE" sz="2200" dirty="0"/>
            </a:lvl1pPr>
          </a:lstStyle>
          <a:p>
            <a:pPr lvl="0"/>
            <a:r>
              <a:rPr lang="en-GB"/>
              <a:t>Edit master title format</a:t>
            </a:r>
          </a:p>
        </p:txBody>
      </p:sp>
      <p:sp>
        <p:nvSpPr>
          <p:cNvPr id="11" name="Bildplatzhalter 10">
            <a:extLst>
              <a:ext uri="{FF2B5EF4-FFF2-40B4-BE49-F238E27FC236}">
                <a16:creationId xmlns:a16="http://schemas.microsoft.com/office/drawing/2014/main" id="{96910D21-640F-4D2A-A173-3AEDAE01B91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340007" y="1605435"/>
            <a:ext cx="5372567" cy="484934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lnSpc>
                <a:spcPct val="90000"/>
              </a:lnSpc>
              <a:defRPr lang="de-DE" dirty="0"/>
            </a:lvl1pPr>
          </a:lstStyle>
          <a:p>
            <a:pPr lvl="0"/>
            <a:r>
              <a:rPr lang="en-US"/>
              <a:t>Add image by clicking on icon</a:t>
            </a:r>
          </a:p>
        </p:txBody>
      </p:sp>
      <p:sp>
        <p:nvSpPr>
          <p:cNvPr id="13" name="Textplatzhalter 8">
            <a:extLst>
              <a:ext uri="{FF2B5EF4-FFF2-40B4-BE49-F238E27FC236}">
                <a16:creationId xmlns:a16="http://schemas.microsoft.com/office/drawing/2014/main" id="{3F74B75A-3F3E-4E2B-84F3-277B54EBC3A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79427" y="1130300"/>
            <a:ext cx="11233147" cy="2492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>
              <a:lnSpc>
                <a:spcPct val="90000"/>
              </a:lnSpc>
              <a:buNone/>
              <a:defRPr lang="de-DE" sz="1800" cap="none" baseline="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marL="114300" lvl="0" indent="-342900">
              <a:spcBef>
                <a:spcPct val="0"/>
              </a:spcBef>
            </a:pPr>
            <a:r>
              <a:rPr lang="en-GB"/>
              <a:t>Sub headline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15" hasCustomPrompt="1"/>
          </p:nvPr>
        </p:nvSpPr>
        <p:spPr>
          <a:xfrm>
            <a:off x="479427" y="1605435"/>
            <a:ext cx="5384332" cy="484934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 baseline="0"/>
            </a:lvl5pPr>
          </a:lstStyle>
          <a:p>
            <a:pPr lvl="0"/>
            <a:r>
              <a:rPr lang="en-GB"/>
              <a:t>Edit master text format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263738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left / text content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>
            <a:extLst>
              <a:ext uri="{FF2B5EF4-FFF2-40B4-BE49-F238E27FC236}">
                <a16:creationId xmlns:a16="http://schemas.microsoft.com/office/drawing/2014/main" id="{6C37FF3E-A92A-4E10-BE06-1BAF6DBEE3A6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8" imgH="408" progId="TCLayout.ActiveDocument.1">
                  <p:embed/>
                </p:oleObj>
              </mc:Choice>
              <mc:Fallback>
                <p:oleObj name="think-cell Slide" r:id="rId4" imgW="408" imgH="408" progId="TCLayout.ActiveDocument.1">
                  <p:embed/>
                  <p:pic>
                    <p:nvPicPr>
                      <p:cNvPr id="4" name="Objekt 3" hidden="1">
                        <a:extLst>
                          <a:ext uri="{FF2B5EF4-FFF2-40B4-BE49-F238E27FC236}">
                            <a16:creationId xmlns:a16="http://schemas.microsoft.com/office/drawing/2014/main" id="{6C37FF3E-A92A-4E10-BE06-1BAF6DBEE3A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hteck 1" hidden="1">
            <a:extLst>
              <a:ext uri="{FF2B5EF4-FFF2-40B4-BE49-F238E27FC236}">
                <a16:creationId xmlns:a16="http://schemas.microsoft.com/office/drawing/2014/main" id="{D59466C3-9696-446B-A506-2764C30C5245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GB" sz="2200" b="1" i="0" baseline="0">
              <a:solidFill>
                <a:schemeClr val="tx1"/>
              </a:solidFill>
              <a:latin typeface="STIHL Contraface Text"/>
              <a:ea typeface="+mj-ea"/>
              <a:cs typeface="+mj-cs"/>
              <a:sym typeface="STIHL Contraface Text"/>
            </a:endParaRPr>
          </a:p>
        </p:txBody>
      </p:sp>
      <p:sp>
        <p:nvSpPr>
          <p:cNvPr id="8" name="Titel 7">
            <a:extLst>
              <a:ext uri="{FF2B5EF4-FFF2-40B4-BE49-F238E27FC236}">
                <a16:creationId xmlns:a16="http://schemas.microsoft.com/office/drawing/2014/main" id="{3645C76C-2B5D-4ED3-8A37-4C9BFA9F1DA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9426" y="503546"/>
            <a:ext cx="9579925" cy="304699"/>
          </a:xfrm>
        </p:spPr>
        <p:txBody>
          <a:bodyPr vert="horz" lIns="0" tIns="0" rIns="0" bIns="0" rtlCol="0" anchor="t" anchorCtr="0">
            <a:noAutofit/>
          </a:bodyPr>
          <a:lstStyle>
            <a:lvl1pPr>
              <a:lnSpc>
                <a:spcPct val="90000"/>
              </a:lnSpc>
              <a:defRPr lang="de-DE" sz="2200" dirty="0"/>
            </a:lvl1pPr>
          </a:lstStyle>
          <a:p>
            <a:pPr lvl="0"/>
            <a:r>
              <a:rPr lang="en-GB"/>
              <a:t>Edit master title format</a:t>
            </a:r>
          </a:p>
        </p:txBody>
      </p:sp>
      <p:sp>
        <p:nvSpPr>
          <p:cNvPr id="11" name="Bildplatzhalter 10">
            <a:extLst>
              <a:ext uri="{FF2B5EF4-FFF2-40B4-BE49-F238E27FC236}">
                <a16:creationId xmlns:a16="http://schemas.microsoft.com/office/drawing/2014/main" id="{96910D21-640F-4D2A-A173-3AEDAE01B91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79427" y="1605435"/>
            <a:ext cx="5384332" cy="484934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90000"/>
              </a:lnSpc>
              <a:buNone/>
              <a:defRPr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12" name="Textplatzhalter 8">
            <a:extLst>
              <a:ext uri="{FF2B5EF4-FFF2-40B4-BE49-F238E27FC236}">
                <a16:creationId xmlns:a16="http://schemas.microsoft.com/office/drawing/2014/main" id="{5E1810CB-B3A3-4F48-882E-1806957C5A9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79427" y="1130300"/>
            <a:ext cx="11233147" cy="2492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>
              <a:lnSpc>
                <a:spcPct val="90000"/>
              </a:lnSpc>
              <a:buNone/>
              <a:defRPr lang="de-DE" sz="1800" cap="none" baseline="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marL="114300" lvl="0" indent="-342900">
              <a:spcBef>
                <a:spcPct val="0"/>
              </a:spcBef>
            </a:pPr>
            <a:r>
              <a:rPr lang="en-GB"/>
              <a:t>Sub </a:t>
            </a:r>
            <a:r>
              <a:rPr lang="en-GB" noProof="0"/>
              <a:t>headline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16" hasCustomPrompt="1"/>
          </p:nvPr>
        </p:nvSpPr>
        <p:spPr>
          <a:xfrm>
            <a:off x="6328242" y="1605435"/>
            <a:ext cx="5384332" cy="4849340"/>
          </a:xfrm>
        </p:spPr>
        <p:txBody>
          <a:bodyPr/>
          <a:lstStyle>
            <a:lvl1pPr>
              <a:defRPr baseline="0"/>
            </a:lvl1pPr>
            <a:lvl2pPr>
              <a:defRPr/>
            </a:lvl2pPr>
            <a:lvl3pPr>
              <a:defRPr/>
            </a:lvl3pPr>
            <a:lvl4pPr>
              <a:defRPr baseline="0"/>
            </a:lvl4pPr>
            <a:lvl5pPr>
              <a:defRPr/>
            </a:lvl5pPr>
          </a:lstStyle>
          <a:p>
            <a:pPr lvl="0"/>
            <a:r>
              <a:rPr lang="en-GB"/>
              <a:t>Edit master text format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8451347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ong title background image / text content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kt 1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70" imgH="371" progId="TCLayout.ActiveDocument.1">
                  <p:embed/>
                </p:oleObj>
              </mc:Choice>
              <mc:Fallback>
                <p:oleObj name="think-cell Slide" r:id="rId3" imgW="370" imgH="371" progId="TCLayout.ActiveDocument.1">
                  <p:embed/>
                  <p:pic>
                    <p:nvPicPr>
                      <p:cNvPr id="2" name="Objek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Bildplatzhalter 10">
            <a:extLst>
              <a:ext uri="{FF2B5EF4-FFF2-40B4-BE49-F238E27FC236}">
                <a16:creationId xmlns:a16="http://schemas.microsoft.com/office/drawing/2014/main" id="{96910D21-640F-4D2A-A173-3AEDAE01B91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4068000" cy="685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7" name="Inhaltsplatzhalter 6"/>
          <p:cNvSpPr>
            <a:spLocks noGrp="1"/>
          </p:cNvSpPr>
          <p:nvPr>
            <p:ph sz="quarter" idx="14" hasCustomPrompt="1"/>
          </p:nvPr>
        </p:nvSpPr>
        <p:spPr>
          <a:xfrm>
            <a:off x="4547426" y="1605435"/>
            <a:ext cx="5488114" cy="4849340"/>
          </a:xfrm>
        </p:spPr>
        <p:txBody>
          <a:bodyPr/>
          <a:lstStyle>
            <a:lvl1pPr>
              <a:defRPr baseline="0"/>
            </a:lvl1pPr>
            <a:lvl2pPr>
              <a:defRPr baseline="0"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GB"/>
              <a:t>Edit master text format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39974371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large left / text content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kt 1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70" imgH="371" progId="TCLayout.ActiveDocument.1">
                  <p:embed/>
                </p:oleObj>
              </mc:Choice>
              <mc:Fallback>
                <p:oleObj name="think-cell Slide" r:id="rId3" imgW="370" imgH="371" progId="TCLayout.ActiveDocument.1">
                  <p:embed/>
                  <p:pic>
                    <p:nvPicPr>
                      <p:cNvPr id="2" name="Objek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Bildplatzhalter 10">
            <a:extLst>
              <a:ext uri="{FF2B5EF4-FFF2-40B4-BE49-F238E27FC236}">
                <a16:creationId xmlns:a16="http://schemas.microsoft.com/office/drawing/2014/main" id="{96910D21-640F-4D2A-A173-3AEDAE01B91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6731876" cy="685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8" name="Inhaltsplatzhalter 7"/>
          <p:cNvSpPr>
            <a:spLocks noGrp="1"/>
          </p:cNvSpPr>
          <p:nvPr>
            <p:ph sz="quarter" idx="14" hasCustomPrompt="1"/>
          </p:nvPr>
        </p:nvSpPr>
        <p:spPr>
          <a:xfrm>
            <a:off x="7209713" y="1605435"/>
            <a:ext cx="4502861" cy="4849340"/>
          </a:xfrm>
        </p:spPr>
        <p:txBody>
          <a:bodyPr/>
          <a:lstStyle>
            <a:lvl1pPr>
              <a:defRPr/>
            </a:lvl1pPr>
            <a:lvl2pPr>
              <a:defRPr baseline="0"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GB"/>
              <a:t>Edit master text format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79845171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Objekt 9" hidden="1">
            <a:extLst>
              <a:ext uri="{FF2B5EF4-FFF2-40B4-BE49-F238E27FC236}">
                <a16:creationId xmlns:a16="http://schemas.microsoft.com/office/drawing/2014/main" id="{435B4EBB-2F7A-4AE4-BD00-67C8C0B62C23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8" imgH="408" progId="TCLayout.ActiveDocument.1">
                  <p:embed/>
                </p:oleObj>
              </mc:Choice>
              <mc:Fallback>
                <p:oleObj name="think-cell Slide" r:id="rId4" imgW="408" imgH="408" progId="TCLayout.ActiveDocument.1">
                  <p:embed/>
                  <p:pic>
                    <p:nvPicPr>
                      <p:cNvPr id="10" name="Objekt 9" hidden="1">
                        <a:extLst>
                          <a:ext uri="{FF2B5EF4-FFF2-40B4-BE49-F238E27FC236}">
                            <a16:creationId xmlns:a16="http://schemas.microsoft.com/office/drawing/2014/main" id="{435B4EBB-2F7A-4AE4-BD00-67C8C0B62C2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hteck 1" hidden="1">
            <a:extLst>
              <a:ext uri="{FF2B5EF4-FFF2-40B4-BE49-F238E27FC236}">
                <a16:creationId xmlns:a16="http://schemas.microsoft.com/office/drawing/2014/main" id="{A7CB53B2-ECA4-444A-AB4E-723BCED04A18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GB" sz="2200" b="1" i="0" baseline="0">
              <a:solidFill>
                <a:schemeClr val="tx1"/>
              </a:solidFill>
              <a:latin typeface="STIHL Contraface Text"/>
              <a:ea typeface="+mj-ea"/>
              <a:cs typeface="+mj-cs"/>
              <a:sym typeface="STIHL Contraface Text"/>
            </a:endParaRP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74A3FDA9-3CE6-48AD-AE14-9F756B6E73F7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79427" y="4810219"/>
            <a:ext cx="5384333" cy="1644556"/>
          </a:xfrm>
          <a:prstGeom prst="rect">
            <a:avLst/>
          </a:prstGeom>
        </p:spPr>
        <p:txBody>
          <a:bodyPr anchor="t" anchorCtr="0">
            <a:normAutofit/>
          </a:bodyPr>
          <a:lstStyle>
            <a:lvl1pPr marL="0" indent="0">
              <a:lnSpc>
                <a:spcPct val="90000"/>
              </a:lnSpc>
              <a:buFont typeface="Arial" panose="020B0604020202020204" pitchFamily="34" charset="0"/>
              <a:buNone/>
              <a:defRPr sz="1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Edit master text format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AD7E1FB2-B072-4C41-88FD-F720EB877288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6328241" y="4810219"/>
            <a:ext cx="5384333" cy="1644556"/>
          </a:xfrm>
          <a:prstGeom prst="rect">
            <a:avLst/>
          </a:prstGeom>
        </p:spPr>
        <p:txBody>
          <a:bodyPr anchor="t" anchorCtr="0">
            <a:normAutofit/>
          </a:bodyPr>
          <a:lstStyle>
            <a:lvl1pPr marL="0" indent="0">
              <a:lnSpc>
                <a:spcPct val="90000"/>
              </a:lnSpc>
              <a:buFont typeface="Arial" panose="020B0604020202020204" pitchFamily="34" charset="0"/>
              <a:buNone/>
              <a:defRPr sz="1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Edit master text format</a:t>
            </a:r>
          </a:p>
        </p:txBody>
      </p:sp>
      <p:sp>
        <p:nvSpPr>
          <p:cNvPr id="11" name="Titel 10">
            <a:extLst>
              <a:ext uri="{FF2B5EF4-FFF2-40B4-BE49-F238E27FC236}">
                <a16:creationId xmlns:a16="http://schemas.microsoft.com/office/drawing/2014/main" id="{1D6E84FA-FD4E-4697-91A3-11CC718B6B1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9426" y="503546"/>
            <a:ext cx="9579925" cy="304699"/>
          </a:xfrm>
        </p:spPr>
        <p:txBody>
          <a:bodyPr vert="horz" lIns="0" tIns="0" rIns="0" bIns="0" rtlCol="0" anchor="t" anchorCtr="0">
            <a:noAutofit/>
          </a:bodyPr>
          <a:lstStyle>
            <a:lvl1pPr>
              <a:lnSpc>
                <a:spcPct val="90000"/>
              </a:lnSpc>
              <a:defRPr lang="de-DE" sz="2200" dirty="0"/>
            </a:lvl1pPr>
          </a:lstStyle>
          <a:p>
            <a:pPr lvl="0"/>
            <a:r>
              <a:rPr lang="en-GB"/>
              <a:t>Edit master title format</a:t>
            </a:r>
          </a:p>
        </p:txBody>
      </p:sp>
      <p:sp>
        <p:nvSpPr>
          <p:cNvPr id="14" name="Textplatzhalter 8">
            <a:extLst>
              <a:ext uri="{FF2B5EF4-FFF2-40B4-BE49-F238E27FC236}">
                <a16:creationId xmlns:a16="http://schemas.microsoft.com/office/drawing/2014/main" id="{6584C2F4-58E3-486D-88D2-9F6D570B6CA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9427" y="1130300"/>
            <a:ext cx="11233147" cy="2492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>
              <a:lnSpc>
                <a:spcPct val="90000"/>
              </a:lnSpc>
              <a:buNone/>
              <a:defRPr lang="de-DE" sz="1800" cap="none" baseline="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marL="114300" lvl="0" indent="-342900">
              <a:spcBef>
                <a:spcPct val="0"/>
              </a:spcBef>
            </a:pPr>
            <a:r>
              <a:rPr lang="en-GB"/>
              <a:t>Sub headline</a:t>
            </a:r>
          </a:p>
        </p:txBody>
      </p:sp>
      <p:sp>
        <p:nvSpPr>
          <p:cNvPr id="8" name="Inhaltsplatzhalter 7"/>
          <p:cNvSpPr>
            <a:spLocks noGrp="1"/>
          </p:cNvSpPr>
          <p:nvPr>
            <p:ph sz="quarter" idx="14" hasCustomPrompt="1"/>
          </p:nvPr>
        </p:nvSpPr>
        <p:spPr>
          <a:xfrm>
            <a:off x="6328241" y="1605435"/>
            <a:ext cx="5384333" cy="3075921"/>
          </a:xfrm>
        </p:spPr>
        <p:txBody>
          <a:bodyPr/>
          <a:lstStyle>
            <a:lvl1pPr>
              <a:defRPr baseline="0"/>
            </a:lvl1pPr>
            <a:lvl2pPr>
              <a:defRPr baseline="0"/>
            </a:lvl2pPr>
            <a:lvl3pPr>
              <a:defRPr baseline="0"/>
            </a:lvl3pPr>
            <a:lvl4pPr>
              <a:defRPr/>
            </a:lvl4pPr>
            <a:lvl5pPr>
              <a:defRPr baseline="0"/>
            </a:lvl5pPr>
          </a:lstStyle>
          <a:p>
            <a:pPr lvl="0"/>
            <a:r>
              <a:rPr lang="en-GB"/>
              <a:t>Edit master text format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 </a:t>
            </a:r>
          </a:p>
        </p:txBody>
      </p:sp>
      <p:sp>
        <p:nvSpPr>
          <p:cNvPr id="15" name="Inhaltsplatzhalter 7"/>
          <p:cNvSpPr>
            <a:spLocks noGrp="1"/>
          </p:cNvSpPr>
          <p:nvPr>
            <p:ph sz="quarter" idx="15" hasCustomPrompt="1"/>
          </p:nvPr>
        </p:nvSpPr>
        <p:spPr>
          <a:xfrm>
            <a:off x="479427" y="1605435"/>
            <a:ext cx="5384333" cy="3075921"/>
          </a:xfrm>
        </p:spPr>
        <p:txBody>
          <a:bodyPr/>
          <a:lstStyle>
            <a:lvl1pPr>
              <a:defRPr baseline="0"/>
            </a:lvl1pPr>
            <a:lvl2pPr>
              <a:defRPr baseline="0"/>
            </a:lvl2pPr>
            <a:lvl3pPr>
              <a:defRPr baseline="0"/>
            </a:lvl3pPr>
            <a:lvl4pPr>
              <a:defRPr/>
            </a:lvl4pPr>
            <a:lvl5pPr>
              <a:defRPr baseline="0"/>
            </a:lvl5pPr>
          </a:lstStyle>
          <a:p>
            <a:pPr lvl="0"/>
            <a:r>
              <a:rPr lang="en-GB"/>
              <a:t>Edit master text format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 </a:t>
            </a:r>
          </a:p>
        </p:txBody>
      </p:sp>
    </p:spTree>
    <p:extLst>
      <p:ext uri="{BB962C8B-B14F-4D97-AF65-F5344CB8AC3E}">
        <p14:creationId xmlns:p14="http://schemas.microsoft.com/office/powerpoint/2010/main" val="205624690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Pictur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kt 1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70" imgH="371" progId="TCLayout.ActiveDocument.1">
                  <p:embed/>
                </p:oleObj>
              </mc:Choice>
              <mc:Fallback>
                <p:oleObj name="think-cell Slide" r:id="rId3" imgW="370" imgH="371" progId="TCLayout.ActiveDocument.1">
                  <p:embed/>
                  <p:pic>
                    <p:nvPicPr>
                      <p:cNvPr id="2" name="Objek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Bildplatzhalter 7">
            <a:extLst>
              <a:ext uri="{FF2B5EF4-FFF2-40B4-BE49-F238E27FC236}">
                <a16:creationId xmlns:a16="http://schemas.microsoft.com/office/drawing/2014/main" id="{ED7967F9-E942-4760-BBB0-7377F089841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5CF86407-DA27-4CA6-A346-F8477F884E96}"/>
              </a:ext>
            </a:extLst>
          </p:cNvPr>
          <p:cNvSpPr>
            <a:spLocks/>
          </p:cNvSpPr>
          <p:nvPr/>
        </p:nvSpPr>
        <p:spPr>
          <a:xfrm>
            <a:off x="-1943099" y="2913099"/>
            <a:ext cx="1772284" cy="1031803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ctr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90000"/>
              </a:lnSpc>
            </a:pPr>
            <a:r>
              <a:rPr lang="en-GB" sz="1600" b="0">
                <a:solidFill>
                  <a:schemeClr val="tx1"/>
                </a:solidFill>
              </a:rPr>
              <a:t>Please do not print slides with full colour or motifs </a:t>
            </a:r>
          </a:p>
        </p:txBody>
      </p:sp>
    </p:spTree>
    <p:extLst>
      <p:ext uri="{BB962C8B-B14F-4D97-AF65-F5344CB8AC3E}">
        <p14:creationId xmlns:p14="http://schemas.microsoft.com/office/powerpoint/2010/main" val="10582414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Five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kt 1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70" imgH="371" progId="TCLayout.ActiveDocument.1">
                  <p:embed/>
                </p:oleObj>
              </mc:Choice>
              <mc:Fallback>
                <p:oleObj name="think-cell Slide" r:id="rId3" imgW="370" imgH="371" progId="TCLayout.ActiveDocument.1">
                  <p:embed/>
                  <p:pic>
                    <p:nvPicPr>
                      <p:cNvPr id="2" name="Objek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Bildplatzhalter 7">
            <a:extLst>
              <a:ext uri="{FF2B5EF4-FFF2-40B4-BE49-F238E27FC236}">
                <a16:creationId xmlns:a16="http://schemas.microsoft.com/office/drawing/2014/main" id="{ED7967F9-E942-4760-BBB0-7377F089841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79427" y="503236"/>
            <a:ext cx="7434865" cy="287662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4" name="Bildplatzhalter 7">
            <a:extLst>
              <a:ext uri="{FF2B5EF4-FFF2-40B4-BE49-F238E27FC236}">
                <a16:creationId xmlns:a16="http://schemas.microsoft.com/office/drawing/2014/main" id="{3874E60C-732A-46D4-A0D2-7308833B35F3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8112574" y="503236"/>
            <a:ext cx="3600000" cy="287662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5" name="Bildplatzhalter 7">
            <a:extLst>
              <a:ext uri="{FF2B5EF4-FFF2-40B4-BE49-F238E27FC236}">
                <a16:creationId xmlns:a16="http://schemas.microsoft.com/office/drawing/2014/main" id="{39157FFC-465D-4202-AA4E-49F8E951F1B8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8112574" y="3578149"/>
            <a:ext cx="3600000" cy="287662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6" name="Bildplatzhalter 7">
            <a:extLst>
              <a:ext uri="{FF2B5EF4-FFF2-40B4-BE49-F238E27FC236}">
                <a16:creationId xmlns:a16="http://schemas.microsoft.com/office/drawing/2014/main" id="{398ADFCC-9F73-4FCE-B41A-76494D790BAA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3326525" y="3578149"/>
            <a:ext cx="4587765" cy="287662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7" name="Bildplatzhalter 7">
            <a:extLst>
              <a:ext uri="{FF2B5EF4-FFF2-40B4-BE49-F238E27FC236}">
                <a16:creationId xmlns:a16="http://schemas.microsoft.com/office/drawing/2014/main" id="{9C2AE974-6668-41BF-9CA5-FBFDB292E2F0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479427" y="3578149"/>
            <a:ext cx="2648814" cy="287662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5CF86407-DA27-4CA6-A346-F8477F884E96}"/>
              </a:ext>
            </a:extLst>
          </p:cNvPr>
          <p:cNvSpPr>
            <a:spLocks/>
          </p:cNvSpPr>
          <p:nvPr/>
        </p:nvSpPr>
        <p:spPr>
          <a:xfrm>
            <a:off x="-1943099" y="2913099"/>
            <a:ext cx="1772284" cy="1031803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ctr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90000"/>
              </a:lnSpc>
            </a:pPr>
            <a:r>
              <a:rPr lang="en-GB" sz="1600" b="0">
                <a:solidFill>
                  <a:schemeClr val="tx1"/>
                </a:solidFill>
              </a:rPr>
              <a:t>Please do not print slides with full colour or motifs </a:t>
            </a:r>
          </a:p>
        </p:txBody>
      </p:sp>
    </p:spTree>
    <p:extLst>
      <p:ext uri="{BB962C8B-B14F-4D97-AF65-F5344CB8AC3E}">
        <p14:creationId xmlns:p14="http://schemas.microsoft.com/office/powerpoint/2010/main" val="355672955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hree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kt 1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70" imgH="371" progId="TCLayout.ActiveDocument.1">
                  <p:embed/>
                </p:oleObj>
              </mc:Choice>
              <mc:Fallback>
                <p:oleObj name="think-cell Slide" r:id="rId3" imgW="370" imgH="371" progId="TCLayout.ActiveDocument.1">
                  <p:embed/>
                  <p:pic>
                    <p:nvPicPr>
                      <p:cNvPr id="2" name="Objek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Bildplatzhalter 7">
            <a:extLst>
              <a:ext uri="{FF2B5EF4-FFF2-40B4-BE49-F238E27FC236}">
                <a16:creationId xmlns:a16="http://schemas.microsoft.com/office/drawing/2014/main" id="{ED7967F9-E942-4760-BBB0-7377F089841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79427" y="503236"/>
            <a:ext cx="6912000" cy="595153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4" name="Bildplatzhalter 7">
            <a:extLst>
              <a:ext uri="{FF2B5EF4-FFF2-40B4-BE49-F238E27FC236}">
                <a16:creationId xmlns:a16="http://schemas.microsoft.com/office/drawing/2014/main" id="{3874E60C-732A-46D4-A0D2-7308833B35F3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7587672" y="503236"/>
            <a:ext cx="4124902" cy="287662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9" name="Bildplatzhalter 7">
            <a:extLst>
              <a:ext uri="{FF2B5EF4-FFF2-40B4-BE49-F238E27FC236}">
                <a16:creationId xmlns:a16="http://schemas.microsoft.com/office/drawing/2014/main" id="{77162A5A-203D-4041-B750-63013653294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7587672" y="3578151"/>
            <a:ext cx="4124902" cy="287662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5CF86407-DA27-4CA6-A346-F8477F884E96}"/>
              </a:ext>
            </a:extLst>
          </p:cNvPr>
          <p:cNvSpPr>
            <a:spLocks/>
          </p:cNvSpPr>
          <p:nvPr/>
        </p:nvSpPr>
        <p:spPr>
          <a:xfrm>
            <a:off x="-1943099" y="2913099"/>
            <a:ext cx="1772284" cy="1031803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ctr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90000"/>
              </a:lnSpc>
            </a:pPr>
            <a:r>
              <a:rPr lang="en-GB" sz="1600" b="0">
                <a:solidFill>
                  <a:schemeClr val="tx1"/>
                </a:solidFill>
              </a:rPr>
              <a:t>Please do not print slides with full colour or motifs </a:t>
            </a:r>
          </a:p>
        </p:txBody>
      </p:sp>
    </p:spTree>
    <p:extLst>
      <p:ext uri="{BB962C8B-B14F-4D97-AF65-F5344CB8AC3E}">
        <p14:creationId xmlns:p14="http://schemas.microsoft.com/office/powerpoint/2010/main" val="336398818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Objekt 9" hidden="1">
            <a:extLst>
              <a:ext uri="{FF2B5EF4-FFF2-40B4-BE49-F238E27FC236}">
                <a16:creationId xmlns:a16="http://schemas.microsoft.com/office/drawing/2014/main" id="{435B4EBB-2F7A-4AE4-BD00-67C8C0B62C23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8" imgH="408" progId="TCLayout.ActiveDocument.1">
                  <p:embed/>
                </p:oleObj>
              </mc:Choice>
              <mc:Fallback>
                <p:oleObj name="think-cell Slide" r:id="rId4" imgW="408" imgH="408" progId="TCLayout.ActiveDocument.1">
                  <p:embed/>
                  <p:pic>
                    <p:nvPicPr>
                      <p:cNvPr id="10" name="Objekt 9" hidden="1">
                        <a:extLst>
                          <a:ext uri="{FF2B5EF4-FFF2-40B4-BE49-F238E27FC236}">
                            <a16:creationId xmlns:a16="http://schemas.microsoft.com/office/drawing/2014/main" id="{435B4EBB-2F7A-4AE4-BD00-67C8C0B62C2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hteck 1" hidden="1">
            <a:extLst>
              <a:ext uri="{FF2B5EF4-FFF2-40B4-BE49-F238E27FC236}">
                <a16:creationId xmlns:a16="http://schemas.microsoft.com/office/drawing/2014/main" id="{A7CB53B2-ECA4-444A-AB4E-723BCED04A18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GB" sz="2200" b="1" i="0" baseline="0">
              <a:solidFill>
                <a:schemeClr val="tx1"/>
              </a:solidFill>
              <a:latin typeface="STIHL Contraface Text"/>
              <a:ea typeface="+mj-ea"/>
              <a:cs typeface="+mj-cs"/>
              <a:sym typeface="STIHL Contraface Text"/>
            </a:endParaRPr>
          </a:p>
        </p:txBody>
      </p:sp>
      <p:sp>
        <p:nvSpPr>
          <p:cNvPr id="11" name="Titel 10">
            <a:extLst>
              <a:ext uri="{FF2B5EF4-FFF2-40B4-BE49-F238E27FC236}">
                <a16:creationId xmlns:a16="http://schemas.microsoft.com/office/drawing/2014/main" id="{1D6E84FA-FD4E-4697-91A3-11CC718B6B1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9426" y="503546"/>
            <a:ext cx="9579925" cy="304699"/>
          </a:xfrm>
        </p:spPr>
        <p:txBody>
          <a:bodyPr vert="horz" lIns="0" tIns="0" rIns="0" bIns="0" rtlCol="0" anchor="t" anchorCtr="0">
            <a:noAutofit/>
          </a:bodyPr>
          <a:lstStyle>
            <a:lvl1pPr>
              <a:lnSpc>
                <a:spcPct val="90000"/>
              </a:lnSpc>
              <a:defRPr lang="de-DE" sz="2200" dirty="0"/>
            </a:lvl1pPr>
          </a:lstStyle>
          <a:p>
            <a:pPr lvl="0"/>
            <a:r>
              <a:rPr lang="en-GB"/>
              <a:t>Edit master title format</a:t>
            </a:r>
          </a:p>
        </p:txBody>
      </p:sp>
      <p:sp>
        <p:nvSpPr>
          <p:cNvPr id="14" name="Textplatzhalter 8">
            <a:extLst>
              <a:ext uri="{FF2B5EF4-FFF2-40B4-BE49-F238E27FC236}">
                <a16:creationId xmlns:a16="http://schemas.microsoft.com/office/drawing/2014/main" id="{6584C2F4-58E3-486D-88D2-9F6D570B6CA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9427" y="1130300"/>
            <a:ext cx="11233147" cy="2492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>
              <a:lnSpc>
                <a:spcPct val="90000"/>
              </a:lnSpc>
              <a:buNone/>
              <a:defRPr lang="de-DE" sz="1800" cap="none" baseline="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marL="114300" lvl="0" indent="-342900">
              <a:spcBef>
                <a:spcPct val="0"/>
              </a:spcBef>
            </a:pPr>
            <a:r>
              <a:rPr lang="en-GB" err="1"/>
              <a:t>Subheadline</a:t>
            </a:r>
            <a:endParaRPr lang="en-GB"/>
          </a:p>
        </p:txBody>
      </p:sp>
      <p:sp>
        <p:nvSpPr>
          <p:cNvPr id="6" name="Textplatzhalter 5"/>
          <p:cNvSpPr>
            <a:spLocks noGrp="1"/>
          </p:cNvSpPr>
          <p:nvPr>
            <p:ph type="body" sz="quarter" idx="14" hasCustomPrompt="1"/>
          </p:nvPr>
        </p:nvSpPr>
        <p:spPr>
          <a:xfrm>
            <a:off x="479427" y="4253457"/>
            <a:ext cx="2700000" cy="2201318"/>
          </a:xfrm>
        </p:spPr>
        <p:txBody>
          <a:bodyPr/>
          <a:lstStyle/>
          <a:p>
            <a:pPr lvl="0"/>
            <a:r>
              <a:rPr lang="en-GB"/>
              <a:t>Edit master text format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6" name="Textplatzhalter 5"/>
          <p:cNvSpPr>
            <a:spLocks noGrp="1"/>
          </p:cNvSpPr>
          <p:nvPr>
            <p:ph type="body" sz="quarter" idx="15" hasCustomPrompt="1"/>
          </p:nvPr>
        </p:nvSpPr>
        <p:spPr>
          <a:xfrm>
            <a:off x="3323809" y="4253457"/>
            <a:ext cx="2700000" cy="2201318"/>
          </a:xfrm>
        </p:spPr>
        <p:txBody>
          <a:bodyPr/>
          <a:lstStyle/>
          <a:p>
            <a:pPr lvl="0"/>
            <a:r>
              <a:rPr lang="en-GB"/>
              <a:t>Edit master text format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7" name="Textplatzhalter 5"/>
          <p:cNvSpPr>
            <a:spLocks noGrp="1"/>
          </p:cNvSpPr>
          <p:nvPr>
            <p:ph type="body" sz="quarter" idx="16" hasCustomPrompt="1"/>
          </p:nvPr>
        </p:nvSpPr>
        <p:spPr>
          <a:xfrm>
            <a:off x="6168191" y="4253457"/>
            <a:ext cx="2700000" cy="2201318"/>
          </a:xfrm>
        </p:spPr>
        <p:txBody>
          <a:bodyPr/>
          <a:lstStyle/>
          <a:p>
            <a:pPr lvl="0"/>
            <a:r>
              <a:rPr lang="en-GB"/>
              <a:t>Edit master text format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8" name="Textplatzhalter 5"/>
          <p:cNvSpPr>
            <a:spLocks noGrp="1"/>
          </p:cNvSpPr>
          <p:nvPr>
            <p:ph type="body" sz="quarter" idx="17" hasCustomPrompt="1"/>
          </p:nvPr>
        </p:nvSpPr>
        <p:spPr>
          <a:xfrm>
            <a:off x="9012574" y="4253457"/>
            <a:ext cx="2700000" cy="2201318"/>
          </a:xfrm>
        </p:spPr>
        <p:txBody>
          <a:bodyPr/>
          <a:lstStyle/>
          <a:p>
            <a:pPr lvl="0"/>
            <a:r>
              <a:rPr lang="en-GB"/>
              <a:t>Edit master text format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9" name="Bildplatzhalter 8"/>
          <p:cNvSpPr>
            <a:spLocks noGrp="1"/>
          </p:cNvSpPr>
          <p:nvPr>
            <p:ph type="pic" sz="quarter" idx="18" hasCustomPrompt="1"/>
          </p:nvPr>
        </p:nvSpPr>
        <p:spPr>
          <a:xfrm>
            <a:off x="479427" y="1605435"/>
            <a:ext cx="1836000" cy="2448000"/>
          </a:xfrm>
        </p:spPr>
        <p:txBody>
          <a:bodyPr/>
          <a:lstStyle>
            <a:lvl1pPr>
              <a:defRPr b="0"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19" name="Bildplatzhalter 8"/>
          <p:cNvSpPr>
            <a:spLocks noGrp="1"/>
          </p:cNvSpPr>
          <p:nvPr>
            <p:ph type="pic" sz="quarter" idx="19" hasCustomPrompt="1"/>
          </p:nvPr>
        </p:nvSpPr>
        <p:spPr>
          <a:xfrm>
            <a:off x="3323809" y="1605435"/>
            <a:ext cx="1836000" cy="2448000"/>
          </a:xfrm>
        </p:spPr>
        <p:txBody>
          <a:bodyPr/>
          <a:lstStyle>
            <a:lvl1pPr>
              <a:defRPr b="0"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20" name="Bildplatzhalter 8"/>
          <p:cNvSpPr>
            <a:spLocks noGrp="1"/>
          </p:cNvSpPr>
          <p:nvPr>
            <p:ph type="pic" sz="quarter" idx="20" hasCustomPrompt="1"/>
          </p:nvPr>
        </p:nvSpPr>
        <p:spPr>
          <a:xfrm>
            <a:off x="6168191" y="1605435"/>
            <a:ext cx="1836000" cy="2448000"/>
          </a:xfrm>
        </p:spPr>
        <p:txBody>
          <a:bodyPr/>
          <a:lstStyle>
            <a:lvl1pPr>
              <a:defRPr b="0"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21" name="Bildplatzhalter 8"/>
          <p:cNvSpPr>
            <a:spLocks noGrp="1"/>
          </p:cNvSpPr>
          <p:nvPr>
            <p:ph type="pic" sz="quarter" idx="21" hasCustomPrompt="1"/>
          </p:nvPr>
        </p:nvSpPr>
        <p:spPr>
          <a:xfrm>
            <a:off x="9012574" y="1605435"/>
            <a:ext cx="1836000" cy="2448000"/>
          </a:xfrm>
        </p:spPr>
        <p:txBody>
          <a:bodyPr/>
          <a:lstStyle>
            <a:lvl1pPr>
              <a:defRPr b="0"/>
            </a:lvl1pPr>
          </a:lstStyle>
          <a:p>
            <a:r>
              <a:rPr lang="en-US"/>
              <a:t>Add image by clicking on icon</a:t>
            </a:r>
          </a:p>
        </p:txBody>
      </p:sp>
    </p:spTree>
    <p:extLst>
      <p:ext uri="{BB962C8B-B14F-4D97-AF65-F5344CB8AC3E}">
        <p14:creationId xmlns:p14="http://schemas.microsoft.com/office/powerpoint/2010/main" val="26818451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message">
    <p:bg>
      <p:bgPr>
        <a:solidFill>
          <a:srgbClr val="F37A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70" imgH="371" progId="TCLayout.ActiveDocument.1">
                  <p:embed/>
                </p:oleObj>
              </mc:Choice>
              <mc:Fallback>
                <p:oleObj name="think-cell Slide" r:id="rId4" imgW="370" imgH="371" progId="TCLayout.ActiveDocument.1">
                  <p:embed/>
                  <p:pic>
                    <p:nvPicPr>
                      <p:cNvPr id="4" name="Objekt 3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hteck 2" hidden="1"/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GB" sz="4400" b="1" i="0" baseline="0">
              <a:solidFill>
                <a:schemeClr val="tx1"/>
              </a:solidFill>
              <a:latin typeface="STIHL Contraface Display Title" panose="02000600040000020004" pitchFamily="50" charset="0"/>
              <a:ea typeface="+mj-ea"/>
              <a:cs typeface="+mj-cs"/>
              <a:sym typeface="STIHL Contraface Display Title" panose="02000600040000020004" pitchFamily="50" charset="0"/>
            </a:endParaRPr>
          </a:p>
        </p:txBody>
      </p:sp>
      <p:sp>
        <p:nvSpPr>
          <p:cNvPr id="9" name="Textplatzhalter 8"/>
          <p:cNvSpPr>
            <a:spLocks noGrp="1"/>
          </p:cNvSpPr>
          <p:nvPr>
            <p:ph type="body" sz="quarter" idx="10" hasCustomPrompt="1"/>
          </p:nvPr>
        </p:nvSpPr>
        <p:spPr>
          <a:xfrm>
            <a:off x="568237" y="1186049"/>
            <a:ext cx="450670" cy="609398"/>
          </a:xfrm>
        </p:spPr>
        <p:txBody>
          <a:bodyPr wrap="square">
            <a:noAutofit/>
          </a:bodyPr>
          <a:lstStyle>
            <a:lvl1pPr>
              <a:tabLst>
                <a:tab pos="449263" algn="l"/>
              </a:tabLst>
              <a:defRPr sz="4400">
                <a:solidFill>
                  <a:schemeClr val="bg1"/>
                </a:solidFill>
                <a:latin typeface="STIHL Contraface Display Title" pitchFamily="50" charset="0"/>
              </a:defRPr>
            </a:lvl1pPr>
            <a:lvl2pPr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GB"/>
              <a:t>»	</a:t>
            </a:r>
          </a:p>
        </p:txBody>
      </p:sp>
      <p:sp>
        <p:nvSpPr>
          <p:cNvPr id="11" name="Textplatzhalter 10"/>
          <p:cNvSpPr>
            <a:spLocks noGrp="1"/>
          </p:cNvSpPr>
          <p:nvPr>
            <p:ph type="body" sz="quarter" idx="11" hasCustomPrompt="1"/>
          </p:nvPr>
        </p:nvSpPr>
        <p:spPr>
          <a:xfrm>
            <a:off x="1018907" y="3806696"/>
            <a:ext cx="10695256" cy="249299"/>
          </a:xfrm>
        </p:spPr>
        <p:txBody>
          <a:bodyPr>
            <a:sp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Edit master text format</a:t>
            </a:r>
          </a:p>
        </p:txBody>
      </p:sp>
      <p:sp>
        <p:nvSpPr>
          <p:cNvPr id="12" name="Textplatzhalter 8">
            <a:extLst>
              <a:ext uri="{FF2B5EF4-FFF2-40B4-BE49-F238E27FC236}">
                <a16:creationId xmlns:a16="http://schemas.microsoft.com/office/drawing/2014/main" id="{12D84E73-3E59-4631-ADBE-BD568242641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18907" y="1186049"/>
            <a:ext cx="10695256" cy="609398"/>
          </a:xfrm>
        </p:spPr>
        <p:txBody>
          <a:bodyPr wrap="square">
            <a:spAutoFit/>
          </a:bodyPr>
          <a:lstStyle>
            <a:lvl1pPr>
              <a:tabLst>
                <a:tab pos="449263" algn="l"/>
              </a:tabLst>
              <a:defRPr sz="4400">
                <a:solidFill>
                  <a:schemeClr val="bg1"/>
                </a:solidFill>
                <a:latin typeface="STIHL Contraface Display Title" pitchFamily="50" charset="0"/>
              </a:defRPr>
            </a:lvl1pPr>
            <a:lvl2pPr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GB"/>
              <a:t>quote «</a:t>
            </a:r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5CF86407-DA27-4CA6-A346-F8477F884E96}"/>
              </a:ext>
            </a:extLst>
          </p:cNvPr>
          <p:cNvSpPr>
            <a:spLocks/>
          </p:cNvSpPr>
          <p:nvPr/>
        </p:nvSpPr>
        <p:spPr>
          <a:xfrm>
            <a:off x="-1943099" y="2913099"/>
            <a:ext cx="1772284" cy="1031803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ctr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90000"/>
              </a:lnSpc>
            </a:pPr>
            <a:r>
              <a:rPr lang="en-GB" sz="1600" b="0">
                <a:solidFill>
                  <a:schemeClr val="tx1"/>
                </a:solidFill>
              </a:rPr>
              <a:t>Please do not print slides with full colour or images </a:t>
            </a:r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5CF86407-DA27-4CA6-A346-F8477F884E96}"/>
              </a:ext>
            </a:extLst>
          </p:cNvPr>
          <p:cNvSpPr>
            <a:spLocks/>
          </p:cNvSpPr>
          <p:nvPr/>
        </p:nvSpPr>
        <p:spPr>
          <a:xfrm>
            <a:off x="-1943099" y="4117246"/>
            <a:ext cx="1772284" cy="1253402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72000" rIns="72000" bIns="72000" rtlCol="0" anchor="t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90000"/>
              </a:lnSpc>
            </a:pPr>
            <a:r>
              <a:rPr lang="en-US" sz="1600" b="0">
                <a:solidFill>
                  <a:schemeClr val="tx1"/>
                </a:solidFill>
              </a:rPr>
              <a:t>The Guillemets </a:t>
            </a:r>
            <a:br>
              <a:rPr lang="en-US" sz="1600" b="0">
                <a:solidFill>
                  <a:schemeClr val="tx1"/>
                </a:solidFill>
              </a:rPr>
            </a:br>
            <a:r>
              <a:rPr lang="en-US" sz="1600" b="0">
                <a:solidFill>
                  <a:schemeClr val="tx1"/>
                </a:solidFill>
              </a:rPr>
              <a:t>can be inserted </a:t>
            </a:r>
            <a:br>
              <a:rPr lang="en-US" sz="1600" b="0">
                <a:solidFill>
                  <a:schemeClr val="tx1"/>
                </a:solidFill>
              </a:rPr>
            </a:br>
            <a:r>
              <a:rPr lang="en-US" sz="1600" b="0">
                <a:solidFill>
                  <a:schemeClr val="tx1"/>
                </a:solidFill>
              </a:rPr>
              <a:t>via the "Insert" tab through the "Symbol" field</a:t>
            </a:r>
          </a:p>
        </p:txBody>
      </p:sp>
    </p:spTree>
    <p:extLst>
      <p:ext uri="{BB962C8B-B14F-4D97-AF65-F5344CB8AC3E}">
        <p14:creationId xmlns:p14="http://schemas.microsoft.com/office/powerpoint/2010/main" val="339172250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clus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kt 1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70" imgH="371" progId="TCLayout.ActiveDocument.1">
                  <p:embed/>
                </p:oleObj>
              </mc:Choice>
              <mc:Fallback>
                <p:oleObj name="think-cell Slide" r:id="rId3" imgW="370" imgH="371" progId="TCLayout.ActiveDocument.1">
                  <p:embed/>
                  <p:pic>
                    <p:nvPicPr>
                      <p:cNvPr id="2" name="Objek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hteck 6">
            <a:extLst>
              <a:ext uri="{FF2B5EF4-FFF2-40B4-BE49-F238E27FC236}">
                <a16:creationId xmlns:a16="http://schemas.microsoft.com/office/drawing/2014/main" id="{16762DA5-7BF5-44ED-A0E7-1C1B1049A63C}"/>
              </a:ext>
            </a:extLst>
          </p:cNvPr>
          <p:cNvSpPr/>
          <p:nvPr/>
        </p:nvSpPr>
        <p:spPr>
          <a:xfrm>
            <a:off x="495191" y="6283982"/>
            <a:ext cx="450741" cy="94593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en-GB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2684D222-F168-4BDD-AE60-92B32E63659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79425" y="5499656"/>
            <a:ext cx="7812088" cy="671274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>
            <a:lvl1pPr marL="0" indent="0">
              <a:lnSpc>
                <a:spcPct val="90000"/>
              </a:lnSpc>
              <a:buNone/>
              <a:defRPr lang="de-DE" sz="4800" b="1" cap="all" baseline="0" smtClean="0">
                <a:latin typeface="STIHL Contraface Display Title" panose="02000600040000020004" pitchFamily="50" charset="0"/>
              </a:defRPr>
            </a:lvl1pPr>
            <a:lvl2pPr marL="277812" indent="0">
              <a:buNone/>
              <a:defRPr lang="de-DE" smtClean="0"/>
            </a:lvl2pPr>
            <a:lvl3pPr marL="739775" indent="0">
              <a:buNone/>
              <a:defRPr lang="de-DE" sz="1800" smtClean="0"/>
            </a:lvl3pPr>
            <a:lvl4pPr marL="1190625" indent="0">
              <a:buNone/>
              <a:defRPr lang="de-DE" sz="1800" smtClean="0"/>
            </a:lvl4pPr>
            <a:lvl5pPr marL="1647825" indent="0">
              <a:buNone/>
              <a:defRPr lang="de-DE" sz="1800"/>
            </a:lvl5pPr>
          </a:lstStyle>
          <a:p>
            <a:pPr marL="0" lvl="0"/>
            <a:r>
              <a:rPr lang="en-GB"/>
              <a:t>Edit Conclusion</a:t>
            </a:r>
          </a:p>
        </p:txBody>
      </p:sp>
      <p:pic>
        <p:nvPicPr>
          <p:cNvPr id="6" name="Grafik 5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30261" y="502821"/>
            <a:ext cx="1385810" cy="287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995581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hapter separator without pictur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kt 1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70" imgH="371" progId="TCLayout.ActiveDocument.1">
                  <p:embed/>
                </p:oleObj>
              </mc:Choice>
              <mc:Fallback>
                <p:oleObj name="think-cell Slide" r:id="rId3" imgW="370" imgH="371" progId="TCLayout.ActiveDocument.1">
                  <p:embed/>
                  <p:pic>
                    <p:nvPicPr>
                      <p:cNvPr id="2" name="Objek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platzhalter 2">
            <a:extLst>
              <a:ext uri="{FF2B5EF4-FFF2-40B4-BE49-F238E27FC236}">
                <a16:creationId xmlns:a16="http://schemas.microsoft.com/office/drawing/2014/main" id="{2684D222-F168-4BDD-AE60-92B32E63659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79425" y="4834859"/>
            <a:ext cx="7812088" cy="1336071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>
            <a:lvl1pPr marL="0" indent="0">
              <a:buNone/>
              <a:tabLst>
                <a:tab pos="1074738" algn="l"/>
              </a:tabLst>
              <a:defRPr lang="de-DE" sz="4800" b="1" cap="all" baseline="0" smtClean="0">
                <a:latin typeface="STIHL Contraface Display Title" panose="02000600040000020004" pitchFamily="50" charset="0"/>
              </a:defRPr>
            </a:lvl1pPr>
            <a:lvl2pPr marL="277812" indent="0">
              <a:buNone/>
              <a:defRPr lang="de-DE" smtClean="0"/>
            </a:lvl2pPr>
            <a:lvl3pPr marL="739775" indent="0">
              <a:buNone/>
              <a:defRPr lang="de-DE" sz="1800" smtClean="0"/>
            </a:lvl3pPr>
            <a:lvl4pPr marL="1190625" indent="0">
              <a:buNone/>
              <a:defRPr lang="de-DE" sz="1800" smtClean="0"/>
            </a:lvl4pPr>
            <a:lvl5pPr marL="1647825" indent="0">
              <a:buNone/>
              <a:defRPr lang="de-DE" sz="1800"/>
            </a:lvl5pPr>
          </a:lstStyle>
          <a:p>
            <a:pPr marL="0" lvl="0"/>
            <a:r>
              <a:rPr lang="en-GB"/>
              <a:t>Edit chapter separators</a:t>
            </a:r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5228CAB1-2EA1-4F8A-B1D7-C5BA22E44783}"/>
              </a:ext>
            </a:extLst>
          </p:cNvPr>
          <p:cNvSpPr/>
          <p:nvPr/>
        </p:nvSpPr>
        <p:spPr>
          <a:xfrm>
            <a:off x="495191" y="6283982"/>
            <a:ext cx="450741" cy="94593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en-GB"/>
          </a:p>
        </p:txBody>
      </p:sp>
      <p:pic>
        <p:nvPicPr>
          <p:cNvPr id="6" name="Grafik 5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30261" y="502821"/>
            <a:ext cx="1385810" cy="287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485419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hapter separator with pictur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kt 1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70" imgH="371" progId="TCLayout.ActiveDocument.1">
                  <p:embed/>
                </p:oleObj>
              </mc:Choice>
              <mc:Fallback>
                <p:oleObj name="think-cell Slide" r:id="rId3" imgW="370" imgH="371" progId="TCLayout.ActiveDocument.1">
                  <p:embed/>
                  <p:pic>
                    <p:nvPicPr>
                      <p:cNvPr id="2" name="Objek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" name="Grafik 9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6060" y="258750"/>
            <a:ext cx="1774212" cy="775631"/>
          </a:xfrm>
          <a:prstGeom prst="rect">
            <a:avLst/>
          </a:prstGeom>
        </p:spPr>
      </p:pic>
      <p:sp>
        <p:nvSpPr>
          <p:cNvPr id="7" name="Bildplatzhalter 14">
            <a:extLst>
              <a:ext uri="{FF2B5EF4-FFF2-40B4-BE49-F238E27FC236}">
                <a16:creationId xmlns:a16="http://schemas.microsoft.com/office/drawing/2014/main" id="{12A2E7EC-D35A-4A4A-BBD2-6097A2AF7814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10129345 w 12192000"/>
              <a:gd name="connsiteY4" fmla="*/ 344401 h 6858000"/>
              <a:gd name="connsiteX5" fmla="*/ 10129345 w 12192000"/>
              <a:gd name="connsiteY5" fmla="*/ 1099696 h 6858000"/>
              <a:gd name="connsiteX6" fmla="*/ 11857039 w 12192000"/>
              <a:gd name="connsiteY6" fmla="*/ 1099696 h 6858000"/>
              <a:gd name="connsiteX7" fmla="*/ 11857039 w 12192000"/>
              <a:gd name="connsiteY7" fmla="*/ 344401 h 6858000"/>
              <a:gd name="connsiteX8" fmla="*/ 0 w 12192000"/>
              <a:gd name="connsiteY8" fmla="*/ 0 h 6858000"/>
              <a:gd name="connsiteX9" fmla="*/ 12192000 w 12192000"/>
              <a:gd name="connsiteY9" fmla="*/ 0 h 6858000"/>
              <a:gd name="connsiteX10" fmla="*/ 12192000 w 12192000"/>
              <a:gd name="connsiteY10" fmla="*/ 6858000 h 6858000"/>
              <a:gd name="connsiteX11" fmla="*/ 0 w 12192000"/>
              <a:gd name="connsiteY11" fmla="*/ 685800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29345 w 12192000"/>
              <a:gd name="connsiteY6" fmla="*/ 1099696 h 6858000"/>
              <a:gd name="connsiteX7" fmla="*/ 11857039 w 12192000"/>
              <a:gd name="connsiteY7" fmla="*/ 1099696 h 6858000"/>
              <a:gd name="connsiteX8" fmla="*/ 11857039 w 12192000"/>
              <a:gd name="connsiteY8" fmla="*/ 34440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29345 w 12192000"/>
              <a:gd name="connsiteY6" fmla="*/ 1099696 h 6858000"/>
              <a:gd name="connsiteX7" fmla="*/ 11857039 w 12192000"/>
              <a:gd name="connsiteY7" fmla="*/ 109969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29345 w 12192000"/>
              <a:gd name="connsiteY6" fmla="*/ 1099696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31885 w 12192000"/>
              <a:gd name="connsiteY6" fmla="*/ 1033656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642366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5401950 w 12192000"/>
              <a:gd name="connsiteY2" fmla="*/ 6534807 h 6858000"/>
              <a:gd name="connsiteX3" fmla="*/ 1378590 w 12192000"/>
              <a:gd name="connsiteY3" fmla="*/ 612217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1195710 w 12192000"/>
              <a:gd name="connsiteY2" fmla="*/ 6565287 h 6858000"/>
              <a:gd name="connsiteX3" fmla="*/ 1378590 w 12192000"/>
              <a:gd name="connsiteY3" fmla="*/ 612217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1195710 w 12192000"/>
              <a:gd name="connsiteY2" fmla="*/ 6565287 h 6858000"/>
              <a:gd name="connsiteX3" fmla="*/ 1378590 w 12192000"/>
              <a:gd name="connsiteY3" fmla="*/ 612217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1102365 w 12192000"/>
              <a:gd name="connsiteY2" fmla="*/ 6536712 h 6858000"/>
              <a:gd name="connsiteX3" fmla="*/ 1378590 w 12192000"/>
              <a:gd name="connsiteY3" fmla="*/ 612217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1102365 w 12192000"/>
              <a:gd name="connsiteY2" fmla="*/ 6536712 h 6858000"/>
              <a:gd name="connsiteX3" fmla="*/ 1106175 w 12192000"/>
              <a:gd name="connsiteY3" fmla="*/ 643459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1106175 w 12192000"/>
              <a:gd name="connsiteY2" fmla="*/ 6538617 h 6858000"/>
              <a:gd name="connsiteX3" fmla="*/ 1106175 w 12192000"/>
              <a:gd name="connsiteY3" fmla="*/ 643459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2366 w 12192000"/>
              <a:gd name="connsiteY1" fmla="*/ 6534807 h 6858000"/>
              <a:gd name="connsiteX2" fmla="*/ 1106175 w 12192000"/>
              <a:gd name="connsiteY2" fmla="*/ 6538617 h 6858000"/>
              <a:gd name="connsiteX3" fmla="*/ 1106175 w 12192000"/>
              <a:gd name="connsiteY3" fmla="*/ 6434592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2366 w 12192000"/>
              <a:gd name="connsiteY1" fmla="*/ 6534807 h 6858000"/>
              <a:gd name="connsiteX2" fmla="*/ 1106175 w 12192000"/>
              <a:gd name="connsiteY2" fmla="*/ 6538617 h 6858000"/>
              <a:gd name="connsiteX3" fmla="*/ 1106175 w 12192000"/>
              <a:gd name="connsiteY3" fmla="*/ 6432687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2366 w 12192000"/>
              <a:gd name="connsiteY1" fmla="*/ 6534807 h 6858000"/>
              <a:gd name="connsiteX2" fmla="*/ 1106175 w 12192000"/>
              <a:gd name="connsiteY2" fmla="*/ 6538617 h 6858000"/>
              <a:gd name="connsiteX3" fmla="*/ 1106175 w 12192000"/>
              <a:gd name="connsiteY3" fmla="*/ 6428877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2366 w 12192000"/>
              <a:gd name="connsiteY1" fmla="*/ 6534807 h 6858000"/>
              <a:gd name="connsiteX2" fmla="*/ 1106175 w 12192000"/>
              <a:gd name="connsiteY2" fmla="*/ 6538617 h 6858000"/>
              <a:gd name="connsiteX3" fmla="*/ 1106175 w 12192000"/>
              <a:gd name="connsiteY3" fmla="*/ 6430782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2366 w 12192000"/>
              <a:gd name="connsiteY1" fmla="*/ 6534807 h 6858000"/>
              <a:gd name="connsiteX2" fmla="*/ 1106175 w 12192000"/>
              <a:gd name="connsiteY2" fmla="*/ 6536712 h 6858000"/>
              <a:gd name="connsiteX3" fmla="*/ 1106175 w 12192000"/>
              <a:gd name="connsiteY3" fmla="*/ 6430782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1106175 w 12192000"/>
              <a:gd name="connsiteY3" fmla="*/ 6430782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4271 w 12192000"/>
              <a:gd name="connsiteY0" fmla="*/ 6430782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1106175 w 12192000"/>
              <a:gd name="connsiteY3" fmla="*/ 6430782 h 6858000"/>
              <a:gd name="connsiteX4" fmla="*/ 644271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4271 w 12192000"/>
              <a:gd name="connsiteY0" fmla="*/ 6430782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1106175 w 12192000"/>
              <a:gd name="connsiteY3" fmla="*/ 6430782 h 6858000"/>
              <a:gd name="connsiteX4" fmla="*/ 644271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1106175 w 12192000"/>
              <a:gd name="connsiteY3" fmla="*/ 6430782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951870 w 12192000"/>
              <a:gd name="connsiteY3" fmla="*/ 6278382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951870 w 12192000"/>
              <a:gd name="connsiteY3" fmla="*/ 6278382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644271 w 12192000"/>
              <a:gd name="connsiteY1" fmla="*/ 6534807 h 6858000"/>
              <a:gd name="connsiteX2" fmla="*/ 953775 w 12192000"/>
              <a:gd name="connsiteY2" fmla="*/ 6384312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3775 w 12192000"/>
              <a:gd name="connsiteY2" fmla="*/ 6384312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3775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4029 w 12192000"/>
              <a:gd name="connsiteY8" fmla="*/ 271376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751629 w 12192000"/>
              <a:gd name="connsiteY8" fmla="*/ 419966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2124 w 12192000"/>
              <a:gd name="connsiteY8" fmla="*/ 267566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209355 w 12192000"/>
              <a:gd name="connsiteY5" fmla="*/ 31900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2124 w 12192000"/>
              <a:gd name="connsiteY8" fmla="*/ 267566 h 6858000"/>
              <a:gd name="connsiteX9" fmla="*/ 10209355 w 12192000"/>
              <a:gd name="connsiteY9" fmla="*/ 3190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215705 w 12192000"/>
              <a:gd name="connsiteY6" fmla="*/ 982221 h 6858000"/>
              <a:gd name="connsiteX7" fmla="*/ 11907839 w 12192000"/>
              <a:gd name="connsiteY7" fmla="*/ 103111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5220 w 12192000"/>
              <a:gd name="connsiteY6" fmla="*/ 1027941 h 6858000"/>
              <a:gd name="connsiteX7" fmla="*/ 11907839 w 12192000"/>
              <a:gd name="connsiteY7" fmla="*/ 103111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5220 w 12192000"/>
              <a:gd name="connsiteY6" fmla="*/ 1027941 h 6858000"/>
              <a:gd name="connsiteX7" fmla="*/ 11803064 w 12192000"/>
              <a:gd name="connsiteY7" fmla="*/ 95491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5220 w 12192000"/>
              <a:gd name="connsiteY6" fmla="*/ 1027941 h 6858000"/>
              <a:gd name="connsiteX7" fmla="*/ 11904029 w 12192000"/>
              <a:gd name="connsiteY7" fmla="*/ 102730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5220 w 12192000"/>
              <a:gd name="connsiteY6" fmla="*/ 1027941 h 6858000"/>
              <a:gd name="connsiteX7" fmla="*/ 11673524 w 12192000"/>
              <a:gd name="connsiteY7" fmla="*/ 907291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5220 w 12192000"/>
              <a:gd name="connsiteY6" fmla="*/ 1027941 h 6858000"/>
              <a:gd name="connsiteX7" fmla="*/ 11902124 w 12192000"/>
              <a:gd name="connsiteY7" fmla="*/ 102730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474785 w 12192000"/>
              <a:gd name="connsiteY6" fmla="*/ 904116 h 6858000"/>
              <a:gd name="connsiteX7" fmla="*/ 11902124 w 12192000"/>
              <a:gd name="connsiteY7" fmla="*/ 102730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5220 w 12192000"/>
              <a:gd name="connsiteY6" fmla="*/ 1026036 h 6858000"/>
              <a:gd name="connsiteX7" fmla="*/ 11902124 w 12192000"/>
              <a:gd name="connsiteY7" fmla="*/ 102730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5220 w 12192000"/>
              <a:gd name="connsiteY6" fmla="*/ 1026036 h 6858000"/>
              <a:gd name="connsiteX7" fmla="*/ 11902124 w 12192000"/>
              <a:gd name="connsiteY7" fmla="*/ 102730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510345 w 12192000"/>
              <a:gd name="connsiteY5" fmla="*/ 581891 h 6858000"/>
              <a:gd name="connsiteX6" fmla="*/ 10145220 w 12192000"/>
              <a:gd name="connsiteY6" fmla="*/ 1026036 h 6858000"/>
              <a:gd name="connsiteX7" fmla="*/ 11902124 w 12192000"/>
              <a:gd name="connsiteY7" fmla="*/ 1027306 h 6858000"/>
              <a:gd name="connsiteX8" fmla="*/ 11902124 w 12192000"/>
              <a:gd name="connsiteY8" fmla="*/ 267566 h 6858000"/>
              <a:gd name="connsiteX9" fmla="*/ 10510345 w 12192000"/>
              <a:gd name="connsiteY9" fmla="*/ 58189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5661 h 6858000"/>
              <a:gd name="connsiteX6" fmla="*/ 10145220 w 12192000"/>
              <a:gd name="connsiteY6" fmla="*/ 1026036 h 6858000"/>
              <a:gd name="connsiteX7" fmla="*/ 11902124 w 12192000"/>
              <a:gd name="connsiteY7" fmla="*/ 1027306 h 6858000"/>
              <a:gd name="connsiteX8" fmla="*/ 11902124 w 12192000"/>
              <a:gd name="connsiteY8" fmla="*/ 267566 h 6858000"/>
              <a:gd name="connsiteX9" fmla="*/ 10144585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226500 w 12192000"/>
              <a:gd name="connsiteY5" fmla="*/ 339956 h 6858000"/>
              <a:gd name="connsiteX6" fmla="*/ 10145220 w 12192000"/>
              <a:gd name="connsiteY6" fmla="*/ 1026036 h 6858000"/>
              <a:gd name="connsiteX7" fmla="*/ 11902124 w 12192000"/>
              <a:gd name="connsiteY7" fmla="*/ 1027306 h 6858000"/>
              <a:gd name="connsiteX8" fmla="*/ 11902124 w 12192000"/>
              <a:gd name="connsiteY8" fmla="*/ 267566 h 6858000"/>
              <a:gd name="connsiteX9" fmla="*/ 10226500 w 12192000"/>
              <a:gd name="connsiteY9" fmla="*/ 33995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7566 h 6858000"/>
              <a:gd name="connsiteX6" fmla="*/ 10145220 w 12192000"/>
              <a:gd name="connsiteY6" fmla="*/ 1026036 h 6858000"/>
              <a:gd name="connsiteX7" fmla="*/ 11902124 w 12192000"/>
              <a:gd name="connsiteY7" fmla="*/ 1027306 h 6858000"/>
              <a:gd name="connsiteX8" fmla="*/ 11902124 w 12192000"/>
              <a:gd name="connsiteY8" fmla="*/ 267566 h 6858000"/>
              <a:gd name="connsiteX9" fmla="*/ 10146490 w 12192000"/>
              <a:gd name="connsiteY9" fmla="*/ 26756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2192000" h="6858000">
                <a:moveTo>
                  <a:pt x="489966" y="6280287"/>
                </a:moveTo>
                <a:lnTo>
                  <a:pt x="488061" y="6386217"/>
                </a:lnTo>
                <a:lnTo>
                  <a:pt x="951870" y="6386217"/>
                </a:lnTo>
                <a:lnTo>
                  <a:pt x="951870" y="6280287"/>
                </a:lnTo>
                <a:lnTo>
                  <a:pt x="489966" y="6280287"/>
                </a:lnTo>
                <a:close/>
                <a:moveTo>
                  <a:pt x="10146490" y="267566"/>
                </a:moveTo>
                <a:cubicBezTo>
                  <a:pt x="10144797" y="526104"/>
                  <a:pt x="10146913" y="767498"/>
                  <a:pt x="10145220" y="1026036"/>
                </a:cubicBezTo>
                <a:lnTo>
                  <a:pt x="11902124" y="1027306"/>
                </a:lnTo>
                <a:lnTo>
                  <a:pt x="11902124" y="267566"/>
                </a:lnTo>
                <a:lnTo>
                  <a:pt x="10146490" y="267566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8" name="Textplatzhalter 2">
            <a:extLst>
              <a:ext uri="{FF2B5EF4-FFF2-40B4-BE49-F238E27FC236}">
                <a16:creationId xmlns:a16="http://schemas.microsoft.com/office/drawing/2014/main" id="{B2BCC63D-764D-453B-B95D-B53E771DF12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79425" y="4834859"/>
            <a:ext cx="7812088" cy="1336071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>
            <a:lvl1pPr marL="0" indent="0">
              <a:buNone/>
              <a:tabLst>
                <a:tab pos="1074738" algn="l"/>
              </a:tabLst>
              <a:defRPr lang="de-DE" sz="4800" b="1" cap="all" baseline="0" smtClean="0">
                <a:solidFill>
                  <a:schemeClr val="bg1"/>
                </a:solidFill>
                <a:latin typeface="STIHL Contraface Display Title" panose="02000600040000020004" pitchFamily="50" charset="0"/>
              </a:defRPr>
            </a:lvl1pPr>
            <a:lvl2pPr marL="277812" indent="0">
              <a:buNone/>
              <a:defRPr lang="de-DE" smtClean="0"/>
            </a:lvl2pPr>
            <a:lvl3pPr marL="739775" indent="0">
              <a:buNone/>
              <a:defRPr lang="de-DE" sz="1800" smtClean="0"/>
            </a:lvl3pPr>
            <a:lvl4pPr marL="1190625" indent="0">
              <a:buNone/>
              <a:defRPr lang="de-DE" sz="1800" smtClean="0"/>
            </a:lvl4pPr>
            <a:lvl5pPr marL="1647825" indent="0">
              <a:buNone/>
              <a:defRPr lang="de-DE" sz="1800"/>
            </a:lvl5pPr>
          </a:lstStyle>
          <a:p>
            <a:pPr marL="0" lvl="0"/>
            <a:r>
              <a:rPr lang="en-GB"/>
              <a:t>Edit chapter separators</a:t>
            </a: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2C6085ED-8EF3-4C74-9B9D-7804FC5FAEA1}"/>
              </a:ext>
            </a:extLst>
          </p:cNvPr>
          <p:cNvSpPr/>
          <p:nvPr/>
        </p:nvSpPr>
        <p:spPr>
          <a:xfrm>
            <a:off x="495191" y="6283982"/>
            <a:ext cx="450741" cy="9459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en-GB"/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5CF86407-DA27-4CA6-A346-F8477F884E96}"/>
              </a:ext>
            </a:extLst>
          </p:cNvPr>
          <p:cNvSpPr>
            <a:spLocks/>
          </p:cNvSpPr>
          <p:nvPr/>
        </p:nvSpPr>
        <p:spPr>
          <a:xfrm>
            <a:off x="-1943099" y="2913099"/>
            <a:ext cx="1772284" cy="1031803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ctr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90000"/>
              </a:lnSpc>
            </a:pPr>
            <a:r>
              <a:rPr lang="en-GB" sz="1600" b="0">
                <a:solidFill>
                  <a:schemeClr val="tx1"/>
                </a:solidFill>
              </a:rPr>
              <a:t>Please do not print slides with full colour or motifs </a:t>
            </a:r>
          </a:p>
        </p:txBody>
      </p:sp>
    </p:spTree>
    <p:extLst>
      <p:ext uri="{BB962C8B-B14F-4D97-AF65-F5344CB8AC3E}">
        <p14:creationId xmlns:p14="http://schemas.microsoft.com/office/powerpoint/2010/main" val="129519993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clusion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kt 1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70" imgH="371" progId="TCLayout.ActiveDocument.1">
                  <p:embed/>
                </p:oleObj>
              </mc:Choice>
              <mc:Fallback>
                <p:oleObj name="think-cell Slide" r:id="rId3" imgW="370" imgH="371" progId="TCLayout.ActiveDocument.1">
                  <p:embed/>
                  <p:pic>
                    <p:nvPicPr>
                      <p:cNvPr id="2" name="Objek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" name="Grafik 6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6060" y="258750"/>
            <a:ext cx="1774212" cy="775631"/>
          </a:xfrm>
          <a:prstGeom prst="rect">
            <a:avLst/>
          </a:prstGeom>
        </p:spPr>
      </p:pic>
      <p:sp>
        <p:nvSpPr>
          <p:cNvPr id="27" name="Bildplatzhalter 14">
            <a:extLst>
              <a:ext uri="{FF2B5EF4-FFF2-40B4-BE49-F238E27FC236}">
                <a16:creationId xmlns:a16="http://schemas.microsoft.com/office/drawing/2014/main" id="{12A2E7EC-D35A-4A4A-BBD2-6097A2AF7814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10129345 w 12192000"/>
              <a:gd name="connsiteY4" fmla="*/ 344401 h 6858000"/>
              <a:gd name="connsiteX5" fmla="*/ 10129345 w 12192000"/>
              <a:gd name="connsiteY5" fmla="*/ 1099696 h 6858000"/>
              <a:gd name="connsiteX6" fmla="*/ 11857039 w 12192000"/>
              <a:gd name="connsiteY6" fmla="*/ 1099696 h 6858000"/>
              <a:gd name="connsiteX7" fmla="*/ 11857039 w 12192000"/>
              <a:gd name="connsiteY7" fmla="*/ 344401 h 6858000"/>
              <a:gd name="connsiteX8" fmla="*/ 0 w 12192000"/>
              <a:gd name="connsiteY8" fmla="*/ 0 h 6858000"/>
              <a:gd name="connsiteX9" fmla="*/ 12192000 w 12192000"/>
              <a:gd name="connsiteY9" fmla="*/ 0 h 6858000"/>
              <a:gd name="connsiteX10" fmla="*/ 12192000 w 12192000"/>
              <a:gd name="connsiteY10" fmla="*/ 6858000 h 6858000"/>
              <a:gd name="connsiteX11" fmla="*/ 0 w 12192000"/>
              <a:gd name="connsiteY11" fmla="*/ 685800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29345 w 12192000"/>
              <a:gd name="connsiteY6" fmla="*/ 1099696 h 6858000"/>
              <a:gd name="connsiteX7" fmla="*/ 11857039 w 12192000"/>
              <a:gd name="connsiteY7" fmla="*/ 1099696 h 6858000"/>
              <a:gd name="connsiteX8" fmla="*/ 11857039 w 12192000"/>
              <a:gd name="connsiteY8" fmla="*/ 34440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29345 w 12192000"/>
              <a:gd name="connsiteY6" fmla="*/ 1099696 h 6858000"/>
              <a:gd name="connsiteX7" fmla="*/ 11857039 w 12192000"/>
              <a:gd name="connsiteY7" fmla="*/ 109969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29345 w 12192000"/>
              <a:gd name="connsiteY6" fmla="*/ 1099696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31885 w 12192000"/>
              <a:gd name="connsiteY6" fmla="*/ 1033656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642366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5401950 w 12192000"/>
              <a:gd name="connsiteY2" fmla="*/ 6534807 h 6858000"/>
              <a:gd name="connsiteX3" fmla="*/ 1378590 w 12192000"/>
              <a:gd name="connsiteY3" fmla="*/ 612217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1195710 w 12192000"/>
              <a:gd name="connsiteY2" fmla="*/ 6565287 h 6858000"/>
              <a:gd name="connsiteX3" fmla="*/ 1378590 w 12192000"/>
              <a:gd name="connsiteY3" fmla="*/ 612217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1195710 w 12192000"/>
              <a:gd name="connsiteY2" fmla="*/ 6565287 h 6858000"/>
              <a:gd name="connsiteX3" fmla="*/ 1378590 w 12192000"/>
              <a:gd name="connsiteY3" fmla="*/ 612217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1102365 w 12192000"/>
              <a:gd name="connsiteY2" fmla="*/ 6536712 h 6858000"/>
              <a:gd name="connsiteX3" fmla="*/ 1378590 w 12192000"/>
              <a:gd name="connsiteY3" fmla="*/ 612217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1102365 w 12192000"/>
              <a:gd name="connsiteY2" fmla="*/ 6536712 h 6858000"/>
              <a:gd name="connsiteX3" fmla="*/ 1106175 w 12192000"/>
              <a:gd name="connsiteY3" fmla="*/ 643459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1106175 w 12192000"/>
              <a:gd name="connsiteY2" fmla="*/ 6538617 h 6858000"/>
              <a:gd name="connsiteX3" fmla="*/ 1106175 w 12192000"/>
              <a:gd name="connsiteY3" fmla="*/ 643459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2366 w 12192000"/>
              <a:gd name="connsiteY1" fmla="*/ 6534807 h 6858000"/>
              <a:gd name="connsiteX2" fmla="*/ 1106175 w 12192000"/>
              <a:gd name="connsiteY2" fmla="*/ 6538617 h 6858000"/>
              <a:gd name="connsiteX3" fmla="*/ 1106175 w 12192000"/>
              <a:gd name="connsiteY3" fmla="*/ 6434592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2366 w 12192000"/>
              <a:gd name="connsiteY1" fmla="*/ 6534807 h 6858000"/>
              <a:gd name="connsiteX2" fmla="*/ 1106175 w 12192000"/>
              <a:gd name="connsiteY2" fmla="*/ 6538617 h 6858000"/>
              <a:gd name="connsiteX3" fmla="*/ 1106175 w 12192000"/>
              <a:gd name="connsiteY3" fmla="*/ 6432687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2366 w 12192000"/>
              <a:gd name="connsiteY1" fmla="*/ 6534807 h 6858000"/>
              <a:gd name="connsiteX2" fmla="*/ 1106175 w 12192000"/>
              <a:gd name="connsiteY2" fmla="*/ 6538617 h 6858000"/>
              <a:gd name="connsiteX3" fmla="*/ 1106175 w 12192000"/>
              <a:gd name="connsiteY3" fmla="*/ 6428877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2366 w 12192000"/>
              <a:gd name="connsiteY1" fmla="*/ 6534807 h 6858000"/>
              <a:gd name="connsiteX2" fmla="*/ 1106175 w 12192000"/>
              <a:gd name="connsiteY2" fmla="*/ 6538617 h 6858000"/>
              <a:gd name="connsiteX3" fmla="*/ 1106175 w 12192000"/>
              <a:gd name="connsiteY3" fmla="*/ 6430782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2366 w 12192000"/>
              <a:gd name="connsiteY1" fmla="*/ 6534807 h 6858000"/>
              <a:gd name="connsiteX2" fmla="*/ 1106175 w 12192000"/>
              <a:gd name="connsiteY2" fmla="*/ 6536712 h 6858000"/>
              <a:gd name="connsiteX3" fmla="*/ 1106175 w 12192000"/>
              <a:gd name="connsiteY3" fmla="*/ 6430782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1106175 w 12192000"/>
              <a:gd name="connsiteY3" fmla="*/ 6430782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4271 w 12192000"/>
              <a:gd name="connsiteY0" fmla="*/ 6430782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1106175 w 12192000"/>
              <a:gd name="connsiteY3" fmla="*/ 6430782 h 6858000"/>
              <a:gd name="connsiteX4" fmla="*/ 644271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4271 w 12192000"/>
              <a:gd name="connsiteY0" fmla="*/ 6430782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1106175 w 12192000"/>
              <a:gd name="connsiteY3" fmla="*/ 6430782 h 6858000"/>
              <a:gd name="connsiteX4" fmla="*/ 644271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1106175 w 12192000"/>
              <a:gd name="connsiteY3" fmla="*/ 6430782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951870 w 12192000"/>
              <a:gd name="connsiteY3" fmla="*/ 6278382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951870 w 12192000"/>
              <a:gd name="connsiteY3" fmla="*/ 6278382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644271 w 12192000"/>
              <a:gd name="connsiteY1" fmla="*/ 6534807 h 6858000"/>
              <a:gd name="connsiteX2" fmla="*/ 953775 w 12192000"/>
              <a:gd name="connsiteY2" fmla="*/ 6384312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3775 w 12192000"/>
              <a:gd name="connsiteY2" fmla="*/ 6384312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3775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4029 w 12192000"/>
              <a:gd name="connsiteY8" fmla="*/ 271376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751629 w 12192000"/>
              <a:gd name="connsiteY8" fmla="*/ 419966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2124 w 12192000"/>
              <a:gd name="connsiteY8" fmla="*/ 267566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209355 w 12192000"/>
              <a:gd name="connsiteY5" fmla="*/ 31900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2124 w 12192000"/>
              <a:gd name="connsiteY8" fmla="*/ 267566 h 6858000"/>
              <a:gd name="connsiteX9" fmla="*/ 10209355 w 12192000"/>
              <a:gd name="connsiteY9" fmla="*/ 3190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215705 w 12192000"/>
              <a:gd name="connsiteY6" fmla="*/ 982221 h 6858000"/>
              <a:gd name="connsiteX7" fmla="*/ 11907839 w 12192000"/>
              <a:gd name="connsiteY7" fmla="*/ 103111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5220 w 12192000"/>
              <a:gd name="connsiteY6" fmla="*/ 1027941 h 6858000"/>
              <a:gd name="connsiteX7" fmla="*/ 11907839 w 12192000"/>
              <a:gd name="connsiteY7" fmla="*/ 103111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5220 w 12192000"/>
              <a:gd name="connsiteY6" fmla="*/ 1027941 h 6858000"/>
              <a:gd name="connsiteX7" fmla="*/ 11803064 w 12192000"/>
              <a:gd name="connsiteY7" fmla="*/ 95491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5220 w 12192000"/>
              <a:gd name="connsiteY6" fmla="*/ 1027941 h 6858000"/>
              <a:gd name="connsiteX7" fmla="*/ 11904029 w 12192000"/>
              <a:gd name="connsiteY7" fmla="*/ 102730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316035 w 12192000"/>
              <a:gd name="connsiteY5" fmla="*/ 364721 h 6858000"/>
              <a:gd name="connsiteX6" fmla="*/ 10145220 w 12192000"/>
              <a:gd name="connsiteY6" fmla="*/ 1027941 h 6858000"/>
              <a:gd name="connsiteX7" fmla="*/ 11904029 w 12192000"/>
              <a:gd name="connsiteY7" fmla="*/ 1027306 h 6858000"/>
              <a:gd name="connsiteX8" fmla="*/ 11902124 w 12192000"/>
              <a:gd name="connsiteY8" fmla="*/ 267566 h 6858000"/>
              <a:gd name="connsiteX9" fmla="*/ 10316035 w 12192000"/>
              <a:gd name="connsiteY9" fmla="*/ 36472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7306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7306 h 6858000"/>
              <a:gd name="connsiteX8" fmla="*/ 11829734 w 12192000"/>
              <a:gd name="connsiteY8" fmla="*/ 35138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7306 h 6858000"/>
              <a:gd name="connsiteX8" fmla="*/ 11904029 w 12192000"/>
              <a:gd name="connsiteY8" fmla="*/ 265661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623994 w 12192000"/>
              <a:gd name="connsiteY7" fmla="*/ 924436 h 6858000"/>
              <a:gd name="connsiteX8" fmla="*/ 11904029 w 12192000"/>
              <a:gd name="connsiteY8" fmla="*/ 265661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5401 h 6858000"/>
              <a:gd name="connsiteX8" fmla="*/ 11904029 w 12192000"/>
              <a:gd name="connsiteY8" fmla="*/ 265661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206180 w 12192000"/>
              <a:gd name="connsiteY6" fmla="*/ 955551 h 6858000"/>
              <a:gd name="connsiteX7" fmla="*/ 11904029 w 12192000"/>
              <a:gd name="connsiteY7" fmla="*/ 1025401 h 6858000"/>
              <a:gd name="connsiteX8" fmla="*/ 11904029 w 12192000"/>
              <a:gd name="connsiteY8" fmla="*/ 265661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143315 w 12192000"/>
              <a:gd name="connsiteY6" fmla="*/ 1027941 h 6858000"/>
              <a:gd name="connsiteX7" fmla="*/ 11904029 w 12192000"/>
              <a:gd name="connsiteY7" fmla="*/ 1025401 h 6858000"/>
              <a:gd name="connsiteX8" fmla="*/ 11904029 w 12192000"/>
              <a:gd name="connsiteY8" fmla="*/ 265661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141410 w 12192000"/>
              <a:gd name="connsiteY6" fmla="*/ 1026036 h 6858000"/>
              <a:gd name="connsiteX7" fmla="*/ 11904029 w 12192000"/>
              <a:gd name="connsiteY7" fmla="*/ 1025401 h 6858000"/>
              <a:gd name="connsiteX8" fmla="*/ 11904029 w 12192000"/>
              <a:gd name="connsiteY8" fmla="*/ 265661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143315 w 12192000"/>
              <a:gd name="connsiteY6" fmla="*/ 1026036 h 6858000"/>
              <a:gd name="connsiteX7" fmla="*/ 11904029 w 12192000"/>
              <a:gd name="connsiteY7" fmla="*/ 1025401 h 6858000"/>
              <a:gd name="connsiteX8" fmla="*/ 11904029 w 12192000"/>
              <a:gd name="connsiteY8" fmla="*/ 265661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260790 w 12192000"/>
              <a:gd name="connsiteY5" fmla="*/ 385676 h 6858000"/>
              <a:gd name="connsiteX6" fmla="*/ 10143315 w 12192000"/>
              <a:gd name="connsiteY6" fmla="*/ 1026036 h 6858000"/>
              <a:gd name="connsiteX7" fmla="*/ 11904029 w 12192000"/>
              <a:gd name="connsiteY7" fmla="*/ 1025401 h 6858000"/>
              <a:gd name="connsiteX8" fmla="*/ 11904029 w 12192000"/>
              <a:gd name="connsiteY8" fmla="*/ 265661 h 6858000"/>
              <a:gd name="connsiteX9" fmla="*/ 10260790 w 12192000"/>
              <a:gd name="connsiteY9" fmla="*/ 385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71376 h 6858000"/>
              <a:gd name="connsiteX6" fmla="*/ 10143315 w 12192000"/>
              <a:gd name="connsiteY6" fmla="*/ 1026036 h 6858000"/>
              <a:gd name="connsiteX7" fmla="*/ 11904029 w 12192000"/>
              <a:gd name="connsiteY7" fmla="*/ 1025401 h 6858000"/>
              <a:gd name="connsiteX8" fmla="*/ 11904029 w 12192000"/>
              <a:gd name="connsiteY8" fmla="*/ 265661 h 6858000"/>
              <a:gd name="connsiteX9" fmla="*/ 10146490 w 12192000"/>
              <a:gd name="connsiteY9" fmla="*/ 2713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71376 h 6858000"/>
              <a:gd name="connsiteX6" fmla="*/ 10143315 w 12192000"/>
              <a:gd name="connsiteY6" fmla="*/ 1026036 h 6858000"/>
              <a:gd name="connsiteX7" fmla="*/ 11904029 w 12192000"/>
              <a:gd name="connsiteY7" fmla="*/ 1025401 h 6858000"/>
              <a:gd name="connsiteX8" fmla="*/ 11782109 w 12192000"/>
              <a:gd name="connsiteY8" fmla="*/ 360911 h 6858000"/>
              <a:gd name="connsiteX9" fmla="*/ 10146490 w 12192000"/>
              <a:gd name="connsiteY9" fmla="*/ 2713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71376 h 6858000"/>
              <a:gd name="connsiteX6" fmla="*/ 10143315 w 12192000"/>
              <a:gd name="connsiteY6" fmla="*/ 1026036 h 6858000"/>
              <a:gd name="connsiteX7" fmla="*/ 11904029 w 12192000"/>
              <a:gd name="connsiteY7" fmla="*/ 1025401 h 6858000"/>
              <a:gd name="connsiteX8" fmla="*/ 11904029 w 12192000"/>
              <a:gd name="connsiteY8" fmla="*/ 267566 h 6858000"/>
              <a:gd name="connsiteX9" fmla="*/ 10146490 w 12192000"/>
              <a:gd name="connsiteY9" fmla="*/ 2713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71376 h 6858000"/>
              <a:gd name="connsiteX6" fmla="*/ 10143315 w 12192000"/>
              <a:gd name="connsiteY6" fmla="*/ 1026036 h 6858000"/>
              <a:gd name="connsiteX7" fmla="*/ 11669714 w 12192000"/>
              <a:gd name="connsiteY7" fmla="*/ 956821 h 6858000"/>
              <a:gd name="connsiteX8" fmla="*/ 11904029 w 12192000"/>
              <a:gd name="connsiteY8" fmla="*/ 267566 h 6858000"/>
              <a:gd name="connsiteX9" fmla="*/ 10146490 w 12192000"/>
              <a:gd name="connsiteY9" fmla="*/ 2713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71376 h 6858000"/>
              <a:gd name="connsiteX6" fmla="*/ 10143315 w 12192000"/>
              <a:gd name="connsiteY6" fmla="*/ 1026036 h 6858000"/>
              <a:gd name="connsiteX7" fmla="*/ 11902124 w 12192000"/>
              <a:gd name="connsiteY7" fmla="*/ 1029211 h 6858000"/>
              <a:gd name="connsiteX8" fmla="*/ 11904029 w 12192000"/>
              <a:gd name="connsiteY8" fmla="*/ 267566 h 6858000"/>
              <a:gd name="connsiteX9" fmla="*/ 10146490 w 12192000"/>
              <a:gd name="connsiteY9" fmla="*/ 2713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71376 h 6858000"/>
              <a:gd name="connsiteX6" fmla="*/ 10217610 w 12192000"/>
              <a:gd name="connsiteY6" fmla="*/ 963171 h 6858000"/>
              <a:gd name="connsiteX7" fmla="*/ 11902124 w 12192000"/>
              <a:gd name="connsiteY7" fmla="*/ 1029211 h 6858000"/>
              <a:gd name="connsiteX8" fmla="*/ 11904029 w 12192000"/>
              <a:gd name="connsiteY8" fmla="*/ 267566 h 6858000"/>
              <a:gd name="connsiteX9" fmla="*/ 10146490 w 12192000"/>
              <a:gd name="connsiteY9" fmla="*/ 2713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71376 h 6858000"/>
              <a:gd name="connsiteX6" fmla="*/ 10143315 w 12192000"/>
              <a:gd name="connsiteY6" fmla="*/ 1026036 h 6858000"/>
              <a:gd name="connsiteX7" fmla="*/ 11902124 w 12192000"/>
              <a:gd name="connsiteY7" fmla="*/ 1029211 h 6858000"/>
              <a:gd name="connsiteX8" fmla="*/ 11904029 w 12192000"/>
              <a:gd name="connsiteY8" fmla="*/ 267566 h 6858000"/>
              <a:gd name="connsiteX9" fmla="*/ 10146490 w 12192000"/>
              <a:gd name="connsiteY9" fmla="*/ 2713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71376 h 6858000"/>
              <a:gd name="connsiteX6" fmla="*/ 10143315 w 12192000"/>
              <a:gd name="connsiteY6" fmla="*/ 1026036 h 6858000"/>
              <a:gd name="connsiteX7" fmla="*/ 11904029 w 12192000"/>
              <a:gd name="connsiteY7" fmla="*/ 1027306 h 6858000"/>
              <a:gd name="connsiteX8" fmla="*/ 11904029 w 12192000"/>
              <a:gd name="connsiteY8" fmla="*/ 267566 h 6858000"/>
              <a:gd name="connsiteX9" fmla="*/ 10146490 w 12192000"/>
              <a:gd name="connsiteY9" fmla="*/ 2713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3315 w 12192000"/>
              <a:gd name="connsiteY6" fmla="*/ 1026036 h 6858000"/>
              <a:gd name="connsiteX7" fmla="*/ 11904029 w 12192000"/>
              <a:gd name="connsiteY7" fmla="*/ 1027306 h 6858000"/>
              <a:gd name="connsiteX8" fmla="*/ 11904029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3315 w 12192000"/>
              <a:gd name="connsiteY6" fmla="*/ 1026036 h 6858000"/>
              <a:gd name="connsiteX7" fmla="*/ 11904029 w 12192000"/>
              <a:gd name="connsiteY7" fmla="*/ 1027306 h 6858000"/>
              <a:gd name="connsiteX8" fmla="*/ 11902124 w 12192000"/>
              <a:gd name="connsiteY8" fmla="*/ 269471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3315 w 12192000"/>
              <a:gd name="connsiteY6" fmla="*/ 1026036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7125 w 12192000"/>
              <a:gd name="connsiteY6" fmla="*/ 1026036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297620 w 12192000"/>
              <a:gd name="connsiteY6" fmla="*/ 885066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7125 w 12192000"/>
              <a:gd name="connsiteY6" fmla="*/ 1029846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349055 w 12192000"/>
              <a:gd name="connsiteY6" fmla="*/ 875541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3315 w 12192000"/>
              <a:gd name="connsiteY6" fmla="*/ 1027941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3315 w 12192000"/>
              <a:gd name="connsiteY6" fmla="*/ 1027941 h 6858000"/>
              <a:gd name="connsiteX7" fmla="*/ 11902124 w 12192000"/>
              <a:gd name="connsiteY7" fmla="*/ 1025401 h 6858000"/>
              <a:gd name="connsiteX8" fmla="*/ 11625899 w 12192000"/>
              <a:gd name="connsiteY8" fmla="*/ 41234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3315 w 12192000"/>
              <a:gd name="connsiteY6" fmla="*/ 1027941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376995 w 12192000"/>
              <a:gd name="connsiteY5" fmla="*/ 440921 h 6858000"/>
              <a:gd name="connsiteX6" fmla="*/ 10143315 w 12192000"/>
              <a:gd name="connsiteY6" fmla="*/ 1027941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376995 w 12192000"/>
              <a:gd name="connsiteY9" fmla="*/ 44092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7566 h 6858000"/>
              <a:gd name="connsiteX6" fmla="*/ 10143315 w 12192000"/>
              <a:gd name="connsiteY6" fmla="*/ 1027941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146490 w 12192000"/>
              <a:gd name="connsiteY9" fmla="*/ 26756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7566 h 6858000"/>
              <a:gd name="connsiteX6" fmla="*/ 10143315 w 12192000"/>
              <a:gd name="connsiteY6" fmla="*/ 1027941 h 6858000"/>
              <a:gd name="connsiteX7" fmla="*/ 11902124 w 12192000"/>
              <a:gd name="connsiteY7" fmla="*/ 1025401 h 6858000"/>
              <a:gd name="connsiteX8" fmla="*/ 11900219 w 12192000"/>
              <a:gd name="connsiteY8" fmla="*/ 267566 h 6858000"/>
              <a:gd name="connsiteX9" fmla="*/ 10146490 w 12192000"/>
              <a:gd name="connsiteY9" fmla="*/ 26756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7566 h 6858000"/>
              <a:gd name="connsiteX6" fmla="*/ 10143315 w 12192000"/>
              <a:gd name="connsiteY6" fmla="*/ 1027941 h 6858000"/>
              <a:gd name="connsiteX7" fmla="*/ 11902124 w 12192000"/>
              <a:gd name="connsiteY7" fmla="*/ 1025401 h 6858000"/>
              <a:gd name="connsiteX8" fmla="*/ 11904029 w 12192000"/>
              <a:gd name="connsiteY8" fmla="*/ 267566 h 6858000"/>
              <a:gd name="connsiteX9" fmla="*/ 10146490 w 12192000"/>
              <a:gd name="connsiteY9" fmla="*/ 26756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7566 h 6858000"/>
              <a:gd name="connsiteX6" fmla="*/ 10149030 w 12192000"/>
              <a:gd name="connsiteY6" fmla="*/ 1026036 h 6858000"/>
              <a:gd name="connsiteX7" fmla="*/ 11902124 w 12192000"/>
              <a:gd name="connsiteY7" fmla="*/ 1025401 h 6858000"/>
              <a:gd name="connsiteX8" fmla="*/ 11904029 w 12192000"/>
              <a:gd name="connsiteY8" fmla="*/ 267566 h 6858000"/>
              <a:gd name="connsiteX9" fmla="*/ 10146490 w 12192000"/>
              <a:gd name="connsiteY9" fmla="*/ 26756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7566 h 6858000"/>
              <a:gd name="connsiteX6" fmla="*/ 10145220 w 12192000"/>
              <a:gd name="connsiteY6" fmla="*/ 1026036 h 6858000"/>
              <a:gd name="connsiteX7" fmla="*/ 11902124 w 12192000"/>
              <a:gd name="connsiteY7" fmla="*/ 1025401 h 6858000"/>
              <a:gd name="connsiteX8" fmla="*/ 11904029 w 12192000"/>
              <a:gd name="connsiteY8" fmla="*/ 267566 h 6858000"/>
              <a:gd name="connsiteX9" fmla="*/ 10146490 w 12192000"/>
              <a:gd name="connsiteY9" fmla="*/ 26756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2192000" h="6858000">
                <a:moveTo>
                  <a:pt x="489966" y="6280287"/>
                </a:moveTo>
                <a:lnTo>
                  <a:pt x="488061" y="6386217"/>
                </a:lnTo>
                <a:lnTo>
                  <a:pt x="951870" y="6386217"/>
                </a:lnTo>
                <a:lnTo>
                  <a:pt x="951870" y="6280287"/>
                </a:lnTo>
                <a:lnTo>
                  <a:pt x="489966" y="6280287"/>
                </a:lnTo>
                <a:close/>
                <a:moveTo>
                  <a:pt x="10146490" y="267566"/>
                </a:moveTo>
                <a:cubicBezTo>
                  <a:pt x="10144797" y="526104"/>
                  <a:pt x="10146913" y="767498"/>
                  <a:pt x="10145220" y="1026036"/>
                </a:cubicBezTo>
                <a:lnTo>
                  <a:pt x="11902124" y="1025401"/>
                </a:lnTo>
                <a:lnTo>
                  <a:pt x="11904029" y="267566"/>
                </a:lnTo>
                <a:lnTo>
                  <a:pt x="10146490" y="267566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24" name="Textplatzhalter 2">
            <a:extLst>
              <a:ext uri="{FF2B5EF4-FFF2-40B4-BE49-F238E27FC236}">
                <a16:creationId xmlns:a16="http://schemas.microsoft.com/office/drawing/2014/main" id="{B2BCC63D-764D-453B-B95D-B53E771DF12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79425" y="4834859"/>
            <a:ext cx="7812088" cy="1336071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>
            <a:lvl1pPr marL="0" indent="0">
              <a:buNone/>
              <a:tabLst>
                <a:tab pos="1074738" algn="l"/>
              </a:tabLst>
              <a:defRPr lang="de-DE" sz="4800" b="1" cap="all" baseline="0" smtClean="0">
                <a:solidFill>
                  <a:schemeClr val="bg1"/>
                </a:solidFill>
                <a:latin typeface="STIHL Contraface Display Title" panose="02000600040000020004" pitchFamily="50" charset="0"/>
              </a:defRPr>
            </a:lvl1pPr>
            <a:lvl2pPr marL="277812" indent="0">
              <a:buNone/>
              <a:defRPr lang="de-DE" smtClean="0"/>
            </a:lvl2pPr>
            <a:lvl3pPr marL="739775" indent="0">
              <a:buNone/>
              <a:defRPr lang="de-DE" sz="1800" smtClean="0"/>
            </a:lvl3pPr>
            <a:lvl4pPr marL="1190625" indent="0">
              <a:buNone/>
              <a:defRPr lang="de-DE" sz="1800" smtClean="0"/>
            </a:lvl4pPr>
            <a:lvl5pPr marL="1647825" indent="0">
              <a:buNone/>
              <a:defRPr lang="de-DE" sz="1800"/>
            </a:lvl5pPr>
          </a:lstStyle>
          <a:p>
            <a:pPr marL="0" lvl="0"/>
            <a:r>
              <a:rPr lang="en-GB"/>
              <a:t>Final words </a:t>
            </a:r>
            <a:br>
              <a:rPr lang="en-GB"/>
            </a:br>
            <a:r>
              <a:rPr lang="en-GB"/>
              <a:t>(many thanks)</a:t>
            </a:r>
          </a:p>
        </p:txBody>
      </p:sp>
      <p:sp>
        <p:nvSpPr>
          <p:cNvPr id="29" name="Rechteck 28">
            <a:extLst>
              <a:ext uri="{FF2B5EF4-FFF2-40B4-BE49-F238E27FC236}">
                <a16:creationId xmlns:a16="http://schemas.microsoft.com/office/drawing/2014/main" id="{2C6085ED-8EF3-4C74-9B9D-7804FC5FAEA1}"/>
              </a:ext>
            </a:extLst>
          </p:cNvPr>
          <p:cNvSpPr/>
          <p:nvPr/>
        </p:nvSpPr>
        <p:spPr>
          <a:xfrm>
            <a:off x="495191" y="6283982"/>
            <a:ext cx="450741" cy="9459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en-GB"/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5CF86407-DA27-4CA6-A346-F8477F884E96}"/>
              </a:ext>
            </a:extLst>
          </p:cNvPr>
          <p:cNvSpPr>
            <a:spLocks/>
          </p:cNvSpPr>
          <p:nvPr/>
        </p:nvSpPr>
        <p:spPr>
          <a:xfrm>
            <a:off x="-1943099" y="2913099"/>
            <a:ext cx="1772284" cy="1031803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ctr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90000"/>
              </a:lnSpc>
            </a:pPr>
            <a:r>
              <a:rPr lang="en-GB" sz="1600" b="0">
                <a:solidFill>
                  <a:schemeClr val="tx1"/>
                </a:solidFill>
              </a:rPr>
              <a:t>Please do not print slides with full colour or motifs </a:t>
            </a:r>
          </a:p>
        </p:txBody>
      </p:sp>
    </p:spTree>
    <p:extLst>
      <p:ext uri="{BB962C8B-B14F-4D97-AF65-F5344CB8AC3E}">
        <p14:creationId xmlns:p14="http://schemas.microsoft.com/office/powerpoint/2010/main" val="91237618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kt 1" hidden="1"/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76221271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70" imgH="371" progId="TCLayout.ActiveDocument.1">
                  <p:embed/>
                </p:oleObj>
              </mc:Choice>
              <mc:Fallback>
                <p:oleObj name="think-cell Slide" r:id="rId3" imgW="370" imgH="371" progId="TCLayout.ActiveDocument.1">
                  <p:embed/>
                  <p:pic>
                    <p:nvPicPr>
                      <p:cNvPr id="2" name="Objek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" name="Titel 10">
            <a:extLst>
              <a:ext uri="{FF2B5EF4-FFF2-40B4-BE49-F238E27FC236}">
                <a16:creationId xmlns:a16="http://schemas.microsoft.com/office/drawing/2014/main" id="{1D6E84FA-FD4E-4697-91A3-11CC718B6B1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9426" y="503546"/>
            <a:ext cx="9579925" cy="304699"/>
          </a:xfrm>
        </p:spPr>
        <p:txBody>
          <a:bodyPr vert="horz" lIns="0" tIns="0" rIns="0" bIns="0" rtlCol="0" anchor="t" anchorCtr="0">
            <a:noAutofit/>
          </a:bodyPr>
          <a:lstStyle>
            <a:lvl1pPr>
              <a:lnSpc>
                <a:spcPct val="90000"/>
              </a:lnSpc>
              <a:defRPr lang="de-DE" sz="2200" dirty="0"/>
            </a:lvl1pPr>
          </a:lstStyle>
          <a:p>
            <a:pPr lvl="0"/>
            <a:r>
              <a:rPr lang="en-GB"/>
              <a:t>Agenda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5CF86407-DA27-4CA6-A346-F8477F884E96}"/>
              </a:ext>
            </a:extLst>
          </p:cNvPr>
          <p:cNvSpPr>
            <a:spLocks/>
          </p:cNvSpPr>
          <p:nvPr/>
        </p:nvSpPr>
        <p:spPr>
          <a:xfrm>
            <a:off x="-1943099" y="2137502"/>
            <a:ext cx="1772284" cy="2582997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ctr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90000"/>
              </a:lnSpc>
            </a:pPr>
            <a:r>
              <a:rPr lang="en-US" sz="1600">
                <a:solidFill>
                  <a:schemeClr val="tx1"/>
                </a:solidFill>
              </a:rPr>
              <a:t>The suggested font sizes are not binding and can be adjusted individually depending on the content density and type of presentation. Please ensure good readability.</a:t>
            </a:r>
          </a:p>
        </p:txBody>
      </p:sp>
    </p:spTree>
    <p:extLst>
      <p:ext uri="{BB962C8B-B14F-4D97-AF65-F5344CB8AC3E}">
        <p14:creationId xmlns:p14="http://schemas.microsoft.com/office/powerpoint/2010/main" val="296657735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elfolie Hintergrund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/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57813639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70" imgH="371" progId="TCLayout.ActiveDocument.1">
                  <p:embed/>
                </p:oleObj>
              </mc:Choice>
              <mc:Fallback>
                <p:oleObj name="think-cell Slide" r:id="rId4" imgW="370" imgH="371" progId="TCLayout.ActiveDocument.1">
                  <p:embed/>
                  <p:pic>
                    <p:nvPicPr>
                      <p:cNvPr id="4" name="Objekt 3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hteck 2" hidden="1"/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de-DE" sz="3200" b="1" i="0" baseline="0">
              <a:solidFill>
                <a:schemeClr val="tx1"/>
              </a:solidFill>
              <a:latin typeface="STIHL Contraface Display Title"/>
              <a:ea typeface="+mn-ea"/>
              <a:cs typeface="+mn-cs"/>
              <a:sym typeface="STIHL Contraface Display Title"/>
            </a:endParaRPr>
          </a:p>
        </p:txBody>
      </p:sp>
      <p:pic>
        <p:nvPicPr>
          <p:cNvPr id="12" name="Grafik 11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6061" y="258750"/>
            <a:ext cx="1774212" cy="775631"/>
          </a:xfrm>
          <a:prstGeom prst="rect">
            <a:avLst/>
          </a:prstGeom>
        </p:spPr>
      </p:pic>
      <p:sp>
        <p:nvSpPr>
          <p:cNvPr id="15" name="Bildplatzhalter 14">
            <a:extLst>
              <a:ext uri="{FF2B5EF4-FFF2-40B4-BE49-F238E27FC236}">
                <a16:creationId xmlns:a16="http://schemas.microsoft.com/office/drawing/2014/main" id="{F81A1AFD-D231-4C55-9AAB-DA10BA8E7D13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10129345 w 12192000"/>
              <a:gd name="connsiteY4" fmla="*/ 344401 h 6858000"/>
              <a:gd name="connsiteX5" fmla="*/ 10129345 w 12192000"/>
              <a:gd name="connsiteY5" fmla="*/ 1099696 h 6858000"/>
              <a:gd name="connsiteX6" fmla="*/ 11857039 w 12192000"/>
              <a:gd name="connsiteY6" fmla="*/ 1099696 h 6858000"/>
              <a:gd name="connsiteX7" fmla="*/ 11857039 w 12192000"/>
              <a:gd name="connsiteY7" fmla="*/ 344401 h 6858000"/>
              <a:gd name="connsiteX8" fmla="*/ 0 w 12192000"/>
              <a:gd name="connsiteY8" fmla="*/ 0 h 6858000"/>
              <a:gd name="connsiteX9" fmla="*/ 12192000 w 12192000"/>
              <a:gd name="connsiteY9" fmla="*/ 0 h 6858000"/>
              <a:gd name="connsiteX10" fmla="*/ 12192000 w 12192000"/>
              <a:gd name="connsiteY10" fmla="*/ 6858000 h 6858000"/>
              <a:gd name="connsiteX11" fmla="*/ 0 w 12192000"/>
              <a:gd name="connsiteY11" fmla="*/ 685800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29345 w 12192000"/>
              <a:gd name="connsiteY6" fmla="*/ 1099696 h 6858000"/>
              <a:gd name="connsiteX7" fmla="*/ 11857039 w 12192000"/>
              <a:gd name="connsiteY7" fmla="*/ 1099696 h 6858000"/>
              <a:gd name="connsiteX8" fmla="*/ 11857039 w 12192000"/>
              <a:gd name="connsiteY8" fmla="*/ 34440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29345 w 12192000"/>
              <a:gd name="connsiteY6" fmla="*/ 1099696 h 6858000"/>
              <a:gd name="connsiteX7" fmla="*/ 11857039 w 12192000"/>
              <a:gd name="connsiteY7" fmla="*/ 109969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29345 w 12192000"/>
              <a:gd name="connsiteY6" fmla="*/ 1099696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31885 w 12192000"/>
              <a:gd name="connsiteY6" fmla="*/ 1033656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2680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42680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2680 w 12192000"/>
              <a:gd name="connsiteY5" fmla="*/ 258041 h 6858000"/>
              <a:gd name="connsiteX6" fmla="*/ 1013950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42680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2680 w 12192000"/>
              <a:gd name="connsiteY5" fmla="*/ 258041 h 6858000"/>
              <a:gd name="connsiteX6" fmla="*/ 1014331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42680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2680 w 12192000"/>
              <a:gd name="connsiteY5" fmla="*/ 258041 h 6858000"/>
              <a:gd name="connsiteX6" fmla="*/ 10143315 w 12192000"/>
              <a:gd name="connsiteY6" fmla="*/ 1031751 h 6858000"/>
              <a:gd name="connsiteX7" fmla="*/ 11907839 w 12192000"/>
              <a:gd name="connsiteY7" fmla="*/ 1031116 h 6858000"/>
              <a:gd name="connsiteX8" fmla="*/ 11904029 w 12192000"/>
              <a:gd name="connsiteY8" fmla="*/ 258041 h 6858000"/>
              <a:gd name="connsiteX9" fmla="*/ 10142680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2680 w 12192000"/>
              <a:gd name="connsiteY5" fmla="*/ 258041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58041 h 6858000"/>
              <a:gd name="connsiteX9" fmla="*/ 10142680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0775 w 12192000"/>
              <a:gd name="connsiteY5" fmla="*/ 259946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58041 h 6858000"/>
              <a:gd name="connsiteX9" fmla="*/ 10140775 w 12192000"/>
              <a:gd name="connsiteY9" fmla="*/ 25994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59946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58041 h 6858000"/>
              <a:gd name="connsiteX9" fmla="*/ 10146490 w 12192000"/>
              <a:gd name="connsiteY9" fmla="*/ 25994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0775 w 12192000"/>
              <a:gd name="connsiteY5" fmla="*/ 263756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58041 h 6858000"/>
              <a:gd name="connsiteX9" fmla="*/ 10140775 w 12192000"/>
              <a:gd name="connsiteY9" fmla="*/ 26375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0775 w 12192000"/>
              <a:gd name="connsiteY5" fmla="*/ 263756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63756 h 6858000"/>
              <a:gd name="connsiteX9" fmla="*/ 10140775 w 12192000"/>
              <a:gd name="connsiteY9" fmla="*/ 26375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3756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63756 h 6858000"/>
              <a:gd name="connsiteX9" fmla="*/ 10146490 w 12192000"/>
              <a:gd name="connsiteY9" fmla="*/ 26375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047430 w 12192000"/>
              <a:gd name="connsiteY5" fmla="*/ 197081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63756 h 6858000"/>
              <a:gd name="connsiteX9" fmla="*/ 10047430 w 12192000"/>
              <a:gd name="connsiteY9" fmla="*/ 19708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207450 w 12192000"/>
              <a:gd name="connsiteY5" fmla="*/ 338051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63756 h 6858000"/>
              <a:gd name="connsiteX9" fmla="*/ 10207450 w 12192000"/>
              <a:gd name="connsiteY9" fmla="*/ 33805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4585 w 12192000"/>
              <a:gd name="connsiteY5" fmla="*/ 263756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63756 h 6858000"/>
              <a:gd name="connsiteX9" fmla="*/ 10144585 w 12192000"/>
              <a:gd name="connsiteY9" fmla="*/ 26375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4585 w 12192000"/>
              <a:gd name="connsiteY5" fmla="*/ 263756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0219 w 12192000"/>
              <a:gd name="connsiteY8" fmla="*/ 267566 h 6858000"/>
              <a:gd name="connsiteX9" fmla="*/ 10144585 w 12192000"/>
              <a:gd name="connsiteY9" fmla="*/ 26375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4585 w 12192000"/>
              <a:gd name="connsiteY5" fmla="*/ 263756 h 6858000"/>
              <a:gd name="connsiteX6" fmla="*/ 10143315 w 12192000"/>
              <a:gd name="connsiteY6" fmla="*/ 1031751 h 6858000"/>
              <a:gd name="connsiteX7" fmla="*/ 11858309 w 12192000"/>
              <a:gd name="connsiteY7" fmla="*/ 994921 h 6858000"/>
              <a:gd name="connsiteX8" fmla="*/ 11900219 w 12192000"/>
              <a:gd name="connsiteY8" fmla="*/ 267566 h 6858000"/>
              <a:gd name="connsiteX9" fmla="*/ 10144585 w 12192000"/>
              <a:gd name="connsiteY9" fmla="*/ 26375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3315 w 12192000"/>
              <a:gd name="connsiteY6" fmla="*/ 1031751 h 6858000"/>
              <a:gd name="connsiteX7" fmla="*/ 11858309 w 12192000"/>
              <a:gd name="connsiteY7" fmla="*/ 994921 h 6858000"/>
              <a:gd name="connsiteX8" fmla="*/ 11900219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3315 w 12192000"/>
              <a:gd name="connsiteY6" fmla="*/ 1031751 h 6858000"/>
              <a:gd name="connsiteX7" fmla="*/ 11904029 w 12192000"/>
              <a:gd name="connsiteY7" fmla="*/ 1025401 h 6858000"/>
              <a:gd name="connsiteX8" fmla="*/ 11900219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5220 w 12192000"/>
              <a:gd name="connsiteY6" fmla="*/ 1026036 h 6858000"/>
              <a:gd name="connsiteX7" fmla="*/ 11904029 w 12192000"/>
              <a:gd name="connsiteY7" fmla="*/ 1025401 h 6858000"/>
              <a:gd name="connsiteX8" fmla="*/ 11900219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5220 w 12192000"/>
              <a:gd name="connsiteY6" fmla="*/ 1029846 h 6858000"/>
              <a:gd name="connsiteX7" fmla="*/ 11904029 w 12192000"/>
              <a:gd name="connsiteY7" fmla="*/ 1025401 h 6858000"/>
              <a:gd name="connsiteX8" fmla="*/ 11900219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9030 w 12192000"/>
              <a:gd name="connsiteY6" fmla="*/ 1029846 h 6858000"/>
              <a:gd name="connsiteX7" fmla="*/ 11904029 w 12192000"/>
              <a:gd name="connsiteY7" fmla="*/ 1025401 h 6858000"/>
              <a:gd name="connsiteX8" fmla="*/ 11900219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7125 w 12192000"/>
              <a:gd name="connsiteY6" fmla="*/ 1029846 h 6858000"/>
              <a:gd name="connsiteX7" fmla="*/ 11904029 w 12192000"/>
              <a:gd name="connsiteY7" fmla="*/ 1025401 h 6858000"/>
              <a:gd name="connsiteX8" fmla="*/ 11900219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7125 w 12192000"/>
              <a:gd name="connsiteY6" fmla="*/ 1029846 h 6858000"/>
              <a:gd name="connsiteX7" fmla="*/ 11904029 w 12192000"/>
              <a:gd name="connsiteY7" fmla="*/ 1025401 h 6858000"/>
              <a:gd name="connsiteX8" fmla="*/ 1190593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7125 w 12192000"/>
              <a:gd name="connsiteY6" fmla="*/ 1029846 h 6858000"/>
              <a:gd name="connsiteX7" fmla="*/ 11904029 w 12192000"/>
              <a:gd name="connsiteY7" fmla="*/ 1025401 h 6858000"/>
              <a:gd name="connsiteX8" fmla="*/ 11709719 w 12192000"/>
              <a:gd name="connsiteY8" fmla="*/ 452351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7125 w 12192000"/>
              <a:gd name="connsiteY6" fmla="*/ 1029846 h 6858000"/>
              <a:gd name="connsiteX7" fmla="*/ 11904029 w 12192000"/>
              <a:gd name="connsiteY7" fmla="*/ 1025401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398585 w 12192000"/>
              <a:gd name="connsiteY6" fmla="*/ 778386 h 6858000"/>
              <a:gd name="connsiteX7" fmla="*/ 11904029 w 12192000"/>
              <a:gd name="connsiteY7" fmla="*/ 1025401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5401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285750 w 12192000"/>
              <a:gd name="connsiteY1" fmla="*/ 659576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5401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85750 w 12192000"/>
              <a:gd name="connsiteY0" fmla="*/ 2822204 h 6858000"/>
              <a:gd name="connsiteX1" fmla="*/ 285750 w 12192000"/>
              <a:gd name="connsiteY1" fmla="*/ 659576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285750 w 12192000"/>
              <a:gd name="connsiteY4" fmla="*/ 2822204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5401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85750 w 12192000"/>
              <a:gd name="connsiteY0" fmla="*/ 2822204 h 6858000"/>
              <a:gd name="connsiteX1" fmla="*/ 285750 w 12192000"/>
              <a:gd name="connsiteY1" fmla="*/ 6595767 h 6858000"/>
              <a:gd name="connsiteX2" fmla="*/ 5401950 w 12192000"/>
              <a:gd name="connsiteY2" fmla="*/ 6534807 h 6858000"/>
              <a:gd name="connsiteX3" fmla="*/ 5330830 w 12192000"/>
              <a:gd name="connsiteY3" fmla="*/ 2822204 h 6858000"/>
              <a:gd name="connsiteX4" fmla="*/ 285750 w 12192000"/>
              <a:gd name="connsiteY4" fmla="*/ 2822204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5401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85750 w 12192000"/>
              <a:gd name="connsiteY0" fmla="*/ 2822204 h 6858000"/>
              <a:gd name="connsiteX1" fmla="*/ 285750 w 12192000"/>
              <a:gd name="connsiteY1" fmla="*/ 6595767 h 6858000"/>
              <a:gd name="connsiteX2" fmla="*/ 5325750 w 12192000"/>
              <a:gd name="connsiteY2" fmla="*/ 6595767 h 6858000"/>
              <a:gd name="connsiteX3" fmla="*/ 5330830 w 12192000"/>
              <a:gd name="connsiteY3" fmla="*/ 2822204 h 6858000"/>
              <a:gd name="connsiteX4" fmla="*/ 285750 w 12192000"/>
              <a:gd name="connsiteY4" fmla="*/ 2822204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5401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2192000" h="6858000">
                <a:moveTo>
                  <a:pt x="285750" y="2822204"/>
                </a:moveTo>
                <a:lnTo>
                  <a:pt x="285750" y="6595767"/>
                </a:lnTo>
                <a:lnTo>
                  <a:pt x="5325750" y="6595767"/>
                </a:lnTo>
                <a:cubicBezTo>
                  <a:pt x="5327443" y="5337913"/>
                  <a:pt x="5329137" y="4080058"/>
                  <a:pt x="5330830" y="2822204"/>
                </a:cubicBezTo>
                <a:lnTo>
                  <a:pt x="285750" y="2822204"/>
                </a:lnTo>
                <a:close/>
                <a:moveTo>
                  <a:pt x="10146490" y="265661"/>
                </a:moveTo>
                <a:cubicBezTo>
                  <a:pt x="10144797" y="524199"/>
                  <a:pt x="10146913" y="769403"/>
                  <a:pt x="10145220" y="1027941"/>
                </a:cubicBezTo>
                <a:lnTo>
                  <a:pt x="11904029" y="1025401"/>
                </a:lnTo>
                <a:lnTo>
                  <a:pt x="11902124" y="267566"/>
                </a:lnTo>
                <a:lnTo>
                  <a:pt x="10146490" y="265661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8" name="Subline">
            <a:extLst>
              <a:ext uri="{FF2B5EF4-FFF2-40B4-BE49-F238E27FC236}">
                <a16:creationId xmlns:a16="http://schemas.microsoft.com/office/drawing/2014/main" id="{F64F20BE-9490-4534-8D22-D527DF582B1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84904" y="5510860"/>
            <a:ext cx="5040313" cy="360000"/>
          </a:xfrm>
          <a:prstGeom prst="rect">
            <a:avLst/>
          </a:prstGeom>
        </p:spPr>
        <p:txBody>
          <a:bodyPr lIns="288000" rIns="288000" anchor="b" anchorCtr="0">
            <a:noAutofit/>
          </a:bodyPr>
          <a:lstStyle>
            <a:lvl1pPr marL="0" indent="0">
              <a:buNone/>
              <a:defRPr sz="1600" b="1" cap="none" baseline="0">
                <a:latin typeface="+mj-lt"/>
              </a:defRPr>
            </a:lvl1pPr>
          </a:lstStyle>
          <a:p>
            <a:pPr lvl="0"/>
            <a:r>
              <a:rPr lang="de-DE" err="1"/>
              <a:t>Subline</a:t>
            </a:r>
            <a:endParaRPr lang="de-DE"/>
          </a:p>
        </p:txBody>
      </p:sp>
      <p:sp>
        <p:nvSpPr>
          <p:cNvPr id="9" name="Textplatzhalter 4">
            <a:extLst>
              <a:ext uri="{FF2B5EF4-FFF2-40B4-BE49-F238E27FC236}">
                <a16:creationId xmlns:a16="http://schemas.microsoft.com/office/drawing/2014/main" id="{DCF84473-59A5-4A28-B312-2557D7CFAFB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84904" y="5886100"/>
            <a:ext cx="5040313" cy="189474"/>
          </a:xfrm>
          <a:prstGeom prst="rect">
            <a:avLst/>
          </a:prstGeom>
        </p:spPr>
        <p:txBody>
          <a:bodyPr lIns="288000" tIns="36000">
            <a:noAutofit/>
          </a:bodyPr>
          <a:lstStyle>
            <a:lvl1pPr marL="0" indent="0">
              <a:buNone/>
              <a:defRPr sz="1600" cap="none" baseline="0"/>
            </a:lvl1pPr>
          </a:lstStyle>
          <a:p>
            <a:pPr lvl="0"/>
            <a:r>
              <a:rPr lang="de-DE"/>
              <a:t>Vorname Nachname</a:t>
            </a:r>
          </a:p>
        </p:txBody>
      </p:sp>
      <p:sp>
        <p:nvSpPr>
          <p:cNvPr id="10" name="Textplatzhalter 4">
            <a:extLst>
              <a:ext uri="{FF2B5EF4-FFF2-40B4-BE49-F238E27FC236}">
                <a16:creationId xmlns:a16="http://schemas.microsoft.com/office/drawing/2014/main" id="{57D522EB-93F7-49B3-9164-076263457E7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84904" y="6091840"/>
            <a:ext cx="5040313" cy="189474"/>
          </a:xfrm>
          <a:prstGeom prst="rect">
            <a:avLst/>
          </a:prstGeom>
        </p:spPr>
        <p:txBody>
          <a:bodyPr lIns="288000" tIns="36000">
            <a:noAutofit/>
          </a:bodyPr>
          <a:lstStyle>
            <a:lvl1pPr marL="0" indent="0">
              <a:buNone/>
              <a:defRPr sz="1600" cap="none" baseline="0"/>
            </a:lvl1pPr>
          </a:lstStyle>
          <a:p>
            <a:pPr lvl="0"/>
            <a:r>
              <a:rPr lang="de-DE"/>
              <a:t>Datum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284400" y="2822400"/>
            <a:ext cx="5040000" cy="2664000"/>
          </a:xfrm>
        </p:spPr>
        <p:txBody>
          <a:bodyPr vert="horz" lIns="288000" tIns="288000" rIns="288000" bIns="288000" rtlCol="0">
            <a:noAutofit/>
          </a:bodyPr>
          <a:lstStyle>
            <a:lvl1pPr>
              <a:defRPr lang="de-DE" sz="3200" dirty="0">
                <a:latin typeface="STIHL Contraface Display Title" pitchFamily="50" charset="0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Mastertitel-format bearbeiten</a:t>
            </a:r>
            <a:br>
              <a:rPr lang="de-DE"/>
            </a:br>
            <a:r>
              <a:rPr lang="de-DE"/>
              <a:t>ƒ</a:t>
            </a: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5D0F5813-BF0E-7EA3-7885-1C045487E8CF}"/>
              </a:ext>
            </a:extLst>
          </p:cNvPr>
          <p:cNvSpPr>
            <a:spLocks/>
          </p:cNvSpPr>
          <p:nvPr userDrawn="1"/>
        </p:nvSpPr>
        <p:spPr>
          <a:xfrm>
            <a:off x="-3139178" y="1034423"/>
            <a:ext cx="2845436" cy="4577389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b" anchorCtr="0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de-DE" sz="1600">
                <a:solidFill>
                  <a:schemeClr val="tx1"/>
                </a:solidFill>
              </a:rPr>
              <a:t>Weitere Vorlagen finden Sie in der Template Library. Diese ist in den Template Ordnern gespeichert</a:t>
            </a:r>
            <a:br>
              <a:rPr lang="de-DE" sz="1600">
                <a:solidFill>
                  <a:schemeClr val="tx1"/>
                </a:solidFill>
              </a:rPr>
            </a:br>
            <a:endParaRPr lang="de-DE" sz="1600">
              <a:solidFill>
                <a:schemeClr val="tx1"/>
              </a:solidFill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de-DE" sz="1600">
                <a:solidFill>
                  <a:schemeClr val="tx1"/>
                </a:solidFill>
              </a:rPr>
              <a:t>Bildmaterial finden Sie auf Ihrem lokalen Laufwerk unter </a:t>
            </a:r>
            <a:r>
              <a:rPr lang="de-DE" sz="1600" b="1">
                <a:solidFill>
                  <a:schemeClr val="tx1"/>
                </a:solidFill>
              </a:rPr>
              <a:t>C:\Program Files (x86)\STIHL\PPT Images </a:t>
            </a:r>
            <a:br>
              <a:rPr lang="de-DE" sz="1600">
                <a:solidFill>
                  <a:schemeClr val="tx1"/>
                </a:solidFill>
              </a:rPr>
            </a:br>
            <a:r>
              <a:rPr lang="de-DE" sz="1600">
                <a:solidFill>
                  <a:schemeClr val="tx1"/>
                </a:solidFill>
              </a:rPr>
              <a:t>oder im STIHL DAM </a:t>
            </a:r>
            <a:r>
              <a:rPr lang="de-DE" sz="1600">
                <a:hlinkClick r:id="rId7"/>
              </a:rPr>
              <a:t>https://dam.stihl.com/</a:t>
            </a:r>
            <a:endParaRPr lang="de-DE" sz="1600"/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de-DE" sz="1600"/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de-DE" sz="1600" b="0">
                <a:solidFill>
                  <a:schemeClr val="tx1"/>
                </a:solidFill>
              </a:rPr>
              <a:t>Bitte keine Folien mit vollflächigen Farben oder Motiven drucken </a:t>
            </a: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de-DE" sz="1600" b="0">
              <a:solidFill>
                <a:schemeClr val="tx1"/>
              </a:solidFill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de-DE" sz="1600" b="0">
                <a:solidFill>
                  <a:schemeClr val="tx1"/>
                </a:solidFill>
              </a:rPr>
              <a:t>Die Standlinie kann über den Reiter "Einfügen" durch das Feld "Symbol" eingefügt werden</a:t>
            </a:r>
          </a:p>
        </p:txBody>
      </p:sp>
      <p:pic>
        <p:nvPicPr>
          <p:cNvPr id="17" name="Grafik 16" descr="Ein Bild, das Entwurf, Kreis, Schwarzweiß, Grafiken enthält.&#10;&#10;Automatisch generierte Beschreibung">
            <a:extLst>
              <a:ext uri="{FF2B5EF4-FFF2-40B4-BE49-F238E27FC236}">
                <a16:creationId xmlns:a16="http://schemas.microsoft.com/office/drawing/2014/main" id="{8D249AA5-8627-DE9F-73EE-593603AC0787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58680" y="378086"/>
            <a:ext cx="1303300" cy="536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750643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Schlussfolie Hintergrund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kt 1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70" imgH="371" progId="TCLayout.ActiveDocument.1">
                  <p:embed/>
                </p:oleObj>
              </mc:Choice>
              <mc:Fallback>
                <p:oleObj name="think-cell Slide" r:id="rId3" imgW="370" imgH="371" progId="TCLayout.ActiveDocument.1">
                  <p:embed/>
                  <p:pic>
                    <p:nvPicPr>
                      <p:cNvPr id="2" name="Objek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" name="Bildplatzhalter 14">
            <a:extLst>
              <a:ext uri="{FF2B5EF4-FFF2-40B4-BE49-F238E27FC236}">
                <a16:creationId xmlns:a16="http://schemas.microsoft.com/office/drawing/2014/main" id="{12A2E7EC-D35A-4A4A-BBD2-6097A2AF7814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10129345 w 12192000"/>
              <a:gd name="connsiteY4" fmla="*/ 344401 h 6858000"/>
              <a:gd name="connsiteX5" fmla="*/ 10129345 w 12192000"/>
              <a:gd name="connsiteY5" fmla="*/ 1099696 h 6858000"/>
              <a:gd name="connsiteX6" fmla="*/ 11857039 w 12192000"/>
              <a:gd name="connsiteY6" fmla="*/ 1099696 h 6858000"/>
              <a:gd name="connsiteX7" fmla="*/ 11857039 w 12192000"/>
              <a:gd name="connsiteY7" fmla="*/ 344401 h 6858000"/>
              <a:gd name="connsiteX8" fmla="*/ 0 w 12192000"/>
              <a:gd name="connsiteY8" fmla="*/ 0 h 6858000"/>
              <a:gd name="connsiteX9" fmla="*/ 12192000 w 12192000"/>
              <a:gd name="connsiteY9" fmla="*/ 0 h 6858000"/>
              <a:gd name="connsiteX10" fmla="*/ 12192000 w 12192000"/>
              <a:gd name="connsiteY10" fmla="*/ 6858000 h 6858000"/>
              <a:gd name="connsiteX11" fmla="*/ 0 w 12192000"/>
              <a:gd name="connsiteY11" fmla="*/ 685800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29345 w 12192000"/>
              <a:gd name="connsiteY6" fmla="*/ 1099696 h 6858000"/>
              <a:gd name="connsiteX7" fmla="*/ 11857039 w 12192000"/>
              <a:gd name="connsiteY7" fmla="*/ 1099696 h 6858000"/>
              <a:gd name="connsiteX8" fmla="*/ 11857039 w 12192000"/>
              <a:gd name="connsiteY8" fmla="*/ 34440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29345 w 12192000"/>
              <a:gd name="connsiteY6" fmla="*/ 1099696 h 6858000"/>
              <a:gd name="connsiteX7" fmla="*/ 11857039 w 12192000"/>
              <a:gd name="connsiteY7" fmla="*/ 109969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29345 w 12192000"/>
              <a:gd name="connsiteY6" fmla="*/ 1099696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31885 w 12192000"/>
              <a:gd name="connsiteY6" fmla="*/ 1033656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642366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5401950 w 12192000"/>
              <a:gd name="connsiteY2" fmla="*/ 6534807 h 6858000"/>
              <a:gd name="connsiteX3" fmla="*/ 1378590 w 12192000"/>
              <a:gd name="connsiteY3" fmla="*/ 612217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1195710 w 12192000"/>
              <a:gd name="connsiteY2" fmla="*/ 6565287 h 6858000"/>
              <a:gd name="connsiteX3" fmla="*/ 1378590 w 12192000"/>
              <a:gd name="connsiteY3" fmla="*/ 612217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1195710 w 12192000"/>
              <a:gd name="connsiteY2" fmla="*/ 6565287 h 6858000"/>
              <a:gd name="connsiteX3" fmla="*/ 1378590 w 12192000"/>
              <a:gd name="connsiteY3" fmla="*/ 612217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1102365 w 12192000"/>
              <a:gd name="connsiteY2" fmla="*/ 6536712 h 6858000"/>
              <a:gd name="connsiteX3" fmla="*/ 1378590 w 12192000"/>
              <a:gd name="connsiteY3" fmla="*/ 612217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1102365 w 12192000"/>
              <a:gd name="connsiteY2" fmla="*/ 6536712 h 6858000"/>
              <a:gd name="connsiteX3" fmla="*/ 1106175 w 12192000"/>
              <a:gd name="connsiteY3" fmla="*/ 643459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1106175 w 12192000"/>
              <a:gd name="connsiteY2" fmla="*/ 6538617 h 6858000"/>
              <a:gd name="connsiteX3" fmla="*/ 1106175 w 12192000"/>
              <a:gd name="connsiteY3" fmla="*/ 643459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2366 w 12192000"/>
              <a:gd name="connsiteY1" fmla="*/ 6534807 h 6858000"/>
              <a:gd name="connsiteX2" fmla="*/ 1106175 w 12192000"/>
              <a:gd name="connsiteY2" fmla="*/ 6538617 h 6858000"/>
              <a:gd name="connsiteX3" fmla="*/ 1106175 w 12192000"/>
              <a:gd name="connsiteY3" fmla="*/ 6434592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2366 w 12192000"/>
              <a:gd name="connsiteY1" fmla="*/ 6534807 h 6858000"/>
              <a:gd name="connsiteX2" fmla="*/ 1106175 w 12192000"/>
              <a:gd name="connsiteY2" fmla="*/ 6538617 h 6858000"/>
              <a:gd name="connsiteX3" fmla="*/ 1106175 w 12192000"/>
              <a:gd name="connsiteY3" fmla="*/ 6432687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2366 w 12192000"/>
              <a:gd name="connsiteY1" fmla="*/ 6534807 h 6858000"/>
              <a:gd name="connsiteX2" fmla="*/ 1106175 w 12192000"/>
              <a:gd name="connsiteY2" fmla="*/ 6538617 h 6858000"/>
              <a:gd name="connsiteX3" fmla="*/ 1106175 w 12192000"/>
              <a:gd name="connsiteY3" fmla="*/ 6428877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2366 w 12192000"/>
              <a:gd name="connsiteY1" fmla="*/ 6534807 h 6858000"/>
              <a:gd name="connsiteX2" fmla="*/ 1106175 w 12192000"/>
              <a:gd name="connsiteY2" fmla="*/ 6538617 h 6858000"/>
              <a:gd name="connsiteX3" fmla="*/ 1106175 w 12192000"/>
              <a:gd name="connsiteY3" fmla="*/ 6430782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2366 w 12192000"/>
              <a:gd name="connsiteY1" fmla="*/ 6534807 h 6858000"/>
              <a:gd name="connsiteX2" fmla="*/ 1106175 w 12192000"/>
              <a:gd name="connsiteY2" fmla="*/ 6536712 h 6858000"/>
              <a:gd name="connsiteX3" fmla="*/ 1106175 w 12192000"/>
              <a:gd name="connsiteY3" fmla="*/ 6430782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1106175 w 12192000"/>
              <a:gd name="connsiteY3" fmla="*/ 6430782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4271 w 12192000"/>
              <a:gd name="connsiteY0" fmla="*/ 6430782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1106175 w 12192000"/>
              <a:gd name="connsiteY3" fmla="*/ 6430782 h 6858000"/>
              <a:gd name="connsiteX4" fmla="*/ 644271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4271 w 12192000"/>
              <a:gd name="connsiteY0" fmla="*/ 6430782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1106175 w 12192000"/>
              <a:gd name="connsiteY3" fmla="*/ 6430782 h 6858000"/>
              <a:gd name="connsiteX4" fmla="*/ 644271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1106175 w 12192000"/>
              <a:gd name="connsiteY3" fmla="*/ 6430782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951870 w 12192000"/>
              <a:gd name="connsiteY3" fmla="*/ 6278382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951870 w 12192000"/>
              <a:gd name="connsiteY3" fmla="*/ 6278382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644271 w 12192000"/>
              <a:gd name="connsiteY1" fmla="*/ 6534807 h 6858000"/>
              <a:gd name="connsiteX2" fmla="*/ 953775 w 12192000"/>
              <a:gd name="connsiteY2" fmla="*/ 6384312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3775 w 12192000"/>
              <a:gd name="connsiteY2" fmla="*/ 6384312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3775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4029 w 12192000"/>
              <a:gd name="connsiteY8" fmla="*/ 271376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751629 w 12192000"/>
              <a:gd name="connsiteY8" fmla="*/ 419966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2124 w 12192000"/>
              <a:gd name="connsiteY8" fmla="*/ 267566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209355 w 12192000"/>
              <a:gd name="connsiteY5" fmla="*/ 31900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2124 w 12192000"/>
              <a:gd name="connsiteY8" fmla="*/ 267566 h 6858000"/>
              <a:gd name="connsiteX9" fmla="*/ 10209355 w 12192000"/>
              <a:gd name="connsiteY9" fmla="*/ 3190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215705 w 12192000"/>
              <a:gd name="connsiteY6" fmla="*/ 982221 h 6858000"/>
              <a:gd name="connsiteX7" fmla="*/ 11907839 w 12192000"/>
              <a:gd name="connsiteY7" fmla="*/ 103111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5220 w 12192000"/>
              <a:gd name="connsiteY6" fmla="*/ 1027941 h 6858000"/>
              <a:gd name="connsiteX7" fmla="*/ 11907839 w 12192000"/>
              <a:gd name="connsiteY7" fmla="*/ 103111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5220 w 12192000"/>
              <a:gd name="connsiteY6" fmla="*/ 1027941 h 6858000"/>
              <a:gd name="connsiteX7" fmla="*/ 11803064 w 12192000"/>
              <a:gd name="connsiteY7" fmla="*/ 95491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5220 w 12192000"/>
              <a:gd name="connsiteY6" fmla="*/ 1027941 h 6858000"/>
              <a:gd name="connsiteX7" fmla="*/ 11904029 w 12192000"/>
              <a:gd name="connsiteY7" fmla="*/ 102730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316035 w 12192000"/>
              <a:gd name="connsiteY5" fmla="*/ 364721 h 6858000"/>
              <a:gd name="connsiteX6" fmla="*/ 10145220 w 12192000"/>
              <a:gd name="connsiteY6" fmla="*/ 1027941 h 6858000"/>
              <a:gd name="connsiteX7" fmla="*/ 11904029 w 12192000"/>
              <a:gd name="connsiteY7" fmla="*/ 1027306 h 6858000"/>
              <a:gd name="connsiteX8" fmla="*/ 11902124 w 12192000"/>
              <a:gd name="connsiteY8" fmla="*/ 267566 h 6858000"/>
              <a:gd name="connsiteX9" fmla="*/ 10316035 w 12192000"/>
              <a:gd name="connsiteY9" fmla="*/ 36472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7306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7306 h 6858000"/>
              <a:gd name="connsiteX8" fmla="*/ 11829734 w 12192000"/>
              <a:gd name="connsiteY8" fmla="*/ 35138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7306 h 6858000"/>
              <a:gd name="connsiteX8" fmla="*/ 11904029 w 12192000"/>
              <a:gd name="connsiteY8" fmla="*/ 265661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623994 w 12192000"/>
              <a:gd name="connsiteY7" fmla="*/ 924436 h 6858000"/>
              <a:gd name="connsiteX8" fmla="*/ 11904029 w 12192000"/>
              <a:gd name="connsiteY8" fmla="*/ 265661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5401 h 6858000"/>
              <a:gd name="connsiteX8" fmla="*/ 11904029 w 12192000"/>
              <a:gd name="connsiteY8" fmla="*/ 265661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206180 w 12192000"/>
              <a:gd name="connsiteY6" fmla="*/ 955551 h 6858000"/>
              <a:gd name="connsiteX7" fmla="*/ 11904029 w 12192000"/>
              <a:gd name="connsiteY7" fmla="*/ 1025401 h 6858000"/>
              <a:gd name="connsiteX8" fmla="*/ 11904029 w 12192000"/>
              <a:gd name="connsiteY8" fmla="*/ 265661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143315 w 12192000"/>
              <a:gd name="connsiteY6" fmla="*/ 1027941 h 6858000"/>
              <a:gd name="connsiteX7" fmla="*/ 11904029 w 12192000"/>
              <a:gd name="connsiteY7" fmla="*/ 1025401 h 6858000"/>
              <a:gd name="connsiteX8" fmla="*/ 11904029 w 12192000"/>
              <a:gd name="connsiteY8" fmla="*/ 265661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141410 w 12192000"/>
              <a:gd name="connsiteY6" fmla="*/ 1026036 h 6858000"/>
              <a:gd name="connsiteX7" fmla="*/ 11904029 w 12192000"/>
              <a:gd name="connsiteY7" fmla="*/ 1025401 h 6858000"/>
              <a:gd name="connsiteX8" fmla="*/ 11904029 w 12192000"/>
              <a:gd name="connsiteY8" fmla="*/ 265661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143315 w 12192000"/>
              <a:gd name="connsiteY6" fmla="*/ 1026036 h 6858000"/>
              <a:gd name="connsiteX7" fmla="*/ 11904029 w 12192000"/>
              <a:gd name="connsiteY7" fmla="*/ 1025401 h 6858000"/>
              <a:gd name="connsiteX8" fmla="*/ 11904029 w 12192000"/>
              <a:gd name="connsiteY8" fmla="*/ 265661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260790 w 12192000"/>
              <a:gd name="connsiteY5" fmla="*/ 385676 h 6858000"/>
              <a:gd name="connsiteX6" fmla="*/ 10143315 w 12192000"/>
              <a:gd name="connsiteY6" fmla="*/ 1026036 h 6858000"/>
              <a:gd name="connsiteX7" fmla="*/ 11904029 w 12192000"/>
              <a:gd name="connsiteY7" fmla="*/ 1025401 h 6858000"/>
              <a:gd name="connsiteX8" fmla="*/ 11904029 w 12192000"/>
              <a:gd name="connsiteY8" fmla="*/ 265661 h 6858000"/>
              <a:gd name="connsiteX9" fmla="*/ 10260790 w 12192000"/>
              <a:gd name="connsiteY9" fmla="*/ 385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71376 h 6858000"/>
              <a:gd name="connsiteX6" fmla="*/ 10143315 w 12192000"/>
              <a:gd name="connsiteY6" fmla="*/ 1026036 h 6858000"/>
              <a:gd name="connsiteX7" fmla="*/ 11904029 w 12192000"/>
              <a:gd name="connsiteY7" fmla="*/ 1025401 h 6858000"/>
              <a:gd name="connsiteX8" fmla="*/ 11904029 w 12192000"/>
              <a:gd name="connsiteY8" fmla="*/ 265661 h 6858000"/>
              <a:gd name="connsiteX9" fmla="*/ 10146490 w 12192000"/>
              <a:gd name="connsiteY9" fmla="*/ 2713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71376 h 6858000"/>
              <a:gd name="connsiteX6" fmla="*/ 10143315 w 12192000"/>
              <a:gd name="connsiteY6" fmla="*/ 1026036 h 6858000"/>
              <a:gd name="connsiteX7" fmla="*/ 11904029 w 12192000"/>
              <a:gd name="connsiteY7" fmla="*/ 1025401 h 6858000"/>
              <a:gd name="connsiteX8" fmla="*/ 11782109 w 12192000"/>
              <a:gd name="connsiteY8" fmla="*/ 360911 h 6858000"/>
              <a:gd name="connsiteX9" fmla="*/ 10146490 w 12192000"/>
              <a:gd name="connsiteY9" fmla="*/ 2713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71376 h 6858000"/>
              <a:gd name="connsiteX6" fmla="*/ 10143315 w 12192000"/>
              <a:gd name="connsiteY6" fmla="*/ 1026036 h 6858000"/>
              <a:gd name="connsiteX7" fmla="*/ 11904029 w 12192000"/>
              <a:gd name="connsiteY7" fmla="*/ 1025401 h 6858000"/>
              <a:gd name="connsiteX8" fmla="*/ 11904029 w 12192000"/>
              <a:gd name="connsiteY8" fmla="*/ 267566 h 6858000"/>
              <a:gd name="connsiteX9" fmla="*/ 10146490 w 12192000"/>
              <a:gd name="connsiteY9" fmla="*/ 2713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71376 h 6858000"/>
              <a:gd name="connsiteX6" fmla="*/ 10143315 w 12192000"/>
              <a:gd name="connsiteY6" fmla="*/ 1026036 h 6858000"/>
              <a:gd name="connsiteX7" fmla="*/ 11669714 w 12192000"/>
              <a:gd name="connsiteY7" fmla="*/ 956821 h 6858000"/>
              <a:gd name="connsiteX8" fmla="*/ 11904029 w 12192000"/>
              <a:gd name="connsiteY8" fmla="*/ 267566 h 6858000"/>
              <a:gd name="connsiteX9" fmla="*/ 10146490 w 12192000"/>
              <a:gd name="connsiteY9" fmla="*/ 2713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71376 h 6858000"/>
              <a:gd name="connsiteX6" fmla="*/ 10143315 w 12192000"/>
              <a:gd name="connsiteY6" fmla="*/ 1026036 h 6858000"/>
              <a:gd name="connsiteX7" fmla="*/ 11902124 w 12192000"/>
              <a:gd name="connsiteY7" fmla="*/ 1029211 h 6858000"/>
              <a:gd name="connsiteX8" fmla="*/ 11904029 w 12192000"/>
              <a:gd name="connsiteY8" fmla="*/ 267566 h 6858000"/>
              <a:gd name="connsiteX9" fmla="*/ 10146490 w 12192000"/>
              <a:gd name="connsiteY9" fmla="*/ 2713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71376 h 6858000"/>
              <a:gd name="connsiteX6" fmla="*/ 10217610 w 12192000"/>
              <a:gd name="connsiteY6" fmla="*/ 963171 h 6858000"/>
              <a:gd name="connsiteX7" fmla="*/ 11902124 w 12192000"/>
              <a:gd name="connsiteY7" fmla="*/ 1029211 h 6858000"/>
              <a:gd name="connsiteX8" fmla="*/ 11904029 w 12192000"/>
              <a:gd name="connsiteY8" fmla="*/ 267566 h 6858000"/>
              <a:gd name="connsiteX9" fmla="*/ 10146490 w 12192000"/>
              <a:gd name="connsiteY9" fmla="*/ 2713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71376 h 6858000"/>
              <a:gd name="connsiteX6" fmla="*/ 10143315 w 12192000"/>
              <a:gd name="connsiteY6" fmla="*/ 1026036 h 6858000"/>
              <a:gd name="connsiteX7" fmla="*/ 11902124 w 12192000"/>
              <a:gd name="connsiteY7" fmla="*/ 1029211 h 6858000"/>
              <a:gd name="connsiteX8" fmla="*/ 11904029 w 12192000"/>
              <a:gd name="connsiteY8" fmla="*/ 267566 h 6858000"/>
              <a:gd name="connsiteX9" fmla="*/ 10146490 w 12192000"/>
              <a:gd name="connsiteY9" fmla="*/ 2713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71376 h 6858000"/>
              <a:gd name="connsiteX6" fmla="*/ 10143315 w 12192000"/>
              <a:gd name="connsiteY6" fmla="*/ 1026036 h 6858000"/>
              <a:gd name="connsiteX7" fmla="*/ 11904029 w 12192000"/>
              <a:gd name="connsiteY7" fmla="*/ 1027306 h 6858000"/>
              <a:gd name="connsiteX8" fmla="*/ 11904029 w 12192000"/>
              <a:gd name="connsiteY8" fmla="*/ 267566 h 6858000"/>
              <a:gd name="connsiteX9" fmla="*/ 10146490 w 12192000"/>
              <a:gd name="connsiteY9" fmla="*/ 2713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3315 w 12192000"/>
              <a:gd name="connsiteY6" fmla="*/ 1026036 h 6858000"/>
              <a:gd name="connsiteX7" fmla="*/ 11904029 w 12192000"/>
              <a:gd name="connsiteY7" fmla="*/ 1027306 h 6858000"/>
              <a:gd name="connsiteX8" fmla="*/ 11904029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3315 w 12192000"/>
              <a:gd name="connsiteY6" fmla="*/ 1026036 h 6858000"/>
              <a:gd name="connsiteX7" fmla="*/ 11904029 w 12192000"/>
              <a:gd name="connsiteY7" fmla="*/ 1027306 h 6858000"/>
              <a:gd name="connsiteX8" fmla="*/ 11902124 w 12192000"/>
              <a:gd name="connsiteY8" fmla="*/ 269471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3315 w 12192000"/>
              <a:gd name="connsiteY6" fmla="*/ 1026036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7125 w 12192000"/>
              <a:gd name="connsiteY6" fmla="*/ 1026036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297620 w 12192000"/>
              <a:gd name="connsiteY6" fmla="*/ 885066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7125 w 12192000"/>
              <a:gd name="connsiteY6" fmla="*/ 1029846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349055 w 12192000"/>
              <a:gd name="connsiteY6" fmla="*/ 875541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3315 w 12192000"/>
              <a:gd name="connsiteY6" fmla="*/ 1027941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3315 w 12192000"/>
              <a:gd name="connsiteY6" fmla="*/ 1027941 h 6858000"/>
              <a:gd name="connsiteX7" fmla="*/ 11902124 w 12192000"/>
              <a:gd name="connsiteY7" fmla="*/ 1025401 h 6858000"/>
              <a:gd name="connsiteX8" fmla="*/ 11625899 w 12192000"/>
              <a:gd name="connsiteY8" fmla="*/ 41234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3315 w 12192000"/>
              <a:gd name="connsiteY6" fmla="*/ 1027941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376995 w 12192000"/>
              <a:gd name="connsiteY5" fmla="*/ 440921 h 6858000"/>
              <a:gd name="connsiteX6" fmla="*/ 10143315 w 12192000"/>
              <a:gd name="connsiteY6" fmla="*/ 1027941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376995 w 12192000"/>
              <a:gd name="connsiteY9" fmla="*/ 44092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7566 h 6858000"/>
              <a:gd name="connsiteX6" fmla="*/ 10143315 w 12192000"/>
              <a:gd name="connsiteY6" fmla="*/ 1027941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146490 w 12192000"/>
              <a:gd name="connsiteY9" fmla="*/ 26756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7566 h 6858000"/>
              <a:gd name="connsiteX6" fmla="*/ 10143315 w 12192000"/>
              <a:gd name="connsiteY6" fmla="*/ 1027941 h 6858000"/>
              <a:gd name="connsiteX7" fmla="*/ 11902124 w 12192000"/>
              <a:gd name="connsiteY7" fmla="*/ 1025401 h 6858000"/>
              <a:gd name="connsiteX8" fmla="*/ 11900219 w 12192000"/>
              <a:gd name="connsiteY8" fmla="*/ 267566 h 6858000"/>
              <a:gd name="connsiteX9" fmla="*/ 10146490 w 12192000"/>
              <a:gd name="connsiteY9" fmla="*/ 26756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7566 h 6858000"/>
              <a:gd name="connsiteX6" fmla="*/ 10143315 w 12192000"/>
              <a:gd name="connsiteY6" fmla="*/ 1027941 h 6858000"/>
              <a:gd name="connsiteX7" fmla="*/ 11902124 w 12192000"/>
              <a:gd name="connsiteY7" fmla="*/ 1025401 h 6858000"/>
              <a:gd name="connsiteX8" fmla="*/ 11904029 w 12192000"/>
              <a:gd name="connsiteY8" fmla="*/ 267566 h 6858000"/>
              <a:gd name="connsiteX9" fmla="*/ 10146490 w 12192000"/>
              <a:gd name="connsiteY9" fmla="*/ 26756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7566 h 6858000"/>
              <a:gd name="connsiteX6" fmla="*/ 10149030 w 12192000"/>
              <a:gd name="connsiteY6" fmla="*/ 1026036 h 6858000"/>
              <a:gd name="connsiteX7" fmla="*/ 11902124 w 12192000"/>
              <a:gd name="connsiteY7" fmla="*/ 1025401 h 6858000"/>
              <a:gd name="connsiteX8" fmla="*/ 11904029 w 12192000"/>
              <a:gd name="connsiteY8" fmla="*/ 267566 h 6858000"/>
              <a:gd name="connsiteX9" fmla="*/ 10146490 w 12192000"/>
              <a:gd name="connsiteY9" fmla="*/ 26756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7566 h 6858000"/>
              <a:gd name="connsiteX6" fmla="*/ 10145220 w 12192000"/>
              <a:gd name="connsiteY6" fmla="*/ 1026036 h 6858000"/>
              <a:gd name="connsiteX7" fmla="*/ 11902124 w 12192000"/>
              <a:gd name="connsiteY7" fmla="*/ 1025401 h 6858000"/>
              <a:gd name="connsiteX8" fmla="*/ 11904029 w 12192000"/>
              <a:gd name="connsiteY8" fmla="*/ 267566 h 6858000"/>
              <a:gd name="connsiteX9" fmla="*/ 10146490 w 12192000"/>
              <a:gd name="connsiteY9" fmla="*/ 26756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2192000" h="6858000">
                <a:moveTo>
                  <a:pt x="489966" y="6280287"/>
                </a:moveTo>
                <a:lnTo>
                  <a:pt x="488061" y="6386217"/>
                </a:lnTo>
                <a:lnTo>
                  <a:pt x="951870" y="6386217"/>
                </a:lnTo>
                <a:lnTo>
                  <a:pt x="951870" y="6280287"/>
                </a:lnTo>
                <a:lnTo>
                  <a:pt x="489966" y="6280287"/>
                </a:lnTo>
                <a:close/>
                <a:moveTo>
                  <a:pt x="10146490" y="267566"/>
                </a:moveTo>
                <a:cubicBezTo>
                  <a:pt x="10144797" y="526104"/>
                  <a:pt x="10146913" y="767498"/>
                  <a:pt x="10145220" y="1026036"/>
                </a:cubicBezTo>
                <a:lnTo>
                  <a:pt x="11902124" y="1025401"/>
                </a:lnTo>
                <a:lnTo>
                  <a:pt x="11904029" y="267566"/>
                </a:lnTo>
                <a:lnTo>
                  <a:pt x="10146490" y="267566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24" name="Textplatzhalter 2">
            <a:extLst>
              <a:ext uri="{FF2B5EF4-FFF2-40B4-BE49-F238E27FC236}">
                <a16:creationId xmlns:a16="http://schemas.microsoft.com/office/drawing/2014/main" id="{B2BCC63D-764D-453B-B95D-B53E771DF12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79425" y="4834859"/>
            <a:ext cx="7812088" cy="1336071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>
            <a:lvl1pPr marL="0" indent="0">
              <a:buNone/>
              <a:tabLst>
                <a:tab pos="1074738" algn="l"/>
              </a:tabLst>
              <a:defRPr lang="de-DE" sz="4800" b="1" cap="all" baseline="0" smtClean="0">
                <a:solidFill>
                  <a:schemeClr val="bg1"/>
                </a:solidFill>
                <a:latin typeface="STIHL Contraface Display Title" panose="02000600040000020004" pitchFamily="50" charset="0"/>
              </a:defRPr>
            </a:lvl1pPr>
            <a:lvl2pPr marL="277812" indent="0">
              <a:buNone/>
              <a:defRPr lang="de-DE" smtClean="0"/>
            </a:lvl2pPr>
            <a:lvl3pPr marL="739775" indent="0">
              <a:buNone/>
              <a:defRPr lang="de-DE" sz="1800" smtClean="0"/>
            </a:lvl3pPr>
            <a:lvl4pPr marL="1190625" indent="0">
              <a:buNone/>
              <a:defRPr lang="de-DE" sz="1800" smtClean="0"/>
            </a:lvl4pPr>
            <a:lvl5pPr marL="1647825" indent="0">
              <a:buNone/>
              <a:defRPr lang="de-DE" sz="1800"/>
            </a:lvl5pPr>
          </a:lstStyle>
          <a:p>
            <a:pPr marL="0" lvl="0"/>
            <a:r>
              <a:rPr lang="de-DE"/>
              <a:t>Abschlussworte (vielen Dank)</a:t>
            </a:r>
          </a:p>
        </p:txBody>
      </p:sp>
      <p:sp>
        <p:nvSpPr>
          <p:cNvPr id="29" name="Rechteck 28">
            <a:extLst>
              <a:ext uri="{FF2B5EF4-FFF2-40B4-BE49-F238E27FC236}">
                <a16:creationId xmlns:a16="http://schemas.microsoft.com/office/drawing/2014/main" id="{2C6085ED-8EF3-4C74-9B9D-7804FC5FAEA1}"/>
              </a:ext>
            </a:extLst>
          </p:cNvPr>
          <p:cNvSpPr/>
          <p:nvPr/>
        </p:nvSpPr>
        <p:spPr>
          <a:xfrm>
            <a:off x="495191" y="6283982"/>
            <a:ext cx="450741" cy="9459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de-DE"/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5CF86407-DA27-4CA6-A346-F8477F884E96}"/>
              </a:ext>
            </a:extLst>
          </p:cNvPr>
          <p:cNvSpPr>
            <a:spLocks/>
          </p:cNvSpPr>
          <p:nvPr/>
        </p:nvSpPr>
        <p:spPr>
          <a:xfrm>
            <a:off x="-1939923" y="2913099"/>
            <a:ext cx="1772284" cy="1031803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ctr">
            <a:spAutoFit/>
          </a:bodyPr>
          <a:lstStyle/>
          <a:p>
            <a:pPr algn="ctr">
              <a:lnSpc>
                <a:spcPct val="90000"/>
              </a:lnSpc>
            </a:pPr>
            <a:r>
              <a:rPr lang="de-DE" sz="1600" b="0">
                <a:solidFill>
                  <a:schemeClr val="tx1"/>
                </a:solidFill>
              </a:rPr>
              <a:t>Bitte keine Folien mit vollflächigen Farben oder Motiven drucken </a:t>
            </a:r>
          </a:p>
        </p:txBody>
      </p:sp>
      <p:pic>
        <p:nvPicPr>
          <p:cNvPr id="9" name="Grafik 8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6061" y="258750"/>
            <a:ext cx="1774212" cy="775631"/>
          </a:xfrm>
          <a:prstGeom prst="rect">
            <a:avLst/>
          </a:prstGeom>
        </p:spPr>
      </p:pic>
      <p:pic>
        <p:nvPicPr>
          <p:cNvPr id="3" name="Grafik 2" descr="Ein Bild, das Entwurf, Kreis, Schwarzweiß, Grafiken enthält.&#10;&#10;Automatisch generierte Beschreibung">
            <a:extLst>
              <a:ext uri="{FF2B5EF4-FFF2-40B4-BE49-F238E27FC236}">
                <a16:creationId xmlns:a16="http://schemas.microsoft.com/office/drawing/2014/main" id="{4CCAB04F-9C20-1FC6-8252-4035346818F0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58680" y="378086"/>
            <a:ext cx="1303300" cy="536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087792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theme" Target="../theme/theme1.xml"/><Relationship Id="rId27" Type="http://schemas.openxmlformats.org/officeDocument/2006/relationships/tags" Target="../tags/tag2.xml"/><Relationship Id="rId28" Type="http://schemas.openxmlformats.org/officeDocument/2006/relationships/tags" Target="../tags/tag3.xml"/><Relationship Id="rId29" Type="http://schemas.openxmlformats.org/officeDocument/2006/relationships/oleObject" Target="../embeddings/oleObject1.bin"/><Relationship Id="rId30" Type="http://schemas.openxmlformats.org/officeDocument/2006/relationships/image" Target="../media/image1.emf"/><Relationship Id="rId31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kt 7" hidden="1">
            <a:extLst>
              <a:ext uri="{FF2B5EF4-FFF2-40B4-BE49-F238E27FC236}">
                <a16:creationId xmlns:a16="http://schemas.microsoft.com/office/drawing/2014/main" id="{D9C97816-FB06-4E95-856C-7D63D0431A47}"/>
              </a:ext>
            </a:extLst>
          </p:cNvPr>
          <p:cNvGraphicFramePr>
            <a:graphicFrameLocks/>
          </p:cNvGraphicFramePr>
          <p:nvPr>
            <p:custDataLst>
              <p:tags r:id="rId27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9" imgW="408" imgH="408" progId="TCLayout.ActiveDocument.1">
                  <p:embed/>
                </p:oleObj>
              </mc:Choice>
              <mc:Fallback>
                <p:oleObj name="think-cell Slide" r:id="rId29" imgW="408" imgH="408" progId="TCLayout.ActiveDocument.1">
                  <p:embed/>
                  <p:pic>
                    <p:nvPicPr>
                      <p:cNvPr id="8" name="Objekt 7" hidden="1">
                        <a:extLst>
                          <a:ext uri="{FF2B5EF4-FFF2-40B4-BE49-F238E27FC236}">
                            <a16:creationId xmlns:a16="http://schemas.microsoft.com/office/drawing/2014/main" id="{D9C97816-FB06-4E95-856C-7D63D0431A4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hteck 6" hidden="1">
            <a:extLst>
              <a:ext uri="{FF2B5EF4-FFF2-40B4-BE49-F238E27FC236}">
                <a16:creationId xmlns:a16="http://schemas.microsoft.com/office/drawing/2014/main" id="{5931360F-217C-4503-B09B-C80FE49E58A8}"/>
              </a:ext>
            </a:extLst>
          </p:cNvPr>
          <p:cNvSpPr/>
          <p:nvPr>
            <p:custDataLst>
              <p:tags r:id="rId28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GB" sz="2200" b="1" i="0" baseline="0">
              <a:solidFill>
                <a:schemeClr val="tx1"/>
              </a:solidFill>
              <a:latin typeface="STIHL Contraface Text"/>
              <a:ea typeface="+mj-ea"/>
              <a:cs typeface="+mj-cs"/>
              <a:sym typeface="STIHL Contraface Text"/>
            </a:endParaRPr>
          </a:p>
        </p:txBody>
      </p:sp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47881EEE-4F13-4DC9-B8A4-B54C0C3C05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6" y="503546"/>
            <a:ext cx="9579925" cy="252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GB"/>
              <a:t>Edit master title format</a:t>
            </a: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22C7C99F-364C-426F-8FE4-3FD5F0CADA8A}"/>
              </a:ext>
            </a:extLst>
          </p:cNvPr>
          <p:cNvSpPr txBox="1"/>
          <p:nvPr/>
        </p:nvSpPr>
        <p:spPr>
          <a:xfrm>
            <a:off x="479425" y="6592970"/>
            <a:ext cx="1453924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GB" sz="800">
                <a:solidFill>
                  <a:schemeClr val="tx2"/>
                </a:solidFill>
              </a:rPr>
              <a:t>© ANDREAS STIHL AG &amp; Co. KG</a:t>
            </a:r>
          </a:p>
        </p:txBody>
      </p:sp>
      <p:sp>
        <p:nvSpPr>
          <p:cNvPr id="12" name="Slide Number">
            <a:extLst>
              <a:ext uri="{FF2B5EF4-FFF2-40B4-BE49-F238E27FC236}">
                <a16:creationId xmlns:a16="http://schemas.microsoft.com/office/drawing/2014/main" id="{B120AD0C-5E57-45D6-8C62-2EFE6678CD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528228" y="6592970"/>
            <a:ext cx="184346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de-DE"/>
            </a:defPPr>
            <a:lvl1pPr>
              <a:defRPr sz="800">
                <a:solidFill>
                  <a:schemeClr val="tx2"/>
                </a:solidFill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1300" b="1" kern="1200">
                <a:solidFill>
                  <a:schemeClr val="tx1"/>
                </a:solidFill>
                <a:latin typeface="Arial Narrow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1300" b="1" kern="1200">
                <a:solidFill>
                  <a:schemeClr val="tx1"/>
                </a:solidFill>
                <a:latin typeface="Arial Narrow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1300" b="1" kern="1200">
                <a:solidFill>
                  <a:schemeClr val="tx1"/>
                </a:solidFill>
                <a:latin typeface="Arial Narrow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1300" b="1" kern="1200">
                <a:solidFill>
                  <a:schemeClr val="tx1"/>
                </a:solidFill>
                <a:latin typeface="Arial Narrow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300" b="1" kern="1200">
                <a:solidFill>
                  <a:schemeClr val="tx1"/>
                </a:solidFill>
                <a:latin typeface="Arial Narrow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300" b="1" kern="1200">
                <a:solidFill>
                  <a:schemeClr val="tx1"/>
                </a:solidFill>
                <a:latin typeface="Arial Narrow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300" b="1" kern="1200">
                <a:solidFill>
                  <a:schemeClr val="tx1"/>
                </a:solidFill>
                <a:latin typeface="Arial Narrow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300" b="1" kern="1200">
                <a:solidFill>
                  <a:schemeClr val="tx1"/>
                </a:solidFill>
                <a:latin typeface="Arial Narrow" charset="0"/>
                <a:ea typeface="+mn-ea"/>
                <a:cs typeface="+mn-cs"/>
              </a:defRPr>
            </a:lvl9pPr>
          </a:lstStyle>
          <a:p>
            <a:pPr lvl="0" algn="r"/>
            <a:fld id="{7AA7B471-74A3-4F5F-8955-6C99E2375CAC}" type="slidenum">
              <a:rPr lang="en-GB" noProof="1" smtClean="0">
                <a:sym typeface="+mn-lt"/>
              </a:rPr>
              <a:pPr lvl="0" algn="r"/>
              <a:t>‹Nr.›</a:t>
            </a:fld>
            <a:endParaRPr lang="en-GB" noProof="1">
              <a:sym typeface="+mn-lt"/>
            </a:endParaRPr>
          </a:p>
        </p:txBody>
      </p:sp>
      <p:cxnSp>
        <p:nvCxnSpPr>
          <p:cNvPr id="23" name="Gerade Verbindung 7">
            <a:extLst>
              <a:ext uri="{FF2B5EF4-FFF2-40B4-BE49-F238E27FC236}">
                <a16:creationId xmlns:a16="http://schemas.microsoft.com/office/drawing/2014/main" id="{28D584E0-5EF6-4DC5-B2D7-FFDA778CFAC1}"/>
              </a:ext>
            </a:extLst>
          </p:cNvPr>
          <p:cNvCxnSpPr>
            <a:cxnSpLocks/>
          </p:cNvCxnSpPr>
          <p:nvPr/>
        </p:nvCxnSpPr>
        <p:spPr>
          <a:xfrm>
            <a:off x="10059360" y="-190500"/>
            <a:ext cx="0" cy="126643"/>
          </a:xfrm>
          <a:prstGeom prst="line">
            <a:avLst/>
          </a:prstGeom>
          <a:ln w="12700" cap="rnd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E531305B-43CE-446C-88D1-BBDB274572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9426" y="1130298"/>
            <a:ext cx="11233147" cy="532274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GB"/>
              <a:t>Edit master text format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cxnSp>
        <p:nvCxnSpPr>
          <p:cNvPr id="18" name="Gerade Verbindung 7">
            <a:extLst>
              <a:ext uri="{FF2B5EF4-FFF2-40B4-BE49-F238E27FC236}">
                <a16:creationId xmlns:a16="http://schemas.microsoft.com/office/drawing/2014/main" id="{EFB36787-F98E-4B12-B104-EEBBD9EECC10}"/>
              </a:ext>
            </a:extLst>
          </p:cNvPr>
          <p:cNvCxnSpPr>
            <a:cxnSpLocks/>
          </p:cNvCxnSpPr>
          <p:nvPr/>
        </p:nvCxnSpPr>
        <p:spPr>
          <a:xfrm>
            <a:off x="902806" y="-190500"/>
            <a:ext cx="0" cy="126643"/>
          </a:xfrm>
          <a:prstGeom prst="line">
            <a:avLst/>
          </a:prstGeom>
          <a:ln w="12700" cap="rnd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Gerade Verbindung 7">
            <a:extLst>
              <a:ext uri="{FF2B5EF4-FFF2-40B4-BE49-F238E27FC236}">
                <a16:creationId xmlns:a16="http://schemas.microsoft.com/office/drawing/2014/main" id="{465918F8-CA5D-4293-89DC-F10E8B1C5462}"/>
              </a:ext>
            </a:extLst>
          </p:cNvPr>
          <p:cNvCxnSpPr>
            <a:cxnSpLocks/>
          </p:cNvCxnSpPr>
          <p:nvPr/>
        </p:nvCxnSpPr>
        <p:spPr>
          <a:xfrm>
            <a:off x="691116" y="-190500"/>
            <a:ext cx="0" cy="126643"/>
          </a:xfrm>
          <a:prstGeom prst="line">
            <a:avLst/>
          </a:prstGeom>
          <a:ln w="12700" cap="rnd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Gerade Verbindung 7">
            <a:extLst>
              <a:ext uri="{FF2B5EF4-FFF2-40B4-BE49-F238E27FC236}">
                <a16:creationId xmlns:a16="http://schemas.microsoft.com/office/drawing/2014/main" id="{160AE795-C735-4204-9FF6-8CD4C42875B3}"/>
              </a:ext>
            </a:extLst>
          </p:cNvPr>
          <p:cNvCxnSpPr>
            <a:cxnSpLocks/>
          </p:cNvCxnSpPr>
          <p:nvPr/>
        </p:nvCxnSpPr>
        <p:spPr>
          <a:xfrm>
            <a:off x="479426" y="-190500"/>
            <a:ext cx="0" cy="126643"/>
          </a:xfrm>
          <a:prstGeom prst="line">
            <a:avLst/>
          </a:prstGeom>
          <a:ln w="12700" cap="rnd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Gerade Verbindung 7">
            <a:extLst>
              <a:ext uri="{FF2B5EF4-FFF2-40B4-BE49-F238E27FC236}">
                <a16:creationId xmlns:a16="http://schemas.microsoft.com/office/drawing/2014/main" id="{0F42B521-F5CC-46CF-86E8-5B383F9E4C65}"/>
              </a:ext>
            </a:extLst>
          </p:cNvPr>
          <p:cNvCxnSpPr>
            <a:cxnSpLocks/>
          </p:cNvCxnSpPr>
          <p:nvPr/>
        </p:nvCxnSpPr>
        <p:spPr>
          <a:xfrm rot="5400000">
            <a:off x="-160655" y="196071"/>
            <a:ext cx="0" cy="126643"/>
          </a:xfrm>
          <a:prstGeom prst="line">
            <a:avLst/>
          </a:prstGeom>
          <a:ln w="12700" cap="rnd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Grafik 13"/>
          <p:cNvPicPr>
            <a:picLocks noChangeAspect="1"/>
          </p:cNvPicPr>
          <p:nvPr/>
        </p:nvPicPr>
        <p:blipFill>
          <a:blip r:embed="rId3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30261" y="502821"/>
            <a:ext cx="1385810" cy="287488"/>
          </a:xfrm>
          <a:prstGeom prst="rect">
            <a:avLst/>
          </a:prstGeom>
        </p:spPr>
      </p:pic>
      <p:sp>
        <p:nvSpPr>
          <p:cNvPr id="4" name="MSIPCMContentMarking" descr="{&quot;HashCode&quot;:-1642666559,&quot;Placement&quot;:&quot;Header&quot;,&quot;Top&quot;:0.0,&quot;Left&quot;:435.1923,&quot;SlideWidth&quot;:960,&quot;SlideHeight&quot;:540}"/>
          <p:cNvSpPr txBox="1"/>
          <p:nvPr userDrawn="1"/>
        </p:nvSpPr>
        <p:spPr>
          <a:xfrm>
            <a:off x="5526942" y="0"/>
            <a:ext cx="1138115" cy="24919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1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de-DE" sz="1000">
                <a:solidFill>
                  <a:srgbClr val="B1B1B1"/>
                </a:solidFill>
                <a:latin typeface="Arial" panose="020B0604020202020204" pitchFamily="34" charset="0"/>
              </a:rPr>
              <a:t>Intern | Internal</a:t>
            </a:r>
            <a:endParaRPr lang="de-DE" sz="1000" err="1">
              <a:solidFill>
                <a:srgbClr val="B1B1B1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234655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  <p:sldLayoutId id="2147483696" r:id="rId12"/>
    <p:sldLayoutId id="2147483697" r:id="rId13"/>
    <p:sldLayoutId id="2147483698" r:id="rId14"/>
    <p:sldLayoutId id="2147483699" r:id="rId15"/>
    <p:sldLayoutId id="2147483700" r:id="rId16"/>
    <p:sldLayoutId id="2147483709" r:id="rId17"/>
    <p:sldLayoutId id="2147483703" r:id="rId18"/>
    <p:sldLayoutId id="2147483704" r:id="rId19"/>
    <p:sldLayoutId id="2147483705" r:id="rId20"/>
    <p:sldLayoutId id="2147483706" r:id="rId21"/>
    <p:sldLayoutId id="2147483707" r:id="rId22"/>
    <p:sldLayoutId id="2147483701" r:id="rId23"/>
    <p:sldLayoutId id="2147483710" r:id="rId24"/>
    <p:sldLayoutId id="2147483712" r:id="rId25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200" b="1" kern="1200" cap="none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lang="de-DE" sz="1800" kern="1200" dirty="0">
          <a:solidFill>
            <a:schemeClr val="tx1"/>
          </a:solidFill>
          <a:latin typeface="+mn-lt"/>
          <a:ea typeface="+mn-ea"/>
          <a:cs typeface="+mn-cs"/>
        </a:defRPr>
      </a:lvl1pPr>
      <a:lvl2pPr marL="176213" indent="-176213" algn="l" defTabSz="9144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tabLst/>
        <a:defRPr lang="de-DE" sz="1800" kern="1200" baseline="0" dirty="0">
          <a:solidFill>
            <a:schemeClr val="tx1"/>
          </a:solidFill>
          <a:latin typeface="+mn-lt"/>
          <a:ea typeface="+mn-ea"/>
          <a:cs typeface="+mn-cs"/>
        </a:defRPr>
      </a:lvl2pPr>
      <a:lvl3pPr marL="358775" indent="-182563" algn="l" defTabSz="9144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lang="de-DE" sz="1600" kern="1200" dirty="0">
          <a:solidFill>
            <a:schemeClr val="tx1"/>
          </a:solidFill>
          <a:latin typeface="+mn-lt"/>
          <a:ea typeface="+mn-ea"/>
          <a:cs typeface="+mn-cs"/>
        </a:defRPr>
      </a:lvl3pPr>
      <a:lvl4pPr marL="534988" indent="-176213" algn="l" defTabSz="9144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lang="de-DE" sz="1400" kern="1200" dirty="0">
          <a:solidFill>
            <a:schemeClr val="tx1"/>
          </a:solidFill>
          <a:latin typeface="+mn-lt"/>
          <a:ea typeface="+mn-ea"/>
          <a:cs typeface="+mn-cs"/>
        </a:defRPr>
      </a:lvl4pPr>
      <a:lvl5pPr marL="719138" indent="-184150" algn="l" defTabSz="9144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lang="de-DE" sz="1200" kern="1200" dirty="0">
          <a:solidFill>
            <a:schemeClr val="tx1"/>
          </a:solidFill>
          <a:latin typeface="+mn-lt"/>
          <a:ea typeface="+mn-ea"/>
          <a:cs typeface="+mn-cs"/>
        </a:defRPr>
      </a:lvl5pPr>
      <a:lvl6pPr marL="3155950" indent="-262255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de-DE" sz="1800" kern="1200" dirty="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pos="301">
          <p15:clr>
            <a:srgbClr val="F26B43"/>
          </p15:clr>
        </p15:guide>
        <p15:guide id="4" pos="7379">
          <p15:clr>
            <a:srgbClr val="F26B43"/>
          </p15:clr>
        </p15:guide>
        <p15:guide id="5" orient="horz" pos="317">
          <p15:clr>
            <a:srgbClr val="F26B43"/>
          </p15:clr>
        </p15:guide>
        <p15:guide id="10" orient="horz" pos="4066">
          <p15:clr>
            <a:srgbClr val="F26B43"/>
          </p15:clr>
        </p15:guide>
        <p15:guide id="11" orient="horz" pos="1010">
          <p15:clr>
            <a:srgbClr val="F26B43"/>
          </p15:clr>
        </p15:guide>
        <p15:guide id="13" orient="horz" pos="712">
          <p15:clr>
            <a:srgbClr val="F26B43"/>
          </p15:clr>
        </p15:guide>
        <p15:guide id="14" orient="horz" pos="163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Vorgehensweise nach Vorstandsprotokoll 01.07.2026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Alex Passaro · Torsten Zahn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Stand: 15.09.2026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Case SEPM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Inhaltsverzeichnis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301752" y="960120"/>
            <a:ext cx="5655564" cy="128016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01752" y="960120"/>
            <a:ext cx="5655564" cy="411480"/>
          </a:xfrm>
          <a:prstGeom prst="round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93192" y="1014984"/>
            <a:ext cx="320040" cy="310896"/>
          </a:xfrm>
          <a:prstGeom prst="round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93192" y="1014984"/>
            <a:ext cx="32004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1014984"/>
            <a:ext cx="5061203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Klaerung Vorstands-Antraege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93192" y="1463040"/>
            <a:ext cx="320040" cy="256032"/>
          </a:xfrm>
          <a:prstGeom prst="round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93192" y="1463040"/>
            <a:ext cx="320040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1463040"/>
            <a:ext cx="5061203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Massnahmen-Mgmt Hype: Begruendung Out-of-Scope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93192" y="1783080"/>
            <a:ext cx="320040" cy="256032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93192" y="1783080"/>
            <a:ext cx="320040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" y="1783080"/>
            <a:ext cx="5061203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SNOW-Prozessabdeckung + App-Engine-Strategie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01752" y="2377439"/>
            <a:ext cx="5655564" cy="3200399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01752" y="2377439"/>
            <a:ext cx="5655564" cy="411480"/>
          </a:xfrm>
          <a:prstGeom prst="round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93192" y="2432303"/>
            <a:ext cx="320040" cy="310896"/>
          </a:xfrm>
          <a:prstGeom prst="round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93192" y="2432303"/>
            <a:ext cx="32004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" y="2432303"/>
            <a:ext cx="5061203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Business Case &amp; Komplexitaets-Reduzierung  (Punkt 4)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93192" y="2880359"/>
            <a:ext cx="320040" cy="256032"/>
          </a:xfrm>
          <a:prstGeom prst="round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93192" y="2880359"/>
            <a:ext cx="320040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4672" y="2880359"/>
            <a:ext cx="5061203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Business Case Methodik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93192" y="3200399"/>
            <a:ext cx="320040" cy="256032"/>
          </a:xfrm>
          <a:prstGeom prst="round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93192" y="3200399"/>
            <a:ext cx="320040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4672" y="3200399"/>
            <a:ext cx="5061203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Business Value Analyse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93192" y="3520439"/>
            <a:ext cx="320040" cy="256032"/>
          </a:xfrm>
          <a:prstGeom prst="round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93192" y="3520439"/>
            <a:ext cx="320040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4672" y="3520439"/>
            <a:ext cx="5061203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TCO 5 Jahre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93192" y="3840479"/>
            <a:ext cx="320040" cy="256032"/>
          </a:xfrm>
          <a:prstGeom prst="round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93192" y="3840479"/>
            <a:ext cx="320040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10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4672" y="3840479"/>
            <a:ext cx="5061203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Support-Kosten Detail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93192" y="4160519"/>
            <a:ext cx="320040" cy="256032"/>
          </a:xfrm>
          <a:prstGeom prst="round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93192" y="4160519"/>
            <a:ext cx="320040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11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4672" y="4160519"/>
            <a:ext cx="5061203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Konsolidierung Tools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93192" y="4480559"/>
            <a:ext cx="320040" cy="256032"/>
          </a:xfrm>
          <a:prstGeom prst="round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93192" y="4480559"/>
            <a:ext cx="320040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12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04672" y="4480559"/>
            <a:ext cx="5061203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Konsolidierung Schnittstellen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93192" y="4800599"/>
            <a:ext cx="320040" cy="256032"/>
          </a:xfrm>
          <a:prstGeom prst="round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93192" y="4800599"/>
            <a:ext cx="320040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13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04672" y="4800599"/>
            <a:ext cx="5061203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Flankierende Prozesse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93192" y="5120640"/>
            <a:ext cx="320040" cy="256032"/>
          </a:xfrm>
          <a:prstGeom prst="round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93192" y="5120640"/>
            <a:ext cx="320040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14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04672" y="5120640"/>
            <a:ext cx="5061203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Komplexitaets-Reduzierung PC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301752" y="5714999"/>
            <a:ext cx="5655564" cy="192024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301752" y="5714999"/>
            <a:ext cx="5655564" cy="411480"/>
          </a:xfrm>
          <a:prstGeom prst="round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393192" y="5769863"/>
            <a:ext cx="320040" cy="310896"/>
          </a:xfrm>
          <a:prstGeom prst="round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93192" y="5769863"/>
            <a:ext cx="32004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04672" y="5769863"/>
            <a:ext cx="5061203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Alternativen &amp; Umsetzung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393192" y="6217919"/>
            <a:ext cx="320040" cy="256032"/>
          </a:xfrm>
          <a:prstGeom prst="round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93192" y="6217919"/>
            <a:ext cx="320040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15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04672" y="6217919"/>
            <a:ext cx="5061203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Alternative PM-Plattform (Hedge)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393192" y="6537959"/>
            <a:ext cx="320040" cy="256032"/>
          </a:xfrm>
          <a:prstGeom prst="round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93192" y="6537959"/>
            <a:ext cx="320040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16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04672" y="6537959"/>
            <a:ext cx="5061203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Einfuehrungs-Szenarien A / B / C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393192" y="6857999"/>
            <a:ext cx="320040" cy="256032"/>
          </a:xfrm>
          <a:prstGeom prst="round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93192" y="6857999"/>
            <a:ext cx="320040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17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04672" y="6857999"/>
            <a:ext cx="5061203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Szenario A Detail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393192" y="7178039"/>
            <a:ext cx="320040" cy="256032"/>
          </a:xfrm>
          <a:prstGeom prst="round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393192" y="7178039"/>
            <a:ext cx="320040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18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04672" y="7178039"/>
            <a:ext cx="5061203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Budgetplanung Jahresplanung 2027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6231636" y="960120"/>
            <a:ext cx="5655564" cy="1600199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ounded Rectangle 61"/>
          <p:cNvSpPr/>
          <p:nvPr/>
        </p:nvSpPr>
        <p:spPr>
          <a:xfrm>
            <a:off x="6231636" y="960120"/>
            <a:ext cx="5655564" cy="411480"/>
          </a:xfrm>
          <a:prstGeom prst="round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ounded Rectangle 62"/>
          <p:cNvSpPr/>
          <p:nvPr/>
        </p:nvSpPr>
        <p:spPr>
          <a:xfrm>
            <a:off x="6323075" y="1014984"/>
            <a:ext cx="320040" cy="310896"/>
          </a:xfrm>
          <a:prstGeom prst="round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323075" y="1014984"/>
            <a:ext cx="32004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734555" y="1014984"/>
            <a:ext cx="5061203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Risiken Plattform-Abhaengigkeit  (Punkt 6)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6323075" y="1463040"/>
            <a:ext cx="320040" cy="256032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323075" y="1463040"/>
            <a:ext cx="320040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19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734555" y="1463040"/>
            <a:ext cx="5061203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Risiko-Matrix ServiceNow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6323075" y="1783080"/>
            <a:ext cx="320040" cy="256032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323075" y="1783080"/>
            <a:ext cx="320040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20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734555" y="1783080"/>
            <a:ext cx="5061203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Vertragshistorie SNOW + Referenzkunden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6323075" y="2103120"/>
            <a:ext cx="320040" cy="256032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323075" y="2103120"/>
            <a:ext cx="320040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21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734555" y="2103120"/>
            <a:ext cx="5061203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Lockin, EAM Plattformstrategie &amp; AI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6231636" y="2697479"/>
            <a:ext cx="5655564" cy="96012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ounded Rectangle 75"/>
          <p:cNvSpPr/>
          <p:nvPr/>
        </p:nvSpPr>
        <p:spPr>
          <a:xfrm>
            <a:off x="6231636" y="2697479"/>
            <a:ext cx="5655564" cy="411480"/>
          </a:xfrm>
          <a:prstGeom prst="round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ounded Rectangle 76"/>
          <p:cNvSpPr/>
          <p:nvPr/>
        </p:nvSpPr>
        <p:spPr>
          <a:xfrm>
            <a:off x="6323075" y="2752344"/>
            <a:ext cx="320040" cy="310896"/>
          </a:xfrm>
          <a:prstGeom prst="round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6323075" y="2752344"/>
            <a:ext cx="32004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E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734555" y="2752344"/>
            <a:ext cx="5061203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Empfehlung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6323075" y="3200400"/>
            <a:ext cx="320040" cy="256032"/>
          </a:xfrm>
          <a:prstGeom prst="round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6323075" y="3200400"/>
            <a:ext cx="320040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22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734555" y="3200400"/>
            <a:ext cx="5061203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ROI &amp; Empfehlung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301752" y="6172200"/>
            <a:ext cx="11585448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00" b="0" i="1">
                <a:solidFill>
                  <a:srgbClr val="4B5563"/>
                </a:solidFill>
                <a:latin typeface="Calibri"/>
              </a:rPr>
              <a:t>Struktur folgt dem Vorstandsprotokoll SEPM (01.07.2026). Farben: gruen = in Arbeit, rot = out of scope, navy = Bestandteil Business Case.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Vorstandsprotokoll SEPM — Ausgangsbasis der Vorgehensweise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301752" y="960120"/>
            <a:ext cx="11585448" cy="292608"/>
          </a:xfrm>
          <a:prstGeom prst="round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01752" y="960120"/>
            <a:ext cx="457200" cy="29260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#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" y="960120"/>
            <a:ext cx="548640" cy="29260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Typ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07592" y="960120"/>
            <a:ext cx="5943600" cy="29260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Thema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51192" y="960120"/>
            <a:ext cx="3200400" cy="29260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Vorstands-Anmerkung / Status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51592" y="960120"/>
            <a:ext cx="822960" cy="29260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Verantw.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74552" y="960120"/>
            <a:ext cx="822960" cy="29260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Frist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01752" y="1325880"/>
            <a:ext cx="11585448" cy="73152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01752" y="1325880"/>
            <a:ext cx="73152" cy="73152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93192" y="1325880"/>
            <a:ext cx="457200" cy="7315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200" b="1" i="0">
                <a:solidFill>
                  <a:srgbClr val="1F2937"/>
                </a:solidFill>
                <a:latin typeface="Calibri"/>
              </a:rPr>
              <a:t>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50392" y="1545336"/>
            <a:ext cx="365760" cy="274320"/>
          </a:xfrm>
          <a:prstGeom prst="round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" y="1545336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99032" y="1325880"/>
            <a:ext cx="5760720" cy="7315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  <a:latin typeface="Calibri"/>
              </a:rPr>
              <a:t>Dem Antrag wird zugestimmt · Tiefergehende Analyse SNOW · Entscheidungsvorlage + Implementierungsplan · Jahresplanung 2027 VS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42631" y="1371600"/>
            <a:ext cx="3017520" cy="201168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42631" y="1371600"/>
            <a:ext cx="3017520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beschlossen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42631" y="1600200"/>
            <a:ext cx="3017520" cy="438912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00" b="0" i="1">
                <a:solidFill>
                  <a:srgbClr val="2E7D32"/>
                </a:solidFill>
                <a:latin typeface="Calibri"/>
              </a:rPr>
              <a:t>Beschlossen — dieser Business Case ist die Umsetzung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451592" y="1325880"/>
            <a:ext cx="822960" cy="7315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850" b="0" i="0">
                <a:solidFill>
                  <a:srgbClr val="1F2937"/>
                </a:solidFill>
                <a:latin typeface="Calibri"/>
              </a:rPr>
              <a:t>D8/ODS · D1/SEH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74552" y="1325880"/>
            <a:ext cx="822960" cy="7315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900" b="1" i="0">
                <a:solidFill>
                  <a:srgbClr val="1F2937"/>
                </a:solidFill>
                <a:latin typeface="Calibri"/>
              </a:rPr>
              <a:t>Ende 08/2026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01752" y="2103120"/>
            <a:ext cx="11585448" cy="731520"/>
          </a:xfrm>
          <a:prstGeom prst="roundRect">
            <a:avLst/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01752" y="2103120"/>
            <a:ext cx="73152" cy="731520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93192" y="2103120"/>
            <a:ext cx="457200" cy="7315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200" b="1" i="0">
                <a:solidFill>
                  <a:srgbClr val="1F2937"/>
                </a:solidFill>
                <a:latin typeface="Calibri"/>
              </a:rPr>
              <a:t>2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50392" y="2322576"/>
            <a:ext cx="365760" cy="274320"/>
          </a:xfrm>
          <a:prstGeom prst="round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0392" y="2322576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99032" y="2103120"/>
            <a:ext cx="5760720" cy="7315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  <a:latin typeface="Calibri"/>
              </a:rPr>
              <a:t>Prueft, ob 'Hype' (Massnahmenmgmt) durch SNOW abgeloest werden kann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42631" y="2148840"/>
            <a:ext cx="3017520" cy="201168"/>
          </a:xfrm>
          <a:prstGeom prst="round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42631" y="2148840"/>
            <a:ext cx="3017520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OUT OF SCOPE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42631" y="2377440"/>
            <a:ext cx="3017520" cy="438912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00" b="0" i="1">
                <a:solidFill>
                  <a:srgbClr val="B91C1C"/>
                </a:solidFill>
                <a:latin typeface="Calibri"/>
              </a:rPr>
              <a:t>Hype stark customized → Vorschlag Out-of-Scope (nur Begruendung)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451592" y="2103120"/>
            <a:ext cx="822960" cy="7315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850" b="0" i="0">
                <a:solidFill>
                  <a:srgbClr val="1F2937"/>
                </a:solidFill>
                <a:latin typeface="Calibri"/>
              </a:rPr>
              <a:t>D8/ODS · D1/SEH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274552" y="2103120"/>
            <a:ext cx="822960" cy="7315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900" b="1" i="0">
                <a:solidFill>
                  <a:srgbClr val="1F2937"/>
                </a:solidFill>
                <a:latin typeface="Calibri"/>
              </a:rPr>
              <a:t>Ende 08/2026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01752" y="2880360"/>
            <a:ext cx="11585448" cy="73152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01752" y="2880360"/>
            <a:ext cx="73152" cy="73152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93192" y="2880360"/>
            <a:ext cx="457200" cy="7315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200" b="1" i="0">
                <a:solidFill>
                  <a:srgbClr val="1F2937"/>
                </a:solidFill>
                <a:latin typeface="Calibri"/>
              </a:rPr>
              <a:t>3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50392" y="3099816"/>
            <a:ext cx="365760" cy="274320"/>
          </a:xfrm>
          <a:prstGeom prst="round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50392" y="3099816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399032" y="2880360"/>
            <a:ext cx="5760720" cy="7315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  <a:latin typeface="Calibri"/>
              </a:rPr>
              <a:t>Prueft SNOW-Abdeckung Schluesselprozesse / App Engine (keine Standardisierung um jeden Preis)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342631" y="2926080"/>
            <a:ext cx="3017520" cy="201168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342631" y="2926080"/>
            <a:ext cx="3017520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IN PROGRESS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342631" y="3154680"/>
            <a:ext cx="3017520" cy="438912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00" b="0" i="1">
                <a:solidFill>
                  <a:srgbClr val="2E7D32"/>
                </a:solidFill>
                <a:latin typeface="Calibri"/>
              </a:rPr>
              <a:t>In Progress — siehe Vorhaben-Plan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451592" y="2880360"/>
            <a:ext cx="822960" cy="7315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850" b="0" i="0">
                <a:solidFill>
                  <a:srgbClr val="1F2937"/>
                </a:solidFill>
                <a:latin typeface="Calibri"/>
              </a:rPr>
              <a:t>D8/ODS · D1/SEH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274552" y="2880360"/>
            <a:ext cx="822960" cy="7315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900" b="1" i="0">
                <a:solidFill>
                  <a:srgbClr val="1F2937"/>
                </a:solidFill>
                <a:latin typeface="Calibri"/>
              </a:rPr>
              <a:t>Ende 08/2026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301752" y="3657600"/>
            <a:ext cx="11585448" cy="731520"/>
          </a:xfrm>
          <a:prstGeom prst="roundRect">
            <a:avLst/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301752" y="3657600"/>
            <a:ext cx="73152" cy="73152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93192" y="3657600"/>
            <a:ext cx="457200" cy="7315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200" b="1" i="0">
                <a:solidFill>
                  <a:srgbClr val="1F2937"/>
                </a:solidFill>
                <a:latin typeface="Calibri"/>
              </a:rPr>
              <a:t>4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50392" y="3877056"/>
            <a:ext cx="365760" cy="274320"/>
          </a:xfrm>
          <a:prstGeom prst="round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50392" y="3877056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399032" y="3657600"/>
            <a:ext cx="5760720" cy="7315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  <a:latin typeface="Calibri"/>
              </a:rPr>
              <a:t>Governance-Strukturen, Prozess-Aufwand (FTE) im Folgeprojekt bewerten (Komplexitaet vermeiden)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7342631" y="3703320"/>
            <a:ext cx="3017520" cy="201168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342631" y="3703320"/>
            <a:ext cx="3017520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IN PROGRESS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342631" y="3931920"/>
            <a:ext cx="3017520" cy="438912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00" b="0" i="1">
                <a:solidFill>
                  <a:srgbClr val="2E7D32"/>
                </a:solidFill>
                <a:latin typeface="Calibri"/>
              </a:rPr>
              <a:t>In Progress — Business Case + Komplexitaets-Reduzierung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451592" y="3657600"/>
            <a:ext cx="822960" cy="7315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850" b="0" i="0">
                <a:solidFill>
                  <a:srgbClr val="1F2937"/>
                </a:solidFill>
                <a:latin typeface="Calibri"/>
              </a:rPr>
              <a:t>D8/ODS · D1/SEH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1274552" y="3657600"/>
            <a:ext cx="822960" cy="7315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900" b="1" i="0">
                <a:solidFill>
                  <a:srgbClr val="1F2937"/>
                </a:solidFill>
                <a:latin typeface="Calibri"/>
              </a:rPr>
              <a:t>Ende 08/2026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301752" y="4434840"/>
            <a:ext cx="11585448" cy="73152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301752" y="4434840"/>
            <a:ext cx="73152" cy="731520"/>
          </a:xfrm>
          <a:prstGeom prst="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93192" y="4434840"/>
            <a:ext cx="457200" cy="7315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200" b="1" i="0">
                <a:solidFill>
                  <a:srgbClr val="1F2937"/>
                </a:solidFill>
                <a:latin typeface="Calibri"/>
              </a:rPr>
              <a:t>5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850392" y="4654296"/>
            <a:ext cx="365760" cy="274320"/>
          </a:xfrm>
          <a:prstGeom prst="round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50392" y="4654296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I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399032" y="4434840"/>
            <a:ext cx="5760720" cy="7315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  <a:latin typeface="Calibri"/>
              </a:rPr>
              <a:t>Support fuer PIT limitiert — Ablose durch SNOW im Folgeprojekt pruefen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7342631" y="4480559"/>
            <a:ext cx="3017520" cy="201168"/>
          </a:xfrm>
          <a:prstGeom prst="round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342631" y="4480559"/>
            <a:ext cx="3017520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INFORMATION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342631" y="4709159"/>
            <a:ext cx="3017520" cy="438912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00" b="0" i="1">
                <a:solidFill>
                  <a:srgbClr val="2C3E50"/>
                </a:solidFill>
                <a:latin typeface="Calibri"/>
              </a:rPr>
              <a:t>Information — als Kontext im Business Case beruecksichtigt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451592" y="4434840"/>
            <a:ext cx="822960" cy="7315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850" b="0" i="0">
                <a:solidFill>
                  <a:srgbClr val="1F2937"/>
                </a:solidFill>
                <a:latin typeface="Calibri"/>
              </a:rPr>
              <a:t>—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1274552" y="4434840"/>
            <a:ext cx="822960" cy="7315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900" b="1" i="0">
                <a:solidFill>
                  <a:srgbClr val="1F2937"/>
                </a:solidFill>
                <a:latin typeface="Calibri"/>
              </a:rPr>
              <a:t>—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301752" y="5212080"/>
            <a:ext cx="11585448" cy="731520"/>
          </a:xfrm>
          <a:prstGeom prst="roundRect">
            <a:avLst/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301752" y="5212080"/>
            <a:ext cx="73152" cy="73152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93192" y="5212080"/>
            <a:ext cx="457200" cy="7315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200" b="1" i="0">
                <a:solidFill>
                  <a:srgbClr val="1F2937"/>
                </a:solidFill>
                <a:latin typeface="Calibri"/>
              </a:rPr>
              <a:t>6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850392" y="5431536"/>
            <a:ext cx="365760" cy="274320"/>
          </a:xfrm>
          <a:prstGeom prst="round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850392" y="5431536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399032" y="5212080"/>
            <a:ext cx="5760720" cy="7315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  <a:latin typeface="Calibri"/>
              </a:rPr>
              <a:t>SNOW Plattform-Abhaengigkeitsrisiko pruefen (Vergleich mit SAP)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7342631" y="5257800"/>
            <a:ext cx="3017520" cy="201168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7342631" y="5257800"/>
            <a:ext cx="3017520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IN PROGRESS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7342631" y="5486400"/>
            <a:ext cx="3017520" cy="438912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00" b="0" i="1">
                <a:solidFill>
                  <a:srgbClr val="2E7D32"/>
                </a:solidFill>
                <a:latin typeface="Calibri"/>
              </a:rPr>
              <a:t>Risikomatrix, Referenzkunden, Lockin, SNOW-STIHL-Historie, AI Vibe Coding, EAM Plattformstrategie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451592" y="5212080"/>
            <a:ext cx="822960" cy="7315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850" b="0" i="0">
                <a:solidFill>
                  <a:srgbClr val="1F2937"/>
                </a:solidFill>
                <a:latin typeface="Calibri"/>
              </a:rPr>
              <a:t>D8/ODS · D1/SEH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1274552" y="5212080"/>
            <a:ext cx="822960" cy="7315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900" b="1" i="0">
                <a:solidFill>
                  <a:srgbClr val="1F2937"/>
                </a:solidFill>
                <a:latin typeface="Calibri"/>
              </a:rPr>
              <a:t>Ende 08/2026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301752" y="6217920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00" b="1" i="0">
                <a:solidFill>
                  <a:srgbClr val="1F2937"/>
                </a:solidFill>
                <a:latin typeface="Calibri"/>
              </a:rPr>
              <a:t>Legende: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1124712" y="6281927"/>
            <a:ext cx="182880" cy="146304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1380744" y="6217920"/>
            <a:ext cx="2560320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00" b="0" i="0">
                <a:solidFill>
                  <a:srgbClr val="1F2937"/>
                </a:solidFill>
                <a:latin typeface="Calibri"/>
              </a:rPr>
              <a:t>In Progress / beschlossen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4050791" y="6281927"/>
            <a:ext cx="182880" cy="146304"/>
          </a:xfrm>
          <a:prstGeom prst="round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4306824" y="6217920"/>
            <a:ext cx="2560320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00" b="0" i="0">
                <a:solidFill>
                  <a:srgbClr val="1F2937"/>
                </a:solidFill>
                <a:latin typeface="Calibri"/>
              </a:rPr>
              <a:t>Out of Scope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6976872" y="6281927"/>
            <a:ext cx="182880" cy="146304"/>
          </a:xfrm>
          <a:prstGeom prst="round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7232904" y="6217920"/>
            <a:ext cx="2560320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00" b="0" i="0">
                <a:solidFill>
                  <a:srgbClr val="1F2937"/>
                </a:solidFill>
                <a:latin typeface="Calibri"/>
              </a:rPr>
              <a:t>Information (kein Auftrag)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Vorgehensweise &amp; Zeitplan bis Vorstandssitzung Q3 2026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301752" y="960120"/>
            <a:ext cx="11585448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100" b="0" i="1">
                <a:solidFill>
                  <a:srgbClr val="4B5563"/>
                </a:solidFill>
                <a:latin typeface="Calibri"/>
              </a:rPr>
              <a:t>Umsetzungspfad: alle Antraege des Vorstandsprotokolls werden bis Ende 08/2026 abgearbeitet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044952" y="1417320"/>
            <a:ext cx="2901696" cy="320040"/>
          </a:xfrm>
          <a:prstGeom prst="roundRect">
            <a:avLst/>
          </a:prstGeom>
          <a:solidFill>
            <a:srgbClr val="FDE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044952" y="1417320"/>
            <a:ext cx="2901696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100" b="1" i="0">
                <a:solidFill>
                  <a:srgbClr val="1F2937"/>
                </a:solidFill>
                <a:latin typeface="Calibri"/>
              </a:rPr>
              <a:t>Juli 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92367" y="1417320"/>
            <a:ext cx="2901696" cy="320040"/>
          </a:xfrm>
          <a:prstGeom prst="roundRect">
            <a:avLst/>
          </a:prstGeom>
          <a:solidFill>
            <a:srgbClr val="E96C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92367" y="1417320"/>
            <a:ext cx="2901696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Aug 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39784" y="1417320"/>
            <a:ext cx="2901696" cy="320040"/>
          </a:xfrm>
          <a:prstGeom prst="roundRect">
            <a:avLst/>
          </a:prstGeom>
          <a:solidFill>
            <a:srgbClr val="FDE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39784" y="1417320"/>
            <a:ext cx="2901696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100" b="1" i="0">
                <a:solidFill>
                  <a:srgbClr val="1F2937"/>
                </a:solidFill>
                <a:latin typeface="Calibri"/>
              </a:rPr>
              <a:t>Sept 26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044952" y="1801368"/>
            <a:ext cx="8842248" cy="27432"/>
          </a:xfrm>
          <a:prstGeom prst="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Diamond 11"/>
          <p:cNvSpPr/>
          <p:nvPr/>
        </p:nvSpPr>
        <p:spPr>
          <a:xfrm>
            <a:off x="11307927" y="1682495"/>
            <a:ext cx="274320" cy="274320"/>
          </a:xfrm>
          <a:prstGeom prst="diamond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347807" y="2029967"/>
            <a:ext cx="2194560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000" b="1" i="0">
                <a:solidFill>
                  <a:srgbClr val="B91C1C"/>
                </a:solidFill>
                <a:latin typeface="Calibri"/>
              </a:rPr>
              <a:t>VS Q3 2026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01752" y="2441448"/>
            <a:ext cx="2651760" cy="384048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01752" y="2441448"/>
            <a:ext cx="54864" cy="384048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2441448"/>
            <a:ext cx="2468880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50" b="1" i="0">
                <a:solidFill>
                  <a:srgbClr val="1F2937"/>
                </a:solidFill>
                <a:latin typeface="Calibri"/>
              </a:rPr>
              <a:t>Punkt 3 — Prozess- &amp; Toolanalyse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044952" y="2441448"/>
            <a:ext cx="8842248" cy="384048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044952" y="2487168"/>
            <a:ext cx="4863236" cy="292607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136392" y="2441448"/>
            <a:ext cx="4680356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In Progress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01752" y="2898648"/>
            <a:ext cx="2651760" cy="384048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01752" y="2898648"/>
            <a:ext cx="54864" cy="384048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1480" y="2898648"/>
            <a:ext cx="2468880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50" b="1" i="0">
                <a:solidFill>
                  <a:srgbClr val="1F2937"/>
                </a:solidFill>
                <a:latin typeface="Calibri"/>
              </a:rPr>
              <a:t>Punkt 4 — Business Case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044952" y="2898648"/>
            <a:ext cx="8842248" cy="384048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3487064" y="2944368"/>
            <a:ext cx="5570616" cy="292607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578504" y="2898648"/>
            <a:ext cx="5387736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In Progress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01752" y="3355848"/>
            <a:ext cx="2651760" cy="384048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01752" y="3355848"/>
            <a:ext cx="54864" cy="384048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11480" y="3355848"/>
            <a:ext cx="2468880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50" b="1" i="0">
                <a:solidFill>
                  <a:srgbClr val="1F2937"/>
                </a:solidFill>
                <a:latin typeface="Calibri"/>
              </a:rPr>
              <a:t>Punkt 4 — Komplexitaets-Reduzierung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044952" y="3355848"/>
            <a:ext cx="8842248" cy="384048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3929176" y="3401568"/>
            <a:ext cx="4421124" cy="292607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020616" y="3355848"/>
            <a:ext cx="4238244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In Progress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01752" y="3813048"/>
            <a:ext cx="2651760" cy="384048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01752" y="3813048"/>
            <a:ext cx="54864" cy="384048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11480" y="3813048"/>
            <a:ext cx="2468880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50" b="1" i="0">
                <a:solidFill>
                  <a:srgbClr val="1F2937"/>
                </a:solidFill>
                <a:latin typeface="Calibri"/>
              </a:rPr>
              <a:t>Punkt 6 — Alternative PM-Plattform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044952" y="3813048"/>
            <a:ext cx="8842248" cy="384048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3487064" y="3858768"/>
            <a:ext cx="5747461" cy="292607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578504" y="3813048"/>
            <a:ext cx="5564581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In Progress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01752" y="4270248"/>
            <a:ext cx="2651760" cy="384048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01752" y="4270248"/>
            <a:ext cx="54864" cy="384048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11480" y="4270248"/>
            <a:ext cx="2468880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50" b="1" i="0">
                <a:solidFill>
                  <a:srgbClr val="1F2937"/>
                </a:solidFill>
                <a:latin typeface="Calibri"/>
              </a:rPr>
              <a:t>Punkt 6 — Risiko / Lockin / EAM / AI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044952" y="4270248"/>
            <a:ext cx="8842248" cy="384048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4371289" y="4315968"/>
            <a:ext cx="6189573" cy="292607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462729" y="4270248"/>
            <a:ext cx="6006693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In Progress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301752" y="4727448"/>
            <a:ext cx="2651760" cy="384048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301752" y="4727448"/>
            <a:ext cx="54864" cy="384048"/>
          </a:xfrm>
          <a:prstGeom prst="rect">
            <a:avLst/>
          </a:prstGeom>
          <a:solidFill>
            <a:srgbClr val="3B6B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11480" y="4727448"/>
            <a:ext cx="2468880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50" b="1" i="0">
                <a:solidFill>
                  <a:srgbClr val="1F2937"/>
                </a:solidFill>
                <a:latin typeface="Calibri"/>
              </a:rPr>
              <a:t>Alle Punkte — Stakeholder-Management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3044952" y="4727448"/>
            <a:ext cx="8842248" cy="384048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4371289" y="4773168"/>
            <a:ext cx="7515910" cy="292607"/>
          </a:xfrm>
          <a:prstGeom prst="roundRect">
            <a:avLst/>
          </a:prstGeom>
          <a:solidFill>
            <a:srgbClr val="3B6B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462729" y="4727448"/>
            <a:ext cx="7333030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laufend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Punkt 2 — Massnahmen-Management 'Hype': Begruendung Out-of-Scope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301752" y="960120"/>
            <a:ext cx="11585448" cy="685800"/>
          </a:xfrm>
          <a:prstGeom prst="roundRect">
            <a:avLst/>
          </a:prstGeom>
          <a:solidFill>
            <a:srgbClr val="FBE7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01752" y="960120"/>
            <a:ext cx="91440" cy="685800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84632" y="960120"/>
            <a:ext cx="5943600" cy="6858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300" b="1" i="0">
                <a:solidFill>
                  <a:srgbClr val="B91C1C"/>
                </a:solidFill>
                <a:latin typeface="Calibri"/>
              </a:rPr>
              <a:t>STATUS: OUT OF SCOPE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19672" y="960120"/>
            <a:ext cx="5394960" cy="6858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50" b="0" i="1">
                <a:solidFill>
                  <a:srgbClr val="1F2937"/>
                </a:solidFill>
                <a:latin typeface="Calibri"/>
              </a:rPr>
              <a:t>Vorstands-Vorschlag 01.07.2026: Hype-Ablose nicht Teil dieser Untersuchung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01752" y="1828800"/>
            <a:ext cx="5724144" cy="2103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B9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01752" y="1828800"/>
            <a:ext cx="5724144" cy="384048"/>
          </a:xfrm>
          <a:prstGeom prst="round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93192" y="1883664"/>
            <a:ext cx="274320" cy="2743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93192" y="1883664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300" b="1" i="0">
                <a:solidFill>
                  <a:srgbClr val="B91C1C"/>
                </a:solidFill>
                <a:latin typeface="Calibr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1883664"/>
            <a:ext cx="5221224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Stark customized ueber Jahre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" y="2331720"/>
            <a:ext cx="5449824" cy="1508760"/>
          </a:xfrm>
          <a:prstGeom prst="rect">
            <a:avLst/>
          </a:prstGeom>
          <a:noFill/>
          <a:ln>
            <a:noFill/>
          </a:ln>
        </p:spPr>
        <p:txBody>
          <a:bodyPr wrap="square" anchor="t" lIns="30000" rIns="30000" tIns="10000" bIns="10000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Hype wurde ueber mehrere Release-Zyklen fuer STIHL-spezifische Massnahmen-Logik erweitert. Eine Ablose muesste alle Customizings inhaltlich nachziehen — enormer Migrationsaufwand.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6" y="1828800"/>
            <a:ext cx="5724144" cy="2103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B9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163056" y="1828800"/>
            <a:ext cx="5724144" cy="384048"/>
          </a:xfrm>
          <a:prstGeom prst="round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254496" y="1883664"/>
            <a:ext cx="274320" cy="2743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54496" y="1883664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300" b="1" i="0">
                <a:solidFill>
                  <a:srgbClr val="B91C1C"/>
                </a:solidFill>
                <a:latin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74536" y="1883664"/>
            <a:ext cx="5221224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Zusatzfunktionen mit hoher Fachtiefe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0216" y="2331720"/>
            <a:ext cx="5449824" cy="1508760"/>
          </a:xfrm>
          <a:prstGeom prst="rect">
            <a:avLst/>
          </a:prstGeom>
          <a:noFill/>
          <a:ln>
            <a:noFill/>
          </a:ln>
        </p:spPr>
        <p:txBody>
          <a:bodyPr wrap="square" anchor="t" lIns="30000" rIns="30000" tIns="10000" bIns="10000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Hype-Funktionen fuer Zielkosten-verfolgung / Massnahmen-Backlog sind stark im Prozess der Produktentwicklung verwurzelt. Nicht 1:1 auf SNOW SPM abbildbar ohne massive Anpassung.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01752" y="4069079"/>
            <a:ext cx="5724144" cy="2103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96C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301752" y="4069079"/>
            <a:ext cx="5724144" cy="384048"/>
          </a:xfrm>
          <a:prstGeom prst="roundRect">
            <a:avLst/>
          </a:prstGeom>
          <a:solidFill>
            <a:srgbClr val="E96C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393192" y="4123943"/>
            <a:ext cx="274320" cy="2743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93192" y="4123943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300" b="1" i="0">
                <a:solidFill>
                  <a:srgbClr val="E96C0C"/>
                </a:solidFill>
                <a:latin typeface="Calibri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3232" y="4123943"/>
            <a:ext cx="5221224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Keine direkte PPM-Kernfunktion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8912" y="4571999"/>
            <a:ext cx="5449824" cy="1508760"/>
          </a:xfrm>
          <a:prstGeom prst="rect">
            <a:avLst/>
          </a:prstGeom>
          <a:noFill/>
          <a:ln>
            <a:noFill/>
          </a:ln>
        </p:spPr>
        <p:txBody>
          <a:bodyPr wrap="square" anchor="t" lIns="30000" rIns="30000" tIns="10000" bIns="10000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Hype gehoert nicht in den Kern des Portfolio-Managements. Der Business Case konzentriert sich auf Strategy, Portfolio, Demand, Projekt- und Ressourcen-Management — nicht auf Massnahmen-Details.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63056" y="4069079"/>
            <a:ext cx="5724144" cy="2103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96C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163056" y="4069079"/>
            <a:ext cx="5724144" cy="384048"/>
          </a:xfrm>
          <a:prstGeom prst="roundRect">
            <a:avLst/>
          </a:prstGeom>
          <a:solidFill>
            <a:srgbClr val="E96C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254496" y="4123943"/>
            <a:ext cx="274320" cy="2743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54496" y="4123943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300" b="1" i="0">
                <a:solidFill>
                  <a:srgbClr val="E96C0C"/>
                </a:solidFill>
                <a:latin typeface="Calibri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74536" y="4123943"/>
            <a:ext cx="5221224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Vermeidung von Scope-Creep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00216" y="4571999"/>
            <a:ext cx="5449824" cy="1508760"/>
          </a:xfrm>
          <a:prstGeom prst="rect">
            <a:avLst/>
          </a:prstGeom>
          <a:noFill/>
          <a:ln>
            <a:noFill/>
          </a:ln>
        </p:spPr>
        <p:txBody>
          <a:bodyPr wrap="square" anchor="t" lIns="30000" rIns="30000" tIns="10000" bIns="10000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Erweiterung um Hype wuerde die Aufwaende und Risiken des Business Case erheblich vergroessern und den Zeitplan fuer die Jahresplanung 2027 gefaehrden.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01752" y="6355079"/>
            <a:ext cx="11585448" cy="502920"/>
          </a:xfrm>
          <a:prstGeom prst="roundRect">
            <a:avLst/>
          </a:prstGeom>
          <a:solidFill>
            <a:srgbClr val="FFF6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01752" y="6355079"/>
            <a:ext cx="73152" cy="502920"/>
          </a:xfrm>
          <a:prstGeom prst="rect">
            <a:avLst/>
          </a:prstGeom>
          <a:solidFill>
            <a:srgbClr val="F5C2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38912" y="6355079"/>
            <a:ext cx="11356848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00" b="0" i="1">
                <a:solidFill>
                  <a:srgbClr val="1F2937"/>
                </a:solidFill>
                <a:latin typeface="Calibri"/>
              </a:rPr>
              <a:t>Zukunftsoption: Prüfung einer losen Integration Hype ↔ SNOW (z.B. Massnahmen-Referenz auf Portfolio-Ebene) im spaeteren Projekt-Follow-up — nicht Teil dieses Business Case.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Punkt 3 — SNOW-Prozessabdeckung + App-Engine-Strategie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301752" y="960120"/>
            <a:ext cx="11585448" cy="594360"/>
          </a:xfrm>
          <a:prstGeom prst="roundRect">
            <a:avLst/>
          </a:prstGeom>
          <a:solidFill>
            <a:srgbClr val="DDF1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01752" y="960120"/>
            <a:ext cx="91440" cy="59436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84632" y="960120"/>
            <a:ext cx="5029200" cy="59436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200" b="1" i="0">
                <a:solidFill>
                  <a:srgbClr val="2E7D32"/>
                </a:solidFill>
                <a:latin typeface="Calibri"/>
              </a:rPr>
              <a:t>STATUS: IN PROGRESS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05272" y="960120"/>
            <a:ext cx="6309360" cy="59436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50" b="0" i="1">
                <a:solidFill>
                  <a:srgbClr val="1F2937"/>
                </a:solidFill>
                <a:latin typeface="Calibri"/>
              </a:rPr>
              <a:t>Leitprinzip: Standard first — aber keine Standardisierung um jeden Preis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01752" y="1737360"/>
            <a:ext cx="3770375" cy="470916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01752" y="1737360"/>
            <a:ext cx="3770375" cy="594360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93192" y="1773936"/>
            <a:ext cx="3587495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Standard SNOW-Modul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3192" y="2066543"/>
            <a:ext cx="3587495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00" b="0" i="1">
                <a:solidFill>
                  <a:srgbClr val="FFFFFF"/>
                </a:solidFill>
                <a:latin typeface="Calibri"/>
              </a:rPr>
              <a:t>hohe Abdeckung, kein Anpassungsbedarf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1480" y="2468880"/>
            <a:ext cx="3550919" cy="457200"/>
          </a:xfrm>
          <a:prstGeom prst="roundRect">
            <a:avLst/>
          </a:prstGeom>
          <a:solidFill>
            <a:srgbClr val="FFFFFF"/>
          </a:solidFill>
          <a:ln w="508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11480" y="2468880"/>
            <a:ext cx="54864" cy="45720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0352" y="2487168"/>
            <a:ext cx="3404616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00" b="1" i="0">
                <a:solidFill>
                  <a:srgbClr val="1F2937"/>
                </a:solidFill>
                <a:latin typeface="Calibri"/>
              </a:rPr>
              <a:t>Demand Management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" y="2706624"/>
            <a:ext cx="3404616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850" b="0" i="1">
                <a:solidFill>
                  <a:srgbClr val="2E7D32"/>
                </a:solidFill>
                <a:latin typeface="Calibri"/>
              </a:rPr>
              <a:t>SNOW SPM Standard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1480" y="2971800"/>
            <a:ext cx="3550919" cy="457200"/>
          </a:xfrm>
          <a:prstGeom prst="roundRect">
            <a:avLst/>
          </a:prstGeom>
          <a:solidFill>
            <a:srgbClr val="FFFFFF"/>
          </a:solidFill>
          <a:ln w="508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11480" y="2971800"/>
            <a:ext cx="54864" cy="45720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0352" y="2990088"/>
            <a:ext cx="3404616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00" b="1" i="0">
                <a:solidFill>
                  <a:srgbClr val="1F2937"/>
                </a:solidFill>
                <a:latin typeface="Calibri"/>
              </a:rPr>
              <a:t>Portfolio Management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0352" y="3209544"/>
            <a:ext cx="3404616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850" b="0" i="1">
                <a:solidFill>
                  <a:srgbClr val="2E7D32"/>
                </a:solidFill>
                <a:latin typeface="Calibri"/>
              </a:rPr>
              <a:t>SNOW SPM Standard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11480" y="3474720"/>
            <a:ext cx="3550919" cy="457200"/>
          </a:xfrm>
          <a:prstGeom prst="roundRect">
            <a:avLst/>
          </a:prstGeom>
          <a:solidFill>
            <a:srgbClr val="FFFFFF"/>
          </a:solidFill>
          <a:ln w="508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11480" y="3474720"/>
            <a:ext cx="54864" cy="45720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30352" y="3493008"/>
            <a:ext cx="3404616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00" b="1" i="0">
                <a:solidFill>
                  <a:srgbClr val="1F2937"/>
                </a:solidFill>
                <a:latin typeface="Calibri"/>
              </a:rPr>
              <a:t>Project Management (Gantt/Agile)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352" y="3712464"/>
            <a:ext cx="3404616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850" b="0" i="1">
                <a:solidFill>
                  <a:srgbClr val="2E7D32"/>
                </a:solidFill>
                <a:latin typeface="Calibri"/>
              </a:rPr>
              <a:t>SNOW SPM Standard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11480" y="3977640"/>
            <a:ext cx="3550919" cy="457200"/>
          </a:xfrm>
          <a:prstGeom prst="roundRect">
            <a:avLst/>
          </a:prstGeom>
          <a:solidFill>
            <a:srgbClr val="FFFFFF"/>
          </a:solidFill>
          <a:ln w="508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11480" y="3977640"/>
            <a:ext cx="54864" cy="45720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30352" y="3995928"/>
            <a:ext cx="3404616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00" b="1" i="0">
                <a:solidFill>
                  <a:srgbClr val="1F2937"/>
                </a:solidFill>
                <a:latin typeface="Calibri"/>
              </a:rPr>
              <a:t>Resource Management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0352" y="4215384"/>
            <a:ext cx="3404616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850" b="0" i="1">
                <a:solidFill>
                  <a:srgbClr val="2E7D32"/>
                </a:solidFill>
                <a:latin typeface="Calibri"/>
              </a:rPr>
              <a:t>SNOW SPM Standard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11480" y="4480560"/>
            <a:ext cx="3550919" cy="457200"/>
          </a:xfrm>
          <a:prstGeom prst="roundRect">
            <a:avLst/>
          </a:prstGeom>
          <a:solidFill>
            <a:srgbClr val="FFFFFF"/>
          </a:solidFill>
          <a:ln w="508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11480" y="4480560"/>
            <a:ext cx="54864" cy="45720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30352" y="4498848"/>
            <a:ext cx="3404616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00" b="1" i="0">
                <a:solidFill>
                  <a:srgbClr val="1F2937"/>
                </a:solidFill>
                <a:latin typeface="Calibri"/>
              </a:rPr>
              <a:t>Strategic Planning / OKR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0352" y="4718304"/>
            <a:ext cx="3404616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850" b="0" i="1">
                <a:solidFill>
                  <a:srgbClr val="2E7D32"/>
                </a:solidFill>
                <a:latin typeface="Calibri"/>
              </a:rPr>
              <a:t>SNOW SPM Pro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11480" y="4983480"/>
            <a:ext cx="3550919" cy="457200"/>
          </a:xfrm>
          <a:prstGeom prst="roundRect">
            <a:avLst/>
          </a:prstGeom>
          <a:solidFill>
            <a:srgbClr val="FFFFFF"/>
          </a:solidFill>
          <a:ln w="508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11480" y="4983480"/>
            <a:ext cx="54864" cy="45720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30352" y="5001768"/>
            <a:ext cx="3404616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00" b="1" i="0">
                <a:solidFill>
                  <a:srgbClr val="1F2937"/>
                </a:solidFill>
                <a:latin typeface="Calibri"/>
              </a:rPr>
              <a:t>Financial Management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30352" y="5221224"/>
            <a:ext cx="3404616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850" b="0" i="1">
                <a:solidFill>
                  <a:srgbClr val="2E7D32"/>
                </a:solidFill>
                <a:latin typeface="Calibri"/>
              </a:rPr>
              <a:t>SNOW SPM Pro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11480" y="5486400"/>
            <a:ext cx="3550919" cy="457200"/>
          </a:xfrm>
          <a:prstGeom prst="roundRect">
            <a:avLst/>
          </a:prstGeom>
          <a:solidFill>
            <a:srgbClr val="FFFFFF"/>
          </a:solidFill>
          <a:ln w="508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11480" y="5486400"/>
            <a:ext cx="54864" cy="45720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30352" y="5504688"/>
            <a:ext cx="3404616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00" b="1" i="0">
                <a:solidFill>
                  <a:srgbClr val="1F2937"/>
                </a:solidFill>
                <a:latin typeface="Calibri"/>
              </a:rPr>
              <a:t>Now Assist (KI)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30352" y="5724144"/>
            <a:ext cx="3404616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850" b="0" i="1">
                <a:solidFill>
                  <a:srgbClr val="2E7D32"/>
                </a:solidFill>
                <a:latin typeface="Calibri"/>
              </a:rPr>
              <a:t>SNOW SPM Pro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209288" y="1737360"/>
            <a:ext cx="3770375" cy="470916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4209288" y="1737360"/>
            <a:ext cx="3770375" cy="594360"/>
          </a:xfrm>
          <a:prstGeom prst="roundRect">
            <a:avLst/>
          </a:prstGeom>
          <a:solidFill>
            <a:srgbClr val="3B6B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300728" y="1773936"/>
            <a:ext cx="3587495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App Engine (Low-Code)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300728" y="2066543"/>
            <a:ext cx="3587495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00" b="0" i="1">
                <a:solidFill>
                  <a:srgbClr val="FFFFFF"/>
                </a:solidFill>
                <a:latin typeface="Calibri"/>
              </a:rPr>
              <a:t>Standardnahe Prozesse, ohne 3rd-Party-Tool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319016" y="2468880"/>
            <a:ext cx="3550919" cy="457200"/>
          </a:xfrm>
          <a:prstGeom prst="roundRect">
            <a:avLst/>
          </a:prstGeom>
          <a:solidFill>
            <a:srgbClr val="FFFFFF"/>
          </a:solidFill>
          <a:ln w="5080">
            <a:solidFill>
              <a:srgbClr val="3B6B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319016" y="2468880"/>
            <a:ext cx="54864" cy="457200"/>
          </a:xfrm>
          <a:prstGeom prst="rect">
            <a:avLst/>
          </a:prstGeom>
          <a:solidFill>
            <a:srgbClr val="3B6B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437888" y="2487168"/>
            <a:ext cx="3404616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00" b="1" i="0">
                <a:solidFill>
                  <a:srgbClr val="1F2937"/>
                </a:solidFill>
                <a:latin typeface="Calibri"/>
              </a:rPr>
              <a:t>EV-Prozess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437888" y="2706624"/>
            <a:ext cx="3404616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850" b="0" i="1">
                <a:solidFill>
                  <a:srgbClr val="3B6BA5"/>
                </a:solidFill>
                <a:latin typeface="Calibri"/>
              </a:rPr>
              <a:t>App-Engine-Workflow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319016" y="2971800"/>
            <a:ext cx="3550919" cy="457200"/>
          </a:xfrm>
          <a:prstGeom prst="roundRect">
            <a:avLst/>
          </a:prstGeom>
          <a:solidFill>
            <a:srgbClr val="FFFFFF"/>
          </a:solidFill>
          <a:ln w="5080">
            <a:solidFill>
              <a:srgbClr val="3B6B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4319016" y="2971800"/>
            <a:ext cx="54864" cy="457200"/>
          </a:xfrm>
          <a:prstGeom prst="rect">
            <a:avLst/>
          </a:prstGeom>
          <a:solidFill>
            <a:srgbClr val="3B6B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437888" y="2990088"/>
            <a:ext cx="3404616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00" b="1" i="0">
                <a:solidFill>
                  <a:srgbClr val="1F2937"/>
                </a:solidFill>
                <a:latin typeface="Calibri"/>
              </a:rPr>
              <a:t>Vorhaben-Steckbrief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437888" y="3209544"/>
            <a:ext cx="3404616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850" b="0" i="1">
                <a:solidFill>
                  <a:srgbClr val="3B6BA5"/>
                </a:solidFill>
                <a:latin typeface="Calibri"/>
              </a:rPr>
              <a:t>App-Engine-Formular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4319016" y="3474720"/>
            <a:ext cx="3550919" cy="457200"/>
          </a:xfrm>
          <a:prstGeom prst="roundRect">
            <a:avLst/>
          </a:prstGeom>
          <a:solidFill>
            <a:srgbClr val="FFFFFF"/>
          </a:solidFill>
          <a:ln w="5080">
            <a:solidFill>
              <a:srgbClr val="3B6B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4319016" y="3474720"/>
            <a:ext cx="54864" cy="457200"/>
          </a:xfrm>
          <a:prstGeom prst="rect">
            <a:avLst/>
          </a:prstGeom>
          <a:solidFill>
            <a:srgbClr val="3B6B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437888" y="3493008"/>
            <a:ext cx="3404616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00" b="1" i="0">
                <a:solidFill>
                  <a:srgbClr val="1F2937"/>
                </a:solidFill>
                <a:latin typeface="Calibri"/>
              </a:rPr>
              <a:t>Stage-Gate PEP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437888" y="3712464"/>
            <a:ext cx="3404616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850" b="0" i="1">
                <a:solidFill>
                  <a:srgbClr val="3B6BA5"/>
                </a:solidFill>
                <a:latin typeface="Calibri"/>
              </a:rPr>
              <a:t>App-Engine + SPM-Verknuepfung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4319016" y="3977640"/>
            <a:ext cx="3550919" cy="457200"/>
          </a:xfrm>
          <a:prstGeom prst="roundRect">
            <a:avLst/>
          </a:prstGeom>
          <a:solidFill>
            <a:srgbClr val="FFFFFF"/>
          </a:solidFill>
          <a:ln w="5080">
            <a:solidFill>
              <a:srgbClr val="3B6B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4319016" y="3977640"/>
            <a:ext cx="54864" cy="457200"/>
          </a:xfrm>
          <a:prstGeom prst="rect">
            <a:avLst/>
          </a:prstGeom>
          <a:solidFill>
            <a:srgbClr val="3B6B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437888" y="3995928"/>
            <a:ext cx="3404616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00" b="1" i="0">
                <a:solidFill>
                  <a:srgbClr val="1F2937"/>
                </a:solidFill>
                <a:latin typeface="Calibri"/>
              </a:rPr>
              <a:t>Steckbrief-Kategorisierung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437888" y="4215384"/>
            <a:ext cx="3404616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850" b="0" i="1">
                <a:solidFill>
                  <a:srgbClr val="3B6BA5"/>
                </a:solidFill>
                <a:latin typeface="Calibri"/>
              </a:rPr>
              <a:t>App-Engine + Portfolio-Link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4319016" y="4480560"/>
            <a:ext cx="3550919" cy="457200"/>
          </a:xfrm>
          <a:prstGeom prst="roundRect">
            <a:avLst/>
          </a:prstGeom>
          <a:solidFill>
            <a:srgbClr val="FFFFFF"/>
          </a:solidFill>
          <a:ln w="5080">
            <a:solidFill>
              <a:srgbClr val="3B6B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4319016" y="4480560"/>
            <a:ext cx="54864" cy="457200"/>
          </a:xfrm>
          <a:prstGeom prst="rect">
            <a:avLst/>
          </a:prstGeom>
          <a:solidFill>
            <a:srgbClr val="3B6B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437888" y="4498848"/>
            <a:ext cx="3404616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00" b="1" i="0">
                <a:solidFill>
                  <a:srgbClr val="1F2937"/>
                </a:solidFill>
                <a:latin typeface="Calibri"/>
              </a:rPr>
              <a:t>Freigabe-Workflows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437888" y="4718304"/>
            <a:ext cx="3404616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850" b="0" i="1">
                <a:solidFill>
                  <a:srgbClr val="3B6BA5"/>
                </a:solidFill>
                <a:latin typeface="Calibri"/>
              </a:rPr>
              <a:t>App-Engine + Approvals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8116824" y="1737360"/>
            <a:ext cx="3770375" cy="470916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ounded Rectangle 64"/>
          <p:cNvSpPr/>
          <p:nvPr/>
        </p:nvSpPr>
        <p:spPr>
          <a:xfrm>
            <a:off x="8116824" y="1737360"/>
            <a:ext cx="3770375" cy="594360"/>
          </a:xfrm>
          <a:prstGeom prst="round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208264" y="1773936"/>
            <a:ext cx="3587495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3rd-Party / Bestand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208264" y="2066543"/>
            <a:ext cx="3587495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00" b="0" i="1">
                <a:solidFill>
                  <a:srgbClr val="FFFFFF"/>
                </a:solidFill>
                <a:latin typeface="Calibri"/>
              </a:rPr>
              <a:t>sinnvoll wenn Kernprozess ausserhalb SPM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8226551" y="2468880"/>
            <a:ext cx="3550919" cy="457200"/>
          </a:xfrm>
          <a:prstGeom prst="roundRect">
            <a:avLst/>
          </a:prstGeom>
          <a:solidFill>
            <a:srgbClr val="FFFFFF"/>
          </a:solidFill>
          <a:ln w="5080">
            <a:solidFill>
              <a:srgbClr val="F07F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8226551" y="2468880"/>
            <a:ext cx="54864" cy="45720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8345424" y="2487168"/>
            <a:ext cx="3404616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00" b="1" i="0">
                <a:solidFill>
                  <a:srgbClr val="1F2937"/>
                </a:solidFill>
                <a:latin typeface="Calibri"/>
              </a:rPr>
              <a:t>SAP FI/CO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345424" y="2706624"/>
            <a:ext cx="3404616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850" b="0" i="1">
                <a:solidFill>
                  <a:srgbClr val="F07F12"/>
                </a:solidFill>
                <a:latin typeface="Calibri"/>
              </a:rPr>
              <a:t>Quelle Kosten (bleibt)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8226551" y="2971800"/>
            <a:ext cx="3550919" cy="457200"/>
          </a:xfrm>
          <a:prstGeom prst="roundRect">
            <a:avLst/>
          </a:prstGeom>
          <a:solidFill>
            <a:srgbClr val="FFFFFF"/>
          </a:solidFill>
          <a:ln w="5080">
            <a:solidFill>
              <a:srgbClr val="F07F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8226551" y="2971800"/>
            <a:ext cx="54864" cy="45720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8345424" y="2990088"/>
            <a:ext cx="3404616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00" b="1" i="0">
                <a:solidFill>
                  <a:srgbClr val="1F2937"/>
                </a:solidFill>
                <a:latin typeface="Calibri"/>
              </a:rPr>
              <a:t>SAP HCM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345424" y="3209544"/>
            <a:ext cx="3404616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850" b="0" i="1">
                <a:solidFill>
                  <a:srgbClr val="F07F12"/>
                </a:solidFill>
                <a:latin typeface="Calibri"/>
              </a:rPr>
              <a:t>Quelle Personal-Stamm (bleibt)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8226551" y="3474720"/>
            <a:ext cx="3550919" cy="457200"/>
          </a:xfrm>
          <a:prstGeom prst="roundRect">
            <a:avLst/>
          </a:prstGeom>
          <a:solidFill>
            <a:srgbClr val="FFFFFF"/>
          </a:solidFill>
          <a:ln w="5080">
            <a:solidFill>
              <a:srgbClr val="F07F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8226551" y="3474720"/>
            <a:ext cx="54864" cy="45720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8345424" y="3493008"/>
            <a:ext cx="3404616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00" b="1" i="0">
                <a:solidFill>
                  <a:srgbClr val="1F2937"/>
                </a:solidFill>
                <a:latin typeface="Calibri"/>
              </a:rPr>
              <a:t>PLM / CAD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345424" y="3712464"/>
            <a:ext cx="3404616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850" b="0" i="1">
                <a:solidFill>
                  <a:srgbClr val="F07F12"/>
                </a:solidFill>
                <a:latin typeface="Calibri"/>
              </a:rPr>
              <a:t>Engineering-Kern (bleibt)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8226551" y="3977640"/>
            <a:ext cx="3550919" cy="457200"/>
          </a:xfrm>
          <a:prstGeom prst="roundRect">
            <a:avLst/>
          </a:prstGeom>
          <a:solidFill>
            <a:srgbClr val="FFFFFF"/>
          </a:solidFill>
          <a:ln w="5080">
            <a:solidFill>
              <a:srgbClr val="F07F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8226551" y="3977640"/>
            <a:ext cx="54864" cy="45720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8345424" y="3995928"/>
            <a:ext cx="3404616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00" b="1" i="0">
                <a:solidFill>
                  <a:srgbClr val="1F2937"/>
                </a:solidFill>
                <a:latin typeface="Calibri"/>
              </a:rPr>
              <a:t>Hype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8345424" y="4215384"/>
            <a:ext cx="3404616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850" b="0" i="1">
                <a:solidFill>
                  <a:srgbClr val="F07F12"/>
                </a:solidFill>
                <a:latin typeface="Calibri"/>
              </a:rPr>
              <a:t>Massnahmen-Mgmt (bleibt)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8226551" y="4480560"/>
            <a:ext cx="3550919" cy="457200"/>
          </a:xfrm>
          <a:prstGeom prst="roundRect">
            <a:avLst/>
          </a:prstGeom>
          <a:solidFill>
            <a:srgbClr val="FFFFFF"/>
          </a:solidFill>
          <a:ln w="5080">
            <a:solidFill>
              <a:srgbClr val="F07F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8226551" y="4480560"/>
            <a:ext cx="54864" cy="45720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8345424" y="4498848"/>
            <a:ext cx="3404616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00" b="1" i="0">
                <a:solidFill>
                  <a:srgbClr val="1F2937"/>
                </a:solidFill>
                <a:latin typeface="Calibri"/>
              </a:rPr>
              <a:t>Power BI (optional)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345424" y="4718304"/>
            <a:ext cx="3404616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850" b="0" i="1">
                <a:solidFill>
                  <a:srgbClr val="F07F12"/>
                </a:solidFill>
                <a:latin typeface="Calibri"/>
              </a:rPr>
              <a:t>Cross-Reporting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Case Methodik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301752" y="960120"/>
            <a:ext cx="5724144" cy="26060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07F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01752" y="960120"/>
            <a:ext cx="5724144" cy="384048"/>
          </a:xfrm>
          <a:prstGeom prst="round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374904" y="1014984"/>
            <a:ext cx="274320" cy="2743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74904" y="1014984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300" b="1" i="0">
                <a:solidFill>
                  <a:srgbClr val="F07F12"/>
                </a:solidFill>
                <a:latin typeface="Calibri"/>
              </a:rPr>
              <a:t>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978408"/>
            <a:ext cx="5221224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TCO (5 Jahre)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" y="1435608"/>
            <a:ext cx="5449824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00" b="0" i="1">
                <a:solidFill>
                  <a:srgbClr val="4B5563"/>
                </a:solidFill>
                <a:latin typeface="Calibri"/>
              </a:rPr>
              <a:t>Lizenzen · Implementierung · Support · Change</a:t>
            </a:r>
          </a:p>
        </p:txBody>
      </p:sp>
      <p:sp>
        <p:nvSpPr>
          <p:cNvPr id="10" name="Oval 9"/>
          <p:cNvSpPr/>
          <p:nvPr/>
        </p:nvSpPr>
        <p:spPr>
          <a:xfrm>
            <a:off x="484632" y="1901952"/>
            <a:ext cx="73152" cy="73152"/>
          </a:xfrm>
          <a:prstGeom prst="ellipse">
            <a:avLst/>
          </a:prstGeom>
          <a:solidFill>
            <a:srgbClr val="F07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" y="1783080"/>
            <a:ext cx="5266944" cy="329184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50" b="0" i="0">
                <a:solidFill>
                  <a:srgbClr val="1F2937"/>
                </a:solidFill>
                <a:latin typeface="Calibri"/>
              </a:rPr>
              <a:t>Lizenzen SNOW SPM Pro</a:t>
            </a:r>
          </a:p>
        </p:txBody>
      </p:sp>
      <p:sp>
        <p:nvSpPr>
          <p:cNvPr id="12" name="Oval 11"/>
          <p:cNvSpPr/>
          <p:nvPr/>
        </p:nvSpPr>
        <p:spPr>
          <a:xfrm>
            <a:off x="484632" y="2286000"/>
            <a:ext cx="73152" cy="73152"/>
          </a:xfrm>
          <a:prstGeom prst="ellipse">
            <a:avLst/>
          </a:prstGeom>
          <a:solidFill>
            <a:srgbClr val="F07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" y="2167128"/>
            <a:ext cx="5266944" cy="329184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50" b="0" i="0">
                <a:solidFill>
                  <a:srgbClr val="1F2937"/>
                </a:solidFill>
                <a:latin typeface="Calibri"/>
              </a:rPr>
              <a:t>Implementierung</a:t>
            </a:r>
          </a:p>
        </p:txBody>
      </p:sp>
      <p:sp>
        <p:nvSpPr>
          <p:cNvPr id="14" name="Oval 13"/>
          <p:cNvSpPr/>
          <p:nvPr/>
        </p:nvSpPr>
        <p:spPr>
          <a:xfrm>
            <a:off x="484632" y="2670048"/>
            <a:ext cx="73152" cy="73152"/>
          </a:xfrm>
          <a:prstGeom prst="ellipse">
            <a:avLst/>
          </a:prstGeom>
          <a:solidFill>
            <a:srgbClr val="F07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" y="2551176"/>
            <a:ext cx="5266944" cy="329184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50" b="0" i="0">
                <a:solidFill>
                  <a:srgbClr val="1F2937"/>
                </a:solidFill>
                <a:latin typeface="Calibri"/>
              </a:rPr>
              <a:t>Change &amp; Schulung</a:t>
            </a:r>
          </a:p>
        </p:txBody>
      </p:sp>
      <p:sp>
        <p:nvSpPr>
          <p:cNvPr id="16" name="Oval 15"/>
          <p:cNvSpPr/>
          <p:nvPr/>
        </p:nvSpPr>
        <p:spPr>
          <a:xfrm>
            <a:off x="484632" y="3054096"/>
            <a:ext cx="73152" cy="73152"/>
          </a:xfrm>
          <a:prstGeom prst="ellipse">
            <a:avLst/>
          </a:prstGeom>
          <a:solidFill>
            <a:srgbClr val="F07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" y="2935224"/>
            <a:ext cx="5266944" cy="329184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50" b="0" i="0">
                <a:solidFill>
                  <a:srgbClr val="1F2937"/>
                </a:solidFill>
                <a:latin typeface="Calibri"/>
              </a:rPr>
              <a:t>Support / Wartung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63056" y="960120"/>
            <a:ext cx="5724144" cy="26060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163056" y="960120"/>
            <a:ext cx="5724144" cy="384048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236208" y="1014984"/>
            <a:ext cx="274320" cy="2743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36208" y="1014984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300" b="1" i="0">
                <a:solidFill>
                  <a:srgbClr val="2E7D32"/>
                </a:solidFill>
                <a:latin typeface="Calibri"/>
              </a:rPr>
              <a:t>*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74536" y="978408"/>
            <a:ext cx="5221224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Nutzen / Business Value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0216" y="1435608"/>
            <a:ext cx="5449824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00" b="0" i="1">
                <a:solidFill>
                  <a:srgbClr val="4B5563"/>
                </a:solidFill>
                <a:latin typeface="Calibri"/>
              </a:rPr>
              <a:t>Effizienz · Time-to-Market · Governance</a:t>
            </a:r>
          </a:p>
        </p:txBody>
      </p:sp>
      <p:sp>
        <p:nvSpPr>
          <p:cNvPr id="24" name="Oval 23"/>
          <p:cNvSpPr/>
          <p:nvPr/>
        </p:nvSpPr>
        <p:spPr>
          <a:xfrm>
            <a:off x="6345936" y="1901952"/>
            <a:ext cx="73152" cy="73152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3096" y="1783080"/>
            <a:ext cx="5266944" cy="329184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50" b="0" i="0">
                <a:solidFill>
                  <a:srgbClr val="1F2937"/>
                </a:solidFill>
                <a:latin typeface="Calibri"/>
              </a:rPr>
              <a:t>Effizienz PPM</a:t>
            </a:r>
          </a:p>
        </p:txBody>
      </p:sp>
      <p:sp>
        <p:nvSpPr>
          <p:cNvPr id="26" name="Oval 25"/>
          <p:cNvSpPr/>
          <p:nvPr/>
        </p:nvSpPr>
        <p:spPr>
          <a:xfrm>
            <a:off x="6345936" y="2286000"/>
            <a:ext cx="73152" cy="73152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83096" y="2167128"/>
            <a:ext cx="5266944" cy="329184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50" b="0" i="0">
                <a:solidFill>
                  <a:srgbClr val="1F2937"/>
                </a:solidFill>
                <a:latin typeface="Calibri"/>
              </a:rPr>
              <a:t>Time-to-Market</a:t>
            </a:r>
          </a:p>
        </p:txBody>
      </p:sp>
      <p:sp>
        <p:nvSpPr>
          <p:cNvPr id="28" name="Oval 27"/>
          <p:cNvSpPr/>
          <p:nvPr/>
        </p:nvSpPr>
        <p:spPr>
          <a:xfrm>
            <a:off x="6345936" y="2670048"/>
            <a:ext cx="73152" cy="73152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83096" y="2551176"/>
            <a:ext cx="5266944" cy="329184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50" b="0" i="0">
                <a:solidFill>
                  <a:srgbClr val="1F2937"/>
                </a:solidFill>
                <a:latin typeface="Calibri"/>
              </a:rPr>
              <a:t>Ressourcen-Steuerung</a:t>
            </a:r>
          </a:p>
        </p:txBody>
      </p:sp>
      <p:sp>
        <p:nvSpPr>
          <p:cNvPr id="30" name="Oval 29"/>
          <p:cNvSpPr/>
          <p:nvPr/>
        </p:nvSpPr>
        <p:spPr>
          <a:xfrm>
            <a:off x="6345936" y="3054096"/>
            <a:ext cx="73152" cy="73152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83096" y="2935224"/>
            <a:ext cx="5266944" cy="329184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50" b="0" i="0">
                <a:solidFill>
                  <a:srgbClr val="1F2937"/>
                </a:solidFill>
                <a:latin typeface="Calibri"/>
              </a:rPr>
              <a:t>Governance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01752" y="3703320"/>
            <a:ext cx="5724144" cy="26060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C3E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301752" y="3703320"/>
            <a:ext cx="5724144" cy="384048"/>
          </a:xfrm>
          <a:prstGeom prst="round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374904" y="3758183"/>
            <a:ext cx="274320" cy="2743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74904" y="3758183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300" b="1" i="0">
                <a:solidFill>
                  <a:srgbClr val="2C3E50"/>
                </a:solidFill>
                <a:latin typeface="Calibri"/>
              </a:rPr>
              <a:t>&gt;&gt;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3232" y="3721607"/>
            <a:ext cx="5221224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Konsolidierung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38912" y="4178808"/>
            <a:ext cx="5449824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00" b="0" i="1">
                <a:solidFill>
                  <a:srgbClr val="4B5563"/>
                </a:solidFill>
                <a:latin typeface="Calibri"/>
              </a:rPr>
              <a:t>Tool-Abloese · Schnittstellen · flankierende Prozesse</a:t>
            </a:r>
          </a:p>
        </p:txBody>
      </p:sp>
      <p:sp>
        <p:nvSpPr>
          <p:cNvPr id="38" name="Oval 37"/>
          <p:cNvSpPr/>
          <p:nvPr/>
        </p:nvSpPr>
        <p:spPr>
          <a:xfrm>
            <a:off x="484632" y="4645152"/>
            <a:ext cx="73152" cy="73152"/>
          </a:xfrm>
          <a:prstGeom prst="ellipse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21792" y="4526280"/>
            <a:ext cx="5266944" cy="329184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50" b="0" i="0">
                <a:solidFill>
                  <a:srgbClr val="1F2937"/>
                </a:solidFill>
                <a:latin typeface="Calibri"/>
              </a:rPr>
              <a:t>PIT / MSPO / Workpath</a:t>
            </a:r>
          </a:p>
        </p:txBody>
      </p:sp>
      <p:sp>
        <p:nvSpPr>
          <p:cNvPr id="40" name="Oval 39"/>
          <p:cNvSpPr/>
          <p:nvPr/>
        </p:nvSpPr>
        <p:spPr>
          <a:xfrm>
            <a:off x="484632" y="5029200"/>
            <a:ext cx="73152" cy="73152"/>
          </a:xfrm>
          <a:prstGeom prst="ellipse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21792" y="4910328"/>
            <a:ext cx="5266944" cy="329184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50" b="0" i="0">
                <a:solidFill>
                  <a:srgbClr val="1F2937"/>
                </a:solidFill>
                <a:latin typeface="Calibri"/>
              </a:rPr>
              <a:t>Schnittstellen</a:t>
            </a:r>
          </a:p>
        </p:txBody>
      </p:sp>
      <p:sp>
        <p:nvSpPr>
          <p:cNvPr id="42" name="Oval 41"/>
          <p:cNvSpPr/>
          <p:nvPr/>
        </p:nvSpPr>
        <p:spPr>
          <a:xfrm>
            <a:off x="484632" y="5413248"/>
            <a:ext cx="73152" cy="73152"/>
          </a:xfrm>
          <a:prstGeom prst="ellipse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21792" y="5294376"/>
            <a:ext cx="5266944" cy="329184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50" b="0" i="0">
                <a:solidFill>
                  <a:srgbClr val="1F2937"/>
                </a:solidFill>
                <a:latin typeface="Calibri"/>
              </a:rPr>
              <a:t>Massnahmen-Mgmt</a:t>
            </a:r>
          </a:p>
        </p:txBody>
      </p:sp>
      <p:sp>
        <p:nvSpPr>
          <p:cNvPr id="44" name="Oval 43"/>
          <p:cNvSpPr/>
          <p:nvPr/>
        </p:nvSpPr>
        <p:spPr>
          <a:xfrm>
            <a:off x="484632" y="5797296"/>
            <a:ext cx="73152" cy="73152"/>
          </a:xfrm>
          <a:prstGeom prst="ellipse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21792" y="5678424"/>
            <a:ext cx="5266944" cy="329184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50" b="0" i="0">
                <a:solidFill>
                  <a:srgbClr val="1F2937"/>
                </a:solidFill>
                <a:latin typeface="Calibri"/>
              </a:rPr>
              <a:t>APM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163056" y="3703320"/>
            <a:ext cx="5724144" cy="26060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9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6163056" y="3703320"/>
            <a:ext cx="5724144" cy="384048"/>
          </a:xfrm>
          <a:prstGeom prst="round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6236208" y="3758183"/>
            <a:ext cx="274320" cy="2743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236208" y="3758183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300" b="1" i="0">
                <a:solidFill>
                  <a:srgbClr val="B91C1C"/>
                </a:solidFill>
                <a:latin typeface="Calibri"/>
              </a:rPr>
              <a:t>!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574536" y="3721607"/>
            <a:ext cx="5221224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Risiko / Sensitivitaet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300216" y="4178808"/>
            <a:ext cx="5449824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00" b="0" i="1">
                <a:solidFill>
                  <a:srgbClr val="4B5563"/>
                </a:solidFill>
                <a:latin typeface="Calibri"/>
              </a:rPr>
              <a:t>Vendor · Preis · Betrieb · DSGVO</a:t>
            </a:r>
          </a:p>
        </p:txBody>
      </p:sp>
      <p:sp>
        <p:nvSpPr>
          <p:cNvPr id="52" name="Oval 51"/>
          <p:cNvSpPr/>
          <p:nvPr/>
        </p:nvSpPr>
        <p:spPr>
          <a:xfrm>
            <a:off x="6345936" y="4645152"/>
            <a:ext cx="73152" cy="73152"/>
          </a:xfrm>
          <a:prstGeom prst="ellipse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483096" y="4526280"/>
            <a:ext cx="5266944" cy="329184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50" b="0" i="0">
                <a:solidFill>
                  <a:srgbClr val="1F2937"/>
                </a:solidFill>
                <a:latin typeface="Calibri"/>
              </a:rPr>
              <a:t>Vendor Lock-in</a:t>
            </a:r>
          </a:p>
        </p:txBody>
      </p:sp>
      <p:sp>
        <p:nvSpPr>
          <p:cNvPr id="54" name="Oval 53"/>
          <p:cNvSpPr/>
          <p:nvPr/>
        </p:nvSpPr>
        <p:spPr>
          <a:xfrm>
            <a:off x="6345936" y="5029200"/>
            <a:ext cx="73152" cy="73152"/>
          </a:xfrm>
          <a:prstGeom prst="ellipse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483096" y="4910328"/>
            <a:ext cx="5266944" cy="329184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50" b="0" i="0">
                <a:solidFill>
                  <a:srgbClr val="1F2937"/>
                </a:solidFill>
                <a:latin typeface="Calibri"/>
              </a:rPr>
              <a:t>Preis-Eskalation</a:t>
            </a:r>
          </a:p>
        </p:txBody>
      </p:sp>
      <p:sp>
        <p:nvSpPr>
          <p:cNvPr id="56" name="Oval 55"/>
          <p:cNvSpPr/>
          <p:nvPr/>
        </p:nvSpPr>
        <p:spPr>
          <a:xfrm>
            <a:off x="6345936" y="5413248"/>
            <a:ext cx="73152" cy="73152"/>
          </a:xfrm>
          <a:prstGeom prst="ellipse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483096" y="5294376"/>
            <a:ext cx="5266944" cy="329184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50" b="0" i="0">
                <a:solidFill>
                  <a:srgbClr val="1F2937"/>
                </a:solidFill>
                <a:latin typeface="Calibri"/>
              </a:rPr>
              <a:t>Ausfall / Betrieb</a:t>
            </a:r>
          </a:p>
        </p:txBody>
      </p:sp>
      <p:sp>
        <p:nvSpPr>
          <p:cNvPr id="58" name="Oval 57"/>
          <p:cNvSpPr/>
          <p:nvPr/>
        </p:nvSpPr>
        <p:spPr>
          <a:xfrm>
            <a:off x="6345936" y="5797296"/>
            <a:ext cx="73152" cy="73152"/>
          </a:xfrm>
          <a:prstGeom prst="ellipse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483096" y="5678424"/>
            <a:ext cx="5266944" cy="329184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50" b="0" i="0">
                <a:solidFill>
                  <a:srgbClr val="1F2937"/>
                </a:solidFill>
                <a:latin typeface="Calibri"/>
              </a:rPr>
              <a:t>Sensitivity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Value Analyse — Steady State p.a.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301752" y="960120"/>
            <a:ext cx="11585448" cy="640080"/>
          </a:xfrm>
          <a:prstGeom prst="round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38912" y="960120"/>
            <a:ext cx="5029200" cy="6400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Gesamt-Nutzen SEPM (Steady State p.a.)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513832" y="960120"/>
            <a:ext cx="4572000" cy="6400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2200" b="1" i="0">
                <a:solidFill>
                  <a:srgbClr val="F07F12"/>
                </a:solidFill>
                <a:latin typeface="Calibri"/>
              </a:rPr>
              <a:t>~ 2.320 k€ / Jahr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01752" y="1783080"/>
            <a:ext cx="11585448" cy="82296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01752" y="1783080"/>
            <a:ext cx="64008" cy="82296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8912" y="1819656"/>
            <a:ext cx="4114800" cy="7315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100" b="1" i="0">
                <a:solidFill>
                  <a:srgbClr val="1F2937"/>
                </a:solidFill>
                <a:latin typeface="Calibri"/>
              </a:rPr>
              <a:t>Effizienz PM/PPM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" y="2295144"/>
            <a:ext cx="411480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30000" rIns="30000" tIns="10000" bIns="10000">
            <a:spAutoFit/>
          </a:bodyPr>
          <a:lstStyle/>
          <a:p>
            <a:pPr algn="l"/>
            <a:r>
              <a:rPr sz="900" b="0" i="1">
                <a:solidFill>
                  <a:srgbClr val="4B5563"/>
                </a:solidFill>
                <a:latin typeface="Calibri"/>
              </a:rPr>
              <a:t>Weniger manuelle Excels/Berichte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690872" y="2057400"/>
            <a:ext cx="5760720" cy="310896"/>
          </a:xfrm>
          <a:prstGeom prst="round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690872" y="2057400"/>
            <a:ext cx="5760720" cy="310896"/>
          </a:xfrm>
          <a:prstGeom prst="round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43032" y="1783080"/>
            <a:ext cx="1280160" cy="82296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300" b="1" i="0">
                <a:solidFill>
                  <a:srgbClr val="2C3E50"/>
                </a:solidFill>
                <a:latin typeface="Calibri"/>
              </a:rPr>
              <a:t>820 k€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01752" y="2660904"/>
            <a:ext cx="11585448" cy="822960"/>
          </a:xfrm>
          <a:prstGeom prst="roundRect">
            <a:avLst/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01752" y="2660904"/>
            <a:ext cx="64008" cy="82296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8912" y="2697480"/>
            <a:ext cx="4114800" cy="7315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100" b="1" i="0">
                <a:solidFill>
                  <a:srgbClr val="1F2937"/>
                </a:solidFill>
                <a:latin typeface="Calibri"/>
              </a:rPr>
              <a:t>Time-to-Market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" y="3172968"/>
            <a:ext cx="411480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30000" rIns="30000" tIns="10000" bIns="10000">
            <a:spAutoFit/>
          </a:bodyPr>
          <a:lstStyle/>
          <a:p>
            <a:pPr algn="l"/>
            <a:r>
              <a:rPr sz="900" b="0" i="1">
                <a:solidFill>
                  <a:srgbClr val="4B5563"/>
                </a:solidFill>
                <a:latin typeface="Calibri"/>
              </a:rPr>
              <a:t>Schnellere Idee-&gt;Projekt-Start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690872" y="2935224"/>
            <a:ext cx="5760720" cy="310896"/>
          </a:xfrm>
          <a:prstGeom prst="round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690872" y="2935224"/>
            <a:ext cx="3372128" cy="310896"/>
          </a:xfrm>
          <a:prstGeom prst="round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543032" y="2660904"/>
            <a:ext cx="1280160" cy="82296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300" b="1" i="0">
                <a:solidFill>
                  <a:srgbClr val="2C3E50"/>
                </a:solidFill>
                <a:latin typeface="Calibri"/>
              </a:rPr>
              <a:t>480 k€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01752" y="3538728"/>
            <a:ext cx="11585448" cy="82296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01752" y="3538728"/>
            <a:ext cx="64008" cy="82296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8912" y="3575304"/>
            <a:ext cx="4114800" cy="7315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100" b="1" i="0">
                <a:solidFill>
                  <a:srgbClr val="1F2937"/>
                </a:solidFill>
                <a:latin typeface="Calibri"/>
              </a:rPr>
              <a:t>Governance / Rework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8912" y="4050792"/>
            <a:ext cx="411480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30000" rIns="30000" tIns="10000" bIns="10000">
            <a:spAutoFit/>
          </a:bodyPr>
          <a:lstStyle/>
          <a:p>
            <a:pPr algn="l"/>
            <a:r>
              <a:rPr sz="900" b="0" i="1">
                <a:solidFill>
                  <a:srgbClr val="4B5563"/>
                </a:solidFill>
                <a:latin typeface="Calibri"/>
              </a:rPr>
              <a:t>Weniger Doppelarbeit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690872" y="3813048"/>
            <a:ext cx="5760720" cy="310896"/>
          </a:xfrm>
          <a:prstGeom prst="round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4690872" y="3813048"/>
            <a:ext cx="2529096" cy="310896"/>
          </a:xfrm>
          <a:prstGeom prst="round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543032" y="3538728"/>
            <a:ext cx="1280160" cy="82296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300" b="1" i="0">
                <a:solidFill>
                  <a:srgbClr val="2C3E50"/>
                </a:solidFill>
                <a:latin typeface="Calibri"/>
              </a:rPr>
              <a:t>360 k€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01752" y="4416552"/>
            <a:ext cx="11585448" cy="822960"/>
          </a:xfrm>
          <a:prstGeom prst="roundRect">
            <a:avLst/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01752" y="4416552"/>
            <a:ext cx="64008" cy="82296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8912" y="4453128"/>
            <a:ext cx="4114800" cy="7315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100" b="1" i="0">
                <a:solidFill>
                  <a:srgbClr val="1F2937"/>
                </a:solidFill>
                <a:latin typeface="Calibri"/>
              </a:rPr>
              <a:t>Ressourcen-Optimierung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8912" y="4928616"/>
            <a:ext cx="411480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30000" rIns="30000" tIns="10000" bIns="10000">
            <a:spAutoFit/>
          </a:bodyPr>
          <a:lstStyle/>
          <a:p>
            <a:pPr algn="l"/>
            <a:r>
              <a:rPr sz="900" b="0" i="1">
                <a:solidFill>
                  <a:srgbClr val="4B5563"/>
                </a:solidFill>
                <a:latin typeface="Calibri"/>
              </a:rPr>
              <a:t>Skill-Match, Auslastungs-Steuerung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690872" y="4690872"/>
            <a:ext cx="5760720" cy="310896"/>
          </a:xfrm>
          <a:prstGeom prst="round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4690872" y="4690872"/>
            <a:ext cx="3653139" cy="310896"/>
          </a:xfrm>
          <a:prstGeom prst="round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543032" y="4416552"/>
            <a:ext cx="1280160" cy="82296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300" b="1" i="0">
                <a:solidFill>
                  <a:srgbClr val="2C3E50"/>
                </a:solidFill>
                <a:latin typeface="Calibri"/>
              </a:rPr>
              <a:t>520 k€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01752" y="5294376"/>
            <a:ext cx="11585448" cy="82296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01752" y="5294376"/>
            <a:ext cx="64008" cy="82296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38912" y="5330952"/>
            <a:ext cx="4114800" cy="7315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100" b="1" i="0">
                <a:solidFill>
                  <a:srgbClr val="1F2937"/>
                </a:solidFill>
                <a:latin typeface="Calibri"/>
              </a:rPr>
              <a:t>Compliance / Audit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38912" y="5806440"/>
            <a:ext cx="411480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30000" rIns="30000" tIns="10000" bIns="10000">
            <a:spAutoFit/>
          </a:bodyPr>
          <a:lstStyle/>
          <a:p>
            <a:pPr algn="l"/>
            <a:r>
              <a:rPr sz="900" b="0" i="1">
                <a:solidFill>
                  <a:srgbClr val="4B5563"/>
                </a:solidFill>
                <a:latin typeface="Calibri"/>
              </a:rPr>
              <a:t>Nachvollziehbarkeit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690872" y="5568696"/>
            <a:ext cx="5760720" cy="310896"/>
          </a:xfrm>
          <a:prstGeom prst="round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4690872" y="5568696"/>
            <a:ext cx="983537" cy="310896"/>
          </a:xfrm>
          <a:prstGeom prst="round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543032" y="5294376"/>
            <a:ext cx="1280160" cy="82296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300" b="1" i="0">
                <a:solidFill>
                  <a:srgbClr val="2C3E50"/>
                </a:solidFill>
                <a:latin typeface="Calibri"/>
              </a:rPr>
              <a:t>140 k€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TCO — Total Cost of Ownership (5 Jahre)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301752" y="960120"/>
            <a:ext cx="11585448" cy="640080"/>
          </a:xfrm>
          <a:prstGeom prst="round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38912" y="960120"/>
            <a:ext cx="5486400" cy="6400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5-Jahres-TCO SEPM (Base Case)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71032" y="960120"/>
            <a:ext cx="4572000" cy="6400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2200" b="1" i="0">
                <a:solidFill>
                  <a:srgbClr val="F07F12"/>
                </a:solidFill>
                <a:latin typeface="Calibri"/>
              </a:rPr>
              <a:t>~ 8.7 Mio. 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43032" y="960120"/>
            <a:ext cx="1463040" cy="6400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000" b="0" i="1">
                <a:solidFill>
                  <a:srgbClr val="D1D5DB"/>
                </a:solidFill>
                <a:latin typeface="Calibri"/>
              </a:rPr>
              <a:t>(~ 1.73 M€ p.a. Ø)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01752" y="1737360"/>
            <a:ext cx="5724144" cy="470916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01752" y="1737360"/>
            <a:ext cx="5724144" cy="320040"/>
          </a:xfrm>
          <a:prstGeom prst="round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93192" y="1737360"/>
            <a:ext cx="5541264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Einmalige Kosten (Y1-Y2)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" y="2194560"/>
            <a:ext cx="5449824" cy="59436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2C3E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76072" y="2194560"/>
            <a:ext cx="3474720" cy="59436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50" b="1" i="0">
                <a:solidFill>
                  <a:srgbClr val="1F2937"/>
                </a:solidFill>
                <a:latin typeface="Calibri"/>
              </a:rPr>
              <a:t>Implementierungs-Partner (SI)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71416" y="2194560"/>
            <a:ext cx="1371600" cy="59436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r"/>
            <a:r>
              <a:rPr sz="1250" b="1" i="0">
                <a:solidFill>
                  <a:srgbClr val="2C3E50"/>
                </a:solidFill>
                <a:latin typeface="Calibri"/>
              </a:rPr>
              <a:t>1.300 k€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8912" y="2880360"/>
            <a:ext cx="5449824" cy="59436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2C3E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76072" y="2880360"/>
            <a:ext cx="3474720" cy="59436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50" b="1" i="0">
                <a:solidFill>
                  <a:srgbClr val="1F2937"/>
                </a:solidFill>
                <a:latin typeface="Calibri"/>
              </a:rPr>
              <a:t>Interne FTE (Phase 1+2)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71416" y="2880360"/>
            <a:ext cx="1371600" cy="59436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r"/>
            <a:r>
              <a:rPr sz="1250" b="1" i="0">
                <a:solidFill>
                  <a:srgbClr val="2C3E50"/>
                </a:solidFill>
                <a:latin typeface="Calibri"/>
              </a:rPr>
              <a:t>1.040 k€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8912" y="3566160"/>
            <a:ext cx="5449824" cy="59436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2C3E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76072" y="3566160"/>
            <a:ext cx="3474720" cy="59436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50" b="1" i="0">
                <a:solidFill>
                  <a:srgbClr val="1F2937"/>
                </a:solidFill>
                <a:latin typeface="Calibri"/>
              </a:rPr>
              <a:t>Change / Schulung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71416" y="3566160"/>
            <a:ext cx="1371600" cy="59436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r"/>
            <a:r>
              <a:rPr sz="1250" b="1" i="0">
                <a:solidFill>
                  <a:srgbClr val="2C3E50"/>
                </a:solidFill>
                <a:latin typeface="Calibri"/>
              </a:rPr>
              <a:t>250 k€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8912" y="4251960"/>
            <a:ext cx="5449824" cy="59436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2C3E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76072" y="4251960"/>
            <a:ext cx="3474720" cy="59436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50" b="1" i="0">
                <a:solidFill>
                  <a:srgbClr val="1F2937"/>
                </a:solidFill>
                <a:latin typeface="Calibri"/>
              </a:rPr>
              <a:t>Contingency (10%)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71416" y="4251960"/>
            <a:ext cx="1371600" cy="59436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r"/>
            <a:r>
              <a:rPr sz="1250" b="1" i="0">
                <a:solidFill>
                  <a:srgbClr val="2C3E50"/>
                </a:solidFill>
                <a:latin typeface="Calibri"/>
              </a:rPr>
              <a:t>259 k€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93192" y="5166360"/>
            <a:ext cx="5541264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r"/>
            <a:r>
              <a:rPr sz="1200" b="1" i="0">
                <a:solidFill>
                  <a:srgbClr val="2C3E50"/>
                </a:solidFill>
                <a:latin typeface="Calibri"/>
              </a:rPr>
              <a:t>Summe einmalig: 2.849 k€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63056" y="1737360"/>
            <a:ext cx="5724144" cy="470916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163056" y="1737360"/>
            <a:ext cx="5724144" cy="320040"/>
          </a:xfrm>
          <a:prstGeom prst="round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54496" y="1737360"/>
            <a:ext cx="5541264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Laufende Kosten p.a. (Steady State)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300216" y="2194560"/>
            <a:ext cx="5449824" cy="59436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F07F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37376" y="2194560"/>
            <a:ext cx="3474720" cy="59436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50" b="1" i="0">
                <a:solidFill>
                  <a:srgbClr val="1F2937"/>
                </a:solidFill>
                <a:latin typeface="Calibri"/>
              </a:rPr>
              <a:t>Lizenzen SNOW SPM Pro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332720" y="2194560"/>
            <a:ext cx="1371600" cy="59436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r"/>
            <a:r>
              <a:rPr sz="1250" b="1" i="0">
                <a:solidFill>
                  <a:srgbClr val="F07F12"/>
                </a:solidFill>
                <a:latin typeface="Calibri"/>
              </a:rPr>
              <a:t>850 k€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300216" y="2880360"/>
            <a:ext cx="5449824" cy="59436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F07F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37376" y="2880360"/>
            <a:ext cx="3474720" cy="59436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50" b="1" i="0">
                <a:solidFill>
                  <a:srgbClr val="1F2937"/>
                </a:solidFill>
                <a:latin typeface="Calibri"/>
              </a:rPr>
              <a:t>Interne Betriebs-FTE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332720" y="2880360"/>
            <a:ext cx="1371600" cy="59436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r"/>
            <a:r>
              <a:rPr sz="1250" b="1" i="0">
                <a:solidFill>
                  <a:srgbClr val="F07F12"/>
                </a:solidFill>
                <a:latin typeface="Calibri"/>
              </a:rPr>
              <a:t>390 k€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300216" y="3566160"/>
            <a:ext cx="5449824" cy="59436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F07F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37376" y="3566160"/>
            <a:ext cx="3474720" cy="59436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50" b="1" i="0">
                <a:solidFill>
                  <a:srgbClr val="1F2937"/>
                </a:solidFill>
                <a:latin typeface="Calibri"/>
              </a:rPr>
              <a:t>Externer Support / Wartung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332720" y="3566160"/>
            <a:ext cx="1371600" cy="59436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r"/>
            <a:r>
              <a:rPr sz="1250" b="1" i="0">
                <a:solidFill>
                  <a:srgbClr val="F07F12"/>
                </a:solidFill>
                <a:latin typeface="Calibri"/>
              </a:rPr>
              <a:t>180 k€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300216" y="4251960"/>
            <a:ext cx="5449824" cy="59436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F07F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37376" y="4251960"/>
            <a:ext cx="3474720" cy="59436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50" b="1" i="0">
                <a:solidFill>
                  <a:srgbClr val="1F2937"/>
                </a:solidFill>
                <a:latin typeface="Calibri"/>
              </a:rPr>
              <a:t>Weiterentwicklung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332720" y="4251960"/>
            <a:ext cx="1371600" cy="59436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r"/>
            <a:r>
              <a:rPr sz="1250" b="1" i="0">
                <a:solidFill>
                  <a:srgbClr val="F07F12"/>
                </a:solidFill>
                <a:latin typeface="Calibri"/>
              </a:rPr>
              <a:t>220 k€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54496" y="5166360"/>
            <a:ext cx="5541264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r"/>
            <a:r>
              <a:rPr sz="1200" b="1" i="0">
                <a:solidFill>
                  <a:srgbClr val="F07F12"/>
                </a:solidFill>
                <a:latin typeface="Calibri"/>
              </a:rPr>
              <a:t>Summe p.a.: 1.640 k€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Support-Kosten — Detailbetrachtung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301752" y="960120"/>
            <a:ext cx="3770375" cy="548640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01752" y="960120"/>
            <a:ext cx="3770375" cy="384048"/>
          </a:xfrm>
          <a:prstGeom prst="round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93192" y="987552"/>
            <a:ext cx="3587495" cy="329184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Interner Betrieb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93192" y="1417320"/>
            <a:ext cx="3587495" cy="54864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F07F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4632" y="1435608"/>
            <a:ext cx="2307335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50" b="1" i="0">
                <a:solidFill>
                  <a:srgbClr val="1F2937"/>
                </a:solidFill>
                <a:latin typeface="Calibri"/>
              </a:rPr>
              <a:t>SNOW-Plattform-Admin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4632" y="1691640"/>
            <a:ext cx="2307335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00" b="0" i="1">
                <a:solidFill>
                  <a:srgbClr val="4B5563"/>
                </a:solidFill>
                <a:latin typeface="Calibri"/>
              </a:rPr>
              <a:t>1,0 FTE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00528" y="1435608"/>
            <a:ext cx="1234440" cy="512064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r"/>
            <a:r>
              <a:rPr sz="1200" b="1" i="0">
                <a:solidFill>
                  <a:srgbClr val="F07F12"/>
                </a:solidFill>
                <a:latin typeface="Calibri"/>
              </a:rPr>
              <a:t>130 k€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93192" y="2011680"/>
            <a:ext cx="3587495" cy="54864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F07F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4632" y="2029968"/>
            <a:ext cx="2307335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50" b="1" i="0">
                <a:solidFill>
                  <a:srgbClr val="1F2937"/>
                </a:solidFill>
                <a:latin typeface="Calibri"/>
              </a:rPr>
              <a:t>SPM Business Analyst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" y="2286000"/>
            <a:ext cx="2307335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00" b="0" i="1">
                <a:solidFill>
                  <a:srgbClr val="4B5563"/>
                </a:solidFill>
                <a:latin typeface="Calibri"/>
              </a:rPr>
              <a:t>1,0 FTE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00528" y="2029968"/>
            <a:ext cx="1234440" cy="512064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r"/>
            <a:r>
              <a:rPr sz="1200" b="1" i="0">
                <a:solidFill>
                  <a:srgbClr val="F07F12"/>
                </a:solidFill>
                <a:latin typeface="Calibri"/>
              </a:rPr>
              <a:t>130 k€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93192" y="2606040"/>
            <a:ext cx="3587495" cy="54864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F07F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4632" y="2624328"/>
            <a:ext cx="2307335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50" b="1" i="0">
                <a:solidFill>
                  <a:srgbClr val="1F2937"/>
                </a:solidFill>
                <a:latin typeface="Calibri"/>
              </a:rPr>
              <a:t>Integration / Schnittstellen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4632" y="2880360"/>
            <a:ext cx="2307335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00" b="0" i="1">
                <a:solidFill>
                  <a:srgbClr val="4B5563"/>
                </a:solidFill>
                <a:latin typeface="Calibri"/>
              </a:rPr>
              <a:t>0,5 FTE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00528" y="2624328"/>
            <a:ext cx="1234440" cy="512064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r"/>
            <a:r>
              <a:rPr sz="1200" b="1" i="0">
                <a:solidFill>
                  <a:srgbClr val="F07F12"/>
                </a:solidFill>
                <a:latin typeface="Calibri"/>
              </a:rPr>
              <a:t>65 k€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93192" y="3200400"/>
            <a:ext cx="3587495" cy="54864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F07F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4632" y="3218688"/>
            <a:ext cx="2307335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50" b="1" i="0">
                <a:solidFill>
                  <a:srgbClr val="1F2937"/>
                </a:solidFill>
                <a:latin typeface="Calibri"/>
              </a:rPr>
              <a:t>Data Governance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4632" y="3474720"/>
            <a:ext cx="2307335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00" b="0" i="1">
                <a:solidFill>
                  <a:srgbClr val="4B5563"/>
                </a:solidFill>
                <a:latin typeface="Calibri"/>
              </a:rPr>
              <a:t>0,3 FTE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00528" y="3218688"/>
            <a:ext cx="1234440" cy="512064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r"/>
            <a:r>
              <a:rPr sz="1200" b="1" i="0">
                <a:solidFill>
                  <a:srgbClr val="F07F12"/>
                </a:solidFill>
                <a:latin typeface="Calibri"/>
              </a:rPr>
              <a:t>39 k€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93192" y="3794760"/>
            <a:ext cx="3587495" cy="54864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F07F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84632" y="3813048"/>
            <a:ext cx="2307335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50" b="1" i="0">
                <a:solidFill>
                  <a:srgbClr val="1F2937"/>
                </a:solidFill>
                <a:latin typeface="Calibri"/>
              </a:rPr>
              <a:t>User Support 2nd Level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4632" y="4069080"/>
            <a:ext cx="2307335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00" b="0" i="1">
                <a:solidFill>
                  <a:srgbClr val="4B5563"/>
                </a:solidFill>
                <a:latin typeface="Calibri"/>
              </a:rPr>
              <a:t>0,2 FTE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00528" y="3813048"/>
            <a:ext cx="1234440" cy="512064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r"/>
            <a:r>
              <a:rPr sz="1200" b="1" i="0">
                <a:solidFill>
                  <a:srgbClr val="F07F12"/>
                </a:solidFill>
                <a:latin typeface="Calibri"/>
              </a:rPr>
              <a:t>26 k€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93192" y="5943600"/>
            <a:ext cx="3587495" cy="320040"/>
          </a:xfrm>
          <a:prstGeom prst="round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93192" y="5943600"/>
            <a:ext cx="3587495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Summe: 390 k€ / Jahr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209288" y="960120"/>
            <a:ext cx="3770375" cy="548640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4209288" y="960120"/>
            <a:ext cx="3770375" cy="384048"/>
          </a:xfrm>
          <a:prstGeom prst="round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300728" y="987552"/>
            <a:ext cx="3587495" cy="329184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Externer Support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300728" y="1417320"/>
            <a:ext cx="3587495" cy="54864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2C3E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92168" y="1435608"/>
            <a:ext cx="2307335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50" b="1" i="0">
                <a:solidFill>
                  <a:srgbClr val="1F2937"/>
                </a:solidFill>
                <a:latin typeface="Calibri"/>
              </a:rPr>
              <a:t>Wartungsvertrag SNOW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92168" y="1691640"/>
            <a:ext cx="2307335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00" b="0" i="1">
                <a:solidFill>
                  <a:srgbClr val="4B5563"/>
                </a:solidFill>
                <a:latin typeface="Calibri"/>
              </a:rPr>
              <a:t>Standard 22%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08064" y="1435608"/>
            <a:ext cx="1234440" cy="512064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r"/>
            <a:r>
              <a:rPr sz="1200" b="1" i="0">
                <a:solidFill>
                  <a:srgbClr val="2C3E50"/>
                </a:solidFill>
                <a:latin typeface="Calibri"/>
              </a:rPr>
              <a:t>70 k€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300728" y="2011680"/>
            <a:ext cx="3587495" cy="54864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2C3E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392168" y="2029968"/>
            <a:ext cx="2307335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50" b="1" i="0">
                <a:solidFill>
                  <a:srgbClr val="1F2937"/>
                </a:solidFill>
                <a:latin typeface="Calibri"/>
              </a:rPr>
              <a:t>Managed-Service Partner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392168" y="2286000"/>
            <a:ext cx="2307335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00" b="0" i="1">
                <a:solidFill>
                  <a:srgbClr val="4B5563"/>
                </a:solidFill>
                <a:latin typeface="Calibri"/>
              </a:rPr>
              <a:t>Retainer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08064" y="2029968"/>
            <a:ext cx="1234440" cy="512064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r"/>
            <a:r>
              <a:rPr sz="1200" b="1" i="0">
                <a:solidFill>
                  <a:srgbClr val="2C3E50"/>
                </a:solidFill>
                <a:latin typeface="Calibri"/>
              </a:rPr>
              <a:t>90 k€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300728" y="2606040"/>
            <a:ext cx="3587495" cy="54864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2C3E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392168" y="2624328"/>
            <a:ext cx="2307335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50" b="1" i="0">
                <a:solidFill>
                  <a:srgbClr val="1F2937"/>
                </a:solidFill>
                <a:latin typeface="Calibri"/>
              </a:rPr>
              <a:t>Externes Consulting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392168" y="2880360"/>
            <a:ext cx="2307335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00" b="0" i="1">
                <a:solidFill>
                  <a:srgbClr val="4B5563"/>
                </a:solidFill>
                <a:latin typeface="Calibri"/>
              </a:rPr>
              <a:t>20-30 Tage/y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608064" y="2624328"/>
            <a:ext cx="1234440" cy="512064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r"/>
            <a:r>
              <a:rPr sz="1200" b="1" i="0">
                <a:solidFill>
                  <a:srgbClr val="2C3E50"/>
                </a:solidFill>
                <a:latin typeface="Calibri"/>
              </a:rPr>
              <a:t>60 k€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300728" y="3200400"/>
            <a:ext cx="3587495" cy="54864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2C3E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392168" y="3218688"/>
            <a:ext cx="2307335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50" b="1" i="0">
                <a:solidFill>
                  <a:srgbClr val="1F2937"/>
                </a:solidFill>
                <a:latin typeface="Calibri"/>
              </a:rPr>
              <a:t>Zertifikate &amp; Schulungen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392168" y="3474720"/>
            <a:ext cx="2307335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00" b="0" i="1">
                <a:solidFill>
                  <a:srgbClr val="4B5563"/>
                </a:solidFill>
                <a:latin typeface="Calibri"/>
              </a:rPr>
              <a:t>5-8 Personen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608064" y="3218688"/>
            <a:ext cx="1234440" cy="512064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r"/>
            <a:r>
              <a:rPr sz="1200" b="1" i="0">
                <a:solidFill>
                  <a:srgbClr val="2C3E50"/>
                </a:solidFill>
                <a:latin typeface="Calibri"/>
              </a:rPr>
              <a:t>30 k€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300728" y="5943600"/>
            <a:ext cx="3587495" cy="320040"/>
          </a:xfrm>
          <a:prstGeom prst="round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300728" y="5943600"/>
            <a:ext cx="3587495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Summe: 250 k€ / Jahr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116824" y="960120"/>
            <a:ext cx="3770375" cy="548640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8116824" y="960120"/>
            <a:ext cx="3770375" cy="384048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208264" y="987552"/>
            <a:ext cx="3587495" cy="329184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Weiterentwicklung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8208264" y="1417320"/>
            <a:ext cx="3587495" cy="54864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299704" y="1435608"/>
            <a:ext cx="2307335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50" b="1" i="0">
                <a:solidFill>
                  <a:srgbClr val="1F2937"/>
                </a:solidFill>
                <a:latin typeface="Calibri"/>
              </a:rPr>
              <a:t>Feature-Backlog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299704" y="1691640"/>
            <a:ext cx="2307335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00" b="0" i="1">
                <a:solidFill>
                  <a:srgbClr val="4B5563"/>
                </a:solidFill>
                <a:latin typeface="Calibri"/>
              </a:rPr>
              <a:t>~10 PT/Mo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515600" y="1435608"/>
            <a:ext cx="1234440" cy="512064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r"/>
            <a:r>
              <a:rPr sz="1200" b="1" i="0">
                <a:solidFill>
                  <a:srgbClr val="2E7D32"/>
                </a:solidFill>
                <a:latin typeface="Calibri"/>
              </a:rPr>
              <a:t>100 k€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8208264" y="2011680"/>
            <a:ext cx="3587495" cy="54864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299704" y="2029968"/>
            <a:ext cx="2307335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50" b="1" i="0">
                <a:solidFill>
                  <a:srgbClr val="1F2937"/>
                </a:solidFill>
                <a:latin typeface="Calibri"/>
              </a:rPr>
              <a:t>Release-Upgrades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299704" y="2286000"/>
            <a:ext cx="2307335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00" b="0" i="1">
                <a:solidFill>
                  <a:srgbClr val="4B5563"/>
                </a:solidFill>
                <a:latin typeface="Calibri"/>
              </a:rPr>
              <a:t>2× / Jahr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515600" y="2029968"/>
            <a:ext cx="1234440" cy="512064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r"/>
            <a:r>
              <a:rPr sz="1200" b="1" i="0">
                <a:solidFill>
                  <a:srgbClr val="2E7D32"/>
                </a:solidFill>
                <a:latin typeface="Calibri"/>
              </a:rPr>
              <a:t>50 k€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8208264" y="2606040"/>
            <a:ext cx="3587495" cy="54864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299704" y="2624328"/>
            <a:ext cx="2307335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50" b="1" i="0">
                <a:solidFill>
                  <a:srgbClr val="1F2937"/>
                </a:solidFill>
                <a:latin typeface="Calibri"/>
              </a:rPr>
              <a:t>Custom-Reports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299704" y="2880360"/>
            <a:ext cx="2307335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00" b="0" i="1">
                <a:solidFill>
                  <a:srgbClr val="4B5563"/>
                </a:solidFill>
                <a:latin typeface="Calibri"/>
              </a:rPr>
              <a:t>4-6 PT/Mo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515600" y="2624328"/>
            <a:ext cx="1234440" cy="512064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r"/>
            <a:r>
              <a:rPr sz="1200" b="1" i="0">
                <a:solidFill>
                  <a:srgbClr val="2E7D32"/>
                </a:solidFill>
                <a:latin typeface="Calibri"/>
              </a:rPr>
              <a:t>40 k€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8208264" y="3200400"/>
            <a:ext cx="3587495" cy="54864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299704" y="3218688"/>
            <a:ext cx="2307335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50" b="1" i="0">
                <a:solidFill>
                  <a:srgbClr val="1F2937"/>
                </a:solidFill>
                <a:latin typeface="Calibri"/>
              </a:rPr>
              <a:t>Innovation Sprints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299704" y="3474720"/>
            <a:ext cx="2307335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00" b="0" i="1">
                <a:solidFill>
                  <a:srgbClr val="4B5563"/>
                </a:solidFill>
                <a:latin typeface="Calibri"/>
              </a:rPr>
              <a:t>1× Q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0515600" y="3218688"/>
            <a:ext cx="1234440" cy="512064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r"/>
            <a:r>
              <a:rPr sz="1200" b="1" i="0">
                <a:solidFill>
                  <a:srgbClr val="2E7D32"/>
                </a:solidFill>
                <a:latin typeface="Calibri"/>
              </a:rPr>
              <a:t>30 k€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8208264" y="5943600"/>
            <a:ext cx="3587495" cy="320040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8208264" y="5943600"/>
            <a:ext cx="3587495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Summe: 220 k€ / Jahr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Konsolidierungseinsparungen — Tool-Abloese  (inkl. PIT-Ablose · Punkt 5)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301752" y="960120"/>
            <a:ext cx="11585448" cy="640080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38912" y="960120"/>
            <a:ext cx="7315200" cy="6400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Gesamt Tool-Abloese-Ersparnis (Steady State p.a.)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99831" y="960120"/>
            <a:ext cx="4023360" cy="6400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~ 950 k€ / Jahr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01752" y="1783080"/>
            <a:ext cx="11585448" cy="658368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01752" y="1783080"/>
            <a:ext cx="64008" cy="658368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8912" y="1810512"/>
            <a:ext cx="3200400" cy="603503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150" b="1" i="0">
                <a:solidFill>
                  <a:srgbClr val="1F2937"/>
                </a:solidFill>
                <a:latin typeface="Calibri"/>
              </a:rPr>
              <a:t>PIT / PLANTA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" y="2185415"/>
            <a:ext cx="320040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30000" rIns="30000" tIns="10000" bIns="10000">
            <a:spAutoFit/>
          </a:bodyPr>
          <a:lstStyle/>
          <a:p>
            <a:pPr algn="l"/>
            <a:r>
              <a:rPr sz="850" b="0" i="1">
                <a:solidFill>
                  <a:srgbClr val="4B5563"/>
                </a:solidFill>
                <a:latin typeface="Calibri"/>
              </a:rPr>
              <a:t>Projekt-/Ressourcen-Mgmt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867911" y="2039112"/>
            <a:ext cx="6675120" cy="219456"/>
          </a:xfrm>
          <a:prstGeom prst="round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867911" y="2039112"/>
            <a:ext cx="6675120" cy="219456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634472" y="1783080"/>
            <a:ext cx="118872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300" b="1" i="0">
                <a:solidFill>
                  <a:srgbClr val="2E7D32"/>
                </a:solidFill>
                <a:latin typeface="Calibri"/>
              </a:rPr>
              <a:t>- 380 k€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01752" y="2487168"/>
            <a:ext cx="11585448" cy="658368"/>
          </a:xfrm>
          <a:prstGeom prst="roundRect">
            <a:avLst/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01752" y="2487168"/>
            <a:ext cx="64008" cy="658368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8912" y="2514600"/>
            <a:ext cx="3200400" cy="603503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150" b="1" i="0">
                <a:solidFill>
                  <a:srgbClr val="1F2937"/>
                </a:solidFill>
                <a:latin typeface="Calibri"/>
              </a:rPr>
              <a:t>MS Project Online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" y="2889504"/>
            <a:ext cx="320040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30000" rIns="30000" tIns="10000" bIns="10000">
            <a:spAutoFit/>
          </a:bodyPr>
          <a:lstStyle/>
          <a:p>
            <a:pPr algn="l"/>
            <a:r>
              <a:rPr sz="850" b="0" i="1">
                <a:solidFill>
                  <a:srgbClr val="4B5563"/>
                </a:solidFill>
                <a:latin typeface="Calibri"/>
              </a:rPr>
              <a:t>Klass. Projekt-Mgmt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867911" y="2743200"/>
            <a:ext cx="6675120" cy="219456"/>
          </a:xfrm>
          <a:prstGeom prst="round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3867911" y="2743200"/>
            <a:ext cx="2107932" cy="219456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634472" y="2487168"/>
            <a:ext cx="118872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300" b="1" i="0">
                <a:solidFill>
                  <a:srgbClr val="2E7D32"/>
                </a:solidFill>
                <a:latin typeface="Calibri"/>
              </a:rPr>
              <a:t>- 120 k€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01752" y="3191256"/>
            <a:ext cx="11585448" cy="658368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01752" y="3191256"/>
            <a:ext cx="64008" cy="658368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8912" y="3218688"/>
            <a:ext cx="3200400" cy="603503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150" b="1" i="0">
                <a:solidFill>
                  <a:srgbClr val="1F2937"/>
                </a:solidFill>
                <a:latin typeface="Calibri"/>
              </a:rPr>
              <a:t>Workpath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8912" y="3593591"/>
            <a:ext cx="320040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30000" rIns="30000" tIns="10000" bIns="10000">
            <a:spAutoFit/>
          </a:bodyPr>
          <a:lstStyle/>
          <a:p>
            <a:pPr algn="l"/>
            <a:r>
              <a:rPr sz="850" b="0" i="1">
                <a:solidFill>
                  <a:srgbClr val="4B5563"/>
                </a:solidFill>
                <a:latin typeface="Calibri"/>
              </a:rPr>
              <a:t>Strategie / OKR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867911" y="3447288"/>
            <a:ext cx="6675120" cy="219456"/>
          </a:xfrm>
          <a:prstGeom prst="round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3867911" y="3447288"/>
            <a:ext cx="2634915" cy="219456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634472" y="3191256"/>
            <a:ext cx="118872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300" b="1" i="0">
                <a:solidFill>
                  <a:srgbClr val="2E7D32"/>
                </a:solidFill>
                <a:latin typeface="Calibri"/>
              </a:rPr>
              <a:t>- 150 k€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01752" y="3895344"/>
            <a:ext cx="11585448" cy="658368"/>
          </a:xfrm>
          <a:prstGeom prst="roundRect">
            <a:avLst/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01752" y="3895344"/>
            <a:ext cx="64008" cy="658368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8912" y="3922776"/>
            <a:ext cx="3200400" cy="603503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150" b="1" i="0">
                <a:solidFill>
                  <a:srgbClr val="1F2937"/>
                </a:solidFill>
                <a:latin typeface="Calibri"/>
              </a:rPr>
              <a:t>Power Apps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8912" y="4297679"/>
            <a:ext cx="320040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30000" rIns="30000" tIns="10000" bIns="10000">
            <a:spAutoFit/>
          </a:bodyPr>
          <a:lstStyle/>
          <a:p>
            <a:pPr algn="l"/>
            <a:r>
              <a:rPr sz="850" b="0" i="1">
                <a:solidFill>
                  <a:srgbClr val="4B5563"/>
                </a:solidFill>
                <a:latin typeface="Calibri"/>
              </a:rPr>
              <a:t>Custom-Formulare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867911" y="4151376"/>
            <a:ext cx="6675120" cy="219456"/>
          </a:xfrm>
          <a:prstGeom prst="round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3867911" y="4151376"/>
            <a:ext cx="1580949" cy="219456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634472" y="3895344"/>
            <a:ext cx="118872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300" b="1" i="0">
                <a:solidFill>
                  <a:srgbClr val="2E7D32"/>
                </a:solidFill>
                <a:latin typeface="Calibri"/>
              </a:rPr>
              <a:t>- 90 k€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01752" y="4599432"/>
            <a:ext cx="11585448" cy="658368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01752" y="4599432"/>
            <a:ext cx="64008" cy="658368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38912" y="4626864"/>
            <a:ext cx="3200400" cy="603503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150" b="1" i="0">
                <a:solidFill>
                  <a:srgbClr val="1F2937"/>
                </a:solidFill>
                <a:latin typeface="Calibri"/>
              </a:rPr>
              <a:t>SharePoint-Listen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38912" y="5001768"/>
            <a:ext cx="320040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30000" rIns="30000" tIns="10000" bIns="10000">
            <a:spAutoFit/>
          </a:bodyPr>
          <a:lstStyle/>
          <a:p>
            <a:pPr algn="l"/>
            <a:r>
              <a:rPr sz="850" b="0" i="1">
                <a:solidFill>
                  <a:srgbClr val="4B5563"/>
                </a:solidFill>
                <a:latin typeface="Calibri"/>
              </a:rPr>
              <a:t>Demand-Listen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867911" y="4855464"/>
            <a:ext cx="6675120" cy="219456"/>
          </a:xfrm>
          <a:prstGeom prst="round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3867911" y="4855464"/>
            <a:ext cx="1229627" cy="219456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634472" y="4599432"/>
            <a:ext cx="118872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300" b="1" i="0">
                <a:solidFill>
                  <a:srgbClr val="2E7D32"/>
                </a:solidFill>
                <a:latin typeface="Calibri"/>
              </a:rPr>
              <a:t>- 70 k€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01752" y="5303520"/>
            <a:ext cx="11585448" cy="658368"/>
          </a:xfrm>
          <a:prstGeom prst="roundRect">
            <a:avLst/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301752" y="5303520"/>
            <a:ext cx="64008" cy="658368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38912" y="5330952"/>
            <a:ext cx="3200400" cy="603503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150" b="1" i="0">
                <a:solidFill>
                  <a:srgbClr val="1F2937"/>
                </a:solidFill>
                <a:latin typeface="Calibri"/>
              </a:rPr>
              <a:t>Lucom (EV, teilweise)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38912" y="5705856"/>
            <a:ext cx="320040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30000" rIns="30000" tIns="10000" bIns="10000">
            <a:spAutoFit/>
          </a:bodyPr>
          <a:lstStyle/>
          <a:p>
            <a:pPr algn="l"/>
            <a:r>
              <a:rPr sz="850" b="0" i="1">
                <a:solidFill>
                  <a:srgbClr val="4B5563"/>
                </a:solidFill>
                <a:latin typeface="Calibri"/>
              </a:rPr>
              <a:t>EV-Prozess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3867911" y="5559552"/>
            <a:ext cx="6675120" cy="219456"/>
          </a:xfrm>
          <a:prstGeom prst="round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3867911" y="5559552"/>
            <a:ext cx="2459254" cy="219456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0634472" y="5303520"/>
            <a:ext cx="118872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300" b="1" i="0">
                <a:solidFill>
                  <a:srgbClr val="2E7D32"/>
                </a:solidFill>
                <a:latin typeface="Calibri"/>
              </a:rPr>
              <a:t>- 140 k€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Konsolidierungseinsparungen — Schnittstellen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301752" y="960120"/>
            <a:ext cx="11585448" cy="640080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38912" y="960120"/>
            <a:ext cx="7315200" cy="6400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Ersparnis Schnittstellen &amp; Integration p.a.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99831" y="960120"/>
            <a:ext cx="4023360" cy="6400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~ 220 k€ / Jahr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01752" y="1737360"/>
            <a:ext cx="5724144" cy="470916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01752" y="1737360"/>
            <a:ext cx="5724144" cy="320040"/>
          </a:xfrm>
          <a:prstGeom prst="round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93192" y="1737360"/>
            <a:ext cx="5541264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HEUTE - Fragmentierte Integration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" y="2194560"/>
            <a:ext cx="5449824" cy="4572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B9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" y="2194560"/>
            <a:ext cx="54864" cy="457200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76072" y="2194560"/>
            <a:ext cx="5266944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PIT -&gt; SAP FI (Kostentransfer)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" y="2697480"/>
            <a:ext cx="5449824" cy="4572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B9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8912" y="2697480"/>
            <a:ext cx="54864" cy="457200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76072" y="2697480"/>
            <a:ext cx="5266944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MSPO -&gt; SAP HCM (Personalstamm)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8912" y="3200400"/>
            <a:ext cx="5449824" cy="4572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B9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8912" y="3200400"/>
            <a:ext cx="54864" cy="457200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76072" y="3200400"/>
            <a:ext cx="5266944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SharePoint -&gt; Excel (Datenexport)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8912" y="3703320"/>
            <a:ext cx="5449824" cy="4572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B9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38912" y="3703320"/>
            <a:ext cx="54864" cy="457200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76072" y="3703320"/>
            <a:ext cx="5266944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Workpath -&gt; Excel (OKR-Reporting)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8912" y="4206240"/>
            <a:ext cx="5449824" cy="4572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B9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38912" y="4206240"/>
            <a:ext cx="54864" cy="457200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76072" y="4206240"/>
            <a:ext cx="5266944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PowerApps -&gt; Dataverse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8912" y="4709160"/>
            <a:ext cx="5449824" cy="4572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B9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38912" y="4709160"/>
            <a:ext cx="54864" cy="457200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76072" y="4709160"/>
            <a:ext cx="5266944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Lucom EV -&gt; SAP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38912" y="5212080"/>
            <a:ext cx="5449824" cy="4572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B9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38912" y="5212080"/>
            <a:ext cx="54864" cy="457200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76072" y="5212080"/>
            <a:ext cx="5266944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Excel-Konsolidierungen (div.)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63056" y="1737360"/>
            <a:ext cx="5724144" cy="470916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163056" y="1737360"/>
            <a:ext cx="5724144" cy="320040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54496" y="1737360"/>
            <a:ext cx="5541264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MIT SEPM - Native SNOW-Integration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300216" y="2194560"/>
            <a:ext cx="5449824" cy="4572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300216" y="2194560"/>
            <a:ext cx="54864" cy="45720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37376" y="2194560"/>
            <a:ext cx="2377440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00" b="1" i="0">
                <a:solidFill>
                  <a:srgbClr val="1F2937"/>
                </a:solidFill>
                <a:latin typeface="Calibri"/>
              </a:rPr>
              <a:t>SAP FI Konnektor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906256" y="2194560"/>
            <a:ext cx="2798063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00" b="0" i="1">
                <a:solidFill>
                  <a:srgbClr val="2E7D32"/>
                </a:solidFill>
                <a:latin typeface="Calibri"/>
              </a:rPr>
              <a:t>Standard, Integration Hub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300216" y="2697480"/>
            <a:ext cx="5449824" cy="4572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300216" y="2697480"/>
            <a:ext cx="54864" cy="45720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37376" y="2697480"/>
            <a:ext cx="2377440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00" b="1" i="0">
                <a:solidFill>
                  <a:srgbClr val="1F2937"/>
                </a:solidFill>
                <a:latin typeface="Calibri"/>
              </a:rPr>
              <a:t>SAP HCM Konnektor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906256" y="2697480"/>
            <a:ext cx="2798063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00" b="0" i="1">
                <a:solidFill>
                  <a:srgbClr val="2E7D32"/>
                </a:solidFill>
                <a:latin typeface="Calibri"/>
              </a:rPr>
              <a:t>Standard, Integration Hub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300216" y="3200400"/>
            <a:ext cx="5449824" cy="4572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300216" y="3200400"/>
            <a:ext cx="54864" cy="45720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37376" y="3200400"/>
            <a:ext cx="2377440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00" b="1" i="0">
                <a:solidFill>
                  <a:srgbClr val="1F2937"/>
                </a:solidFill>
                <a:latin typeface="Calibri"/>
              </a:rPr>
              <a:t>Interne Datenmodelle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906256" y="3200400"/>
            <a:ext cx="2798063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00" b="0" i="1">
                <a:solidFill>
                  <a:srgbClr val="2E7D32"/>
                </a:solidFill>
                <a:latin typeface="Calibri"/>
              </a:rPr>
              <a:t>keine Excel-Export-Ketten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300216" y="3703320"/>
            <a:ext cx="5449824" cy="4572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300216" y="3703320"/>
            <a:ext cx="54864" cy="45720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437376" y="3703320"/>
            <a:ext cx="2377440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00" b="1" i="0">
                <a:solidFill>
                  <a:srgbClr val="1F2937"/>
                </a:solidFill>
                <a:latin typeface="Calibri"/>
              </a:rPr>
              <a:t>OKR-Modul nativ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906256" y="3703320"/>
            <a:ext cx="2798063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00" b="0" i="1">
                <a:solidFill>
                  <a:srgbClr val="2E7D32"/>
                </a:solidFill>
                <a:latin typeface="Calibri"/>
              </a:rPr>
              <a:t>kein Workpath-Bridge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300216" y="4206240"/>
            <a:ext cx="5449824" cy="4572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300216" y="4206240"/>
            <a:ext cx="54864" cy="45720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437376" y="4206240"/>
            <a:ext cx="2377440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00" b="1" i="0">
                <a:solidFill>
                  <a:srgbClr val="1F2937"/>
                </a:solidFill>
                <a:latin typeface="Calibri"/>
              </a:rPr>
              <a:t>App Engine (Low-Code)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906256" y="4206240"/>
            <a:ext cx="2798063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00" b="0" i="1">
                <a:solidFill>
                  <a:srgbClr val="2E7D32"/>
                </a:solidFill>
                <a:latin typeface="Calibri"/>
              </a:rPr>
              <a:t>Custom-Data auf gleicher Plattform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300216" y="4709160"/>
            <a:ext cx="5449824" cy="4572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6300216" y="4709160"/>
            <a:ext cx="54864" cy="45720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437376" y="4709160"/>
            <a:ext cx="2377440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00" b="1" i="0">
                <a:solidFill>
                  <a:srgbClr val="1F2937"/>
                </a:solidFill>
                <a:latin typeface="Calibri"/>
              </a:rPr>
              <a:t>EV-Prozess nativ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906256" y="4709160"/>
            <a:ext cx="2798063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00" b="0" i="1">
                <a:solidFill>
                  <a:srgbClr val="2E7D32"/>
                </a:solidFill>
                <a:latin typeface="Calibri"/>
              </a:rPr>
              <a:t>kein Lucom-Bridge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6300216" y="5212080"/>
            <a:ext cx="5449824" cy="4572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6300216" y="5212080"/>
            <a:ext cx="54864" cy="45720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437376" y="5212080"/>
            <a:ext cx="2377440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00" b="1" i="0">
                <a:solidFill>
                  <a:srgbClr val="1F2937"/>
                </a:solidFill>
                <a:latin typeface="Calibri"/>
              </a:rPr>
              <a:t>Live-Reporting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906256" y="5212080"/>
            <a:ext cx="2798063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00" b="0" i="1">
                <a:solidFill>
                  <a:srgbClr val="2E7D32"/>
                </a:solidFill>
                <a:latin typeface="Calibri"/>
              </a:rPr>
              <a:t>Excel-Konsolidierung entfaellt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Flankierende Prozess-Potentiale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301752" y="960120"/>
            <a:ext cx="11585448" cy="640080"/>
          </a:xfrm>
          <a:prstGeom prst="round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38912" y="960120"/>
            <a:ext cx="7772400" cy="6400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Zusaetzliches Einspar-Potenzial (SPM-flankierend, p.a.)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57031" y="960120"/>
            <a:ext cx="3566160" cy="6400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~ 1.060 k€ / Jahr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01752" y="1783080"/>
            <a:ext cx="11585448" cy="786384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01752" y="1783080"/>
            <a:ext cx="64008" cy="786384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38912" y="2011680"/>
            <a:ext cx="310896" cy="310896"/>
          </a:xfrm>
          <a:prstGeom prst="ellipse">
            <a:avLst/>
          </a:prstGeom>
          <a:solidFill>
            <a:srgbClr val="F07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8912" y="2011680"/>
            <a:ext cx="310896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1819656"/>
            <a:ext cx="777240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100" b="1" i="0">
                <a:solidFill>
                  <a:srgbClr val="1F2937"/>
                </a:solidFill>
                <a:latin typeface="Calibri"/>
              </a:rPr>
              <a:t>Massnahmen-Management Zielkostenmgmt Produktentwicklung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2148840"/>
            <a:ext cx="7772400" cy="384048"/>
          </a:xfrm>
          <a:prstGeom prst="rect">
            <a:avLst/>
          </a:prstGeom>
          <a:noFill/>
          <a:ln>
            <a:noFill/>
          </a:ln>
        </p:spPr>
        <p:txBody>
          <a:bodyPr wrap="square" anchor="t" lIns="30000" rIns="30000" tIns="10000" bIns="10000">
            <a:spAutoFit/>
          </a:bodyPr>
          <a:lstStyle/>
          <a:p>
            <a:pPr algn="l"/>
            <a:r>
              <a:rPr sz="950" b="0" i="1">
                <a:solidFill>
                  <a:srgbClr val="4B5563"/>
                </a:solidFill>
                <a:latin typeface="Calibri"/>
              </a:rPr>
              <a:t>Zentraler Massnahmen-Backlog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805672" y="2057400"/>
            <a:ext cx="1645920" cy="237744"/>
          </a:xfrm>
          <a:prstGeom prst="round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805672" y="2057400"/>
            <a:ext cx="1645920" cy="237744"/>
          </a:xfrm>
          <a:prstGeom prst="round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634472" y="1783080"/>
            <a:ext cx="1188720" cy="786384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300" b="1" i="0">
                <a:solidFill>
                  <a:srgbClr val="2C3E50"/>
                </a:solidFill>
                <a:latin typeface="Calibri"/>
              </a:rPr>
              <a:t>380 k€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01752" y="2624328"/>
            <a:ext cx="11585448" cy="786384"/>
          </a:xfrm>
          <a:prstGeom prst="roundRect">
            <a:avLst/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01752" y="2624328"/>
            <a:ext cx="64008" cy="786384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38912" y="2852928"/>
            <a:ext cx="310896" cy="310896"/>
          </a:xfrm>
          <a:prstGeom prst="ellipse">
            <a:avLst/>
          </a:prstGeom>
          <a:solidFill>
            <a:srgbClr val="F07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8912" y="2852928"/>
            <a:ext cx="310896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6112" y="2660904"/>
            <a:ext cx="777240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100" b="1" i="0">
                <a:solidFill>
                  <a:srgbClr val="1F2937"/>
                </a:solidFill>
                <a:latin typeface="Calibri"/>
              </a:rPr>
              <a:t>Innovations- / Vorhaben-Trichter (LH/CRD -&gt; Steckbrief)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6112" y="2990088"/>
            <a:ext cx="7772400" cy="384048"/>
          </a:xfrm>
          <a:prstGeom prst="rect">
            <a:avLst/>
          </a:prstGeom>
          <a:noFill/>
          <a:ln>
            <a:noFill/>
          </a:ln>
        </p:spPr>
        <p:txBody>
          <a:bodyPr wrap="square" anchor="t" lIns="30000" rIns="30000" tIns="10000" bIns="10000">
            <a:spAutoFit/>
          </a:bodyPr>
          <a:lstStyle/>
          <a:p>
            <a:pPr algn="l"/>
            <a:r>
              <a:rPr sz="950" b="0" i="1">
                <a:solidFill>
                  <a:srgbClr val="4B5563"/>
                </a:solidFill>
                <a:latin typeface="Calibri"/>
              </a:rPr>
              <a:t>Durchgaengige Pipeline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805672" y="2898648"/>
            <a:ext cx="1645920" cy="237744"/>
          </a:xfrm>
          <a:prstGeom prst="round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805672" y="2898648"/>
            <a:ext cx="952901" cy="237744"/>
          </a:xfrm>
          <a:prstGeom prst="round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634472" y="2624328"/>
            <a:ext cx="1188720" cy="786384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300" b="1" i="0">
                <a:solidFill>
                  <a:srgbClr val="2C3E50"/>
                </a:solidFill>
                <a:latin typeface="Calibri"/>
              </a:rPr>
              <a:t>220 k€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01752" y="3465576"/>
            <a:ext cx="11585448" cy="786384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01752" y="3465576"/>
            <a:ext cx="64008" cy="786384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438912" y="3694176"/>
            <a:ext cx="310896" cy="310896"/>
          </a:xfrm>
          <a:prstGeom prst="ellipse">
            <a:avLst/>
          </a:prstGeom>
          <a:solidFill>
            <a:srgbClr val="F07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38912" y="3694176"/>
            <a:ext cx="310896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6112" y="3502152"/>
            <a:ext cx="777240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100" b="1" i="0">
                <a:solidFill>
                  <a:srgbClr val="1F2937"/>
                </a:solidFill>
                <a:latin typeface="Calibri"/>
              </a:rPr>
              <a:t>Application Portfolio Mgmt (APM)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96112" y="3831336"/>
            <a:ext cx="7772400" cy="384048"/>
          </a:xfrm>
          <a:prstGeom prst="rect">
            <a:avLst/>
          </a:prstGeom>
          <a:noFill/>
          <a:ln>
            <a:noFill/>
          </a:ln>
        </p:spPr>
        <p:txBody>
          <a:bodyPr wrap="square" anchor="t" lIns="30000" rIns="30000" tIns="10000" bIns="10000">
            <a:spAutoFit/>
          </a:bodyPr>
          <a:lstStyle/>
          <a:p>
            <a:pPr algn="l"/>
            <a:r>
              <a:rPr sz="950" b="0" i="1">
                <a:solidFill>
                  <a:srgbClr val="4B5563"/>
                </a:solidFill>
                <a:latin typeface="Calibri"/>
              </a:rPr>
              <a:t>Lifecycle-Management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805672" y="3739896"/>
            <a:ext cx="1645920" cy="237744"/>
          </a:xfrm>
          <a:prstGeom prst="round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8805672" y="3739896"/>
            <a:ext cx="693018" cy="237744"/>
          </a:xfrm>
          <a:prstGeom prst="round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634472" y="3465576"/>
            <a:ext cx="1188720" cy="786384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300" b="1" i="0">
                <a:solidFill>
                  <a:srgbClr val="2C3E50"/>
                </a:solidFill>
                <a:latin typeface="Calibri"/>
              </a:rPr>
              <a:t>160 k€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01752" y="4306824"/>
            <a:ext cx="11585448" cy="786384"/>
          </a:xfrm>
          <a:prstGeom prst="roundRect">
            <a:avLst/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01752" y="4306824"/>
            <a:ext cx="64008" cy="786384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438912" y="4535424"/>
            <a:ext cx="310896" cy="310896"/>
          </a:xfrm>
          <a:prstGeom prst="ellipse">
            <a:avLst/>
          </a:prstGeom>
          <a:solidFill>
            <a:srgbClr val="F07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38912" y="4535424"/>
            <a:ext cx="310896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96112" y="4343400"/>
            <a:ext cx="777240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100" b="1" i="0">
                <a:solidFill>
                  <a:srgbClr val="1F2937"/>
                </a:solidFill>
                <a:latin typeface="Calibri"/>
              </a:rPr>
              <a:t>Benefits Realization Tracking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96112" y="4672584"/>
            <a:ext cx="7772400" cy="384048"/>
          </a:xfrm>
          <a:prstGeom prst="rect">
            <a:avLst/>
          </a:prstGeom>
          <a:noFill/>
          <a:ln>
            <a:noFill/>
          </a:ln>
        </p:spPr>
        <p:txBody>
          <a:bodyPr wrap="square" anchor="t" lIns="30000" rIns="30000" tIns="10000" bIns="10000">
            <a:spAutoFit/>
          </a:bodyPr>
          <a:lstStyle/>
          <a:p>
            <a:pPr algn="l"/>
            <a:r>
              <a:rPr sz="950" b="0" i="1">
                <a:solidFill>
                  <a:srgbClr val="4B5563"/>
                </a:solidFill>
                <a:latin typeface="Calibri"/>
              </a:rPr>
              <a:t>Ist-/Soll-Nutzenabgleich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805672" y="4581144"/>
            <a:ext cx="1645920" cy="237744"/>
          </a:xfrm>
          <a:prstGeom prst="round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8805672" y="4581144"/>
            <a:ext cx="519764" cy="237744"/>
          </a:xfrm>
          <a:prstGeom prst="round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634472" y="4306824"/>
            <a:ext cx="1188720" cy="786384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300" b="1" i="0">
                <a:solidFill>
                  <a:srgbClr val="2C3E50"/>
                </a:solidFill>
                <a:latin typeface="Calibri"/>
              </a:rPr>
              <a:t>120 k€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301752" y="5148072"/>
            <a:ext cx="11585448" cy="786384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301752" y="5148072"/>
            <a:ext cx="64008" cy="786384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438912" y="5376672"/>
            <a:ext cx="310896" cy="310896"/>
          </a:xfrm>
          <a:prstGeom prst="ellipse">
            <a:avLst/>
          </a:prstGeom>
          <a:solidFill>
            <a:srgbClr val="F07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38912" y="5376672"/>
            <a:ext cx="310896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96112" y="5184648"/>
            <a:ext cx="777240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100" b="1" i="0">
                <a:solidFill>
                  <a:srgbClr val="1F2937"/>
                </a:solidFill>
                <a:latin typeface="Calibri"/>
              </a:rPr>
              <a:t>Compliance / EV-Prozess-Digitalisierung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96112" y="5513832"/>
            <a:ext cx="7772400" cy="384048"/>
          </a:xfrm>
          <a:prstGeom prst="rect">
            <a:avLst/>
          </a:prstGeom>
          <a:noFill/>
          <a:ln>
            <a:noFill/>
          </a:ln>
        </p:spPr>
        <p:txBody>
          <a:bodyPr wrap="square" anchor="t" lIns="30000" rIns="30000" tIns="10000" bIns="10000">
            <a:spAutoFit/>
          </a:bodyPr>
          <a:lstStyle/>
          <a:p>
            <a:pPr algn="l"/>
            <a:r>
              <a:rPr sz="950" b="0" i="1">
                <a:solidFill>
                  <a:srgbClr val="4B5563"/>
                </a:solidFill>
                <a:latin typeface="Calibri"/>
              </a:rPr>
              <a:t>EV-Workflow in SNOW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805672" y="5422392"/>
            <a:ext cx="1645920" cy="237744"/>
          </a:xfrm>
          <a:prstGeom prst="round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8805672" y="5422392"/>
            <a:ext cx="779646" cy="237744"/>
          </a:xfrm>
          <a:prstGeom prst="round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0634472" y="5148072"/>
            <a:ext cx="1188720" cy="786384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300" b="1" i="0">
                <a:solidFill>
                  <a:srgbClr val="2C3E50"/>
                </a:solidFill>
                <a:latin typeface="Calibri"/>
              </a:rPr>
              <a:t>180 k€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Komplexitaets-Reduzierung ProjektControlling  (Punkt 4 Folie 4)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301752" y="960120"/>
            <a:ext cx="5724144" cy="548640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01752" y="960120"/>
            <a:ext cx="5724144" cy="320040"/>
          </a:xfrm>
          <a:prstGeom prst="round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93192" y="960120"/>
            <a:ext cx="5541264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HEUTE - Komplexitaetstreiber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" y="1417320"/>
            <a:ext cx="5449824" cy="86868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B9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38912" y="1417320"/>
            <a:ext cx="54864" cy="868680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76072" y="1453896"/>
            <a:ext cx="5266944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50" b="1" i="0">
                <a:solidFill>
                  <a:srgbClr val="1F2937"/>
                </a:solidFill>
                <a:latin typeface="Calibri"/>
              </a:rPr>
              <a:t>Multi-Tool-Landschaft PPM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6072" y="1691640"/>
            <a:ext cx="5266944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00" b="0" i="1">
                <a:solidFill>
                  <a:srgbClr val="4B5563"/>
                </a:solidFill>
                <a:latin typeface="Calibri"/>
              </a:rPr>
              <a:t>PIT · MSPO · Excel · SharePoint · Power Apps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6072" y="1984248"/>
            <a:ext cx="5266944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50" b="1" i="0">
                <a:solidFill>
                  <a:srgbClr val="B91C1C"/>
                </a:solidFill>
                <a:latin typeface="Calibri"/>
              </a:rPr>
              <a:t>~ 2,5 FTE Betriebs-/Integrations-Aufwand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" y="2377440"/>
            <a:ext cx="5449824" cy="86868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B9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8912" y="2377440"/>
            <a:ext cx="54864" cy="868680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76072" y="2414016"/>
            <a:ext cx="5266944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50" b="1" i="0">
                <a:solidFill>
                  <a:srgbClr val="1F2937"/>
                </a:solidFill>
                <a:latin typeface="Calibri"/>
              </a:rPr>
              <a:t>Manuelle Daten-Aggregation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6072" y="2651760"/>
            <a:ext cx="5266944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00" b="0" i="1">
                <a:solidFill>
                  <a:srgbClr val="4B5563"/>
                </a:solidFill>
                <a:latin typeface="Calibri"/>
              </a:rPr>
              <a:t>Excel-Konsolidierung fuer Reportings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6072" y="2944368"/>
            <a:ext cx="5266944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50" b="1" i="0">
                <a:solidFill>
                  <a:srgbClr val="B91C1C"/>
                </a:solidFill>
                <a:latin typeface="Calibri"/>
              </a:rPr>
              <a:t>~ 2 Wochen/Monat Reporting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8912" y="3337560"/>
            <a:ext cx="5449824" cy="86868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B9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8912" y="3337560"/>
            <a:ext cx="54864" cy="868680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6072" y="3374136"/>
            <a:ext cx="5266944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50" b="1" i="0">
                <a:solidFill>
                  <a:srgbClr val="1F2937"/>
                </a:solidFill>
                <a:latin typeface="Calibri"/>
              </a:rPr>
              <a:t>Uneinheitliche Datenmodelle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6072" y="3611880"/>
            <a:ext cx="5266944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00" b="0" i="1">
                <a:solidFill>
                  <a:srgbClr val="4B5563"/>
                </a:solidFill>
                <a:latin typeface="Calibri"/>
              </a:rPr>
              <a:t>Jede Insel eigene Struktur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6072" y="3904488"/>
            <a:ext cx="5266944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50" b="1" i="0">
                <a:solidFill>
                  <a:srgbClr val="B91C1C"/>
                </a:solidFill>
                <a:latin typeface="Calibri"/>
              </a:rPr>
              <a:t>~ 1 FTE Datenqualitaet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8912" y="4297680"/>
            <a:ext cx="5449824" cy="86868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B9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38912" y="4297680"/>
            <a:ext cx="54864" cy="868680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76072" y="4334256"/>
            <a:ext cx="5266944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50" b="1" i="0">
                <a:solidFill>
                  <a:srgbClr val="1F2937"/>
                </a:solidFill>
                <a:latin typeface="Calibri"/>
              </a:rPr>
              <a:t>Doppelte Datenpflege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6072" y="4572000"/>
            <a:ext cx="5266944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00" b="0" i="1">
                <a:solidFill>
                  <a:srgbClr val="4B5563"/>
                </a:solidFill>
                <a:latin typeface="Calibri"/>
              </a:rPr>
              <a:t>Projekte in PIT + Excel + SharePoint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76072" y="4864608"/>
            <a:ext cx="5266944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50" b="1" i="0">
                <a:solidFill>
                  <a:srgbClr val="B91C1C"/>
                </a:solidFill>
                <a:latin typeface="Calibri"/>
              </a:rPr>
              <a:t>~ 0,8 FTE Doppelerfassung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38912" y="5257800"/>
            <a:ext cx="5449824" cy="86868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B9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38912" y="5257800"/>
            <a:ext cx="54864" cy="868680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76072" y="5294376"/>
            <a:ext cx="5266944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50" b="1" i="0">
                <a:solidFill>
                  <a:srgbClr val="1F2937"/>
                </a:solidFill>
                <a:latin typeface="Calibri"/>
              </a:rPr>
              <a:t>Fehlende Traceability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76072" y="5532120"/>
            <a:ext cx="5266944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00" b="0" i="1">
                <a:solidFill>
                  <a:srgbClr val="4B5563"/>
                </a:solidFill>
                <a:latin typeface="Calibri"/>
              </a:rPr>
              <a:t>Idee-Portfolio-Projekt-Kosten nicht durchgaengig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76072" y="5824728"/>
            <a:ext cx="5266944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50" b="1" i="0">
                <a:solidFill>
                  <a:srgbClr val="B91C1C"/>
                </a:solidFill>
                <a:latin typeface="Calibri"/>
              </a:rPr>
              <a:t>Governance-Aufwand hoch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163056" y="960120"/>
            <a:ext cx="5724144" cy="548640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6163056" y="960120"/>
            <a:ext cx="5724144" cy="320040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54496" y="960120"/>
            <a:ext cx="5541264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MIT SEPM - Konsolidierungs-Hebel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300216" y="1417320"/>
            <a:ext cx="5449824" cy="86868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300216" y="1417320"/>
            <a:ext cx="54864" cy="86868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37376" y="1453896"/>
            <a:ext cx="5266944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50" b="1" i="0">
                <a:solidFill>
                  <a:srgbClr val="1F2937"/>
                </a:solidFill>
                <a:latin typeface="Calibri"/>
              </a:rPr>
              <a:t>Eine Plattform, ein Datenmodell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37376" y="1691640"/>
            <a:ext cx="5266944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00" b="0" i="1">
                <a:solidFill>
                  <a:srgbClr val="4B5563"/>
                </a:solidFill>
                <a:latin typeface="Calibri"/>
              </a:rPr>
              <a:t>SNOW SPM als Single Source of Truth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37376" y="1984248"/>
            <a:ext cx="5266944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50" b="1" i="0">
                <a:solidFill>
                  <a:srgbClr val="2E7D32"/>
                </a:solidFill>
                <a:latin typeface="Calibri"/>
              </a:rPr>
              <a:t>- 6 Tools · - 0,5 FTE Betrieb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300216" y="2377440"/>
            <a:ext cx="5449824" cy="86868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300216" y="2377440"/>
            <a:ext cx="54864" cy="86868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37376" y="2414016"/>
            <a:ext cx="5266944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50" b="1" i="0">
                <a:solidFill>
                  <a:srgbClr val="1F2937"/>
                </a:solidFill>
                <a:latin typeface="Calibri"/>
              </a:rPr>
              <a:t>Automatische Reports &amp; Dashboards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37376" y="2651760"/>
            <a:ext cx="5266944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00" b="0" i="1">
                <a:solidFill>
                  <a:srgbClr val="4B5563"/>
                </a:solidFill>
                <a:latin typeface="Calibri"/>
              </a:rPr>
              <a:t>Live-Dashboards ersetzen Excel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37376" y="2944368"/>
            <a:ext cx="5266944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50" b="1" i="0">
                <a:solidFill>
                  <a:srgbClr val="2E7D32"/>
                </a:solidFill>
                <a:latin typeface="Calibri"/>
              </a:rPr>
              <a:t>- 1,5 Wochen/Monat Reporting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300216" y="3337560"/>
            <a:ext cx="5449824" cy="86868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300216" y="3337560"/>
            <a:ext cx="54864" cy="86868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437376" y="3374136"/>
            <a:ext cx="5266944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50" b="1" i="0">
                <a:solidFill>
                  <a:srgbClr val="1F2937"/>
                </a:solidFill>
                <a:latin typeface="Calibri"/>
              </a:rPr>
              <a:t>Standard-Datenmodell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37376" y="3611880"/>
            <a:ext cx="5266944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00" b="0" i="1">
                <a:solidFill>
                  <a:srgbClr val="4B5563"/>
                </a:solidFill>
                <a:latin typeface="Calibri"/>
              </a:rPr>
              <a:t>Vorhaben-Steckbrief einheitlich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37376" y="3904488"/>
            <a:ext cx="5266944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50" b="1" i="0">
                <a:solidFill>
                  <a:srgbClr val="2E7D32"/>
                </a:solidFill>
                <a:latin typeface="Calibri"/>
              </a:rPr>
              <a:t>- 0,7 FTE Datenqualitaet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300216" y="4297680"/>
            <a:ext cx="5449824" cy="86868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300216" y="4297680"/>
            <a:ext cx="54864" cy="86868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437376" y="4334256"/>
            <a:ext cx="5266944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50" b="1" i="0">
                <a:solidFill>
                  <a:srgbClr val="1F2937"/>
                </a:solidFill>
                <a:latin typeface="Calibri"/>
              </a:rPr>
              <a:t>Erfassung einmal - Nutzung ueberall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37376" y="4572000"/>
            <a:ext cx="5266944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00" b="0" i="1">
                <a:solidFill>
                  <a:srgbClr val="4B5563"/>
                </a:solidFill>
                <a:latin typeface="Calibri"/>
              </a:rPr>
              <a:t>Demand-Portfolio-Projekt in einem System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437376" y="4864608"/>
            <a:ext cx="5266944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50" b="1" i="0">
                <a:solidFill>
                  <a:srgbClr val="2E7D32"/>
                </a:solidFill>
                <a:latin typeface="Calibri"/>
              </a:rPr>
              <a:t>- 0,6 FTE Doppelerfassung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300216" y="5257800"/>
            <a:ext cx="5449824" cy="86868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6300216" y="5257800"/>
            <a:ext cx="54864" cy="86868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437376" y="5294376"/>
            <a:ext cx="5266944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50" b="1" i="0">
                <a:solidFill>
                  <a:srgbClr val="1F2937"/>
                </a:solidFill>
                <a:latin typeface="Calibri"/>
              </a:rPr>
              <a:t>Durchgaengige Traceability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437376" y="5532120"/>
            <a:ext cx="5266944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00" b="0" i="1">
                <a:solidFill>
                  <a:srgbClr val="4B5563"/>
                </a:solidFill>
                <a:latin typeface="Calibri"/>
              </a:rPr>
              <a:t>OKR-Portfolio-Projekt-Kosten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437376" y="5824728"/>
            <a:ext cx="5266944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50" b="1" i="0">
                <a:solidFill>
                  <a:srgbClr val="2E7D32"/>
                </a:solidFill>
                <a:latin typeface="Calibri"/>
              </a:rPr>
              <a:t>Audit-faehig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Alternative PM-Plattform — Bewertung (Hedge)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301752" y="960120"/>
            <a:ext cx="5724144" cy="265176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01752" y="960120"/>
            <a:ext cx="5724144" cy="320040"/>
          </a:xfrm>
          <a:prstGeom prst="round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93192" y="960120"/>
            <a:ext cx="5541264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Warum Alternative bewerten?</a:t>
            </a:r>
          </a:p>
        </p:txBody>
      </p:sp>
      <p:sp>
        <p:nvSpPr>
          <p:cNvPr id="7" name="Oval 6"/>
          <p:cNvSpPr/>
          <p:nvPr/>
        </p:nvSpPr>
        <p:spPr>
          <a:xfrm>
            <a:off x="438912" y="1572768"/>
            <a:ext cx="201168" cy="201168"/>
          </a:xfrm>
          <a:prstGeom prst="ellipse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8912" y="1572768"/>
            <a:ext cx="201168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1463040"/>
            <a:ext cx="5221224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50" b="1" i="0">
                <a:solidFill>
                  <a:srgbClr val="1F2937"/>
                </a:solidFill>
                <a:latin typeface="Calibri"/>
              </a:rPr>
              <a:t>Risiko-Absicherung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1700784"/>
            <a:ext cx="5221224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00" b="0" i="1">
                <a:solidFill>
                  <a:srgbClr val="4B5563"/>
                </a:solidFill>
                <a:latin typeface="Calibri"/>
              </a:rPr>
              <a:t>Falls SNOW fuer VEW/VPM nicht tief genug</a:t>
            </a:r>
          </a:p>
        </p:txBody>
      </p:sp>
      <p:sp>
        <p:nvSpPr>
          <p:cNvPr id="11" name="Oval 10"/>
          <p:cNvSpPr/>
          <p:nvPr/>
        </p:nvSpPr>
        <p:spPr>
          <a:xfrm>
            <a:off x="438912" y="2084832"/>
            <a:ext cx="201168" cy="201168"/>
          </a:xfrm>
          <a:prstGeom prst="ellipse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8912" y="2084832"/>
            <a:ext cx="201168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1975104"/>
            <a:ext cx="5221224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50" b="1" i="0">
                <a:solidFill>
                  <a:srgbClr val="1F2937"/>
                </a:solidFill>
                <a:latin typeface="Calibri"/>
              </a:rPr>
              <a:t>Verhandlungsposition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" y="2212848"/>
            <a:ext cx="5221224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00" b="0" i="1">
                <a:solidFill>
                  <a:srgbClr val="4B5563"/>
                </a:solidFill>
                <a:latin typeface="Calibri"/>
              </a:rPr>
              <a:t>Best-of-Breed-Angebot senkt SNOW-Preis</a:t>
            </a:r>
          </a:p>
        </p:txBody>
      </p:sp>
      <p:sp>
        <p:nvSpPr>
          <p:cNvPr id="15" name="Oval 14"/>
          <p:cNvSpPr/>
          <p:nvPr/>
        </p:nvSpPr>
        <p:spPr>
          <a:xfrm>
            <a:off x="438912" y="2596896"/>
            <a:ext cx="201168" cy="201168"/>
          </a:xfrm>
          <a:prstGeom prst="ellipse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8912" y="2596896"/>
            <a:ext cx="201168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" y="2487168"/>
            <a:ext cx="5221224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50" b="1" i="0">
                <a:solidFill>
                  <a:srgbClr val="1F2937"/>
                </a:solidFill>
                <a:latin typeface="Calibri"/>
              </a:rPr>
              <a:t>Engineering-Spezifika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" y="2724912"/>
            <a:ext cx="5221224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00" b="0" i="1">
                <a:solidFill>
                  <a:srgbClr val="4B5563"/>
                </a:solidFill>
                <a:latin typeface="Calibri"/>
              </a:rPr>
              <a:t>PLM-nahe Prozesse ggf. besser in Fach-Tool</a:t>
            </a:r>
          </a:p>
        </p:txBody>
      </p:sp>
      <p:sp>
        <p:nvSpPr>
          <p:cNvPr id="19" name="Oval 18"/>
          <p:cNvSpPr/>
          <p:nvPr/>
        </p:nvSpPr>
        <p:spPr>
          <a:xfrm>
            <a:off x="438912" y="3108960"/>
            <a:ext cx="201168" cy="201168"/>
          </a:xfrm>
          <a:prstGeom prst="ellipse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8912" y="3108960"/>
            <a:ext cx="201168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3232" y="2999232"/>
            <a:ext cx="5221224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50" b="1" i="0">
                <a:solidFill>
                  <a:srgbClr val="1F2937"/>
                </a:solidFill>
                <a:latin typeface="Calibri"/>
              </a:rPr>
              <a:t>EWW-Bedenken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" y="3236976"/>
            <a:ext cx="5221224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00" b="0" i="1">
                <a:solidFill>
                  <a:srgbClr val="4B5563"/>
                </a:solidFill>
                <a:latin typeface="Calibri"/>
              </a:rPr>
              <a:t>Explizite Alternative senkt Widerstand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63056" y="960120"/>
            <a:ext cx="5724144" cy="265176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163056" y="960120"/>
            <a:ext cx="5724144" cy="320040"/>
          </a:xfrm>
          <a:prstGeom prst="round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54496" y="960120"/>
            <a:ext cx="5541264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Shortlist Alternative PM-Plattformen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00216" y="1417320"/>
            <a:ext cx="5449824" cy="59436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2C3E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300216" y="1417320"/>
            <a:ext cx="64008" cy="594360"/>
          </a:xfrm>
          <a:prstGeom prst="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37376" y="1453896"/>
            <a:ext cx="3986783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50" b="1" i="0">
                <a:solidFill>
                  <a:srgbClr val="1F2937"/>
                </a:solidFill>
                <a:latin typeface="Calibri"/>
              </a:rPr>
              <a:t>Planisware Enterprise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37376" y="1709928"/>
            <a:ext cx="3986783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30000" rIns="30000" tIns="10000" bIns="10000">
            <a:spAutoFit/>
          </a:bodyPr>
          <a:lstStyle/>
          <a:p>
            <a:pPr algn="l"/>
            <a:r>
              <a:rPr sz="900" b="0" i="1">
                <a:solidFill>
                  <a:srgbClr val="4B5563"/>
                </a:solidFill>
                <a:latin typeface="Calibri"/>
              </a:rPr>
              <a:t>Marktfuehrer Engineering-PPM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424160" y="1554480"/>
            <a:ext cx="1280160" cy="320040"/>
          </a:xfrm>
          <a:prstGeom prst="round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424160" y="1554480"/>
            <a:ext cx="1280160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Lead Jonas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300216" y="2103120"/>
            <a:ext cx="5449824" cy="59436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2C3E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300216" y="2103120"/>
            <a:ext cx="64008" cy="594360"/>
          </a:xfrm>
          <a:prstGeom prst="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37376" y="2139696"/>
            <a:ext cx="3986783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50" b="1" i="0">
                <a:solidFill>
                  <a:srgbClr val="1F2937"/>
                </a:solidFill>
                <a:latin typeface="Calibri"/>
              </a:rPr>
              <a:t>SAP EPPM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37376" y="2395727"/>
            <a:ext cx="3986783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30000" rIns="30000" tIns="10000" bIns="10000">
            <a:spAutoFit/>
          </a:bodyPr>
          <a:lstStyle/>
          <a:p>
            <a:pPr algn="l"/>
            <a:r>
              <a:rPr sz="900" b="0" i="1">
                <a:solidFill>
                  <a:srgbClr val="4B5563"/>
                </a:solidFill>
                <a:latin typeface="Calibri"/>
              </a:rPr>
              <a:t>SAP-Oekosystem-Integration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424160" y="2240279"/>
            <a:ext cx="1280160" cy="320040"/>
          </a:xfrm>
          <a:prstGeom prst="round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424160" y="2240279"/>
            <a:ext cx="1280160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Lead Jonas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300216" y="2788920"/>
            <a:ext cx="5449824" cy="59436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2C3E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300216" y="2788920"/>
            <a:ext cx="64008" cy="594360"/>
          </a:xfrm>
          <a:prstGeom prst="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37376" y="2825496"/>
            <a:ext cx="3986783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50" b="1" i="0">
                <a:solidFill>
                  <a:srgbClr val="1F2937"/>
                </a:solidFill>
                <a:latin typeface="Calibri"/>
              </a:rPr>
              <a:t>Sciforma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37376" y="3081527"/>
            <a:ext cx="3986783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30000" rIns="30000" tIns="10000" bIns="10000">
            <a:spAutoFit/>
          </a:bodyPr>
          <a:lstStyle/>
          <a:p>
            <a:pPr algn="l"/>
            <a:r>
              <a:rPr sz="900" b="0" i="1">
                <a:solidFill>
                  <a:srgbClr val="4B5563"/>
                </a:solidFill>
                <a:latin typeface="Calibri"/>
              </a:rPr>
              <a:t>Mittelstands-Standard, hybrid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0424160" y="2926079"/>
            <a:ext cx="1280160" cy="320040"/>
          </a:xfrm>
          <a:prstGeom prst="round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424160" y="2926079"/>
            <a:ext cx="1280160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Lead Jonas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301752" y="3749040"/>
            <a:ext cx="11585448" cy="2697479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301752" y="3749040"/>
            <a:ext cx="11585448" cy="320040"/>
          </a:xfrm>
          <a:prstGeom prst="round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93192" y="3749040"/>
            <a:ext cx="11402568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Bewertungskriterien und Zwischenergebnis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93192" y="4133088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50" b="1" i="0">
                <a:solidFill>
                  <a:srgbClr val="1F2937"/>
                </a:solidFill>
                <a:latin typeface="Calibri"/>
              </a:rPr>
              <a:t>Kriterium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5056632" y="4133088"/>
            <a:ext cx="1691640" cy="274320"/>
          </a:xfrm>
          <a:prstGeom prst="round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056632" y="4133088"/>
            <a:ext cx="169164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SNOW SPM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793992" y="4133088"/>
            <a:ext cx="1691640" cy="274320"/>
          </a:xfrm>
          <a:prstGeom prst="round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793992" y="4133088"/>
            <a:ext cx="169164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Planisware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8531352" y="4133088"/>
            <a:ext cx="1691640" cy="274320"/>
          </a:xfrm>
          <a:prstGeom prst="round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531352" y="4133088"/>
            <a:ext cx="169164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SAP EPPM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10268712" y="4133088"/>
            <a:ext cx="1508760" cy="274320"/>
          </a:xfrm>
          <a:prstGeom prst="round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0268712" y="4133088"/>
            <a:ext cx="150876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Sciforma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93192" y="4480560"/>
            <a:ext cx="11402568" cy="292608"/>
          </a:xfrm>
          <a:prstGeom prst="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93192" y="4480560"/>
            <a:ext cx="4572000" cy="29260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00" b="1" i="0">
                <a:solidFill>
                  <a:srgbClr val="1F2937"/>
                </a:solidFill>
                <a:latin typeface="Calibri"/>
              </a:rPr>
              <a:t>Funktions-Deckung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056632" y="4480560"/>
            <a:ext cx="1691640" cy="29260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000" b="0" i="0">
                <a:solidFill>
                  <a:srgbClr val="1F2937"/>
                </a:solidFill>
                <a:latin typeface="Calibri"/>
              </a:rPr>
              <a:t>70%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793992" y="4480560"/>
            <a:ext cx="1691640" cy="29260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000" b="0" i="0">
                <a:solidFill>
                  <a:srgbClr val="1F2937"/>
                </a:solidFill>
                <a:latin typeface="Calibri"/>
              </a:rPr>
              <a:t>80%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531352" y="4480560"/>
            <a:ext cx="1691640" cy="29260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000" b="0" i="0">
                <a:solidFill>
                  <a:srgbClr val="1F2937"/>
                </a:solidFill>
                <a:latin typeface="Calibri"/>
              </a:rPr>
              <a:t>60%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268712" y="4480560"/>
            <a:ext cx="1508760" cy="29260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000" b="0" i="0">
                <a:solidFill>
                  <a:srgbClr val="1F2937"/>
                </a:solidFill>
                <a:latin typeface="Calibri"/>
              </a:rPr>
              <a:t>65%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93192" y="4800600"/>
            <a:ext cx="11402568" cy="292608"/>
          </a:xfrm>
          <a:prstGeom prst="rect">
            <a:avLst/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93192" y="4800600"/>
            <a:ext cx="4572000" cy="29260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00" b="1" i="0">
                <a:solidFill>
                  <a:srgbClr val="1F2937"/>
                </a:solidFill>
                <a:latin typeface="Calibri"/>
              </a:rPr>
              <a:t>Integration STIHL-Landschaft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056632" y="4800600"/>
            <a:ext cx="1691640" cy="29260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000" b="0" i="0">
                <a:solidFill>
                  <a:srgbClr val="1F2937"/>
                </a:solidFill>
                <a:latin typeface="Calibri"/>
              </a:rPr>
              <a:t>80%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793992" y="4800600"/>
            <a:ext cx="1691640" cy="29260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000" b="0" i="0">
                <a:solidFill>
                  <a:srgbClr val="1F2937"/>
                </a:solidFill>
                <a:latin typeface="Calibri"/>
              </a:rPr>
              <a:t>50%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531352" y="4800600"/>
            <a:ext cx="1691640" cy="29260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000" b="0" i="0">
                <a:solidFill>
                  <a:srgbClr val="1F2937"/>
                </a:solidFill>
                <a:latin typeface="Calibri"/>
              </a:rPr>
              <a:t>70%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0268712" y="4800600"/>
            <a:ext cx="1508760" cy="29260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000" b="0" i="0">
                <a:solidFill>
                  <a:srgbClr val="1F2937"/>
                </a:solidFill>
                <a:latin typeface="Calibri"/>
              </a:rPr>
              <a:t>40%</a:t>
            </a:r>
          </a:p>
        </p:txBody>
      </p:sp>
      <p:sp>
        <p:nvSpPr>
          <p:cNvPr id="68" name="Rectangle 67"/>
          <p:cNvSpPr/>
          <p:nvPr/>
        </p:nvSpPr>
        <p:spPr>
          <a:xfrm>
            <a:off x="393192" y="5120640"/>
            <a:ext cx="11402568" cy="292608"/>
          </a:xfrm>
          <a:prstGeom prst="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393192" y="5120640"/>
            <a:ext cx="4572000" cy="29260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00" b="1" i="0">
                <a:solidFill>
                  <a:srgbClr val="1F2937"/>
                </a:solidFill>
                <a:latin typeface="Calibri"/>
              </a:rPr>
              <a:t>TCO 5 Jahre (rel.)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056632" y="5120640"/>
            <a:ext cx="1691640" cy="29260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000" b="0" i="0">
                <a:solidFill>
                  <a:srgbClr val="1F2937"/>
                </a:solidFill>
                <a:latin typeface="Calibri"/>
              </a:rPr>
              <a:t>100%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793992" y="5120640"/>
            <a:ext cx="1691640" cy="29260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000" b="0" i="0">
                <a:solidFill>
                  <a:srgbClr val="1F2937"/>
                </a:solidFill>
                <a:latin typeface="Calibri"/>
              </a:rPr>
              <a:t>115%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531352" y="5120640"/>
            <a:ext cx="1691640" cy="29260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000" b="0" i="0">
                <a:solidFill>
                  <a:srgbClr val="1F2937"/>
                </a:solidFill>
                <a:latin typeface="Calibri"/>
              </a:rPr>
              <a:t>125%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0268712" y="5120640"/>
            <a:ext cx="1508760" cy="29260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000" b="0" i="0">
                <a:solidFill>
                  <a:srgbClr val="1F2937"/>
                </a:solidFill>
                <a:latin typeface="Calibri"/>
              </a:rPr>
              <a:t>95%</a:t>
            </a:r>
          </a:p>
        </p:txBody>
      </p:sp>
      <p:sp>
        <p:nvSpPr>
          <p:cNvPr id="74" name="Rectangle 73"/>
          <p:cNvSpPr/>
          <p:nvPr/>
        </p:nvSpPr>
        <p:spPr>
          <a:xfrm>
            <a:off x="393192" y="5440680"/>
            <a:ext cx="11402568" cy="292608"/>
          </a:xfrm>
          <a:prstGeom prst="rect">
            <a:avLst/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393192" y="5440680"/>
            <a:ext cx="4572000" cy="29260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00" b="1" i="0">
                <a:solidFill>
                  <a:srgbClr val="1F2937"/>
                </a:solidFill>
                <a:latin typeface="Calibri"/>
              </a:rPr>
              <a:t>Change-Aufwand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5056632" y="5440680"/>
            <a:ext cx="1691640" cy="29260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000" b="0" i="0">
                <a:solidFill>
                  <a:srgbClr val="1F2937"/>
                </a:solidFill>
                <a:latin typeface="Calibri"/>
              </a:rPr>
              <a:t>Mittel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793992" y="5440680"/>
            <a:ext cx="1691640" cy="29260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000" b="0" i="0">
                <a:solidFill>
                  <a:srgbClr val="1F2937"/>
                </a:solidFill>
                <a:latin typeface="Calibri"/>
              </a:rPr>
              <a:t>Hoch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8531352" y="5440680"/>
            <a:ext cx="1691640" cy="29260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000" b="0" i="0">
                <a:solidFill>
                  <a:srgbClr val="1F2937"/>
                </a:solidFill>
                <a:latin typeface="Calibri"/>
              </a:rPr>
              <a:t>Mittel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0268712" y="5440680"/>
            <a:ext cx="1508760" cy="29260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000" b="0" i="0">
                <a:solidFill>
                  <a:srgbClr val="1F2937"/>
                </a:solidFill>
                <a:latin typeface="Calibri"/>
              </a:rPr>
              <a:t>Niedrig</a:t>
            </a:r>
          </a:p>
        </p:txBody>
      </p:sp>
      <p:sp>
        <p:nvSpPr>
          <p:cNvPr id="80" name="Rectangle 79"/>
          <p:cNvSpPr/>
          <p:nvPr/>
        </p:nvSpPr>
        <p:spPr>
          <a:xfrm>
            <a:off x="393192" y="5760720"/>
            <a:ext cx="11402568" cy="292608"/>
          </a:xfrm>
          <a:prstGeom prst="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393192" y="5760720"/>
            <a:ext cx="4572000" cy="29260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00" b="1" i="0">
                <a:solidFill>
                  <a:srgbClr val="1F2937"/>
                </a:solidFill>
                <a:latin typeface="Calibri"/>
              </a:rPr>
              <a:t>Zukunftssicherheit AI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5056632" y="5760720"/>
            <a:ext cx="1691640" cy="29260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000" b="0" i="0">
                <a:solidFill>
                  <a:srgbClr val="1F2937"/>
                </a:solidFill>
                <a:latin typeface="Calibri"/>
              </a:rPr>
              <a:t>Hoch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793992" y="5760720"/>
            <a:ext cx="1691640" cy="29260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000" b="0" i="0">
                <a:solidFill>
                  <a:srgbClr val="1F2937"/>
                </a:solidFill>
                <a:latin typeface="Calibri"/>
              </a:rPr>
              <a:t>Mittel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8531352" y="5760720"/>
            <a:ext cx="1691640" cy="29260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000" b="0" i="0">
                <a:solidFill>
                  <a:srgbClr val="1F2937"/>
                </a:solidFill>
                <a:latin typeface="Calibri"/>
              </a:rPr>
              <a:t>Hoch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0268712" y="5760720"/>
            <a:ext cx="1508760" cy="29260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000" b="0" i="0">
                <a:solidFill>
                  <a:srgbClr val="1F2937"/>
                </a:solidFill>
                <a:latin typeface="Calibri"/>
              </a:rPr>
              <a:t>Niedrig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Einfuehrungs-Szenarien im Vergleich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301752" y="960120"/>
            <a:ext cx="3770375" cy="54864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07F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01752" y="960120"/>
            <a:ext cx="3770375" cy="603504"/>
          </a:xfrm>
          <a:prstGeom prst="round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609087" y="960120"/>
            <a:ext cx="1417320" cy="603504"/>
          </a:xfrm>
          <a:prstGeom prst="round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609087" y="960120"/>
            <a:ext cx="1417320" cy="603504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900" b="1" i="0">
                <a:solidFill>
                  <a:srgbClr val="F07F12"/>
                </a:solidFill>
                <a:latin typeface="Calibri"/>
              </a:rPr>
              <a:t>★ EMPFOHLEN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4904" y="996696"/>
            <a:ext cx="2170175" cy="530352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A - Full Scope
24 Monate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" y="1645920"/>
            <a:ext cx="3496056" cy="27432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8912" y="1645920"/>
            <a:ext cx="3496056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000" b="1" i="0">
                <a:solidFill>
                  <a:srgbClr val="F07F12"/>
                </a:solidFill>
                <a:latin typeface="Calibri"/>
              </a:rPr>
              <a:t>Empfohlen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" y="2011680"/>
            <a:ext cx="3496056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950" b="0" i="1">
                <a:solidFill>
                  <a:srgbClr val="4B5563"/>
                </a:solidFill>
                <a:latin typeface="Calibri"/>
              </a:rPr>
              <a:t>Dauer: 24 Monate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" y="2240280"/>
            <a:ext cx="3496056" cy="164592"/>
          </a:xfrm>
          <a:prstGeom prst="round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38912" y="2240280"/>
            <a:ext cx="2330703" cy="164592"/>
          </a:xfrm>
          <a:prstGeom prst="round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38912" y="2560320"/>
            <a:ext cx="3496056" cy="603504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0352" y="2578608"/>
            <a:ext cx="3358895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00" b="1" i="0">
                <a:solidFill>
                  <a:srgbClr val="4B5563"/>
                </a:solidFill>
                <a:latin typeface="Calibri"/>
              </a:rPr>
              <a:t>Scope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0352" y="2834639"/>
            <a:ext cx="3358895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00" b="1" i="0">
                <a:solidFill>
                  <a:srgbClr val="1F2937"/>
                </a:solidFill>
                <a:latin typeface="Calibri"/>
              </a:rPr>
              <a:t>Alle Module Phase 1 + 2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8912" y="3218687"/>
            <a:ext cx="3496056" cy="603504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0352" y="3236975"/>
            <a:ext cx="3358895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00" b="1" i="0">
                <a:solidFill>
                  <a:srgbClr val="4B5563"/>
                </a:solidFill>
                <a:latin typeface="Calibri"/>
              </a:rPr>
              <a:t>Ramp Up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0352" y="3493007"/>
            <a:ext cx="3358895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00" b="1" i="0">
                <a:solidFill>
                  <a:srgbClr val="1F2937"/>
                </a:solidFill>
                <a:latin typeface="Calibri"/>
              </a:rPr>
              <a:t>Standard-Timeline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8912" y="3877056"/>
            <a:ext cx="3496056" cy="603504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30352" y="3895344"/>
            <a:ext cx="3358895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00" b="1" i="0">
                <a:solidFill>
                  <a:srgbClr val="4B5563"/>
                </a:solidFill>
                <a:latin typeface="Calibri"/>
              </a:rPr>
              <a:t>Payback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0352" y="4151376"/>
            <a:ext cx="3358895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00" b="1" i="0">
                <a:solidFill>
                  <a:srgbClr val="1F2937"/>
                </a:solidFill>
                <a:latin typeface="Calibri"/>
              </a:rPr>
              <a:t>~ 3,5 Jahre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8912" y="4535424"/>
            <a:ext cx="3496056" cy="603504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30352" y="4553712"/>
            <a:ext cx="3358895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00" b="1" i="0">
                <a:solidFill>
                  <a:srgbClr val="4B5563"/>
                </a:solidFill>
                <a:latin typeface="Calibri"/>
              </a:rPr>
              <a:t>Business Value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" y="4809744"/>
            <a:ext cx="3358895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00" b="1" i="0">
                <a:solidFill>
                  <a:srgbClr val="1F2937"/>
                </a:solidFill>
                <a:latin typeface="Calibri"/>
              </a:rPr>
              <a:t>Voll ab Jahr 3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8912" y="5193792"/>
            <a:ext cx="3496056" cy="603504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30352" y="5212079"/>
            <a:ext cx="3358895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00" b="1" i="0">
                <a:solidFill>
                  <a:srgbClr val="4B5563"/>
                </a:solidFill>
                <a:latin typeface="Calibri"/>
              </a:rPr>
              <a:t>Risiko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0352" y="5468112"/>
            <a:ext cx="3358895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00" b="1" i="0">
                <a:solidFill>
                  <a:srgbClr val="1F2937"/>
                </a:solidFill>
                <a:latin typeface="Calibri"/>
              </a:rPr>
              <a:t>Mittel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209288" y="960120"/>
            <a:ext cx="3770375" cy="5486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B6B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4209288" y="960120"/>
            <a:ext cx="3770375" cy="603504"/>
          </a:xfrm>
          <a:prstGeom prst="roundRect">
            <a:avLst/>
          </a:prstGeom>
          <a:solidFill>
            <a:srgbClr val="3B6B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282440" y="996696"/>
            <a:ext cx="3633216" cy="530352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B - Extended Ramp
36 Monate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346448" y="1645920"/>
            <a:ext cx="3496056" cy="27432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46448" y="1645920"/>
            <a:ext cx="3496056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000" b="1" i="0">
                <a:solidFill>
                  <a:srgbClr val="3B6BA5"/>
                </a:solidFill>
                <a:latin typeface="Calibri"/>
              </a:rPr>
              <a:t>Konservativ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46448" y="2011680"/>
            <a:ext cx="3496056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950" b="0" i="1">
                <a:solidFill>
                  <a:srgbClr val="4B5563"/>
                </a:solidFill>
                <a:latin typeface="Calibri"/>
              </a:rPr>
              <a:t>Dauer: 36 Monate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346448" y="2240280"/>
            <a:ext cx="3496056" cy="164592"/>
          </a:xfrm>
          <a:prstGeom prst="round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4346448" y="2240280"/>
            <a:ext cx="3496056" cy="164592"/>
          </a:xfrm>
          <a:prstGeom prst="roundRect">
            <a:avLst/>
          </a:prstGeom>
          <a:solidFill>
            <a:srgbClr val="3B6B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4346448" y="2560320"/>
            <a:ext cx="3496056" cy="603504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437888" y="2578608"/>
            <a:ext cx="3358895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00" b="1" i="0">
                <a:solidFill>
                  <a:srgbClr val="4B5563"/>
                </a:solidFill>
                <a:latin typeface="Calibri"/>
              </a:rPr>
              <a:t>Scope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437888" y="2834639"/>
            <a:ext cx="3358895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00" b="1" i="0">
                <a:solidFill>
                  <a:srgbClr val="1F2937"/>
                </a:solidFill>
                <a:latin typeface="Calibri"/>
              </a:rPr>
              <a:t>Alle Module, verteilter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346448" y="3218687"/>
            <a:ext cx="3496056" cy="603504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437888" y="3236975"/>
            <a:ext cx="3358895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00" b="1" i="0">
                <a:solidFill>
                  <a:srgbClr val="4B5563"/>
                </a:solidFill>
                <a:latin typeface="Calibri"/>
              </a:rPr>
              <a:t>Ramp Up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437888" y="3493007"/>
            <a:ext cx="3358895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00" b="1" i="0">
                <a:solidFill>
                  <a:srgbClr val="1F2937"/>
                </a:solidFill>
                <a:latin typeface="Calibri"/>
              </a:rPr>
              <a:t>Reduziertes Tempo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346448" y="3877056"/>
            <a:ext cx="3496056" cy="603504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437888" y="3895344"/>
            <a:ext cx="3358895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00" b="1" i="0">
                <a:solidFill>
                  <a:srgbClr val="4B5563"/>
                </a:solidFill>
                <a:latin typeface="Calibri"/>
              </a:rPr>
              <a:t>Payback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437888" y="4151376"/>
            <a:ext cx="3358895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00" b="1" i="0">
                <a:solidFill>
                  <a:srgbClr val="1F2937"/>
                </a:solidFill>
                <a:latin typeface="Calibri"/>
              </a:rPr>
              <a:t>~ 4,5 Jahre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346448" y="4535424"/>
            <a:ext cx="3496056" cy="603504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437888" y="4553712"/>
            <a:ext cx="3358895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00" b="1" i="0">
                <a:solidFill>
                  <a:srgbClr val="4B5563"/>
                </a:solidFill>
                <a:latin typeface="Calibri"/>
              </a:rPr>
              <a:t>Business Value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437888" y="4809744"/>
            <a:ext cx="3358895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00" b="1" i="0">
                <a:solidFill>
                  <a:srgbClr val="1F2937"/>
                </a:solidFill>
                <a:latin typeface="Calibri"/>
              </a:rPr>
              <a:t>Voll ab Jahr 4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4346448" y="5193792"/>
            <a:ext cx="3496056" cy="603504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437888" y="5212079"/>
            <a:ext cx="3358895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00" b="1" i="0">
                <a:solidFill>
                  <a:srgbClr val="4B5563"/>
                </a:solidFill>
                <a:latin typeface="Calibri"/>
              </a:rPr>
              <a:t>Risiko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437888" y="5468112"/>
            <a:ext cx="3358895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00" b="1" i="0">
                <a:solidFill>
                  <a:srgbClr val="1F2937"/>
                </a:solidFill>
                <a:latin typeface="Calibri"/>
              </a:rPr>
              <a:t>Niedrig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8116824" y="960120"/>
            <a:ext cx="3770375" cy="5486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8116824" y="960120"/>
            <a:ext cx="3770375" cy="603504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189976" y="996696"/>
            <a:ext cx="3633216" cy="530352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C - MVP-First
12 Mo + Ausbau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8253984" y="1645920"/>
            <a:ext cx="3496056" cy="27432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253984" y="1645920"/>
            <a:ext cx="3496056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000" b="1" i="0">
                <a:solidFill>
                  <a:srgbClr val="2E7D32"/>
                </a:solidFill>
                <a:latin typeface="Calibri"/>
              </a:rPr>
              <a:t>Agil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253984" y="2011680"/>
            <a:ext cx="3496056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950" b="0" i="1">
                <a:solidFill>
                  <a:srgbClr val="4B5563"/>
                </a:solidFill>
                <a:latin typeface="Calibri"/>
              </a:rPr>
              <a:t>Dauer: 30 Monate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8253984" y="2240280"/>
            <a:ext cx="3496056" cy="164592"/>
          </a:xfrm>
          <a:prstGeom prst="round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ounded Rectangle 58"/>
          <p:cNvSpPr/>
          <p:nvPr/>
        </p:nvSpPr>
        <p:spPr>
          <a:xfrm>
            <a:off x="8253984" y="2240280"/>
            <a:ext cx="2913380" cy="164592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ounded Rectangle 59"/>
          <p:cNvSpPr/>
          <p:nvPr/>
        </p:nvSpPr>
        <p:spPr>
          <a:xfrm>
            <a:off x="8253984" y="2560320"/>
            <a:ext cx="3496056" cy="603504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345424" y="2578608"/>
            <a:ext cx="3358895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00" b="1" i="0">
                <a:solidFill>
                  <a:srgbClr val="4B5563"/>
                </a:solidFill>
                <a:latin typeface="Calibri"/>
              </a:rPr>
              <a:t>Scope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345424" y="2834639"/>
            <a:ext cx="3358895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00" b="1" i="0">
                <a:solidFill>
                  <a:srgbClr val="1F2937"/>
                </a:solidFill>
                <a:latin typeface="Calibri"/>
              </a:rPr>
              <a:t>Strategy + Portfolio zuerst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8253984" y="3218687"/>
            <a:ext cx="3496056" cy="603504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345424" y="3236975"/>
            <a:ext cx="3358895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00" b="1" i="0">
                <a:solidFill>
                  <a:srgbClr val="4B5563"/>
                </a:solidFill>
                <a:latin typeface="Calibri"/>
              </a:rPr>
              <a:t>Ramp Up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345424" y="3493007"/>
            <a:ext cx="3358895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00" b="1" i="0">
                <a:solidFill>
                  <a:srgbClr val="1F2937"/>
                </a:solidFill>
                <a:latin typeface="Calibri"/>
              </a:rPr>
              <a:t>MVP live in 12 Mo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8253984" y="3877056"/>
            <a:ext cx="3496056" cy="603504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8345424" y="3895344"/>
            <a:ext cx="3358895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00" b="1" i="0">
                <a:solidFill>
                  <a:srgbClr val="4B5563"/>
                </a:solidFill>
                <a:latin typeface="Calibri"/>
              </a:rPr>
              <a:t>Payback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345424" y="4151376"/>
            <a:ext cx="3358895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00" b="1" i="0">
                <a:solidFill>
                  <a:srgbClr val="1F2937"/>
                </a:solidFill>
                <a:latin typeface="Calibri"/>
              </a:rPr>
              <a:t>~ 3 Jahre auf Teil-Nutzen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8253984" y="4535424"/>
            <a:ext cx="3496056" cy="603504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8345424" y="4553712"/>
            <a:ext cx="3358895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00" b="1" i="0">
                <a:solidFill>
                  <a:srgbClr val="4B5563"/>
                </a:solidFill>
                <a:latin typeface="Calibri"/>
              </a:rPr>
              <a:t>Business Value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345424" y="4809744"/>
            <a:ext cx="3358895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00" b="1" i="0">
                <a:solidFill>
                  <a:srgbClr val="1F2937"/>
                </a:solidFill>
                <a:latin typeface="Calibri"/>
              </a:rPr>
              <a:t>Teilnutzen frueh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8253984" y="5193792"/>
            <a:ext cx="3496056" cy="603504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8345424" y="5212079"/>
            <a:ext cx="3358895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00" b="1" i="0">
                <a:solidFill>
                  <a:srgbClr val="4B5563"/>
                </a:solidFill>
                <a:latin typeface="Calibri"/>
              </a:rPr>
              <a:t>Risiko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345424" y="5468112"/>
            <a:ext cx="3358895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00" b="1" i="0">
                <a:solidFill>
                  <a:srgbClr val="1F2937"/>
                </a:solidFill>
                <a:latin typeface="Calibri"/>
              </a:rPr>
              <a:t>Mittel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Szenario A - Full Scope 24 Monate (Empfohlen)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301752" y="960120"/>
            <a:ext cx="11585448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250" b="1" i="0">
                <a:solidFill>
                  <a:srgbClr val="F07F12"/>
                </a:solidFill>
                <a:latin typeface="Calibri"/>
              </a:rPr>
              <a:t>Umsetzungs-Timeline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587752" y="1234440"/>
            <a:ext cx="4649724" cy="256032"/>
          </a:xfrm>
          <a:prstGeom prst="roundRect">
            <a:avLst/>
          </a:prstGeom>
          <a:solidFill>
            <a:srgbClr val="FDE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587752" y="1234440"/>
            <a:ext cx="4649724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050" b="1" i="0">
                <a:solidFill>
                  <a:srgbClr val="1F2937"/>
                </a:solidFill>
                <a:latin typeface="Calibri"/>
              </a:rPr>
              <a:t>Jahr 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37476" y="1234440"/>
            <a:ext cx="4649724" cy="256032"/>
          </a:xfrm>
          <a:prstGeom prst="roundRect">
            <a:avLst/>
          </a:prstGeom>
          <a:solidFill>
            <a:srgbClr val="E96C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237476" y="1234440"/>
            <a:ext cx="4649724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Jahr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1752" y="1554480"/>
            <a:ext cx="2194560" cy="329184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50" b="1" i="0">
                <a:solidFill>
                  <a:srgbClr val="1F2937"/>
                </a:solidFill>
                <a:latin typeface="Calibri"/>
              </a:rPr>
              <a:t>Konzeption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587752" y="1554480"/>
            <a:ext cx="9299448" cy="329184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596896" y="1572768"/>
            <a:ext cx="1144143" cy="292608"/>
          </a:xfrm>
          <a:prstGeom prst="round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1752" y="1929384"/>
            <a:ext cx="2194560" cy="329184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50" b="1" i="0">
                <a:solidFill>
                  <a:srgbClr val="1F2937"/>
                </a:solidFill>
                <a:latin typeface="Calibri"/>
              </a:rPr>
              <a:t>Impl. Phase 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587752" y="1929384"/>
            <a:ext cx="9299448" cy="329184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759327" y="1947672"/>
            <a:ext cx="3469005" cy="292608"/>
          </a:xfrm>
          <a:prstGeom prst="round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1752" y="2304288"/>
            <a:ext cx="2194560" cy="329184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50" b="1" i="0">
                <a:solidFill>
                  <a:srgbClr val="1F2937"/>
                </a:solidFill>
                <a:latin typeface="Calibri"/>
              </a:rPr>
              <a:t>Go-Live Phase 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587752" y="2304288"/>
            <a:ext cx="9299448" cy="329184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246620" y="2322576"/>
            <a:ext cx="369189" cy="292608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1752" y="2679192"/>
            <a:ext cx="2194560" cy="329184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50" b="1" i="0">
                <a:solidFill>
                  <a:srgbClr val="1F2937"/>
                </a:solidFill>
                <a:latin typeface="Calibri"/>
              </a:rPr>
              <a:t>Impl. Phase 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587752" y="2679192"/>
            <a:ext cx="9299448" cy="329184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246620" y="2697480"/>
            <a:ext cx="4243959" cy="292608"/>
          </a:xfrm>
          <a:prstGeom prst="roundRect">
            <a:avLst/>
          </a:prstGeom>
          <a:solidFill>
            <a:srgbClr val="E96C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1752" y="3054096"/>
            <a:ext cx="2194560" cy="329184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50" b="1" i="0">
                <a:solidFill>
                  <a:srgbClr val="1F2937"/>
                </a:solidFill>
                <a:latin typeface="Calibri"/>
              </a:rPr>
              <a:t>Go-Live Phase 2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587752" y="3054096"/>
            <a:ext cx="9299448" cy="329184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1508867" y="3072384"/>
            <a:ext cx="369189" cy="292608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01752" y="3429000"/>
            <a:ext cx="2194560" cy="329184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50" b="1" i="0">
                <a:solidFill>
                  <a:srgbClr val="1F2937"/>
                </a:solidFill>
                <a:latin typeface="Calibri"/>
              </a:rPr>
              <a:t>Change / Rollout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587752" y="3429000"/>
            <a:ext cx="9299448" cy="329184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3759327" y="3447288"/>
            <a:ext cx="8118729" cy="292608"/>
          </a:xfrm>
          <a:prstGeom prst="roundRect">
            <a:avLst/>
          </a:prstGeom>
          <a:solidFill>
            <a:srgbClr val="3B6B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1752" y="4032504"/>
            <a:ext cx="11585448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200" b="1" i="0">
                <a:solidFill>
                  <a:srgbClr val="F07F12"/>
                </a:solidFill>
                <a:latin typeface="Calibri"/>
              </a:rPr>
              <a:t>Investitions- und Nutzenprofil (schematisch)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01752" y="4306824"/>
            <a:ext cx="11585448" cy="2139696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01752" y="4306824"/>
            <a:ext cx="2307945" cy="213969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01752" y="6190488"/>
            <a:ext cx="2317089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900" b="0" i="0">
                <a:solidFill>
                  <a:srgbClr val="4B5563"/>
                </a:solidFill>
                <a:latin typeface="Calibri"/>
              </a:rPr>
              <a:t>Jahr 1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618841" y="4306824"/>
            <a:ext cx="2307945" cy="2139696"/>
          </a:xfrm>
          <a:prstGeom prst="rect">
            <a:avLst/>
          </a:prstGeom>
          <a:solidFill>
            <a:srgbClr val="E9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618841" y="6190488"/>
            <a:ext cx="2317089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900" b="0" i="0">
                <a:solidFill>
                  <a:srgbClr val="4B5563"/>
                </a:solidFill>
                <a:latin typeface="Calibri"/>
              </a:rPr>
              <a:t>Jahr 2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935931" y="4306824"/>
            <a:ext cx="2307945" cy="213969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935931" y="6190488"/>
            <a:ext cx="2317089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900" b="0" i="0">
                <a:solidFill>
                  <a:srgbClr val="4B5563"/>
                </a:solidFill>
                <a:latin typeface="Calibri"/>
              </a:rPr>
              <a:t>Jahr 3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253020" y="4306824"/>
            <a:ext cx="2307945" cy="2139696"/>
          </a:xfrm>
          <a:prstGeom prst="rect">
            <a:avLst/>
          </a:prstGeom>
          <a:solidFill>
            <a:srgbClr val="E9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253020" y="6190488"/>
            <a:ext cx="2317089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900" b="0" i="0">
                <a:solidFill>
                  <a:srgbClr val="4B5563"/>
                </a:solidFill>
                <a:latin typeface="Calibri"/>
              </a:rPr>
              <a:t>Jahr 4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570110" y="4306824"/>
            <a:ext cx="2307945" cy="213969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570110" y="6190488"/>
            <a:ext cx="2317089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900" b="0" i="0">
                <a:solidFill>
                  <a:srgbClr val="4B5563"/>
                </a:solidFill>
                <a:latin typeface="Calibri"/>
              </a:rPr>
              <a:t>Jahr 5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204264" y="5378704"/>
            <a:ext cx="219456" cy="747776"/>
          </a:xfrm>
          <a:prstGeom prst="round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57376" y="5241544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800" b="1" i="0">
                <a:solidFill>
                  <a:srgbClr val="B91C1C"/>
                </a:solidFill>
                <a:latin typeface="Calibri"/>
              </a:rPr>
              <a:t>2.0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496872" y="6014313"/>
            <a:ext cx="219456" cy="112166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313992" y="5877153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800" b="1" i="0">
                <a:solidFill>
                  <a:srgbClr val="2E7D32"/>
                </a:solidFill>
                <a:latin typeface="Calibri"/>
              </a:rPr>
              <a:t>0.3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3521354" y="5303926"/>
            <a:ext cx="219456" cy="822553"/>
          </a:xfrm>
          <a:prstGeom prst="round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274466" y="5166766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800" b="1" i="0">
                <a:solidFill>
                  <a:srgbClr val="B91C1C"/>
                </a:solidFill>
                <a:latin typeface="Calibri"/>
              </a:rPr>
              <a:t>2.2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3813962" y="5565648"/>
            <a:ext cx="219456" cy="560832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631082" y="5428488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800" b="1" i="0">
                <a:solidFill>
                  <a:srgbClr val="2E7D32"/>
                </a:solidFill>
                <a:latin typeface="Calibri"/>
              </a:rPr>
              <a:t>1.5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838443" y="5677814"/>
            <a:ext cx="219456" cy="448665"/>
          </a:xfrm>
          <a:prstGeom prst="round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591555" y="5540654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800" b="1" i="0">
                <a:solidFill>
                  <a:srgbClr val="B91C1C"/>
                </a:solidFill>
                <a:latin typeface="Calibri"/>
              </a:rPr>
              <a:t>1.2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131051" y="5004816"/>
            <a:ext cx="219456" cy="1121664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948171" y="4867656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800" b="1" i="0">
                <a:solidFill>
                  <a:srgbClr val="2E7D32"/>
                </a:solidFill>
                <a:latin typeface="Calibri"/>
              </a:rPr>
              <a:t>3.0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8155533" y="5752592"/>
            <a:ext cx="219456" cy="373888"/>
          </a:xfrm>
          <a:prstGeom prst="round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908645" y="5615432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800" b="1" i="0">
                <a:solidFill>
                  <a:srgbClr val="B91C1C"/>
                </a:solidFill>
                <a:latin typeface="Calibri"/>
              </a:rPr>
              <a:t>1.0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8448141" y="4630928"/>
            <a:ext cx="219456" cy="1495552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265261" y="4493768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800" b="1" i="0">
                <a:solidFill>
                  <a:srgbClr val="2E7D32"/>
                </a:solidFill>
                <a:latin typeface="Calibri"/>
              </a:rPr>
              <a:t>4.0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10472623" y="5752592"/>
            <a:ext cx="219456" cy="373888"/>
          </a:xfrm>
          <a:prstGeom prst="round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0225735" y="5615432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800" b="1" i="0">
                <a:solidFill>
                  <a:srgbClr val="B91C1C"/>
                </a:solidFill>
                <a:latin typeface="Calibri"/>
              </a:rPr>
              <a:t>1.0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10765231" y="4518761"/>
            <a:ext cx="219456" cy="1607718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0582351" y="4381601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800" b="1" i="0">
                <a:solidFill>
                  <a:srgbClr val="2E7D32"/>
                </a:solidFill>
                <a:latin typeface="Calibri"/>
              </a:rPr>
              <a:t>4.3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Budgetplanung SEPM  (Jahresplanung 2027 + Rahmen 2028)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301752" y="960120"/>
            <a:ext cx="11585448" cy="640080"/>
          </a:xfrm>
          <a:prstGeom prst="round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38912" y="960120"/>
            <a:ext cx="7315200" cy="6400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Gesamt-Investition SEPM 2027-2031 (Base Case)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99831" y="960120"/>
            <a:ext cx="4023360" cy="6400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2200" b="1" i="0">
                <a:solidFill>
                  <a:srgbClr val="F07F12"/>
                </a:solidFill>
                <a:latin typeface="Calibri"/>
              </a:rPr>
              <a:t>~ 7.6 Mio. €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93952" y="2103120"/>
            <a:ext cx="1371600" cy="2743200"/>
          </a:xfrm>
          <a:prstGeom prst="round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5352" y="1920240"/>
            <a:ext cx="18288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050" b="1" i="0">
                <a:solidFill>
                  <a:srgbClr val="1F2937"/>
                </a:solidFill>
                <a:latin typeface="Calibri"/>
              </a:rPr>
              <a:t>2.2 M€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5352" y="4910328"/>
            <a:ext cx="1828800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100" b="1" i="0">
                <a:solidFill>
                  <a:srgbClr val="1F2937"/>
                </a:solidFill>
                <a:latin typeface="Calibri"/>
              </a:rPr>
              <a:t>2027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9592" y="5148072"/>
            <a:ext cx="2560320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800" b="0" i="1">
                <a:solidFill>
                  <a:srgbClr val="4B5563"/>
                </a:solidFill>
                <a:latin typeface="Calibri"/>
              </a:rPr>
              <a:t>Phase 1 Impl. + Lizenz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01314" y="2103120"/>
            <a:ext cx="1371600" cy="2743200"/>
          </a:xfrm>
          <a:prstGeom prst="round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72714" y="1920240"/>
            <a:ext cx="18288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050" b="1" i="0">
                <a:solidFill>
                  <a:srgbClr val="1F2937"/>
                </a:solidFill>
                <a:latin typeface="Calibri"/>
              </a:rPr>
              <a:t>2.2 M€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72714" y="4910328"/>
            <a:ext cx="1828800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100" b="1" i="0">
                <a:solidFill>
                  <a:srgbClr val="1F2937"/>
                </a:solidFill>
                <a:latin typeface="Calibri"/>
              </a:rPr>
              <a:t>2028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06954" y="5148072"/>
            <a:ext cx="2560320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800" b="0" i="1">
                <a:solidFill>
                  <a:srgbClr val="4B5563"/>
                </a:solidFill>
                <a:latin typeface="Calibri"/>
              </a:rPr>
              <a:t>Phase 2 Impl. + Lizenz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08676" y="3350029"/>
            <a:ext cx="1371600" cy="1496290"/>
          </a:xfrm>
          <a:prstGeom prst="roundRect">
            <a:avLst/>
          </a:prstGeom>
          <a:solidFill>
            <a:srgbClr val="E96C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80076" y="3167149"/>
            <a:ext cx="18288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050" b="1" i="0">
                <a:solidFill>
                  <a:srgbClr val="1F2937"/>
                </a:solidFill>
                <a:latin typeface="Calibri"/>
              </a:rPr>
              <a:t>1.2 M€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80076" y="4910328"/>
            <a:ext cx="1828800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100" b="1" i="0">
                <a:solidFill>
                  <a:srgbClr val="1F2937"/>
                </a:solidFill>
                <a:latin typeface="Calibri"/>
              </a:rPr>
              <a:t>2029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14316" y="5148072"/>
            <a:ext cx="2560320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800" b="0" i="1">
                <a:solidFill>
                  <a:srgbClr val="4B5563"/>
                </a:solidFill>
                <a:latin typeface="Calibri"/>
              </a:rPr>
              <a:t>Steady + Weiterentw.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616037" y="3599410"/>
            <a:ext cx="1371600" cy="1246909"/>
          </a:xfrm>
          <a:prstGeom prst="roundRect">
            <a:avLst/>
          </a:prstGeom>
          <a:solidFill>
            <a:srgbClr val="FDE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87437" y="3416530"/>
            <a:ext cx="18288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050" b="1" i="0">
                <a:solidFill>
                  <a:srgbClr val="1F2937"/>
                </a:solidFill>
                <a:latin typeface="Calibri"/>
              </a:rPr>
              <a:t>1.0 M€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87437" y="4910328"/>
            <a:ext cx="1828800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100" b="1" i="0">
                <a:solidFill>
                  <a:srgbClr val="1F2937"/>
                </a:solidFill>
                <a:latin typeface="Calibri"/>
              </a:rPr>
              <a:t>2030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21677" y="5148072"/>
            <a:ext cx="2560320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800" b="0" i="1">
                <a:solidFill>
                  <a:srgbClr val="4B5563"/>
                </a:solidFill>
                <a:latin typeface="Calibri"/>
              </a:rPr>
              <a:t>Steady State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823399" y="3599410"/>
            <a:ext cx="1371600" cy="1246909"/>
          </a:xfrm>
          <a:prstGeom prst="roundRect">
            <a:avLst/>
          </a:prstGeom>
          <a:solidFill>
            <a:srgbClr val="FDE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594799" y="3416530"/>
            <a:ext cx="18288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050" b="1" i="0">
                <a:solidFill>
                  <a:srgbClr val="1F2937"/>
                </a:solidFill>
                <a:latin typeface="Calibri"/>
              </a:rPr>
              <a:t>1.0 M€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94799" y="4910328"/>
            <a:ext cx="1828800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100" b="1" i="0">
                <a:solidFill>
                  <a:srgbClr val="1F2937"/>
                </a:solidFill>
                <a:latin typeface="Calibri"/>
              </a:rPr>
              <a:t>2031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29039" y="5148072"/>
            <a:ext cx="2560320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800" b="0" i="1">
                <a:solidFill>
                  <a:srgbClr val="4B5563"/>
                </a:solidFill>
                <a:latin typeface="Calibri"/>
              </a:rPr>
              <a:t>Steady State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76072" y="4846320"/>
            <a:ext cx="11036808" cy="18288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01752" y="5440680"/>
            <a:ext cx="11585448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200" b="1" i="0">
                <a:solidFill>
                  <a:srgbClr val="F07F12"/>
                </a:solidFill>
                <a:latin typeface="Calibri"/>
              </a:rPr>
              <a:t>Milestones Jahresplanung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01752" y="5696712"/>
            <a:ext cx="3770375" cy="6858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2C3E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Diamond 29"/>
          <p:cNvSpPr/>
          <p:nvPr/>
        </p:nvSpPr>
        <p:spPr>
          <a:xfrm>
            <a:off x="393192" y="5897880"/>
            <a:ext cx="256032" cy="256032"/>
          </a:xfrm>
          <a:prstGeom prst="diamond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58952" y="5733288"/>
            <a:ext cx="3221735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50" b="1" i="0">
                <a:solidFill>
                  <a:srgbClr val="1F2937"/>
                </a:solidFill>
                <a:latin typeface="Calibri"/>
              </a:rPr>
              <a:t>Q3 2026: Jahresplanung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8952" y="6025896"/>
            <a:ext cx="3221735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00" b="0" i="1">
                <a:solidFill>
                  <a:srgbClr val="4B5563"/>
                </a:solidFill>
                <a:latin typeface="Calibri"/>
              </a:rPr>
              <a:t>Beschluss 2027 &amp; Rahmen 2028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209288" y="5696712"/>
            <a:ext cx="3770375" cy="6858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2C3E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Diamond 33"/>
          <p:cNvSpPr/>
          <p:nvPr/>
        </p:nvSpPr>
        <p:spPr>
          <a:xfrm>
            <a:off x="4300728" y="5897880"/>
            <a:ext cx="256032" cy="256032"/>
          </a:xfrm>
          <a:prstGeom prst="diamond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666488" y="5733288"/>
            <a:ext cx="3221735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50" b="1" i="0">
                <a:solidFill>
                  <a:srgbClr val="1F2937"/>
                </a:solidFill>
                <a:latin typeface="Calibri"/>
              </a:rPr>
              <a:t>Q3 2027: Jahresplanung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666488" y="6025896"/>
            <a:ext cx="3221735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00" b="0" i="1">
                <a:solidFill>
                  <a:srgbClr val="4B5563"/>
                </a:solidFill>
                <a:latin typeface="Calibri"/>
              </a:rPr>
              <a:t>Freigabe Phase 2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116824" y="5696712"/>
            <a:ext cx="3770375" cy="6858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2C3E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Diamond 37"/>
          <p:cNvSpPr/>
          <p:nvPr/>
        </p:nvSpPr>
        <p:spPr>
          <a:xfrm>
            <a:off x="8208264" y="5897880"/>
            <a:ext cx="256032" cy="256032"/>
          </a:xfrm>
          <a:prstGeom prst="diamond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574024" y="5733288"/>
            <a:ext cx="3221735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50" b="1" i="0">
                <a:solidFill>
                  <a:srgbClr val="1F2937"/>
                </a:solidFill>
                <a:latin typeface="Calibri"/>
              </a:rPr>
              <a:t>Q3 2028: Review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574024" y="6025896"/>
            <a:ext cx="3221735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00" b="0" i="1">
                <a:solidFill>
                  <a:srgbClr val="4B5563"/>
                </a:solidFill>
                <a:latin typeface="Calibri"/>
              </a:rPr>
              <a:t>Uebergang Steady State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Risiko-Matrix ServiceNow-Plattform-Abhaengigkeit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301752" y="960120"/>
            <a:ext cx="11585448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250" b="1" i="0">
                <a:solidFill>
                  <a:srgbClr val="F07F12"/>
                </a:solidFill>
                <a:latin typeface="Calibri"/>
              </a:rPr>
              <a:t>Risiko-Matrix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01752" y="1234440"/>
            <a:ext cx="11585448" cy="256032"/>
          </a:xfrm>
          <a:prstGeom prst="round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38912" y="1234440"/>
            <a:ext cx="3017520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Risiko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93592" y="1234440"/>
            <a:ext cx="1371600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Schwere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48072" y="1234440"/>
            <a:ext cx="6858000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Mitigation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01752" y="1527048"/>
            <a:ext cx="11585448" cy="512064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8912" y="1527048"/>
            <a:ext cx="3017520" cy="512064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50" b="1" i="0">
                <a:solidFill>
                  <a:srgbClr val="1F2937"/>
                </a:solidFill>
                <a:latin typeface="Calibri"/>
              </a:rPr>
              <a:t>Vendor Lock-in</a:t>
            </a:r>
          </a:p>
        </p:txBody>
      </p:sp>
      <p:sp>
        <p:nvSpPr>
          <p:cNvPr id="11" name="Oval 10"/>
          <p:cNvSpPr/>
          <p:nvPr/>
        </p:nvSpPr>
        <p:spPr>
          <a:xfrm>
            <a:off x="3593592" y="1728216"/>
            <a:ext cx="164592" cy="164592"/>
          </a:xfrm>
          <a:prstGeom prst="ellipse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849624" y="1728216"/>
            <a:ext cx="164592" cy="164592"/>
          </a:xfrm>
          <a:prstGeom prst="ellipse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105656" y="1728216"/>
            <a:ext cx="164592" cy="164592"/>
          </a:xfrm>
          <a:prstGeom prst="ellipse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361688" y="1728216"/>
            <a:ext cx="164592" cy="164592"/>
          </a:xfrm>
          <a:prstGeom prst="ellipse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617720" y="1728216"/>
            <a:ext cx="164592" cy="164592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48072" y="1527048"/>
            <a:ext cx="6858000" cy="512064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Standard-Konfiguration, Migrations-Klauseln, Marktscreening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01752" y="2075688"/>
            <a:ext cx="11585448" cy="512064"/>
          </a:xfrm>
          <a:prstGeom prst="roundRect">
            <a:avLst/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8912" y="2075688"/>
            <a:ext cx="3017520" cy="512064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50" b="1" i="0">
                <a:solidFill>
                  <a:srgbClr val="1F2937"/>
                </a:solidFill>
                <a:latin typeface="Calibri"/>
              </a:rPr>
              <a:t>Preis-Eskalation</a:t>
            </a:r>
          </a:p>
        </p:txBody>
      </p:sp>
      <p:sp>
        <p:nvSpPr>
          <p:cNvPr id="19" name="Oval 18"/>
          <p:cNvSpPr/>
          <p:nvPr/>
        </p:nvSpPr>
        <p:spPr>
          <a:xfrm>
            <a:off x="3593592" y="2276856"/>
            <a:ext cx="164592" cy="164592"/>
          </a:xfrm>
          <a:prstGeom prst="ellipse">
            <a:avLst/>
          </a:prstGeom>
          <a:solidFill>
            <a:srgbClr val="F5C2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849624" y="2276856"/>
            <a:ext cx="164592" cy="164592"/>
          </a:xfrm>
          <a:prstGeom prst="ellipse">
            <a:avLst/>
          </a:prstGeom>
          <a:solidFill>
            <a:srgbClr val="F5C2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105656" y="2276856"/>
            <a:ext cx="164592" cy="164592"/>
          </a:xfrm>
          <a:prstGeom prst="ellipse">
            <a:avLst/>
          </a:prstGeom>
          <a:solidFill>
            <a:srgbClr val="F5C2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361688" y="2276856"/>
            <a:ext cx="164592" cy="164592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617720" y="2276856"/>
            <a:ext cx="164592" cy="164592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148072" y="2075688"/>
            <a:ext cx="6858000" cy="512064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Mehrjahresvertrag mit Preisgarantie, Volumen-Rabatte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01752" y="2624328"/>
            <a:ext cx="11585448" cy="512064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8912" y="2624328"/>
            <a:ext cx="3017520" cy="512064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50" b="1" i="0">
                <a:solidFill>
                  <a:srgbClr val="1F2937"/>
                </a:solidFill>
                <a:latin typeface="Calibri"/>
              </a:rPr>
              <a:t>Ausfall/Betrieb</a:t>
            </a:r>
          </a:p>
        </p:txBody>
      </p:sp>
      <p:sp>
        <p:nvSpPr>
          <p:cNvPr id="27" name="Oval 26"/>
          <p:cNvSpPr/>
          <p:nvPr/>
        </p:nvSpPr>
        <p:spPr>
          <a:xfrm>
            <a:off x="3593592" y="2825496"/>
            <a:ext cx="164592" cy="164592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3849624" y="2825496"/>
            <a:ext cx="164592" cy="164592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105656" y="2825496"/>
            <a:ext cx="164592" cy="164592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361688" y="2825496"/>
            <a:ext cx="164592" cy="164592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4617720" y="2825496"/>
            <a:ext cx="164592" cy="164592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148072" y="2624328"/>
            <a:ext cx="6858000" cy="512064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SLA 99,9% + DC Frankfurt/Duesseldorf, DSGVO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01752" y="3172968"/>
            <a:ext cx="11585448" cy="512064"/>
          </a:xfrm>
          <a:prstGeom prst="roundRect">
            <a:avLst/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38912" y="3172968"/>
            <a:ext cx="3017520" cy="512064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50" b="1" i="0">
                <a:solidFill>
                  <a:srgbClr val="1F2937"/>
                </a:solidFill>
                <a:latin typeface="Calibri"/>
              </a:rPr>
              <a:t>Roadmap-Divergenz</a:t>
            </a:r>
          </a:p>
        </p:txBody>
      </p:sp>
      <p:sp>
        <p:nvSpPr>
          <p:cNvPr id="35" name="Oval 34"/>
          <p:cNvSpPr/>
          <p:nvPr/>
        </p:nvSpPr>
        <p:spPr>
          <a:xfrm>
            <a:off x="3593592" y="3374136"/>
            <a:ext cx="164592" cy="164592"/>
          </a:xfrm>
          <a:prstGeom prst="ellipse">
            <a:avLst/>
          </a:prstGeom>
          <a:solidFill>
            <a:srgbClr val="F5C2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3849624" y="3374136"/>
            <a:ext cx="164592" cy="164592"/>
          </a:xfrm>
          <a:prstGeom prst="ellipse">
            <a:avLst/>
          </a:prstGeom>
          <a:solidFill>
            <a:srgbClr val="F5C2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4105656" y="3374136"/>
            <a:ext cx="164592" cy="164592"/>
          </a:xfrm>
          <a:prstGeom prst="ellipse">
            <a:avLst/>
          </a:prstGeom>
          <a:solidFill>
            <a:srgbClr val="F5C2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4361688" y="3374136"/>
            <a:ext cx="164592" cy="164592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4617720" y="3374136"/>
            <a:ext cx="164592" cy="164592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148072" y="3172968"/>
            <a:ext cx="6858000" cy="512064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Standard first, halbjaehrl. Review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01752" y="3721608"/>
            <a:ext cx="11585448" cy="512064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38912" y="3721608"/>
            <a:ext cx="3017520" cy="512064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50" b="1" i="0">
                <a:solidFill>
                  <a:srgbClr val="1F2937"/>
                </a:solidFill>
                <a:latin typeface="Calibri"/>
              </a:rPr>
              <a:t>Datenhoheit / DSGVO</a:t>
            </a:r>
          </a:p>
        </p:txBody>
      </p:sp>
      <p:sp>
        <p:nvSpPr>
          <p:cNvPr id="43" name="Oval 42"/>
          <p:cNvSpPr/>
          <p:nvPr/>
        </p:nvSpPr>
        <p:spPr>
          <a:xfrm>
            <a:off x="3593592" y="3922776"/>
            <a:ext cx="164592" cy="164592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3849624" y="3922776"/>
            <a:ext cx="164592" cy="164592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4105656" y="3922776"/>
            <a:ext cx="164592" cy="164592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4361688" y="3922776"/>
            <a:ext cx="164592" cy="164592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4617720" y="3922776"/>
            <a:ext cx="164592" cy="164592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148072" y="3721608"/>
            <a:ext cx="6858000" cy="512064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DE-Hosting, ADV-Vertrag, verschluesselt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301752" y="4270248"/>
            <a:ext cx="11585448" cy="512064"/>
          </a:xfrm>
          <a:prstGeom prst="roundRect">
            <a:avLst/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38912" y="4270248"/>
            <a:ext cx="3017520" cy="512064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50" b="1" i="0">
                <a:solidFill>
                  <a:srgbClr val="1F2937"/>
                </a:solidFill>
                <a:latin typeface="Calibri"/>
              </a:rPr>
              <a:t>Team-Kompetenzaufbau</a:t>
            </a:r>
          </a:p>
        </p:txBody>
      </p:sp>
      <p:sp>
        <p:nvSpPr>
          <p:cNvPr id="51" name="Oval 50"/>
          <p:cNvSpPr/>
          <p:nvPr/>
        </p:nvSpPr>
        <p:spPr>
          <a:xfrm>
            <a:off x="3593592" y="4471416"/>
            <a:ext cx="164592" cy="164592"/>
          </a:xfrm>
          <a:prstGeom prst="ellipse">
            <a:avLst/>
          </a:prstGeom>
          <a:solidFill>
            <a:srgbClr val="F5C2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3849624" y="4471416"/>
            <a:ext cx="164592" cy="164592"/>
          </a:xfrm>
          <a:prstGeom prst="ellipse">
            <a:avLst/>
          </a:prstGeom>
          <a:solidFill>
            <a:srgbClr val="F5C2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4105656" y="4471416"/>
            <a:ext cx="164592" cy="164592"/>
          </a:xfrm>
          <a:prstGeom prst="ellipse">
            <a:avLst/>
          </a:prstGeom>
          <a:solidFill>
            <a:srgbClr val="F5C2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4361688" y="4471416"/>
            <a:ext cx="164592" cy="164592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4617720" y="4471416"/>
            <a:ext cx="164592" cy="164592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148072" y="4270248"/>
            <a:ext cx="6858000" cy="512064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Ausbau ITSM-Team +1,5-2 FTE, Ausbildung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301752" y="4910327"/>
            <a:ext cx="11585448" cy="1536192"/>
          </a:xfrm>
          <a:prstGeom prst="roundRect">
            <a:avLst/>
          </a:prstGeom>
          <a:solidFill>
            <a:srgbClr val="DDF1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301752" y="4910327"/>
            <a:ext cx="64008" cy="1536192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38912" y="4946903"/>
            <a:ext cx="11311128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200" b="1" i="0">
                <a:solidFill>
                  <a:srgbClr val="1F2937"/>
                </a:solidFill>
                <a:latin typeface="Calibri"/>
              </a:rPr>
              <a:t>Fazit Risiko-Bewertung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38912" y="5230367"/>
            <a:ext cx="11311128" cy="1170432"/>
          </a:xfrm>
          <a:prstGeom prst="rect">
            <a:avLst/>
          </a:prstGeom>
          <a:noFill/>
          <a:ln>
            <a:noFill/>
          </a:ln>
        </p:spPr>
        <p:txBody>
          <a:bodyPr wrap="square" anchor="t" lIns="30000" rIns="30000" tIns="10000" bIns="10000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Kein Risiko ist ein Show-Stopper. Alle Risiken sind mit Standard-Vertraegen (Preisgarantie, DSGVO-ADV, SLA) und Standard-First-Governance beherrschbar. Vergleich mit SAP: aehnliches Vendor-Lock-in-Profil, kein Alleinstellungsmerkmal von SNOW.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Vertragshistorie SNOW 2014-2026 + Referenzkunden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301752" y="960120"/>
            <a:ext cx="11585448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200" b="1" i="0">
                <a:solidFill>
                  <a:srgbClr val="F07F12"/>
                </a:solidFill>
                <a:latin typeface="Calibri"/>
              </a:rPr>
              <a:t>Vertragsstufen bei STIHL und Referenzkunden im Markt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01752" y="1234440"/>
            <a:ext cx="11585448" cy="237744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67512" y="3246120"/>
            <a:ext cx="10853928" cy="18288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57784" y="2904892"/>
            <a:ext cx="219456" cy="341227"/>
          </a:xfrm>
          <a:prstGeom prst="round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76072" y="2813452"/>
            <a:ext cx="182880" cy="182880"/>
          </a:xfrm>
          <a:prstGeom prst="ellipse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-109728" y="2539132"/>
            <a:ext cx="1554480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900" b="1" i="0">
                <a:solidFill>
                  <a:srgbClr val="2C3E50"/>
                </a:solidFill>
                <a:latin typeface="Calibri"/>
              </a:rPr>
              <a:t>180 k€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-109728" y="3319272"/>
            <a:ext cx="1554480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000" b="1" i="0">
                <a:solidFill>
                  <a:srgbClr val="1F2937"/>
                </a:solidFill>
                <a:latin typeface="Calibri"/>
              </a:rPr>
              <a:t>2014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366771" y="2753236"/>
            <a:ext cx="219456" cy="492883"/>
          </a:xfrm>
          <a:prstGeom prst="round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385059" y="2661796"/>
            <a:ext cx="182880" cy="182880"/>
          </a:xfrm>
          <a:prstGeom prst="ellipse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99259" y="2387476"/>
            <a:ext cx="1554480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900" b="1" i="0">
                <a:solidFill>
                  <a:srgbClr val="2C3E50"/>
                </a:solidFill>
                <a:latin typeface="Calibri"/>
              </a:rPr>
              <a:t>260 k€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99259" y="3319272"/>
            <a:ext cx="1554480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000" b="1" i="0">
                <a:solidFill>
                  <a:srgbClr val="1F2937"/>
                </a:solidFill>
                <a:latin typeface="Calibri"/>
              </a:rPr>
              <a:t>2016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75759" y="2601579"/>
            <a:ext cx="219456" cy="644540"/>
          </a:xfrm>
          <a:prstGeom prst="round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194047" y="2510139"/>
            <a:ext cx="182880" cy="182880"/>
          </a:xfrm>
          <a:prstGeom prst="ellipse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08247" y="2235819"/>
            <a:ext cx="1554480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900" b="1" i="0">
                <a:solidFill>
                  <a:srgbClr val="2C3E50"/>
                </a:solidFill>
                <a:latin typeface="Calibri"/>
              </a:rPr>
              <a:t>340 k€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08247" y="3319272"/>
            <a:ext cx="1554480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000" b="1" i="0">
                <a:solidFill>
                  <a:srgbClr val="1F2937"/>
                </a:solidFill>
                <a:latin typeface="Calibri"/>
              </a:rPr>
              <a:t>2018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84747" y="2468880"/>
            <a:ext cx="219456" cy="777240"/>
          </a:xfrm>
          <a:prstGeom prst="round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003036" y="2377440"/>
            <a:ext cx="182880" cy="182880"/>
          </a:xfrm>
          <a:prstGeom prst="ellipse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317236" y="2103120"/>
            <a:ext cx="1554480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900" b="1" i="0">
                <a:solidFill>
                  <a:srgbClr val="2C3E50"/>
                </a:solidFill>
                <a:latin typeface="Calibri"/>
              </a:rPr>
              <a:t>410 k€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17236" y="3319272"/>
            <a:ext cx="1554480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000" b="1" i="0">
                <a:solidFill>
                  <a:srgbClr val="1F2937"/>
                </a:solidFill>
                <a:latin typeface="Calibri"/>
              </a:rPr>
              <a:t>2020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793736" y="2317223"/>
            <a:ext cx="219456" cy="928896"/>
          </a:xfrm>
          <a:prstGeom prst="round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812024" y="2225783"/>
            <a:ext cx="182880" cy="182880"/>
          </a:xfrm>
          <a:prstGeom prst="ellipse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126224" y="1951463"/>
            <a:ext cx="1554480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900" b="1" i="0">
                <a:solidFill>
                  <a:srgbClr val="2C3E50"/>
                </a:solidFill>
                <a:latin typeface="Calibri"/>
              </a:rPr>
              <a:t>490 k€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26224" y="3319272"/>
            <a:ext cx="1554480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000" b="1" i="0">
                <a:solidFill>
                  <a:srgbClr val="1F2937"/>
                </a:solidFill>
                <a:latin typeface="Calibri"/>
              </a:rPr>
              <a:t>2022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602724" y="2184523"/>
            <a:ext cx="219456" cy="1061596"/>
          </a:xfrm>
          <a:prstGeom prst="round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621012" y="2093083"/>
            <a:ext cx="182880" cy="182880"/>
          </a:xfrm>
          <a:prstGeom prst="ellipse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935212" y="1818763"/>
            <a:ext cx="1554480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900" b="1" i="0">
                <a:solidFill>
                  <a:srgbClr val="2C3E50"/>
                </a:solidFill>
                <a:latin typeface="Calibri"/>
              </a:rPr>
              <a:t>560 k€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935212" y="3319272"/>
            <a:ext cx="1554480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000" b="1" i="0">
                <a:solidFill>
                  <a:srgbClr val="1F2937"/>
                </a:solidFill>
                <a:latin typeface="Calibri"/>
              </a:rPr>
              <a:t>2024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1411712" y="1691640"/>
            <a:ext cx="219456" cy="1554480"/>
          </a:xfrm>
          <a:prstGeom prst="round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1430000" y="1600200"/>
            <a:ext cx="182880" cy="182880"/>
          </a:xfrm>
          <a:prstGeom prst="ellipse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744200" y="1325880"/>
            <a:ext cx="1554480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900" b="1" i="0">
                <a:solidFill>
                  <a:srgbClr val="2C3E50"/>
                </a:solidFill>
                <a:latin typeface="Calibri"/>
              </a:rPr>
              <a:t>820 k€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744200" y="3319272"/>
            <a:ext cx="1554480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000" b="1" i="0">
                <a:solidFill>
                  <a:srgbClr val="1F2937"/>
                </a:solidFill>
                <a:latin typeface="Calibri"/>
              </a:rPr>
              <a:t>2026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01752" y="3840480"/>
            <a:ext cx="11585448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150" b="1" i="0">
                <a:solidFill>
                  <a:srgbClr val="F07F12"/>
                </a:solidFill>
                <a:latin typeface="Calibri"/>
              </a:rPr>
              <a:t>Deutsche Referenzkunden ServiceNow (Grosskonzerne)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01752" y="4133088"/>
            <a:ext cx="1368171" cy="777240"/>
          </a:xfrm>
          <a:prstGeom prst="roundRect">
            <a:avLst/>
          </a:prstGeom>
          <a:solidFill>
            <a:srgbClr val="009D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01752" y="4133088"/>
            <a:ext cx="1368171" cy="77724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SIEMENS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01752" y="4928616"/>
            <a:ext cx="1368171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lIns="30000" rIns="30000" tIns="10000" bIns="10000">
            <a:spAutoFit/>
          </a:bodyPr>
          <a:lstStyle/>
          <a:p>
            <a:pPr algn="ctr"/>
            <a:r>
              <a:rPr sz="800" b="0" i="1">
                <a:solidFill>
                  <a:srgbClr val="4B5563"/>
                </a:solidFill>
                <a:latin typeface="Calibri"/>
              </a:rPr>
              <a:t>Industrie / Tech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761363" y="4133088"/>
            <a:ext cx="1368171" cy="777240"/>
          </a:xfrm>
          <a:prstGeom prst="roundRect">
            <a:avLst/>
          </a:prstGeom>
          <a:solidFill>
            <a:srgbClr val="0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761363" y="4133088"/>
            <a:ext cx="1368171" cy="77724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SAP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761363" y="4928616"/>
            <a:ext cx="1368171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lIns="30000" rIns="30000" tIns="10000" bIns="10000">
            <a:spAutoFit/>
          </a:bodyPr>
          <a:lstStyle/>
          <a:p>
            <a:pPr algn="ctr"/>
            <a:r>
              <a:rPr sz="800" b="0" i="1">
                <a:solidFill>
                  <a:srgbClr val="4B5563"/>
                </a:solidFill>
                <a:latin typeface="Calibri"/>
              </a:rPr>
              <a:t>Software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220974" y="4133088"/>
            <a:ext cx="1368171" cy="777240"/>
          </a:xfrm>
          <a:prstGeom prst="roundRect">
            <a:avLst/>
          </a:prstGeom>
          <a:solidFill>
            <a:srgbClr val="0037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220974" y="4133088"/>
            <a:ext cx="1368171" cy="77724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Allianz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220974" y="4928616"/>
            <a:ext cx="1368171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lIns="30000" rIns="30000" tIns="10000" bIns="10000">
            <a:spAutoFit/>
          </a:bodyPr>
          <a:lstStyle/>
          <a:p>
            <a:pPr algn="ctr"/>
            <a:r>
              <a:rPr sz="800" b="0" i="1">
                <a:solidFill>
                  <a:srgbClr val="4B5563"/>
                </a:solidFill>
                <a:latin typeface="Calibri"/>
              </a:rPr>
              <a:t>Versicherung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680585" y="4133088"/>
            <a:ext cx="1368171" cy="777240"/>
          </a:xfrm>
          <a:prstGeom prst="roundRect">
            <a:avLst/>
          </a:prstGeom>
          <a:solidFill>
            <a:srgbClr val="0018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680585" y="4133088"/>
            <a:ext cx="1368171" cy="77724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Deutsche Bank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680585" y="4928616"/>
            <a:ext cx="1368171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lIns="30000" rIns="30000" tIns="10000" bIns="10000">
            <a:spAutoFit/>
          </a:bodyPr>
          <a:lstStyle/>
          <a:p>
            <a:pPr algn="ctr"/>
            <a:r>
              <a:rPr sz="800" b="0" i="1">
                <a:solidFill>
                  <a:srgbClr val="4B5563"/>
                </a:solidFill>
                <a:latin typeface="Calibri"/>
              </a:rPr>
              <a:t>Banking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140196" y="4133088"/>
            <a:ext cx="1368171" cy="777240"/>
          </a:xfrm>
          <a:prstGeom prst="roundRect">
            <a:avLst/>
          </a:prstGeom>
          <a:solidFill>
            <a:srgbClr val="E200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140196" y="4133088"/>
            <a:ext cx="1368171" cy="77724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140196" y="4928616"/>
            <a:ext cx="1368171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lIns="30000" rIns="30000" tIns="10000" bIns="10000">
            <a:spAutoFit/>
          </a:bodyPr>
          <a:lstStyle/>
          <a:p>
            <a:pPr algn="ctr"/>
            <a:r>
              <a:rPr sz="800" b="0" i="1">
                <a:solidFill>
                  <a:srgbClr val="4B5563"/>
                </a:solidFill>
                <a:latin typeface="Calibri"/>
              </a:rPr>
              <a:t>Deutsche Telekom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7599807" y="4133088"/>
            <a:ext cx="1368171" cy="777240"/>
          </a:xfrm>
          <a:prstGeom prst="round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599807" y="4133088"/>
            <a:ext cx="1368171" cy="77724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BOSCH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599807" y="4928616"/>
            <a:ext cx="1368171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lIns="30000" rIns="30000" tIns="10000" bIns="10000">
            <a:spAutoFit/>
          </a:bodyPr>
          <a:lstStyle/>
          <a:p>
            <a:pPr algn="ctr"/>
            <a:r>
              <a:rPr sz="800" b="0" i="1">
                <a:solidFill>
                  <a:srgbClr val="4B5563"/>
                </a:solidFill>
                <a:latin typeface="Calibri"/>
              </a:rPr>
              <a:t>Industrie / Auto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9059418" y="4133088"/>
            <a:ext cx="1368171" cy="777240"/>
          </a:xfrm>
          <a:prstGeom prst="round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059418" y="4133088"/>
            <a:ext cx="1368171" cy="77724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Mercedes-Benz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059418" y="4928616"/>
            <a:ext cx="1368171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lIns="30000" rIns="30000" tIns="10000" bIns="10000">
            <a:spAutoFit/>
          </a:bodyPr>
          <a:lstStyle/>
          <a:p>
            <a:pPr algn="ctr"/>
            <a:r>
              <a:rPr sz="800" b="0" i="1">
                <a:solidFill>
                  <a:srgbClr val="4B5563"/>
                </a:solidFill>
                <a:latin typeface="Calibri"/>
              </a:rPr>
              <a:t>Automotive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10519029" y="4133088"/>
            <a:ext cx="1368171" cy="777240"/>
          </a:xfrm>
          <a:prstGeom prst="roundRect">
            <a:avLst/>
          </a:prstGeom>
          <a:solidFill>
            <a:srgbClr val="001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0519029" y="4133088"/>
            <a:ext cx="1368171" cy="77724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Volkswagen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519029" y="4928616"/>
            <a:ext cx="1368171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lIns="30000" rIns="30000" tIns="10000" bIns="10000">
            <a:spAutoFit/>
          </a:bodyPr>
          <a:lstStyle/>
          <a:p>
            <a:pPr algn="ctr"/>
            <a:r>
              <a:rPr sz="800" b="0" i="1">
                <a:solidFill>
                  <a:srgbClr val="4B5563"/>
                </a:solidFill>
                <a:latin typeface="Calibri"/>
              </a:rPr>
              <a:t>Automotive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301752" y="5230368"/>
            <a:ext cx="11585448" cy="502920"/>
          </a:xfrm>
          <a:prstGeom prst="roundRect">
            <a:avLst/>
          </a:prstGeom>
          <a:solidFill>
            <a:srgbClr val="DDF1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301752" y="5230368"/>
            <a:ext cx="64008" cy="50292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38912" y="5230368"/>
            <a:ext cx="11356848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00" b="0" i="1">
                <a:solidFill>
                  <a:srgbClr val="1F2937"/>
                </a:solidFill>
                <a:latin typeface="Calibri"/>
              </a:rPr>
              <a:t>Fazit: 12 Jahre bewaehrter STIHL-Partner + breite deutsche Referenzbasis senken Risiko einer strategischen Fehlentscheidung.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Lockin-Effekt · EAM Plattformstrategie · AI Vibe Coding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301752" y="960120"/>
            <a:ext cx="3770375" cy="548640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01752" y="960120"/>
            <a:ext cx="3770375" cy="594360"/>
          </a:xfrm>
          <a:prstGeom prst="round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93192" y="987552"/>
            <a:ext cx="3587495" cy="29260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Lockin-Effekt (Vergleich SAP)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3192" y="1289304"/>
            <a:ext cx="3587495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50" b="0" i="1">
                <a:solidFill>
                  <a:srgbClr val="FFFFFF"/>
                </a:solidFill>
                <a:latin typeface="Calibri"/>
              </a:rPr>
              <a:t>Wie stark bindet uns SNOW?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1645920"/>
            <a:ext cx="3550919" cy="9144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B9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1480" y="1645920"/>
            <a:ext cx="54864" cy="914400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0352" y="1664208"/>
            <a:ext cx="3404616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00" b="1" i="0">
                <a:solidFill>
                  <a:srgbClr val="B91C1C"/>
                </a:solidFill>
                <a:latin typeface="Calibri"/>
              </a:rPr>
              <a:t>Vergleich mit SAP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" y="1901952"/>
            <a:ext cx="3404616" cy="640080"/>
          </a:xfrm>
          <a:prstGeom prst="rect">
            <a:avLst/>
          </a:prstGeom>
          <a:noFill/>
          <a:ln>
            <a:noFill/>
          </a:ln>
        </p:spPr>
        <p:txBody>
          <a:bodyPr wrap="square" anchor="t" lIns="30000" rIns="30000" tIns="10000" bIns="10000">
            <a:spAutoFit/>
          </a:bodyPr>
          <a:lstStyle/>
          <a:p>
            <a:pPr algn="l"/>
            <a:r>
              <a:rPr sz="900" b="0" i="0">
                <a:solidFill>
                  <a:srgbClr val="1F2937"/>
                </a:solidFill>
                <a:latin typeface="Calibri"/>
              </a:rPr>
              <a:t>SAP-Lockin bei STIHL seit Jahrzehnten akzeptiert — SNOW-Lockin ist strukturell aehnlich, aber mit deutlich juengerer Historie.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1480" y="2651760"/>
            <a:ext cx="3550919" cy="9144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B9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11480" y="2651760"/>
            <a:ext cx="54864" cy="914400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0352" y="2670048"/>
            <a:ext cx="3404616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00" b="1" i="0">
                <a:solidFill>
                  <a:srgbClr val="B91C1C"/>
                </a:solidFill>
                <a:latin typeface="Calibri"/>
              </a:rPr>
              <a:t>Datenexport-Faehigkeit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" y="2907792"/>
            <a:ext cx="3404616" cy="640080"/>
          </a:xfrm>
          <a:prstGeom prst="rect">
            <a:avLst/>
          </a:prstGeom>
          <a:noFill/>
          <a:ln>
            <a:noFill/>
          </a:ln>
        </p:spPr>
        <p:txBody>
          <a:bodyPr wrap="square" anchor="t" lIns="30000" rIns="30000" tIns="10000" bIns="10000">
            <a:spAutoFit/>
          </a:bodyPr>
          <a:lstStyle/>
          <a:p>
            <a:pPr algn="l"/>
            <a:r>
              <a:rPr sz="900" b="0" i="0">
                <a:solidFill>
                  <a:srgbClr val="1F2937"/>
                </a:solidFill>
                <a:latin typeface="Calibri"/>
              </a:rPr>
              <a:t>SNOW bietet Standard-Exports (JSON/CSV/APIs). Daten koennen jederzeit gezogen werden.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1480" y="3657600"/>
            <a:ext cx="3550919" cy="9144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B9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11480" y="3657600"/>
            <a:ext cx="54864" cy="914400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0352" y="3675887"/>
            <a:ext cx="3404616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00" b="1" i="0">
                <a:solidFill>
                  <a:srgbClr val="B91C1C"/>
                </a:solidFill>
                <a:latin typeface="Calibri"/>
              </a:rPr>
              <a:t>Migrations-Pfade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0352" y="3913632"/>
            <a:ext cx="3404616" cy="640080"/>
          </a:xfrm>
          <a:prstGeom prst="rect">
            <a:avLst/>
          </a:prstGeom>
          <a:noFill/>
          <a:ln>
            <a:noFill/>
          </a:ln>
        </p:spPr>
        <p:txBody>
          <a:bodyPr wrap="square" anchor="t" lIns="30000" rIns="30000" tIns="10000" bIns="10000">
            <a:spAutoFit/>
          </a:bodyPr>
          <a:lstStyle/>
          <a:p>
            <a:pPr algn="l"/>
            <a:r>
              <a:rPr sz="900" b="0" i="0">
                <a:solidFill>
                  <a:srgbClr val="1F2937"/>
                </a:solidFill>
                <a:latin typeface="Calibri"/>
              </a:rPr>
              <a:t>Third-Party-Migrationstools verfuegbar (SPM -&gt; Planisware, PPM Standard-Formate).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11480" y="4663440"/>
            <a:ext cx="3550919" cy="9144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B9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11480" y="4663440"/>
            <a:ext cx="54864" cy="914400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30352" y="4681728"/>
            <a:ext cx="3404616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00" b="1" i="0">
                <a:solidFill>
                  <a:srgbClr val="B91C1C"/>
                </a:solidFill>
                <a:latin typeface="Calibri"/>
              </a:rPr>
              <a:t>Vertrags-Klauseln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352" y="4919472"/>
            <a:ext cx="3404616" cy="640080"/>
          </a:xfrm>
          <a:prstGeom prst="rect">
            <a:avLst/>
          </a:prstGeom>
          <a:noFill/>
          <a:ln>
            <a:noFill/>
          </a:ln>
        </p:spPr>
        <p:txBody>
          <a:bodyPr wrap="square" anchor="t" lIns="30000" rIns="30000" tIns="10000" bIns="10000">
            <a:spAutoFit/>
          </a:bodyPr>
          <a:lstStyle/>
          <a:p>
            <a:pPr algn="l"/>
            <a:r>
              <a:rPr sz="900" b="0" i="0">
                <a:solidFill>
                  <a:srgbClr val="1F2937"/>
                </a:solidFill>
                <a:latin typeface="Calibri"/>
              </a:rPr>
              <a:t>Ausstiegs-/Kuendigungsklauseln + Preisgarantien pro Renewal-Zyklus vertraglich absichern.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11480" y="5669280"/>
            <a:ext cx="3550919" cy="914400"/>
          </a:xfrm>
          <a:prstGeom prst="roundRect">
            <a:avLst/>
          </a:prstGeom>
          <a:solidFill>
            <a:srgbClr val="DDF1DE"/>
          </a:solidFill>
          <a:ln w="635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11480" y="5669280"/>
            <a:ext cx="54864" cy="91440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30352" y="5687568"/>
            <a:ext cx="3404616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00" b="1" i="0">
                <a:solidFill>
                  <a:srgbClr val="2E7D32"/>
                </a:solidFill>
                <a:latin typeface="Calibri"/>
              </a:rPr>
              <a:t>Fazit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0352" y="5925312"/>
            <a:ext cx="3404616" cy="640080"/>
          </a:xfrm>
          <a:prstGeom prst="rect">
            <a:avLst/>
          </a:prstGeom>
          <a:noFill/>
          <a:ln>
            <a:noFill/>
          </a:ln>
        </p:spPr>
        <p:txBody>
          <a:bodyPr wrap="square" anchor="t" lIns="30000" rIns="30000" tIns="10000" bIns="10000">
            <a:spAutoFit/>
          </a:bodyPr>
          <a:lstStyle/>
          <a:p>
            <a:pPr algn="l"/>
            <a:r>
              <a:rPr sz="900" b="0" i="0">
                <a:solidFill>
                  <a:srgbClr val="1F2937"/>
                </a:solidFill>
                <a:latin typeface="Calibri"/>
              </a:rPr>
              <a:t>Lockin vorhanden aber im Marktvergleich moderat — kein K.O.-Kriterium.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209288" y="960120"/>
            <a:ext cx="3770375" cy="548640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4209288" y="960120"/>
            <a:ext cx="3770375" cy="594360"/>
          </a:xfrm>
          <a:prstGeom prst="round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00728" y="987552"/>
            <a:ext cx="3587495" cy="29260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EAM Plattform-Strategie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00728" y="1289304"/>
            <a:ext cx="3587495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50" b="0" i="1">
                <a:solidFill>
                  <a:srgbClr val="FFFFFF"/>
                </a:solidFill>
                <a:latin typeface="Calibri"/>
              </a:rPr>
              <a:t>Wie fuegt sich SNOW in unsere IT-Architektur?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319016" y="1645920"/>
            <a:ext cx="3550919" cy="9144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2C3E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319016" y="1645920"/>
            <a:ext cx="54864" cy="914400"/>
          </a:xfrm>
          <a:prstGeom prst="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437888" y="1664208"/>
            <a:ext cx="3404616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00" b="1" i="0">
                <a:solidFill>
                  <a:srgbClr val="2C3E50"/>
                </a:solidFill>
                <a:latin typeface="Calibri"/>
              </a:rPr>
              <a:t>Konsolidierungs-Ziel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437888" y="1901952"/>
            <a:ext cx="3404616" cy="640080"/>
          </a:xfrm>
          <a:prstGeom prst="rect">
            <a:avLst/>
          </a:prstGeom>
          <a:noFill/>
          <a:ln>
            <a:noFill/>
          </a:ln>
        </p:spPr>
        <p:txBody>
          <a:bodyPr wrap="square" anchor="t" lIns="30000" rIns="30000" tIns="10000" bIns="10000">
            <a:spAutoFit/>
          </a:bodyPr>
          <a:lstStyle/>
          <a:p>
            <a:pPr algn="l"/>
            <a:r>
              <a:rPr sz="900" b="0" i="0">
                <a:solidFill>
                  <a:srgbClr val="1F2937"/>
                </a:solidFill>
                <a:latin typeface="Calibri"/>
              </a:rPr>
              <a:t>STIHL EAM-Strategie: weniger, aber strategische Plattformen (SAP, SNOW, M365).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319016" y="2651760"/>
            <a:ext cx="3550919" cy="9144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2C3E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319016" y="2651760"/>
            <a:ext cx="54864" cy="914400"/>
          </a:xfrm>
          <a:prstGeom prst="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437888" y="2670048"/>
            <a:ext cx="3404616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00" b="1" i="0">
                <a:solidFill>
                  <a:srgbClr val="2C3E50"/>
                </a:solidFill>
                <a:latin typeface="Calibri"/>
              </a:rPr>
              <a:t>Plattform-Rolle SNOW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437888" y="2907792"/>
            <a:ext cx="3404616" cy="640080"/>
          </a:xfrm>
          <a:prstGeom prst="rect">
            <a:avLst/>
          </a:prstGeom>
          <a:noFill/>
          <a:ln>
            <a:noFill/>
          </a:ln>
        </p:spPr>
        <p:txBody>
          <a:bodyPr wrap="square" anchor="t" lIns="30000" rIns="30000" tIns="10000" bIns="10000">
            <a:spAutoFit/>
          </a:bodyPr>
          <a:lstStyle/>
          <a:p>
            <a:pPr algn="l"/>
            <a:r>
              <a:rPr sz="900" b="0" i="0">
                <a:solidFill>
                  <a:srgbClr val="1F2937"/>
                </a:solidFill>
                <a:latin typeface="Calibri"/>
              </a:rPr>
              <a:t>SNOW = Workflow-Plattform fuer bereichs- uebergreifende Prozesse (ITSM heute, SPM/HR/CSM morgen).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319016" y="3657600"/>
            <a:ext cx="3550919" cy="9144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2C3E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319016" y="3657600"/>
            <a:ext cx="54864" cy="914400"/>
          </a:xfrm>
          <a:prstGeom prst="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437888" y="3675887"/>
            <a:ext cx="3404616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00" b="1" i="0">
                <a:solidFill>
                  <a:srgbClr val="2C3E50"/>
                </a:solidFill>
                <a:latin typeface="Calibri"/>
              </a:rPr>
              <a:t>Interoperabilitaet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437888" y="3913632"/>
            <a:ext cx="3404616" cy="640080"/>
          </a:xfrm>
          <a:prstGeom prst="rect">
            <a:avLst/>
          </a:prstGeom>
          <a:noFill/>
          <a:ln>
            <a:noFill/>
          </a:ln>
        </p:spPr>
        <p:txBody>
          <a:bodyPr wrap="square" anchor="t" lIns="30000" rIns="30000" tIns="10000" bIns="10000">
            <a:spAutoFit/>
          </a:bodyPr>
          <a:lstStyle/>
          <a:p>
            <a:pPr algn="l"/>
            <a:r>
              <a:rPr sz="900" b="0" i="0">
                <a:solidFill>
                  <a:srgbClr val="1F2937"/>
                </a:solidFill>
                <a:latin typeface="Calibri"/>
              </a:rPr>
              <a:t>Native SAP-Integrationen; klare Rollenverteilung Daten-Systeme (SAP) vs Prozess-Systeme (SNOW).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319016" y="4663440"/>
            <a:ext cx="3550919" cy="9144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2C3E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319016" y="4663440"/>
            <a:ext cx="54864" cy="914400"/>
          </a:xfrm>
          <a:prstGeom prst="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437888" y="4681728"/>
            <a:ext cx="3404616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00" b="1" i="0">
                <a:solidFill>
                  <a:srgbClr val="2C3E50"/>
                </a:solidFill>
                <a:latin typeface="Calibri"/>
              </a:rPr>
              <a:t>Governance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437888" y="4919472"/>
            <a:ext cx="3404616" cy="640080"/>
          </a:xfrm>
          <a:prstGeom prst="rect">
            <a:avLst/>
          </a:prstGeom>
          <a:noFill/>
          <a:ln>
            <a:noFill/>
          </a:ln>
        </p:spPr>
        <p:txBody>
          <a:bodyPr wrap="square" anchor="t" lIns="30000" rIns="30000" tIns="10000" bIns="10000">
            <a:spAutoFit/>
          </a:bodyPr>
          <a:lstStyle/>
          <a:p>
            <a:pPr algn="l"/>
            <a:r>
              <a:rPr sz="900" b="0" i="0">
                <a:solidFill>
                  <a:srgbClr val="1F2937"/>
                </a:solidFill>
                <a:latin typeface="Calibri"/>
              </a:rPr>
              <a:t>Architektur-Board-Genehmigung fuer jede neue SNOW-Erweiterung — verhindert Wildwuchs.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319016" y="5669280"/>
            <a:ext cx="3550919" cy="914400"/>
          </a:xfrm>
          <a:prstGeom prst="roundRect">
            <a:avLst/>
          </a:prstGeom>
          <a:solidFill>
            <a:srgbClr val="DDF1DE"/>
          </a:solidFill>
          <a:ln w="635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4319016" y="5669280"/>
            <a:ext cx="54864" cy="91440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437888" y="5687568"/>
            <a:ext cx="3404616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00" b="1" i="0">
                <a:solidFill>
                  <a:srgbClr val="2E7D32"/>
                </a:solidFill>
                <a:latin typeface="Calibri"/>
              </a:rPr>
              <a:t>Fazit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437888" y="5925312"/>
            <a:ext cx="3404616" cy="640080"/>
          </a:xfrm>
          <a:prstGeom prst="rect">
            <a:avLst/>
          </a:prstGeom>
          <a:noFill/>
          <a:ln>
            <a:noFill/>
          </a:ln>
        </p:spPr>
        <p:txBody>
          <a:bodyPr wrap="square" anchor="t" lIns="30000" rIns="30000" tIns="10000" bIns="10000">
            <a:spAutoFit/>
          </a:bodyPr>
          <a:lstStyle/>
          <a:p>
            <a:pPr algn="l"/>
            <a:r>
              <a:rPr sz="900" b="0" i="0">
                <a:solidFill>
                  <a:srgbClr val="1F2937"/>
                </a:solidFill>
                <a:latin typeface="Calibri"/>
              </a:rPr>
              <a:t>SNOW passt strategisch in unsere EAM-Roadmap und reduziert Tool-Vielfalt.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8116824" y="960120"/>
            <a:ext cx="3770375" cy="548640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8116824" y="960120"/>
            <a:ext cx="3770375" cy="594360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208264" y="987552"/>
            <a:ext cx="3587495" cy="29260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AI Vibe Coding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208264" y="1289304"/>
            <a:ext cx="3587495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50" b="0" i="1">
                <a:solidFill>
                  <a:srgbClr val="FFFFFF"/>
                </a:solidFill>
                <a:latin typeface="Calibri"/>
              </a:rPr>
              <a:t>Vendor-Neutralitaet bei GenAI?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8226551" y="1645920"/>
            <a:ext cx="3550919" cy="9144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8226551" y="1645920"/>
            <a:ext cx="54864" cy="91440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345424" y="1664208"/>
            <a:ext cx="3404616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00" b="1" i="0">
                <a:solidFill>
                  <a:srgbClr val="2E7D32"/>
                </a:solidFill>
                <a:latin typeface="Calibri"/>
              </a:rPr>
              <a:t>Ist-Zustand SNOW AI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345424" y="1901952"/>
            <a:ext cx="3404616" cy="640080"/>
          </a:xfrm>
          <a:prstGeom prst="rect">
            <a:avLst/>
          </a:prstGeom>
          <a:noFill/>
          <a:ln>
            <a:noFill/>
          </a:ln>
        </p:spPr>
        <p:txBody>
          <a:bodyPr wrap="square" anchor="t" lIns="30000" rIns="30000" tIns="10000" bIns="10000">
            <a:spAutoFit/>
          </a:bodyPr>
          <a:lstStyle/>
          <a:p>
            <a:pPr algn="l"/>
            <a:r>
              <a:rPr sz="900" b="0" i="0">
                <a:solidFill>
                  <a:srgbClr val="1F2937"/>
                </a:solidFill>
                <a:latin typeface="Calibri"/>
              </a:rPr>
              <a:t>Now Assist als eingebauter AI-Assistent (basiert auf Multi-Model — u.a. Azure OpenAI, eigene LLMs).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8226551" y="2651760"/>
            <a:ext cx="3550919" cy="9144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8226551" y="2651760"/>
            <a:ext cx="54864" cy="91440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345424" y="2670048"/>
            <a:ext cx="3404616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00" b="1" i="0">
                <a:solidFill>
                  <a:srgbClr val="2E7D32"/>
                </a:solidFill>
                <a:latin typeface="Calibri"/>
              </a:rPr>
              <a:t>Vendor-Wahl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345424" y="2907792"/>
            <a:ext cx="3404616" cy="640080"/>
          </a:xfrm>
          <a:prstGeom prst="rect">
            <a:avLst/>
          </a:prstGeom>
          <a:noFill/>
          <a:ln>
            <a:noFill/>
          </a:ln>
        </p:spPr>
        <p:txBody>
          <a:bodyPr wrap="square" anchor="t" lIns="30000" rIns="30000" tIns="10000" bIns="10000">
            <a:spAutoFit/>
          </a:bodyPr>
          <a:lstStyle/>
          <a:p>
            <a:pPr algn="l"/>
            <a:r>
              <a:rPr sz="900" b="0" i="0">
                <a:solidFill>
                  <a:srgbClr val="1F2937"/>
                </a:solidFill>
                <a:latin typeface="Calibri"/>
              </a:rPr>
              <a:t>SNOW erlaubt Wahl des LLM-Providers (Azure, Google, Anthropic) — kein Zwang zu einem KI-Anbieter.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8226551" y="3657600"/>
            <a:ext cx="3550919" cy="9144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8226551" y="3657600"/>
            <a:ext cx="54864" cy="91440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345424" y="3675887"/>
            <a:ext cx="3404616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00" b="1" i="0">
                <a:solidFill>
                  <a:srgbClr val="2E7D32"/>
                </a:solidFill>
                <a:latin typeface="Calibri"/>
              </a:rPr>
              <a:t>Datenhoheit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345424" y="3913632"/>
            <a:ext cx="3404616" cy="640080"/>
          </a:xfrm>
          <a:prstGeom prst="rect">
            <a:avLst/>
          </a:prstGeom>
          <a:noFill/>
          <a:ln>
            <a:noFill/>
          </a:ln>
        </p:spPr>
        <p:txBody>
          <a:bodyPr wrap="square" anchor="t" lIns="30000" rIns="30000" tIns="10000" bIns="10000">
            <a:spAutoFit/>
          </a:bodyPr>
          <a:lstStyle/>
          <a:p>
            <a:pPr algn="l"/>
            <a:r>
              <a:rPr sz="900" b="0" i="0">
                <a:solidFill>
                  <a:srgbClr val="1F2937"/>
                </a:solidFill>
                <a:latin typeface="Calibri"/>
              </a:rPr>
              <a:t>AI-Verarbeitung optional in EU-Rechenzentren; STIHL-Daten bleiben unter Kontrolle.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8226551" y="4663440"/>
            <a:ext cx="3550919" cy="9144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8226551" y="4663440"/>
            <a:ext cx="54864" cy="91440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8345424" y="4681728"/>
            <a:ext cx="3404616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00" b="1" i="0">
                <a:solidFill>
                  <a:srgbClr val="2E7D32"/>
                </a:solidFill>
                <a:latin typeface="Calibri"/>
              </a:rPr>
              <a:t>Ergaenzung Multi-AI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345424" y="4919472"/>
            <a:ext cx="3404616" cy="640080"/>
          </a:xfrm>
          <a:prstGeom prst="rect">
            <a:avLst/>
          </a:prstGeom>
          <a:noFill/>
          <a:ln>
            <a:noFill/>
          </a:ln>
        </p:spPr>
        <p:txBody>
          <a:bodyPr wrap="square" anchor="t" lIns="30000" rIns="30000" tIns="10000" bIns="10000">
            <a:spAutoFit/>
          </a:bodyPr>
          <a:lstStyle/>
          <a:p>
            <a:pPr algn="l"/>
            <a:r>
              <a:rPr sz="900" b="0" i="0">
                <a:solidFill>
                  <a:srgbClr val="1F2937"/>
                </a:solidFill>
                <a:latin typeface="Calibri"/>
              </a:rPr>
              <a:t>STIHL kann parallel eigene KI-Tools (z.B. Copilot, Claude, on-prem) einsetzen — SNOW blockiert das nicht.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8226551" y="5669280"/>
            <a:ext cx="3550919" cy="914400"/>
          </a:xfrm>
          <a:prstGeom prst="roundRect">
            <a:avLst/>
          </a:prstGeom>
          <a:solidFill>
            <a:srgbClr val="DDF1DE"/>
          </a:solidFill>
          <a:ln w="635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8226551" y="5669280"/>
            <a:ext cx="54864" cy="91440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8345424" y="5687568"/>
            <a:ext cx="3404616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00" b="1" i="0">
                <a:solidFill>
                  <a:srgbClr val="2E7D32"/>
                </a:solidFill>
                <a:latin typeface="Calibri"/>
              </a:rPr>
              <a:t>Fazit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345424" y="5925312"/>
            <a:ext cx="3404616" cy="640080"/>
          </a:xfrm>
          <a:prstGeom prst="rect">
            <a:avLst/>
          </a:prstGeom>
          <a:noFill/>
          <a:ln>
            <a:noFill/>
          </a:ln>
        </p:spPr>
        <p:txBody>
          <a:bodyPr wrap="square" anchor="t" lIns="30000" rIns="30000" tIns="10000" bIns="10000">
            <a:spAutoFit/>
          </a:bodyPr>
          <a:lstStyle/>
          <a:p>
            <a:pPr algn="l"/>
            <a:r>
              <a:rPr sz="900" b="0" i="0">
                <a:solidFill>
                  <a:srgbClr val="1F2937"/>
                </a:solidFill>
                <a:latin typeface="Calibri"/>
              </a:rPr>
              <a:t>AI-Neutralitaet gegeben — kein Lock-in bei KI-Providern.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ROI-Kalkulation &amp; Empfehlung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301752" y="960120"/>
            <a:ext cx="2814066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01752" y="960120"/>
            <a:ext cx="2814066" cy="274320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01752" y="960120"/>
            <a:ext cx="2814066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NPV 5 Jahre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1752" y="1280160"/>
            <a:ext cx="2814066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2200" b="1" i="0">
                <a:solidFill>
                  <a:srgbClr val="2E7D32"/>
                </a:solidFill>
                <a:latin typeface="Calibri"/>
              </a:rPr>
              <a:t>~ +8,5 M€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" y="1783080"/>
            <a:ext cx="2814066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900" b="0" i="1">
                <a:solidFill>
                  <a:srgbClr val="4B5563"/>
                </a:solidFill>
                <a:latin typeface="Calibri"/>
              </a:rPr>
              <a:t>Base Case, WACC 6 %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25546" y="960120"/>
            <a:ext cx="2814066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225546" y="960120"/>
            <a:ext cx="2814066" cy="274320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25546" y="960120"/>
            <a:ext cx="2814066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IRR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25546" y="1280160"/>
            <a:ext cx="2814066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2200" b="1" i="0">
                <a:solidFill>
                  <a:srgbClr val="2E7D32"/>
                </a:solidFill>
                <a:latin typeface="Calibri"/>
              </a:rPr>
              <a:t>~ 32 %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25546" y="1783080"/>
            <a:ext cx="2814066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900" b="0" i="1">
                <a:solidFill>
                  <a:srgbClr val="4B5563"/>
                </a:solidFill>
                <a:latin typeface="Calibri"/>
              </a:rPr>
              <a:t>ueber Investitionshuerde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49340" y="960120"/>
            <a:ext cx="2814066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07F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149340" y="960120"/>
            <a:ext cx="2814066" cy="274320"/>
          </a:xfrm>
          <a:prstGeom prst="round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49340" y="960120"/>
            <a:ext cx="2814066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Payback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49340" y="1280160"/>
            <a:ext cx="2814066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2200" b="1" i="0">
                <a:solidFill>
                  <a:srgbClr val="F07F12"/>
                </a:solidFill>
                <a:latin typeface="Calibri"/>
              </a:rPr>
              <a:t>~ 3,5 J.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49340" y="1783080"/>
            <a:ext cx="2814066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900" b="0" i="1">
                <a:solidFill>
                  <a:srgbClr val="4B5563"/>
                </a:solidFill>
                <a:latin typeface="Calibri"/>
              </a:rPr>
              <a:t>nach Kickoff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73134" y="960120"/>
            <a:ext cx="2814066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C3E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073134" y="960120"/>
            <a:ext cx="2814066" cy="274320"/>
          </a:xfrm>
          <a:prstGeom prst="round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73134" y="960120"/>
            <a:ext cx="2814066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TCO 5 Jahre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73134" y="1280160"/>
            <a:ext cx="2814066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2200" b="1" i="0">
                <a:solidFill>
                  <a:srgbClr val="2C3E50"/>
                </a:solidFill>
                <a:latin typeface="Calibri"/>
              </a:rPr>
              <a:t>~ 7,0 M€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73134" y="1783080"/>
            <a:ext cx="2814066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900" b="0" i="1">
                <a:solidFill>
                  <a:srgbClr val="4B5563"/>
                </a:solidFill>
                <a:latin typeface="Calibri"/>
              </a:rPr>
              <a:t>einmalig + laufend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01752" y="2240280"/>
            <a:ext cx="11585448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250" b="1" i="0">
                <a:solidFill>
                  <a:srgbClr val="F07F12"/>
                </a:solidFill>
                <a:latin typeface="Calibri"/>
              </a:rPr>
              <a:t>Kosten-Nutzen-Uebersicht (5 Jahre kumuliert, Base Case)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01752" y="2514600"/>
            <a:ext cx="11585448" cy="310896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8912" y="253288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Kosten (TCO)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74152" y="2532888"/>
            <a:ext cx="3675887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r"/>
            <a:r>
              <a:rPr sz="1200" b="1" i="0">
                <a:solidFill>
                  <a:srgbClr val="B91C1C"/>
                </a:solidFill>
                <a:latin typeface="Calibri"/>
              </a:rPr>
              <a:t>- 7,0 M€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01752" y="2862072"/>
            <a:ext cx="11585448" cy="310896"/>
          </a:xfrm>
          <a:prstGeom prst="roundRect">
            <a:avLst/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38912" y="288036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Konsolidierung Tools (5 J.)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74152" y="2880360"/>
            <a:ext cx="3675887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r"/>
            <a:r>
              <a:rPr sz="1200" b="1" i="0">
                <a:solidFill>
                  <a:srgbClr val="2E7D32"/>
                </a:solidFill>
                <a:latin typeface="Calibri"/>
              </a:rPr>
              <a:t>+ 4,7 M€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01752" y="3209544"/>
            <a:ext cx="11585448" cy="310896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38912" y="322783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Konsolidierung Schnittstellen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74152" y="3227832"/>
            <a:ext cx="3675887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r"/>
            <a:r>
              <a:rPr sz="1200" b="1" i="0">
                <a:solidFill>
                  <a:srgbClr val="2E7D32"/>
                </a:solidFill>
                <a:latin typeface="Calibri"/>
              </a:rPr>
              <a:t>+ 1,1 M€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01752" y="3557016"/>
            <a:ext cx="11585448" cy="310896"/>
          </a:xfrm>
          <a:prstGeom prst="roundRect">
            <a:avLst/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38912" y="3575304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Business Value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074152" y="3575304"/>
            <a:ext cx="3675887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r"/>
            <a:r>
              <a:rPr sz="1200" b="1" i="0">
                <a:solidFill>
                  <a:srgbClr val="2E7D32"/>
                </a:solidFill>
                <a:latin typeface="Calibri"/>
              </a:rPr>
              <a:t>+ 11,6 M€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01752" y="3904487"/>
            <a:ext cx="11585448" cy="310896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38912" y="3922775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Flankierende Prozesse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074152" y="3922775"/>
            <a:ext cx="3675887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r"/>
            <a:r>
              <a:rPr sz="1200" b="1" i="0">
                <a:solidFill>
                  <a:srgbClr val="2E7D32"/>
                </a:solidFill>
                <a:latin typeface="Calibri"/>
              </a:rPr>
              <a:t>+ 5,3 M€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01752" y="4251960"/>
            <a:ext cx="11585448" cy="310896"/>
          </a:xfrm>
          <a:prstGeom prst="round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38912" y="427024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Netto-Effekt 5 Jahre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074152" y="4270248"/>
            <a:ext cx="3675887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r"/>
            <a:r>
              <a:rPr sz="1300" b="1" i="0">
                <a:solidFill>
                  <a:srgbClr val="F07F12"/>
                </a:solidFill>
                <a:latin typeface="Calibri"/>
              </a:rPr>
              <a:t>+ 15,7 M€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301752" y="4736592"/>
            <a:ext cx="11585448" cy="1709927"/>
          </a:xfrm>
          <a:prstGeom prst="round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84632" y="4736592"/>
            <a:ext cx="3200400" cy="1709927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★ EMPFEHLUNG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776472" y="4828032"/>
            <a:ext cx="7927848" cy="1527047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Beschluss zur Umsetzung von Szenario A (Full Scope 24 Monate) und Freigabe Detail-Planung / RFP-Prozess. NPV +8,5 M€, IRR 32 %, Payback ~3,5 J. — deutlich ueber Investitions-Huerde. Alle Vorstands-Antraege (2, 3, 4, 6) beantwortet.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Vielen Dank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  <p:tag name="THINKCELLPRESENTATIONDONOTDELETE" val="&lt;?xml version=&quot;1.0&quot; encoding=&quot;UTF-16&quot; standalone=&quot;yes&quot;?&gt;&lt;root reqver=&quot;32687&quot;&gt;&lt;version val=&quot;38650&quot;/&gt;&lt;CPresentation id=&quot;1&quot;&gt;&lt;m_precDefaultOrdinal&gt;&lt;m_bNumberIsYear val=&quot;1&quot;/&gt;&lt;m_chMinusSymbol&gt;-&lt;/m_chMinusSymbol&gt;&lt;m_chDecimalSymbol17909&gt;.&lt;/m_chDecimalSymbol17909&gt;&lt;m_nGroupingDigits17909 val=&quot;3&quot;/&gt;&lt;m_chGroupingSymbol17909&gt;,&lt;/m_chGroupingSymbol17909&gt;&lt;m_yearfmt&gt;&lt;begin val=&quot;0&quot;/&gt;&lt;end val=&quot;4&quot;/&gt;&lt;/m_yearfmt&gt;&lt;/m_precDefaultOrdinal&gt;&lt;m_precDefaultNumber&gt;&lt;m_bNumberIsYear val=&quot;1&quot;/&gt;&lt;m_chMinusSymbol&gt;-&lt;/m_chMinusSymbol&gt;&lt;m_chDecimalSymbol17909&gt;.&lt;/m_chDecimalSymbol17909&gt;&lt;m_nGroupingDigits17909 val=&quot;3&quot;/&gt;&lt;m_chGroupingSymbol17909&gt;,&lt;/m_chGroupingSymbol17909&gt;&lt;m_yearfmt&gt;&lt;begin val=&quot;0&quot;/&gt;&lt;end val=&quot;4&quot;/&gt;&lt;/m_yearfmt&gt;&lt;/m_precDefaultNumber&gt;&lt;m_precDefaultPercent&gt;&lt;m_bNumberIsYear val=&quot;1&quot;/&gt;&lt;m_chMinusSymbol&gt;-&lt;/m_chMinusSymbol&gt;&lt;m_nDecimalDigits17909 val=&quot;0&quot;/&gt;&lt;m_chDecimalSymbol17909&gt;.&lt;/m_chDecimalSymbol17909&gt;&lt;m_nGroupingDigits17909 val=&quot;3&quot;/&gt;&lt;m_chGroupingSymbol17909&gt;,&lt;/m_chGroupingSymbol17909&gt;&lt;m_strSuffix17909&gt;%&lt;/m_strSuffix17909&gt;&lt;m_yearfmt&gt;&lt;begin val=&quot;0&quot;/&gt;&lt;end val=&quot;4&quot;/&gt;&lt;/m_yearfmt&gt;&lt;/m_precDefaultPercent&gt;&lt;m_precDefaultDate&gt;&lt;m_bNumberIsYear val=&quot;0&quot;/&gt;&lt;m_strFormatTime&gt;%#m/%#d/%Y&lt;/m_strFormatTime&gt;&lt;m_yearfmt&gt;&lt;begin val=&quot;0&quot;/&gt;&lt;end val=&quot;0&quot;/&gt;&lt;/m_yearfmt&gt;&lt;/m_precDefaultDate&gt;&lt;m_precDefaultDay&gt;&lt;m_bNumberIsYear val=&quot;0&quot;/&gt;&lt;m_strFormatTime&gt;%#d&lt;/m_strFormatTime&gt;&lt;m_yearfmt&gt;&lt;begin val=&quot;0&quot;/&gt;&lt;end val=&quot;4&quot;/&gt;&lt;/m_yearfmt&gt;&lt;/m_precDefaultDay&gt;&lt;m_precDefaultWeek&gt;&lt;m_bNumberIsYear val=&quot;0&quot;/&gt;&lt;m_strFormatTime&gt;%4&lt;/m_strFormatTime&gt;&lt;m_yearfmt&gt;&lt;begin val=&quot;0&quot;/&gt;&lt;end val=&quot;4&quot;/&gt;&lt;/m_yearfmt&gt;&lt;/m_precDefaultWeek&gt;&lt;m_precDefaultMonth&gt;&lt;m_bNumberIsYear val=&quot;0&quot;/&gt;&lt;m_strFormatTime&gt;%1&lt;/m_strFormatTime&gt;&lt;m_yearfmt&gt;&lt;begin val=&quot;0&quot;/&gt;&lt;end val=&quot;4&quot;/&gt;&lt;/m_yearfmt&gt;&lt;/m_precDefaultMonth&gt;&lt;m_precDefaultQuarter&gt;&lt;m_bNumberIsYear val=&quot;0&quot;/&gt;&lt;m_strFormatTime&gt;Q%5&lt;/m_strFormatTime&gt;&lt;m_yearfmt&gt;&lt;begin val=&quot;0&quot;/&gt;&lt;end val=&quot;4&quot;/&gt;&lt;/m_yearfmt&gt;&lt;/m_precDefaultQuarter&gt;&lt;m_precDefaultYear&gt;&lt;m_bNumberIsYear val=&quot;0&quot;/&gt;&lt;m_strFormatTime&gt;%Y&lt;/m_strFormatTime&gt;&lt;m_yearfmt&gt;&lt;begin val=&quot;0&quot;/&gt;&lt;end val=&quot;0&quot;/&gt;&lt;/m_yearfmt&gt;&lt;/m_precDefaultYear&gt;&lt;m_precDefaultFYDay&gt;&lt;m_yearfmt&gt;&lt;begin val=&quot;0&quot;/&gt;&lt;end val=&quot;4&quot;/&gt;&lt;/m_yearfmt&gt;&lt;/m_precDefaultFYDay&gt;&lt;m_precDefaultFYWeek&gt;&lt;m_yearfmt&gt;&lt;begin val=&quot;0&quot;/&gt;&lt;end val=&quot;4&quot;/&gt;&lt;/m_yearfmt&gt;&lt;/m_precDefaultFYWeek&gt;&lt;m_precDefaultFYMonth&gt;&lt;m_yearfmt&gt;&lt;begin val=&quot;0&quot;/&gt;&lt;end val=&quot;4&quot;/&gt;&lt;/m_yearfmt&gt;&lt;/m_precDefaultFYMonth&gt;&lt;m_precDefaultFYQuarter&gt;&lt;m_yearfmt&gt;&lt;begin val=&quot;0&quot;/&gt;&lt;end val=&quot;4&quot;/&gt;&lt;/m_yearfmt&gt;&lt;/m_precDefaultFYQuarter&gt;&lt;m_precDefaultFYYear&gt;&lt;m_yearfmt&gt;&lt;begin val=&quot;0&quot;/&gt;&lt;end val=&quot;4&quot;/&gt;&lt;/m_yearfmt&gt;&lt;/m_precDefaultFYYear&gt;&lt;m_mruColor&gt;&lt;m_vecMRU length=&quot;0&quot;/&gt;&lt;/m_mruColor&gt;&lt;m_eweekdayFirstOfWeek val=&quot;2&quot;/&gt;&lt;m_eweekdayFirstOfWorkweek val=&quot;2&quot;/&gt;&lt;m_eweekdayFirstOfWeekend val=&quot;7&quot;/&gt;&lt;/CPresentation&gt;&lt;/root&gt;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BF85tvmTV.2trNKwozeAw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u4g5UG1QUKtI8SxcSTf2w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dCO7J0OS_uYu83qu2IS0Q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LVArru6TV6RGD66rY_n0g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LETTe1mSV.Cm4EVc0csLg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Bzr7RcHSxecPfjmbUJudg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QrizpMrTy6lgA5SCokSfw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aGq4e5bTnOyd7mCDKqzhQ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dCO7J0OS_uYu83qu2IS0Q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o4L0avzTJ2I6Oy1dIR0cQ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YOEdoRNTiaKeA_qVRivRQ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R8H0BhERUq65Lpj817pXw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R8H0BhERUq65Lpj817pXw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l6IIGFvQyGz90E2L5DZmA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u4g5UG1QUKtI8SxcSTf2w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STIHL EN 16:9">
  <a:themeElements>
    <a:clrScheme name="STILHL_CD">
      <a:dk1>
        <a:sysClr val="windowText" lastClr="000000"/>
      </a:dk1>
      <a:lt1>
        <a:sysClr val="window" lastClr="FFFFFF"/>
      </a:lt1>
      <a:dk2>
        <a:srgbClr val="B1B1B1"/>
      </a:dk2>
      <a:lt2>
        <a:srgbClr val="E7E6E6"/>
      </a:lt2>
      <a:accent1>
        <a:srgbClr val="000000"/>
      </a:accent1>
      <a:accent2>
        <a:srgbClr val="F37A1F"/>
      </a:accent2>
      <a:accent3>
        <a:srgbClr val="B1B1B1"/>
      </a:accent3>
      <a:accent4>
        <a:srgbClr val="749F4A"/>
      </a:accent4>
      <a:accent5>
        <a:srgbClr val="249ABE"/>
      </a:accent5>
      <a:accent6>
        <a:srgbClr val="FDC543"/>
      </a:accent6>
      <a:hlink>
        <a:srgbClr val="D43B3B"/>
      </a:hlink>
      <a:folHlink>
        <a:srgbClr val="878787"/>
      </a:folHlink>
    </a:clrScheme>
    <a:fontScheme name="STIHL">
      <a:majorFont>
        <a:latin typeface="STIHL Contraface Text"/>
        <a:ea typeface=""/>
        <a:cs typeface=""/>
      </a:majorFont>
      <a:minorFont>
        <a:latin typeface="STIHL Contraface Tex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  <a:ln w="6350">
          <a:solidFill>
            <a:schemeClr val="tx1"/>
          </a:solidFill>
        </a:ln>
      </a:spPr>
      <a:bodyPr lIns="72000" tIns="72000" rIns="72000" bIns="72000" rtlCol="0" anchor="ctr"/>
      <a:lstStyle>
        <a:defPPr algn="ctr">
          <a:lnSpc>
            <a:spcPct val="90000"/>
          </a:lnSpc>
          <a:defRPr sz="1600" b="1" dirty="0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18000" tIns="18000" rIns="18000" bIns="18000" rtlCol="0">
        <a:spAutoFit/>
      </a:bodyPr>
      <a:lstStyle>
        <a:defPPr algn="l">
          <a:lnSpc>
            <a:spcPct val="90000"/>
          </a:lnSpc>
          <a:spcBef>
            <a:spcPts val="400"/>
          </a:spcBef>
          <a:defRPr sz="16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STIHL_EN_16-9.potx" id="{9750D1A3-F6B3-4B5F-BA2F-8611BD39BBAB}" vid="{17D6F275-8783-4081-AFB4-15D0B82B1DDB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681C1C579840D48AC999B396FE66310" ma:contentTypeVersion="12" ma:contentTypeDescription="Create a new document." ma:contentTypeScope="" ma:versionID="646d29713344052343ad324215fc0f96">
  <xsd:schema xmlns:xsd="http://www.w3.org/2001/XMLSchema" xmlns:xs="http://www.w3.org/2001/XMLSchema" xmlns:p="http://schemas.microsoft.com/office/2006/metadata/properties" xmlns:ns2="523280cd-a023-47fb-9c6b-d00b9095b7ab" xmlns:ns3="1449935d-50da-41e9-87a8-3306d78bd466" targetNamespace="http://schemas.microsoft.com/office/2006/metadata/properties" ma:root="true" ma:fieldsID="7a04719490a9881a1c9c6d2c79e269f8" ns2:_="" ns3:_="">
    <xsd:import namespace="523280cd-a023-47fb-9c6b-d00b9095b7ab"/>
    <xsd:import namespace="1449935d-50da-41e9-87a8-3306d78bd46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BillingMetadata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23280cd-a023-47fb-9c6b-d00b9095b7a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MediaServiceBillingMetadata" ma:index="15" nillable="true" ma:displayName="MediaServiceBillingMetadata" ma:hidden="true" ma:internalName="MediaServiceBillingMetadata" ma:readOnly="true">
      <xsd:simpleType>
        <xsd:restriction base="dms:Note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c751d313-418a-41e7-8296-c801e9c6f9b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449935d-50da-41e9-87a8-3306d78bd466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b1aa8117-7af4-4a81-9c32-6097d7e72bd7}" ma:internalName="TaxCatchAll" ma:showField="CatchAllData" ma:web="1449935d-50da-41e9-87a8-3306d78bd46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1449935d-50da-41e9-87a8-3306d78bd466" xsi:nil="true"/>
    <lcf76f155ced4ddcb4097134ff3c332f xmlns="523280cd-a023-47fb-9c6b-d00b9095b7ab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DA5E7DB3-A956-4506-AAD6-F0A62C6F1C01}">
  <ds:schemaRefs>
    <ds:schemaRef ds:uri="1449935d-50da-41e9-87a8-3306d78bd466"/>
    <ds:schemaRef ds:uri="523280cd-a023-47fb-9c6b-d00b9095b7ab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AB9BD90E-92CC-4A62-9368-6A8C72AC441B}">
  <ds:schemaRefs>
    <ds:schemaRef ds:uri="1449935d-50da-41e9-87a8-3306d78bd466"/>
    <ds:schemaRef ds:uri="2f256423-360f-43c8-9cc5-edab87e38065"/>
    <ds:schemaRef ds:uri="523280cd-a023-47fb-9c6b-d00b9095b7ab"/>
    <ds:schemaRef ds:uri="810f0827-59f8-4c5d-82e6-a3017adce947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D3ACD1F0-1D83-4215-A735-A9D0BB6DD0C5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STIHL_EN_16-9</Template>
  <TotalTime>0</TotalTime>
  <Words>677</Words>
  <Application>Microsoft Office PowerPoint</Application>
  <PresentationFormat>Breitbild</PresentationFormat>
  <Paragraphs>132</Paragraphs>
  <Slides>6</Slides>
  <Notes>4</Notes>
  <HiddenSlides>0</HiddenSlides>
  <MMClips>0</MMClips>
  <ScaleCrop>false</ScaleCrop>
  <HeadingPairs>
    <vt:vector size="8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1</vt:i4>
      </vt:variant>
      <vt:variant>
        <vt:lpstr>Eingebettete OLE-Server</vt:lpstr>
      </vt:variant>
      <vt:variant>
        <vt:i4>2</vt:i4>
      </vt:variant>
      <vt:variant>
        <vt:lpstr>Folientitel</vt:lpstr>
      </vt:variant>
      <vt:variant>
        <vt:i4>6</vt:i4>
      </vt:variant>
    </vt:vector>
  </HeadingPairs>
  <TitlesOfParts>
    <vt:vector size="14" baseType="lpstr">
      <vt:lpstr>Arial</vt:lpstr>
      <vt:lpstr>Calibri</vt:lpstr>
      <vt:lpstr>STIHL Contraface Display Title</vt:lpstr>
      <vt:lpstr>STIHL Contraface Text</vt:lpstr>
      <vt:lpstr>Symbol</vt:lpstr>
      <vt:lpstr>STIHL EN 16:9</vt:lpstr>
      <vt:lpstr>think-cell Slide</vt:lpstr>
      <vt:lpstr>think-cell Folie</vt:lpstr>
      <vt:lpstr>SEPM Weiteres Vorgehen  ƒ</vt:lpstr>
      <vt:lpstr>Weiteres Vorgehen </vt:lpstr>
      <vt:lpstr>Vorstandsprotokoll SEPM </vt:lpstr>
      <vt:lpstr>Vorgänge </vt:lpstr>
      <vt:lpstr>Detail-Terminierung</vt:lpstr>
      <vt:lpstr>PowerPoint-Präsentation</vt:lpstr>
    </vt:vector>
  </TitlesOfParts>
  <Manager/>
  <Company>ERR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D1/MC2 Ecke, Oliver</dc:creator>
  <cp:lastModifiedBy>D8/ODS Passaro, Alexander</cp:lastModifiedBy>
  <cp:revision>2</cp:revision>
  <dcterms:created xsi:type="dcterms:W3CDTF">2025-07-07T10:08:27Z</dcterms:created>
  <dcterms:modified xsi:type="dcterms:W3CDTF">2026-07-01T14:46:47Z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0x0101003681C1C579840D48AC999B396FE66310</vt:lpwstr>
  </property>
  <property fmtid="{D5CDD505-2E9C-101B-9397-08002B2CF9AE}" pid="3" name="Verantwortlicher">
    <vt:lpwstr/>
  </property>
  <property fmtid="{D5CDD505-2E9C-101B-9397-08002B2CF9AE}" pid="4" name="MSIP_Label_f336f76c-dfa2-4ce6-8362-305539f7b79a_Enabled">
    <vt:lpwstr>true</vt:lpwstr>
  </property>
  <property fmtid="{D5CDD505-2E9C-101B-9397-08002B2CF9AE}" pid="5" name="MSIP_Label_f336f76c-dfa2-4ce6-8362-305539f7b79a_SetDate">
    <vt:lpwstr>2023-12-12T09:44:36Z</vt:lpwstr>
  </property>
  <property fmtid="{D5CDD505-2E9C-101B-9397-08002B2CF9AE}" pid="6" name="MSIP_Label_f336f76c-dfa2-4ce6-8362-305539f7b79a_Method">
    <vt:lpwstr>Privileged</vt:lpwstr>
  </property>
  <property fmtid="{D5CDD505-2E9C-101B-9397-08002B2CF9AE}" pid="7" name="MSIP_Label_f336f76c-dfa2-4ce6-8362-305539f7b79a_Name">
    <vt:lpwstr>Internal</vt:lpwstr>
  </property>
  <property fmtid="{D5CDD505-2E9C-101B-9397-08002B2CF9AE}" pid="8" name="MSIP_Label_f336f76c-dfa2-4ce6-8362-305539f7b79a_SiteId">
    <vt:lpwstr>702ed1df-fbf3-42e7-a14d-db80a314e632</vt:lpwstr>
  </property>
  <property fmtid="{D5CDD505-2E9C-101B-9397-08002B2CF9AE}" pid="9" name="MSIP_Label_f336f76c-dfa2-4ce6-8362-305539f7b79a_ActionId">
    <vt:lpwstr>f25fa44d-eaa3-46d9-9d6a-7f6f55407eae</vt:lpwstr>
  </property>
  <property fmtid="{D5CDD505-2E9C-101B-9397-08002B2CF9AE}" pid="10" name="MSIP_Label_f336f76c-dfa2-4ce6-8362-305539f7b79a_ContentBits">
    <vt:lpwstr>1</vt:lpwstr>
  </property>
  <property fmtid="{D5CDD505-2E9C-101B-9397-08002B2CF9AE}" pid="11" name="MediaServiceImageTags">
    <vt:lpwstr/>
  </property>
</Properties>
</file>