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</p:sldIdLst>
  <p:sldSz cx="12192000" cy="6858000"/>
  <p:notesSz cx="6858000" cy="9144000"/>
  <p:custDataLst>
    <p:tags r:id="rId1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7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tags" Target="tags/tag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8/10/relationships/authors" Target="authors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tags" Target="../tags/tag2.xml"/><Relationship Id="rId28" Type="http://schemas.openxmlformats.org/officeDocument/2006/relationships/tags" Target="../tags/tag3.xml"/><Relationship Id="rId29" Type="http://schemas.openxmlformats.org/officeDocument/2006/relationships/oleObject" Target="../embeddings/oleObject1.bin"/><Relationship Id="rId30" Type="http://schemas.openxmlformats.org/officeDocument/2006/relationships/image" Target="../media/image1.emf"/><Relationship Id="rId3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408" imgH="408" progId="TCLayout.ActiveDocument.1">
                  <p:embed/>
                </p:oleObj>
              </mc:Choice>
              <mc:Fallback>
                <p:oleObj name="think-cell Slide" r:id="rId29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2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Detaillierte Wirtschaftlichkeits-Betrachtung  ·  TCO · ROI · Business Value · Szenarien · Risiken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Alex Passaro · Torsten Zahn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01.07.2026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Case SEPM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282778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2827782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78408"/>
            <a:ext cx="2736341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5-Jahres-TCO Vorteil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325880"/>
            <a:ext cx="2736341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400" b="1" i="0">
                <a:solidFill>
                  <a:srgbClr val="2E7D32"/>
                </a:solidFill>
                <a:latin typeface="Calibri"/>
              </a:rPr>
              <a:t>~ 2,2 M€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2011680"/>
            <a:ext cx="273634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Calibri"/>
              </a:rPr>
              <a:t>vs Best-of-Breed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0974" y="960120"/>
            <a:ext cx="282778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20974" y="960120"/>
            <a:ext cx="2827782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6694" y="978408"/>
            <a:ext cx="2736341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Payback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6694" y="1325880"/>
            <a:ext cx="2736341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400" b="1" i="0">
                <a:solidFill>
                  <a:srgbClr val="F07F12"/>
                </a:solidFill>
                <a:latin typeface="Calibri"/>
              </a:rPr>
              <a:t>~ 3,5 J.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6694" y="2011680"/>
            <a:ext cx="273634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Calibri"/>
              </a:rPr>
              <a:t>nach Go-Live Phase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0196" y="960120"/>
            <a:ext cx="282778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0196" y="960120"/>
            <a:ext cx="2827782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5916" y="978408"/>
            <a:ext cx="2736341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Jaehrl. Nutzen (steady)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916" y="1325880"/>
            <a:ext cx="2736341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400" b="1" i="0">
                <a:solidFill>
                  <a:srgbClr val="2C3E50"/>
                </a:solidFill>
                <a:latin typeface="Calibri"/>
              </a:rPr>
              <a:t>~ 4,3 M€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5916" y="2011680"/>
            <a:ext cx="273634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Calibri"/>
              </a:rPr>
              <a:t>Konsolid.+Value+Flanking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9418" y="960120"/>
            <a:ext cx="282778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9418" y="960120"/>
            <a:ext cx="2827782" cy="2743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5138" y="978408"/>
            <a:ext cx="2736341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Empfohlenes Szenario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5138" y="1325880"/>
            <a:ext cx="2736341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400" b="1" i="0">
                <a:solidFill>
                  <a:srgbClr val="3B6BA5"/>
                </a:solidFill>
                <a:latin typeface="Calibri"/>
              </a:rPr>
              <a:t>A · 24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5138" y="2011680"/>
            <a:ext cx="2736341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Calibri"/>
              </a:rPr>
              <a:t>Full Scope Phase 1+2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2560320"/>
            <a:ext cx="115854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07F12"/>
                </a:solidFill>
                <a:latin typeface="Calibri"/>
              </a:rPr>
              <a:t>Kernbotschaften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" y="2880360"/>
            <a:ext cx="11585448" cy="46634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1752" y="2880360"/>
            <a:ext cx="64008" cy="46634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898648"/>
            <a:ext cx="5029200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Konsolidierung von &gt;6 PPM-Tools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3832" y="2898648"/>
            <a:ext cx="6400800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spart ~950 k€ / Jahr an Lizenz + Wartung + FTE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" y="3383280"/>
            <a:ext cx="11585448" cy="466344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1752" y="3383280"/>
            <a:ext cx="64008" cy="46634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3401568"/>
            <a:ext cx="5029200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Business Value SPM (steady state)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13832" y="3401568"/>
            <a:ext cx="6400800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~2,3 M€ / Jahr durch Effizienz, Time-to-Market, Governance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" y="3886200"/>
            <a:ext cx="11585448" cy="46634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1752" y="3886200"/>
            <a:ext cx="64008" cy="46634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904487"/>
            <a:ext cx="5029200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Flankierende Prozesse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13832" y="3904487"/>
            <a:ext cx="6400800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zusaetzlich ~1,0 M€ / Jahr Einsparpotenzial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1752" y="4389120"/>
            <a:ext cx="11585448" cy="466344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1752" y="4389120"/>
            <a:ext cx="64008" cy="46634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4407408"/>
            <a:ext cx="5029200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SNOW-Plattform-Risiko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3832" y="4407408"/>
            <a:ext cx="6400800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Vendor Lock-in adressiert durch Standard-first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" y="4892040"/>
            <a:ext cx="11585448" cy="46634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01752" y="4892040"/>
            <a:ext cx="64008" cy="46634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4910328"/>
            <a:ext cx="5029200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Vertragshistorie 2014-heute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13832" y="4910328"/>
            <a:ext cx="6400800" cy="4297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Calibri"/>
              </a:rPr>
              <a:t>SNOW als bewaehrter STIHL-Partner (ITSM seit 12 J.)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Case Methodik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724144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724144" cy="38404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74904" y="101498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01498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07F12"/>
                </a:solidFill>
                <a:latin typeface="Calibri"/>
              </a:rPr>
              <a:t>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978408"/>
            <a:ext cx="52212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TCO (5 Jahre)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435608"/>
            <a:ext cx="54498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Lizenzen · Implementierung · Support · Change</a:t>
            </a:r>
          </a:p>
        </p:txBody>
      </p:sp>
      <p:sp>
        <p:nvSpPr>
          <p:cNvPr id="10" name="Oval 9"/>
          <p:cNvSpPr/>
          <p:nvPr/>
        </p:nvSpPr>
        <p:spPr>
          <a:xfrm>
            <a:off x="484632" y="1901952"/>
            <a:ext cx="73152" cy="73152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83080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Lizenzen SNOW SPM Pro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" y="2286000"/>
            <a:ext cx="73152" cy="73152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167128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Implementierung</a:t>
            </a:r>
          </a:p>
        </p:txBody>
      </p:sp>
      <p:sp>
        <p:nvSpPr>
          <p:cNvPr id="14" name="Oval 13"/>
          <p:cNvSpPr/>
          <p:nvPr/>
        </p:nvSpPr>
        <p:spPr>
          <a:xfrm>
            <a:off x="484632" y="2670048"/>
            <a:ext cx="73152" cy="73152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51176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Change &amp; Schulung</a:t>
            </a:r>
          </a:p>
        </p:txBody>
      </p:sp>
      <p:sp>
        <p:nvSpPr>
          <p:cNvPr id="16" name="Oval 15"/>
          <p:cNvSpPr/>
          <p:nvPr/>
        </p:nvSpPr>
        <p:spPr>
          <a:xfrm>
            <a:off x="484632" y="3054096"/>
            <a:ext cx="73152" cy="73152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935224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Support / Wartung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960120"/>
            <a:ext cx="5724144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63056" y="960120"/>
            <a:ext cx="5724144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36208" y="101498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101498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978408"/>
            <a:ext cx="52212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Nutzen / Business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1435608"/>
            <a:ext cx="54498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Effizienz · Time-to-Market · Governance</a:t>
            </a:r>
          </a:p>
        </p:txBody>
      </p:sp>
      <p:sp>
        <p:nvSpPr>
          <p:cNvPr id="24" name="Oval 23"/>
          <p:cNvSpPr/>
          <p:nvPr/>
        </p:nvSpPr>
        <p:spPr>
          <a:xfrm>
            <a:off x="6345936" y="1901952"/>
            <a:ext cx="73152" cy="7315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1783080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Effizienz PPM</a:t>
            </a:r>
          </a:p>
        </p:txBody>
      </p:sp>
      <p:sp>
        <p:nvSpPr>
          <p:cNvPr id="26" name="Oval 25"/>
          <p:cNvSpPr/>
          <p:nvPr/>
        </p:nvSpPr>
        <p:spPr>
          <a:xfrm>
            <a:off x="6345936" y="2286000"/>
            <a:ext cx="73152" cy="7315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3096" y="2167128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Time-to-Market</a:t>
            </a:r>
          </a:p>
        </p:txBody>
      </p:sp>
      <p:sp>
        <p:nvSpPr>
          <p:cNvPr id="28" name="Oval 27"/>
          <p:cNvSpPr/>
          <p:nvPr/>
        </p:nvSpPr>
        <p:spPr>
          <a:xfrm>
            <a:off x="6345936" y="2670048"/>
            <a:ext cx="73152" cy="7315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2551176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Ressourcen-Steuerung</a:t>
            </a:r>
          </a:p>
        </p:txBody>
      </p:sp>
      <p:sp>
        <p:nvSpPr>
          <p:cNvPr id="30" name="Oval 29"/>
          <p:cNvSpPr/>
          <p:nvPr/>
        </p:nvSpPr>
        <p:spPr>
          <a:xfrm>
            <a:off x="6345936" y="3054096"/>
            <a:ext cx="73152" cy="7315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3096" y="2935224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Governance &amp; Compliance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" y="3703320"/>
            <a:ext cx="5724144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01752" y="3703320"/>
            <a:ext cx="5724144" cy="384048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74904" y="3758183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" y="375818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&gt;&gt;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3721607"/>
            <a:ext cx="52212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Konsolidierung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4178808"/>
            <a:ext cx="54498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Tool-Abloese · Schnittstellen · flankierende Prozesse</a:t>
            </a:r>
          </a:p>
        </p:txBody>
      </p:sp>
      <p:sp>
        <p:nvSpPr>
          <p:cNvPr id="38" name="Oval 37"/>
          <p:cNvSpPr/>
          <p:nvPr/>
        </p:nvSpPr>
        <p:spPr>
          <a:xfrm>
            <a:off x="484632" y="4645152"/>
            <a:ext cx="73152" cy="73152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4526280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PIT / MSPO / Workpath</a:t>
            </a:r>
          </a:p>
        </p:txBody>
      </p:sp>
      <p:sp>
        <p:nvSpPr>
          <p:cNvPr id="40" name="Oval 39"/>
          <p:cNvSpPr/>
          <p:nvPr/>
        </p:nvSpPr>
        <p:spPr>
          <a:xfrm>
            <a:off x="484632" y="5029200"/>
            <a:ext cx="73152" cy="73152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4910328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Schnittstellen</a:t>
            </a:r>
          </a:p>
        </p:txBody>
      </p:sp>
      <p:sp>
        <p:nvSpPr>
          <p:cNvPr id="42" name="Oval 41"/>
          <p:cNvSpPr/>
          <p:nvPr/>
        </p:nvSpPr>
        <p:spPr>
          <a:xfrm>
            <a:off x="484632" y="5413248"/>
            <a:ext cx="73152" cy="73152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5294376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Massnahmen-Mgmt</a:t>
            </a:r>
          </a:p>
        </p:txBody>
      </p:sp>
      <p:sp>
        <p:nvSpPr>
          <p:cNvPr id="44" name="Oval 43"/>
          <p:cNvSpPr/>
          <p:nvPr/>
        </p:nvSpPr>
        <p:spPr>
          <a:xfrm>
            <a:off x="484632" y="5797296"/>
            <a:ext cx="73152" cy="73152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5678424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63056" y="3703320"/>
            <a:ext cx="5724144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63056" y="3703320"/>
            <a:ext cx="5724144" cy="38404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36208" y="3758183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36208" y="375818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B91C1C"/>
                </a:solidFill>
                <a:latin typeface="Calibri"/>
              </a:rPr>
              <a:t>!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74536" y="3721607"/>
            <a:ext cx="52212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Risiko / Sensitivitaet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0216" y="4178808"/>
            <a:ext cx="544982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Vendor · Preis · Betrieb · DSGVO</a:t>
            </a:r>
          </a:p>
        </p:txBody>
      </p:sp>
      <p:sp>
        <p:nvSpPr>
          <p:cNvPr id="52" name="Oval 51"/>
          <p:cNvSpPr/>
          <p:nvPr/>
        </p:nvSpPr>
        <p:spPr>
          <a:xfrm>
            <a:off x="6345936" y="4645152"/>
            <a:ext cx="73152" cy="7315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83096" y="4526280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Vendor Lock-in</a:t>
            </a:r>
          </a:p>
        </p:txBody>
      </p:sp>
      <p:sp>
        <p:nvSpPr>
          <p:cNvPr id="54" name="Oval 53"/>
          <p:cNvSpPr/>
          <p:nvPr/>
        </p:nvSpPr>
        <p:spPr>
          <a:xfrm>
            <a:off x="6345936" y="5029200"/>
            <a:ext cx="73152" cy="7315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3096" y="4910328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Preis-Eskalation</a:t>
            </a:r>
          </a:p>
        </p:txBody>
      </p:sp>
      <p:sp>
        <p:nvSpPr>
          <p:cNvPr id="56" name="Oval 55"/>
          <p:cNvSpPr/>
          <p:nvPr/>
        </p:nvSpPr>
        <p:spPr>
          <a:xfrm>
            <a:off x="6345936" y="5413248"/>
            <a:ext cx="73152" cy="7315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83096" y="5294376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Ausfall / Betrieb</a:t>
            </a:r>
          </a:p>
        </p:txBody>
      </p:sp>
      <p:sp>
        <p:nvSpPr>
          <p:cNvPr id="58" name="Oval 57"/>
          <p:cNvSpPr/>
          <p:nvPr/>
        </p:nvSpPr>
        <p:spPr>
          <a:xfrm>
            <a:off x="6345936" y="5797296"/>
            <a:ext cx="73152" cy="7315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83096" y="5678424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Sensitivity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Alternative PM-Plattform - Bewertung  (Punkt 3 Folie 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724144" cy="2651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724144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960120"/>
            <a:ext cx="55412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Warum Alternative bewerten?</a:t>
            </a:r>
          </a:p>
        </p:txBody>
      </p:sp>
      <p:sp>
        <p:nvSpPr>
          <p:cNvPr id="7" name="Oval 6"/>
          <p:cNvSpPr/>
          <p:nvPr/>
        </p:nvSpPr>
        <p:spPr>
          <a:xfrm>
            <a:off x="438912" y="1572768"/>
            <a:ext cx="201168" cy="201168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57276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52212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Risiko-Absicherung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00784"/>
            <a:ext cx="52212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Falls SNOW fuer VEW/VPM nicht tief genug.</a:t>
            </a:r>
          </a:p>
        </p:txBody>
      </p:sp>
      <p:sp>
        <p:nvSpPr>
          <p:cNvPr id="11" name="Oval 10"/>
          <p:cNvSpPr/>
          <p:nvPr/>
        </p:nvSpPr>
        <p:spPr>
          <a:xfrm>
            <a:off x="438912" y="2084832"/>
            <a:ext cx="201168" cy="201168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08483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975104"/>
            <a:ext cx="52212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Verhandlungsposition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212848"/>
            <a:ext cx="52212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Best-of-Breed-Angebot senkt SNOW-Preis.</a:t>
            </a:r>
          </a:p>
        </p:txBody>
      </p:sp>
      <p:sp>
        <p:nvSpPr>
          <p:cNvPr id="15" name="Oval 14"/>
          <p:cNvSpPr/>
          <p:nvPr/>
        </p:nvSpPr>
        <p:spPr>
          <a:xfrm>
            <a:off x="438912" y="2596896"/>
            <a:ext cx="201168" cy="201168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59689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487168"/>
            <a:ext cx="52212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Engineering-Spezifika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724912"/>
            <a:ext cx="52212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PLM-nahe Prozesse ggf. besser in Fach-Tool.</a:t>
            </a:r>
          </a:p>
        </p:txBody>
      </p:sp>
      <p:sp>
        <p:nvSpPr>
          <p:cNvPr id="19" name="Oval 18"/>
          <p:cNvSpPr/>
          <p:nvPr/>
        </p:nvSpPr>
        <p:spPr>
          <a:xfrm>
            <a:off x="438912" y="3108960"/>
            <a:ext cx="201168" cy="201168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310896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999232"/>
            <a:ext cx="5221224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EWW-Bedenken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236976"/>
            <a:ext cx="52212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Explizite Alternative senkt Widerstand.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960120"/>
            <a:ext cx="5724144" cy="2651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63056" y="960120"/>
            <a:ext cx="5724144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960120"/>
            <a:ext cx="55412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Shortlist Alternative PM-Plattformen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0216" y="141732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0216" y="1417320"/>
            <a:ext cx="64008" cy="4572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1435608"/>
            <a:ext cx="3986783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Planisware 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1636776"/>
            <a:ext cx="3986783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Marktfuehrer Engineering-PPM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1508760"/>
            <a:ext cx="128016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15087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Lead Jonas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0216" y="196596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0216" y="1965960"/>
            <a:ext cx="64008" cy="4572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1984248"/>
            <a:ext cx="3986783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SAP EPPM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2185415"/>
            <a:ext cx="3986783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SAP-Oekosystem-Integration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2057400"/>
            <a:ext cx="128016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0" y="20574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Lead Jonas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0216" y="251460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0216" y="2514600"/>
            <a:ext cx="64008" cy="4572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2532888"/>
            <a:ext cx="3986783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Sciforma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7376" y="2734056"/>
            <a:ext cx="3986783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Mittelstands-Standard, hybrid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2606040"/>
            <a:ext cx="128016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24160" y="26060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Lead Jonas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54496" y="3172968"/>
            <a:ext cx="554126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Zeitraum: 11.06. - 30.08.2026  ·  Ergebnis: klare Empfehlung mit TCO-Vergleich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1752" y="3749040"/>
            <a:ext cx="11585448" cy="269747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01752" y="3749040"/>
            <a:ext cx="11585448" cy="32004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192" y="3749040"/>
            <a:ext cx="114025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Bewertungskriterien und Zwischenergebnis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" y="4133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Kriterium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56632" y="4133088"/>
            <a:ext cx="169164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56632" y="41330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SNOW SPM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93992" y="4133088"/>
            <a:ext cx="169164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93992" y="41330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Planisware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31352" y="4133088"/>
            <a:ext cx="169164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31352" y="41330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SAP EPPM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268712" y="4133088"/>
            <a:ext cx="150876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68712" y="413308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Sciforma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3192" y="4480560"/>
            <a:ext cx="11402568" cy="29260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" y="44805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Funktions-Deckung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56632" y="448056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70%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93992" y="448056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80%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31352" y="448056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60%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68712" y="448056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65%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3192" y="4800600"/>
            <a:ext cx="11402568" cy="292608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3192" y="480060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Integration STIHL-Landschaft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56632" y="480060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80%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93992" y="480060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50%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31352" y="480060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70%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68712" y="480060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40%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3192" y="5120640"/>
            <a:ext cx="11402568" cy="29260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3192" y="512064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TCO 5 Jahre (rel.)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56632" y="512064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100%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93992" y="512064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115%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31352" y="512064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125%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68712" y="512064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95%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3192" y="5440680"/>
            <a:ext cx="11402568" cy="292608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3192" y="544068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Change-Aufwand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56632" y="544068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Mittel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93992" y="544068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Hoch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31352" y="544068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Mittel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68712" y="544068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Niedrig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3192" y="5760720"/>
            <a:ext cx="11402568" cy="29260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3192" y="576072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Zukunftssicherheit AI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56632" y="576072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Hoch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93992" y="576072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Mittel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31352" y="576072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Hoch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268712" y="576072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Niedrig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Komplexitaets-Reduzierung ProjektControlling  (Punkt 4 Folie 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724144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724144" cy="32004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960120"/>
            <a:ext cx="55412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HEUTE  -  Komplexitaetstreiber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41732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417320"/>
            <a:ext cx="54864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45389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Multi-Tool-Landschaft PPM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69164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PIT · MSPO · Excel · SharePoint · Power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98424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~ 2,5 FTE Betriebs- &amp; Integrations-Aufwand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237744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" y="2377440"/>
            <a:ext cx="54864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41401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Manuelle Daten-Aggregation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265176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Excel-Konsolidierung fuer Reportings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294436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~ 2 Wochen/Monat Reporting-Aufwand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333756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3337560"/>
            <a:ext cx="54864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37413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Uneinheitliche Datenmodelle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61188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Jede Insel eigener Struktur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90448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~ 1 FTE Datenqualitaets-Arbeit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429768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4297680"/>
            <a:ext cx="54864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433425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Doppelte Datenpflege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457200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Projekte in PIT + Excel + SharePoint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86460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~ 0,8 FTE Doppelerfassung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" y="525780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" y="5257800"/>
            <a:ext cx="54864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529437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Fehlende Traceability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553212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Idee-Portfolio-Projekt-Kosten nicht durchgaengig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582472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Calibri"/>
              </a:rPr>
              <a:t>Governance-Aufwand hoch, Audits schwierig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960120"/>
            <a:ext cx="5724144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63056" y="960120"/>
            <a:ext cx="5724144" cy="3200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4496" y="960120"/>
            <a:ext cx="55412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MIT SEPM  -  Konsolidierungs-Hebel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0216" y="141732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0216" y="141732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37376" y="145389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Eine Plattform, ein Datenmodell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7376" y="169164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SNOW SPM als Single Source of Truth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7376" y="198424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- 6 Tools · - 0,5 FTE Betrieb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0216" y="237744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0216" y="237744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37376" y="241401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Automatische Reports &amp; Dashboards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265176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Live-Dashboards ersetzen Excel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7376" y="294436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- 1,5 Wochen/Monat Reporting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0216" y="333756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0216" y="333756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37376" y="337413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Standard-Datenmodell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7376" y="361188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Vorhaben-Steckbrief einheitlich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37376" y="390448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- 0,7 FTE Datenqualitaets-Arbeit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0216" y="429768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0216" y="429768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37376" y="433425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Erfassung einmal - Nutzung ueberall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7376" y="457200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Demand-Portfolio-Projekt in einem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37376" y="486460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- 0,6 FTE Doppelerfassung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0216" y="5257800"/>
            <a:ext cx="5449824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0216" y="525780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37376" y="5294376"/>
            <a:ext cx="52669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Durchgaengige Traceability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37376" y="5532120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OKR-Portfolio-Projekt-Kosten-Nutzen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7376" y="5824728"/>
            <a:ext cx="526694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Audit-faehig, Compliance-sicher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Analyse - Nutzen-Kategorien Steady State p.a.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400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Gesamt-Nutzen SEPM (Steady State p.a.)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13832" y="9601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Calibri"/>
              </a:rPr>
              <a:t>~ 2.320 k€ / Jahr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783080"/>
            <a:ext cx="11585448" cy="8229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" y="1783080"/>
            <a:ext cx="64008" cy="82296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819656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Effizienz PM/PPM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29514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Weniger manuelle Excels/Berichte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0872" y="2057400"/>
            <a:ext cx="5760720" cy="31089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90872" y="2057400"/>
            <a:ext cx="5760720" cy="31089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43032" y="17830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820 k€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" y="2660904"/>
            <a:ext cx="11585448" cy="8229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" y="2660904"/>
            <a:ext cx="64008" cy="82296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69748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Time-to-Market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317296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Schnellere Idee-&gt;Projekt-Start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935224"/>
            <a:ext cx="5760720" cy="31089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90872" y="2935224"/>
            <a:ext cx="3372128" cy="31089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43032" y="2660904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480 k€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" y="3538728"/>
            <a:ext cx="11585448" cy="8229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" y="3538728"/>
            <a:ext cx="64008" cy="82296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575304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Governance / Rework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40507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Weniger Doppelarbeit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90872" y="3813048"/>
            <a:ext cx="5760720" cy="31089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90872" y="3813048"/>
            <a:ext cx="2529096" cy="31089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43032" y="3538728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360 k€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4416552"/>
            <a:ext cx="11585448" cy="82296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1752" y="4416552"/>
            <a:ext cx="64008" cy="82296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4453128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Ressourcen-Optimierung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492861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Skill-Match, Auslastungs-Steuerung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90872" y="4690872"/>
            <a:ext cx="5760720" cy="31089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90872" y="4690872"/>
            <a:ext cx="3653139" cy="31089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43032" y="4416552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520 k€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" y="5294376"/>
            <a:ext cx="11585448" cy="8229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1752" y="5294376"/>
            <a:ext cx="64008" cy="82296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5330952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Compliance / Audit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58064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Nachvollziehbarkeit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90872" y="5568696"/>
            <a:ext cx="5760720" cy="31089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90872" y="5568696"/>
            <a:ext cx="983537" cy="31089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43032" y="5294376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140 k€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TCO - Total Cost of Ownership (5 Jahre)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4008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5-Jahres-TCO SEPM (Base Case)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1032" y="9601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Calibri"/>
              </a:rPr>
              <a:t>~ 8.7 Mio.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3032" y="96012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1">
                <a:solidFill>
                  <a:srgbClr val="D1D5DB"/>
                </a:solidFill>
                <a:latin typeface="Calibri"/>
              </a:rPr>
              <a:t>(~ 1.73 M€ p.a. Ø)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" y="1737360"/>
            <a:ext cx="5724144" cy="47091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" y="1737360"/>
            <a:ext cx="5724144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737360"/>
            <a:ext cx="55412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Einmalige Kosten (Y1-Y2)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219456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1945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Implementierungs-Partner (SI)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19456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2C3E50"/>
                </a:solidFill>
                <a:latin typeface="Calibri"/>
              </a:rPr>
              <a:t>1.300 k€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288036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8803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Interne FTE (Phase 1+2)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88036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2C3E50"/>
                </a:solidFill>
                <a:latin typeface="Calibri"/>
              </a:rPr>
              <a:t>1.040 k€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356616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5661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Change / Schulung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356616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2C3E50"/>
                </a:solidFill>
                <a:latin typeface="Calibri"/>
              </a:rPr>
              <a:t>250 k€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425196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42519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Contingency (10%)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425196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2C3E50"/>
                </a:solidFill>
                <a:latin typeface="Calibri"/>
              </a:rPr>
              <a:t>259 k€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" y="5166360"/>
            <a:ext cx="55412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Summe einmalig: 2.849 k€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3056" y="1737360"/>
            <a:ext cx="5724144" cy="47091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63056" y="1737360"/>
            <a:ext cx="5724144" cy="3200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1737360"/>
            <a:ext cx="55412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Laufende Kosten p.a. (Steady State)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0216" y="219456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21945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Lizenzen SNOW SPM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19456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F07F12"/>
                </a:solidFill>
                <a:latin typeface="Calibri"/>
              </a:rPr>
              <a:t>850 k€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0216" y="288036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7376" y="28803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Interne Betriebs-FTE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288036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F07F12"/>
                </a:solidFill>
                <a:latin typeface="Calibri"/>
              </a:rPr>
              <a:t>390 k€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356616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35661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Externer Support / Wartung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56616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F07F12"/>
                </a:solidFill>
                <a:latin typeface="Calibri"/>
              </a:rPr>
              <a:t>180 k€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0216" y="4251960"/>
            <a:ext cx="5449824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37376" y="42519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Weiterentwicklung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425196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F07F12"/>
                </a:solidFill>
                <a:latin typeface="Calibri"/>
              </a:rPr>
              <a:t>220 k€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54496" y="5166360"/>
            <a:ext cx="55412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Summe p.a.: 1.640 k€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Support-Kosten - Detailbetrachtung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3770375" cy="38404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987552"/>
            <a:ext cx="358749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Interner Betrieb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" y="141732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43560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SNOW-Plattform-Admin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69164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1,0 FTE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528" y="143560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130 k€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" y="201168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02996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SPM Business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28600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1,0 FTE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528" y="202996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130 k€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" y="260604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62432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Integration / Schnittstellen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288036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0,5 FTE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528" y="26243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65 k€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" y="320040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21868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Data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347472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0,3 FTE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0528" y="321868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39 k€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" y="379476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81304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User Support 2nd 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06908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0,2 FTE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0528" y="381304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Calibri"/>
              </a:rPr>
              <a:t>26 k€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" y="5943600"/>
            <a:ext cx="3587495" cy="3200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" y="5943600"/>
            <a:ext cx="3587495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Summe: 390 k€ / Jahr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9288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09288" y="960120"/>
            <a:ext cx="3770375" cy="384048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00728" y="987552"/>
            <a:ext cx="358749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Externer 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00728" y="141732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92168" y="143560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Wartungsvertrag SNOW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2168" y="169164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Standard 22%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8064" y="143560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70 k€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00728" y="201168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92168" y="202996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Managed-Service Partner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92168" y="228600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Retainer + T&amp;M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8064" y="202996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90 k€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00728" y="260604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2168" y="262432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Externes Consulting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92168" y="288036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20-30 Tage/y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8064" y="26243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60 k€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00728" y="320040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92168" y="321868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Zertifikate &amp; Schulungen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92168" y="347472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5-8 Personen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8064" y="321868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30 k€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00728" y="5943600"/>
            <a:ext cx="3587495" cy="320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00728" y="5943600"/>
            <a:ext cx="3587495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Summe: 250 k€ / Jahr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6824" y="960120"/>
            <a:ext cx="3770375" cy="548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116824" y="960120"/>
            <a:ext cx="3770375" cy="38404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08264" y="987552"/>
            <a:ext cx="358749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Weiterentwicklung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08264" y="141732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99704" y="143560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Feature-Backlog (Business)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99704" y="169164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~10 PT/Mo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143560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100 k€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08264" y="201168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99704" y="202996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Release-Upgrade-Anpassungen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99704" y="228600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2× / Jahr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202996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50 k€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08264" y="260604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99704" y="262432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Custom-Reports / Dashboards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99704" y="288036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4-6 PT/Mo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26243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40 k€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08264" y="3200400"/>
            <a:ext cx="3587495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99704" y="3218688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Innovation Sprints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99704" y="3474720"/>
            <a:ext cx="230733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1× Q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21868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30 k€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08264" y="5943600"/>
            <a:ext cx="3587495" cy="3200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08264" y="5943600"/>
            <a:ext cx="3587495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Summe: 220 k€ / Jahr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Konsolidierungseinsparungen - Tool-Abloese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Gesamt Tool-Abloese-Ersparnis (Steady State p.a.)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99831" y="96012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~ 950 k€ / Jahr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783080"/>
            <a:ext cx="11585448" cy="6583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" y="1783080"/>
            <a:ext cx="64008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810512"/>
            <a:ext cx="3200400" cy="6035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PIT / PLANTA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185415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Projekt-/Ressourcen-Mgmt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67911" y="2039112"/>
            <a:ext cx="6675120" cy="21945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67911" y="2039112"/>
            <a:ext cx="6675120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34472" y="1783080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- 380 k€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" y="2487168"/>
            <a:ext cx="11585448" cy="65836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" y="2487168"/>
            <a:ext cx="64008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514600"/>
            <a:ext cx="3200400" cy="6035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MS Project Online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288950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Klass. Projekt-Mgmt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67911" y="2743200"/>
            <a:ext cx="6675120" cy="21945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67911" y="2743200"/>
            <a:ext cx="2107932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34472" y="2487168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- 120 k€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" y="3191256"/>
            <a:ext cx="11585448" cy="6583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" y="3191256"/>
            <a:ext cx="64008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218688"/>
            <a:ext cx="3200400" cy="6035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Workpath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3593591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Strategie / OKR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67911" y="3447288"/>
            <a:ext cx="6675120" cy="21945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67911" y="3447288"/>
            <a:ext cx="2634915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34472" y="3191256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- 150 k€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3895344"/>
            <a:ext cx="11585448" cy="65836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1752" y="3895344"/>
            <a:ext cx="64008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3922776"/>
            <a:ext cx="3200400" cy="6035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Power Apps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4297679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Custom-Formulare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67911" y="4151376"/>
            <a:ext cx="6675120" cy="21945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67911" y="4151376"/>
            <a:ext cx="1580949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34472" y="3895344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- 90 k€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" y="4599432"/>
            <a:ext cx="11585448" cy="6583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1752" y="4599432"/>
            <a:ext cx="64008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4626864"/>
            <a:ext cx="3200400" cy="6035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SharePoint-Listen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500176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Demand-Listen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67911" y="4855464"/>
            <a:ext cx="6675120" cy="21945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867911" y="4855464"/>
            <a:ext cx="1229627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34472" y="45994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- 70 k€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" y="5303520"/>
            <a:ext cx="11585448" cy="658368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01752" y="5303520"/>
            <a:ext cx="64008" cy="6583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5330952"/>
            <a:ext cx="3200400" cy="603503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Lucom (EV, teilweise)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" y="570585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EV-Prozess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67911" y="5559552"/>
            <a:ext cx="6675120" cy="219456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867911" y="5559552"/>
            <a:ext cx="2459254" cy="21945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34472" y="5303520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- 140 k€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Konsolidierungseinsparungen - Schnittstellen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Ersparnis Schnittstellen &amp; Integration p.a.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99831" y="96012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~ 220 k€ / Jahr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737360"/>
            <a:ext cx="5724144" cy="47091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" y="1737360"/>
            <a:ext cx="5724144" cy="32004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737360"/>
            <a:ext cx="55412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HEUTE - Fragmentierte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19456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194560"/>
            <a:ext cx="54864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194560"/>
            <a:ext cx="52669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PIT -&gt; SAP FI (Kostentransfer)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69748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2697480"/>
            <a:ext cx="54864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697480"/>
            <a:ext cx="52669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MSPO -&gt; SAP HCM (Personalstamm)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20040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3200400"/>
            <a:ext cx="54864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200400"/>
            <a:ext cx="52669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SharePoint -&gt; Excel (Datenexport)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370332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" y="3703320"/>
            <a:ext cx="54864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3703320"/>
            <a:ext cx="52669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Workpath -&gt; Excel (OKR-Reporting)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420624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4206240"/>
            <a:ext cx="54864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4206240"/>
            <a:ext cx="52669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PowerApps -&gt; Dataverse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470916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" y="4709160"/>
            <a:ext cx="54864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4709160"/>
            <a:ext cx="52669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Lucom EV -&gt; SAP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521208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" y="5212080"/>
            <a:ext cx="54864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5212080"/>
            <a:ext cx="52669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Excel-Konsolidierungen (div.)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3056" y="1737360"/>
            <a:ext cx="5724144" cy="47091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63056" y="1737360"/>
            <a:ext cx="5724144" cy="3200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1737360"/>
            <a:ext cx="55412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MIT SEPM - Native SNOW-Integration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0216" y="219456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0216" y="219456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6" y="21945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SAP FI Konnektor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06256" y="2194560"/>
            <a:ext cx="2798063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Standard, Integration Hub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0216" y="269748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0216" y="269748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26974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SAP HCM Konnektor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06256" y="2697480"/>
            <a:ext cx="2798063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Standard, Integration Hub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0216" y="320040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0216" y="320040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37376" y="32004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Interne Datenmodelle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06256" y="3200400"/>
            <a:ext cx="2798063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keine Excel-Export-Ketten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0216" y="370332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0216" y="370332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7376" y="37033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OKR-Modul nativ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06256" y="3703320"/>
            <a:ext cx="2798063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kein Workpath-Bridge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0216" y="420624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0216" y="420624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37376" y="42062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App Engine (Low-Code)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06256" y="4206240"/>
            <a:ext cx="2798063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Custom-Data auf gleicher Plattform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00216" y="470916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0216" y="470916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37376" y="47091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EV-Prozess nativ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06256" y="4709160"/>
            <a:ext cx="2798063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kein Lucom-Bridge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00216" y="5212080"/>
            <a:ext cx="5449824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00216" y="5212080"/>
            <a:ext cx="54864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37376" y="52120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Live-Reporting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06256" y="5212080"/>
            <a:ext cx="2798063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Calibri"/>
              </a:rPr>
              <a:t>Excel-Konsolidierung entfaellt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Flankierende Prozess-Potentiale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400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Zusaetzliches Einspar-Potenzial (SPM-flankierend, p.a.)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7031" y="96012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~ 1.060 k€ / Jahr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" y="1783080"/>
            <a:ext cx="11585448" cy="7863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" y="1783080"/>
            <a:ext cx="64008" cy="78638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2011680"/>
            <a:ext cx="310896" cy="31089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0116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819656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Massnahmen-Management Zielkostenmgmt Produktentwicklung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148840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Zentraler Massnahmen-Backlog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05672" y="2057400"/>
            <a:ext cx="1645920" cy="237744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05672" y="2057400"/>
            <a:ext cx="1645920" cy="23774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34472" y="1783080"/>
            <a:ext cx="118872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380 k€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" y="2624328"/>
            <a:ext cx="11585448" cy="786384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1752" y="2624328"/>
            <a:ext cx="64008" cy="78638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" y="2852928"/>
            <a:ext cx="310896" cy="31089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85292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2660904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Innovations- / Vorhaben-Trichter (LH/CRD -&gt; Steckbrief -&gt; Projekt)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2990088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Durchgaengige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05672" y="2898648"/>
            <a:ext cx="1645920" cy="237744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05672" y="2898648"/>
            <a:ext cx="952901" cy="23774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34472" y="2624328"/>
            <a:ext cx="118872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220 k€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" y="3465576"/>
            <a:ext cx="11585448" cy="7863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1752" y="3465576"/>
            <a:ext cx="64008" cy="78638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8912" y="3694176"/>
            <a:ext cx="310896" cy="31089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36941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3502152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Application Portfolio Mgmt (APM)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3831336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Lifecycle-Management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05672" y="3739896"/>
            <a:ext cx="1645920" cy="237744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05672" y="3739896"/>
            <a:ext cx="693018" cy="23774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34472" y="3465576"/>
            <a:ext cx="118872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160 k€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" y="4306824"/>
            <a:ext cx="11585448" cy="786384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1752" y="4306824"/>
            <a:ext cx="64008" cy="78638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8912" y="4535424"/>
            <a:ext cx="310896" cy="31089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453542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4343400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Benefits Realization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4672584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Ist-/Soll-Nutzenabgleich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05672" y="4581144"/>
            <a:ext cx="1645920" cy="237744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805672" y="4581144"/>
            <a:ext cx="519764" cy="23774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34472" y="4306824"/>
            <a:ext cx="118872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120 k€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1752" y="5148072"/>
            <a:ext cx="11585448" cy="7863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1752" y="5148072"/>
            <a:ext cx="64008" cy="786384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38912" y="5376672"/>
            <a:ext cx="310896" cy="310896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5376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" y="5184648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Compliance / EV-Prozess-Digitalisierung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" y="5513832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Calibri"/>
              </a:rPr>
              <a:t>EV-Workflow in SNOW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05672" y="5422392"/>
            <a:ext cx="1645920" cy="237744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805672" y="5422392"/>
            <a:ext cx="779646" cy="23774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34472" y="5148072"/>
            <a:ext cx="118872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Calibri"/>
              </a:rPr>
              <a:t>180 k€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Einfuehrungs-Szenarien im Vergleich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3770375" cy="5486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3770375" cy="60350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09087" y="960120"/>
            <a:ext cx="1417320" cy="603504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9087" y="960120"/>
            <a:ext cx="1417320" cy="60350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Calibri"/>
              </a:rPr>
              <a:t>★ EMPFOHLEN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" y="996696"/>
            <a:ext cx="2170175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 - Full Scope
24 Monate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645920"/>
            <a:ext cx="3496056" cy="2743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645920"/>
            <a:ext cx="34960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07F12"/>
                </a:solidFill>
                <a:latin typeface="Calibri"/>
              </a:rPr>
              <a:t>Empfohlen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011680"/>
            <a:ext cx="34960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Calibri"/>
              </a:rPr>
              <a:t>Dauer: 24 Monate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2240280"/>
            <a:ext cx="3496056" cy="164592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" y="2240280"/>
            <a:ext cx="2330703" cy="164592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" y="2560320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578608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834639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Alle Module Phase 1 + 2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3218687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236975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Ramp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493007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Standard-Timeline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3877056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895344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Payback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151376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~ 3,5 Jahre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4535424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553712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Business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809744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Voll ab Jahr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5193792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5212079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Risiko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5468112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Mittel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9288" y="960120"/>
            <a:ext cx="3770375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09288" y="960120"/>
            <a:ext cx="3770375" cy="603504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2440" y="996696"/>
            <a:ext cx="3633216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 - Extended Ramp
36 Monate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6448" y="1645920"/>
            <a:ext cx="3496056" cy="2743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6448" y="1645920"/>
            <a:ext cx="34960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3B6BA5"/>
                </a:solidFill>
                <a:latin typeface="Calibri"/>
              </a:rPr>
              <a:t>Konservativ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6448" y="2011680"/>
            <a:ext cx="34960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Calibri"/>
              </a:rPr>
              <a:t>Dauer: 36 Monate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6448" y="2240280"/>
            <a:ext cx="3496056" cy="164592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46448" y="2240280"/>
            <a:ext cx="3496056" cy="164592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46448" y="2560320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7888" y="2578608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Scope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7888" y="2834639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Alle Module, verteilter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6448" y="3218687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7888" y="3236975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Ramp 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7888" y="3493007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Reduziertes Tempo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46448" y="3877056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7888" y="3895344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Payback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7888" y="4151376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~ 4,5 Jahre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6448" y="4535424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7888" y="4553712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Business Value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7888" y="4809744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Voll ab Jahr 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46448" y="5193792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7888" y="5212079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Risiko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7888" y="5468112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Niedrig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16824" y="960120"/>
            <a:ext cx="3770375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116824" y="960120"/>
            <a:ext cx="3770375" cy="60350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89976" y="996696"/>
            <a:ext cx="3633216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 - MVP-First
12 Mo + Ausbau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53984" y="1645920"/>
            <a:ext cx="3496056" cy="2743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53984" y="1645920"/>
            <a:ext cx="34960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Calibri"/>
              </a:rPr>
              <a:t>Agil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53984" y="2011680"/>
            <a:ext cx="34960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Calibri"/>
              </a:rPr>
              <a:t>Dauer: 30 Monate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53984" y="2240280"/>
            <a:ext cx="3496056" cy="164592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253984" y="2240280"/>
            <a:ext cx="2913380" cy="16459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253984" y="2560320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45424" y="2578608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Scope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45424" y="2834639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Strategy + Portfolio zuerst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53984" y="3218687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45424" y="3236975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Ramp Up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45424" y="3493007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MVP live in 12 Mo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53984" y="3877056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45424" y="3895344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Payback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45424" y="4151376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~ 3 Jahre auf Teil-Nutzen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53984" y="4535424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45424" y="4553712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Business Value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45424" y="4809744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Teilnutzen frueh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53984" y="5193792"/>
            <a:ext cx="3496056" cy="6035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45424" y="5212079"/>
            <a:ext cx="33588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Calibri"/>
              </a:rPr>
              <a:t>Risiko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45424" y="5468112"/>
            <a:ext cx="3358895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Mittel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Szenario A - Full Scope 24 Monate (Empfohlen)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960120"/>
            <a:ext cx="11585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Calibri"/>
              </a:rPr>
              <a:t>Umsetzungs-Timeline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87752" y="1234440"/>
            <a:ext cx="4649724" cy="256032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87752" y="1234440"/>
            <a:ext cx="46497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Jahr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7476" y="1234440"/>
            <a:ext cx="4649724" cy="256032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6" y="1234440"/>
            <a:ext cx="46497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Jahr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5544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7752" y="1554480"/>
            <a:ext cx="9299448" cy="3291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96896" y="1572768"/>
            <a:ext cx="1144143" cy="292608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929384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Impl. Phase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87752" y="1929384"/>
            <a:ext cx="9299448" cy="3291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59327" y="1947672"/>
            <a:ext cx="3469005" cy="29260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2304288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Go-Live Phase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87752" y="2304288"/>
            <a:ext cx="9299448" cy="3291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46620" y="2322576"/>
            <a:ext cx="369189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2679192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Impl. Phase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87752" y="2679192"/>
            <a:ext cx="9299448" cy="3291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46620" y="2697480"/>
            <a:ext cx="4243959" cy="292608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" y="3054096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Go-Live Phase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87752" y="3054096"/>
            <a:ext cx="9299448" cy="3291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508867" y="3072384"/>
            <a:ext cx="369189" cy="29260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342900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Change / Rollout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87752" y="3429000"/>
            <a:ext cx="9299448" cy="32918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59327" y="3447288"/>
            <a:ext cx="8118729" cy="29260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" y="4032504"/>
            <a:ext cx="11585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07F12"/>
                </a:solidFill>
                <a:latin typeface="Calibri"/>
              </a:rPr>
              <a:t>Investitions- und Nutzenprofil (schematisch)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4306824"/>
            <a:ext cx="11585448" cy="213969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1752" y="4306824"/>
            <a:ext cx="2307945" cy="2139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" y="6190488"/>
            <a:ext cx="2317089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Jahr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18841" y="4306824"/>
            <a:ext cx="2307945" cy="2139696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18841" y="6190488"/>
            <a:ext cx="2317089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Jahr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5931" y="4306824"/>
            <a:ext cx="2307945" cy="2139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5931" y="6190488"/>
            <a:ext cx="2317089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Jahr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53020" y="4306824"/>
            <a:ext cx="2307945" cy="2139696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53020" y="6190488"/>
            <a:ext cx="2317089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Jahr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70110" y="4306824"/>
            <a:ext cx="2307945" cy="2139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70110" y="6190488"/>
            <a:ext cx="2317089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Calibri"/>
              </a:rPr>
              <a:t>Jahr 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04264" y="5378704"/>
            <a:ext cx="219456" cy="747776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7376" y="524154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Calibri"/>
              </a:rPr>
              <a:t>2.0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96872" y="6014313"/>
            <a:ext cx="219456" cy="11216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13992" y="5877153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Calibri"/>
              </a:rPr>
              <a:t>0.3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21354" y="5303926"/>
            <a:ext cx="219456" cy="822553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74466" y="516676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Calibri"/>
              </a:rPr>
              <a:t>2.2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13962" y="5565648"/>
            <a:ext cx="219456" cy="56083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31082" y="54284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Calibri"/>
              </a:rPr>
              <a:t>1.5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38443" y="5677814"/>
            <a:ext cx="219456" cy="448665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91555" y="55406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Calibri"/>
              </a:rPr>
              <a:t>1.2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31051" y="5004816"/>
            <a:ext cx="219456" cy="112166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8171" y="486765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Calibri"/>
              </a:rPr>
              <a:t>3.0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55533" y="5752592"/>
            <a:ext cx="219456" cy="37388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8645" y="56154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Calibri"/>
              </a:rPr>
              <a:t>1.0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48141" y="4630928"/>
            <a:ext cx="219456" cy="149555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65261" y="44937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Calibri"/>
              </a:rPr>
              <a:t>4.0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472623" y="5752592"/>
            <a:ext cx="219456" cy="37388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25735" y="56154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Calibri"/>
              </a:rPr>
              <a:t>1.0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765231" y="4518761"/>
            <a:ext cx="219456" cy="160771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82351" y="4381601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Calibri"/>
              </a:rPr>
              <a:t>4.3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Szenario B - Extended Ramp-Up 36 Monate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5701284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5701284" cy="38404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960120"/>
            <a:ext cx="570128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Szenario A - 24 Monate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417320"/>
            <a:ext cx="54269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Dauer: 24 Monate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673352"/>
            <a:ext cx="5426964" cy="18288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" y="1673352"/>
            <a:ext cx="3617976" cy="1828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" y="2011680"/>
            <a:ext cx="109728" cy="10972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920240"/>
            <a:ext cx="52440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Standard-Tempo, 2 Jahre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" y="2286000"/>
            <a:ext cx="109728" cy="10972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194560"/>
            <a:ext cx="52440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Hoeherer Change-Druck</a:t>
            </a:r>
          </a:p>
        </p:txBody>
      </p:sp>
      <p:sp>
        <p:nvSpPr>
          <p:cNvPr id="14" name="Oval 13"/>
          <p:cNvSpPr/>
          <p:nvPr/>
        </p:nvSpPr>
        <p:spPr>
          <a:xfrm>
            <a:off x="438912" y="2560320"/>
            <a:ext cx="109728" cy="10972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468880"/>
            <a:ext cx="52440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Nutzen ab Jahr 3 vollstaendig</a:t>
            </a:r>
          </a:p>
        </p:txBody>
      </p:sp>
      <p:sp>
        <p:nvSpPr>
          <p:cNvPr id="16" name="Oval 15"/>
          <p:cNvSpPr/>
          <p:nvPr/>
        </p:nvSpPr>
        <p:spPr>
          <a:xfrm>
            <a:off x="438912" y="2834640"/>
            <a:ext cx="109728" cy="10972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743200"/>
            <a:ext cx="52440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Payback ~ 3,5 Jahre</a:t>
            </a:r>
          </a:p>
        </p:txBody>
      </p:sp>
      <p:sp>
        <p:nvSpPr>
          <p:cNvPr id="18" name="Oval 17"/>
          <p:cNvSpPr/>
          <p:nvPr/>
        </p:nvSpPr>
        <p:spPr>
          <a:xfrm>
            <a:off x="438912" y="3108960"/>
            <a:ext cx="109728" cy="109728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017520"/>
            <a:ext cx="52440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Empfohlen bei ausr. Ressourcen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5916" y="960120"/>
            <a:ext cx="5701284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5916" y="960120"/>
            <a:ext cx="5701284" cy="384048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5916" y="960120"/>
            <a:ext cx="5701284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Szenario B - 36 Monate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3076" y="1417320"/>
            <a:ext cx="54269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Dauer: 36 Monate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3076" y="1673352"/>
            <a:ext cx="5426964" cy="18288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23076" y="1673352"/>
            <a:ext cx="5426964" cy="18288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23076" y="2011680"/>
            <a:ext cx="109728" cy="109728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5956" y="1920240"/>
            <a:ext cx="52440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Verteiltes Tempo, 3 Jahre</a:t>
            </a:r>
          </a:p>
        </p:txBody>
      </p:sp>
      <p:sp>
        <p:nvSpPr>
          <p:cNvPr id="28" name="Oval 27"/>
          <p:cNvSpPr/>
          <p:nvPr/>
        </p:nvSpPr>
        <p:spPr>
          <a:xfrm>
            <a:off x="6323076" y="2286000"/>
            <a:ext cx="109728" cy="109728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5956" y="2194560"/>
            <a:ext cx="52440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Weniger Change-Druck</a:t>
            </a:r>
          </a:p>
        </p:txBody>
      </p:sp>
      <p:sp>
        <p:nvSpPr>
          <p:cNvPr id="30" name="Oval 29"/>
          <p:cNvSpPr/>
          <p:nvPr/>
        </p:nvSpPr>
        <p:spPr>
          <a:xfrm>
            <a:off x="6323076" y="2560320"/>
            <a:ext cx="109728" cy="109728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5956" y="2468880"/>
            <a:ext cx="52440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Nutzen ab Jahr 4 vollstaendig</a:t>
            </a:r>
          </a:p>
        </p:txBody>
      </p:sp>
      <p:sp>
        <p:nvSpPr>
          <p:cNvPr id="32" name="Oval 31"/>
          <p:cNvSpPr/>
          <p:nvPr/>
        </p:nvSpPr>
        <p:spPr>
          <a:xfrm>
            <a:off x="6323076" y="2834640"/>
            <a:ext cx="109728" cy="109728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5956" y="2743200"/>
            <a:ext cx="52440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Payback ~ 4,5 Jahre</a:t>
            </a:r>
          </a:p>
        </p:txBody>
      </p:sp>
      <p:sp>
        <p:nvSpPr>
          <p:cNvPr id="34" name="Oval 33"/>
          <p:cNvSpPr/>
          <p:nvPr/>
        </p:nvSpPr>
        <p:spPr>
          <a:xfrm>
            <a:off x="6323076" y="3108960"/>
            <a:ext cx="109728" cy="109728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5956" y="3017520"/>
            <a:ext cx="524408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Empfohlen bei knappen Ress.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" y="3520440"/>
            <a:ext cx="11585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Calibri"/>
              </a:rPr>
              <a:t>Kosten- &amp; Nutzen-Delta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1752" y="3794760"/>
            <a:ext cx="11585448" cy="256032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" y="379476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Kennzahl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2" y="379476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Szenario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8312" y="37947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Szenario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28632" y="379476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Δ B vs 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" y="4069080"/>
            <a:ext cx="11585448" cy="237744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4069080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Einmalige Kosten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16552" y="4069080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Calibri"/>
              </a:rPr>
              <a:t>3,0 M€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68312" y="4069080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Calibri"/>
              </a:rPr>
              <a:t>2,7 M€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28632" y="40690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Calibri"/>
              </a:rPr>
              <a:t>-0,3 M€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" y="4325112"/>
            <a:ext cx="11585448" cy="23774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4325112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Laufend p.a. steady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16552" y="4325112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Calibri"/>
              </a:rPr>
              <a:t>0,85 M€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68312" y="4325112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Calibri"/>
              </a:rPr>
              <a:t>0,80 M€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28632" y="432511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Calibri"/>
              </a:rPr>
              <a:t>-0,05 M€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1752" y="4581144"/>
            <a:ext cx="11585448" cy="237744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" y="4581144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5-Jahres-TCO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16552" y="4581144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Calibri"/>
              </a:rPr>
              <a:t>7,0 M€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68312" y="4581144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Calibri"/>
              </a:rPr>
              <a:t>6,7 M€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28632" y="4581144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Calibri"/>
              </a:rPr>
              <a:t>-0,3 M€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" y="4837176"/>
            <a:ext cx="11585448" cy="23774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" y="4837176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Nutzen Y3 (kumul.)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16552" y="483717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Calibri"/>
              </a:rPr>
              <a:t>3,5 M€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68312" y="4837176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Calibri"/>
              </a:rPr>
              <a:t>1,8 M€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28632" y="483717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Calibri"/>
              </a:rPr>
              <a:t>-1,7 M€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1752" y="5093208"/>
            <a:ext cx="11585448" cy="237744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" y="5093208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Nutzen Y5 (kumul.)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16552" y="5093208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Calibri"/>
              </a:rPr>
              <a:t>16 M€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68312" y="5093208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Calibri"/>
              </a:rPr>
              <a:t>12 M€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28632" y="509320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Calibri"/>
              </a:rPr>
              <a:t>-4 M€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" y="5349240"/>
            <a:ext cx="11585448" cy="23774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8912" y="5349240"/>
            <a:ext cx="3977639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Payback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16552" y="5349240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Calibri"/>
              </a:rPr>
              <a:t>~ 3,5 J.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68312" y="5349240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Calibri"/>
              </a:rPr>
              <a:t>~ 4,5 J.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28632" y="534924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+1 J.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Budgetplanung SEPM  (Punkt 6 Folie 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11585448" cy="6400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9601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Gesamt-Investition SEPM 2027-2031 (Base Case)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99831" y="96012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Calibri"/>
              </a:rPr>
              <a:t>~ 7.6 Mio. 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3952" y="2103120"/>
            <a:ext cx="1371600" cy="27432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5352" y="1920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2.2 M€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5352" y="491032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592" y="5148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Phase 1 Impl. + Lizenz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1314" y="2103120"/>
            <a:ext cx="1371600" cy="27432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2714" y="1920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2.2 M€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2714" y="491032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2028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954" y="5148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Phase 2 Impl. + Lizenz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8676" y="3350029"/>
            <a:ext cx="1371600" cy="149629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0076" y="3167149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1.2 M€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0076" y="491032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2029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4316" y="5148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Steady + Weiterentw.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16037" y="3599410"/>
            <a:ext cx="1371600" cy="1246909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7437" y="341653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1.0 M€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7437" y="491032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1677" y="5148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Steady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3399" y="3599410"/>
            <a:ext cx="1371600" cy="1246909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94799" y="341653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1.0 M€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4799" y="491032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2031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9039" y="5148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Steady State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" y="4846320"/>
            <a:ext cx="11036808" cy="182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" y="5440680"/>
            <a:ext cx="115854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07F12"/>
                </a:solidFill>
                <a:latin typeface="Calibri"/>
              </a:rPr>
              <a:t>Milestones Jahresplanung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" y="5696712"/>
            <a:ext cx="3770375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393192" y="5897880"/>
            <a:ext cx="256032" cy="256032"/>
          </a:xfrm>
          <a:prstGeom prst="diamond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733288"/>
            <a:ext cx="3221735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Q3 2026: Jahresplanung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6025896"/>
            <a:ext cx="3221735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Beschluss 2027 &amp; Rahmen 2028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9288" y="5696712"/>
            <a:ext cx="3770375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4300728" y="5897880"/>
            <a:ext cx="256032" cy="256032"/>
          </a:xfrm>
          <a:prstGeom prst="diamond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6488" y="5733288"/>
            <a:ext cx="3221735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Q3 2027: Jahresplanung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6488" y="6025896"/>
            <a:ext cx="3221735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Freigabe Phase 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6824" y="5696712"/>
            <a:ext cx="3770375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amond 37"/>
          <p:cNvSpPr/>
          <p:nvPr/>
        </p:nvSpPr>
        <p:spPr>
          <a:xfrm>
            <a:off x="8208264" y="5897880"/>
            <a:ext cx="256032" cy="256032"/>
          </a:xfrm>
          <a:prstGeom prst="diamond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74024" y="5733288"/>
            <a:ext cx="3221735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Q3 2028: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4024" y="6025896"/>
            <a:ext cx="3221735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Uebergang Steady State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Risiken der ServiceNow-Plattform-Abhaengigkeit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960120"/>
            <a:ext cx="11585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Calibri"/>
              </a:rPr>
              <a:t>Risiko-Matrix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" y="1234440"/>
            <a:ext cx="11585448" cy="256032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3444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Risiko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2344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Schwere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8072" y="123444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" y="1527048"/>
            <a:ext cx="11585448" cy="51206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2704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Vendor Lock-in</a:t>
            </a:r>
          </a:p>
        </p:txBody>
      </p:sp>
      <p:sp>
        <p:nvSpPr>
          <p:cNvPr id="11" name="Oval 10"/>
          <p:cNvSpPr/>
          <p:nvPr/>
        </p:nvSpPr>
        <p:spPr>
          <a:xfrm>
            <a:off x="3593592" y="1728216"/>
            <a:ext cx="164592" cy="16459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49624" y="1728216"/>
            <a:ext cx="164592" cy="16459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5656" y="1728216"/>
            <a:ext cx="164592" cy="16459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61688" y="1728216"/>
            <a:ext cx="164592" cy="16459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720" y="172821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1527048"/>
            <a:ext cx="68580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Standard-Konfiguration, Migrations-Klauseln, Marktscreening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" y="2075688"/>
            <a:ext cx="11585448" cy="512064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07568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Preis-Eskalation</a:t>
            </a:r>
          </a:p>
        </p:txBody>
      </p:sp>
      <p:sp>
        <p:nvSpPr>
          <p:cNvPr id="19" name="Oval 18"/>
          <p:cNvSpPr/>
          <p:nvPr/>
        </p:nvSpPr>
        <p:spPr>
          <a:xfrm>
            <a:off x="3593592" y="227685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49624" y="227685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05656" y="227685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61688" y="227685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17720" y="227685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8072" y="2075688"/>
            <a:ext cx="68580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Mehrjahresvertrag mit Preisgarantie, Volumen-Rabatte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" y="2624328"/>
            <a:ext cx="11585448" cy="51206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62432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Ausfall/Betrieb</a:t>
            </a:r>
          </a:p>
        </p:txBody>
      </p:sp>
      <p:sp>
        <p:nvSpPr>
          <p:cNvPr id="27" name="Oval 26"/>
          <p:cNvSpPr/>
          <p:nvPr/>
        </p:nvSpPr>
        <p:spPr>
          <a:xfrm>
            <a:off x="3593592" y="2825496"/>
            <a:ext cx="164592" cy="1645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9624" y="2825496"/>
            <a:ext cx="164592" cy="1645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05656" y="282549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61688" y="282549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17720" y="282549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48072" y="2624328"/>
            <a:ext cx="68580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SLA 99,9% + DC Frankfurt/Duesseldorf, DSGVO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" y="3172968"/>
            <a:ext cx="11585448" cy="512064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317296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Roadmap-Divergenz</a:t>
            </a:r>
          </a:p>
        </p:txBody>
      </p:sp>
      <p:sp>
        <p:nvSpPr>
          <p:cNvPr id="35" name="Oval 34"/>
          <p:cNvSpPr/>
          <p:nvPr/>
        </p:nvSpPr>
        <p:spPr>
          <a:xfrm>
            <a:off x="3593592" y="337413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9624" y="337413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05656" y="337413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61688" y="337413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17720" y="337413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48072" y="3172968"/>
            <a:ext cx="68580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Standard first, halbjaehrl. Review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" y="3721608"/>
            <a:ext cx="11585448" cy="51206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372160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Datenhoheit / DSGVO</a:t>
            </a:r>
          </a:p>
        </p:txBody>
      </p:sp>
      <p:sp>
        <p:nvSpPr>
          <p:cNvPr id="43" name="Oval 42"/>
          <p:cNvSpPr/>
          <p:nvPr/>
        </p:nvSpPr>
        <p:spPr>
          <a:xfrm>
            <a:off x="3593592" y="3922776"/>
            <a:ext cx="164592" cy="1645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849624" y="3922776"/>
            <a:ext cx="164592" cy="1645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105656" y="392277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61688" y="392277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17720" y="392277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48072" y="3721608"/>
            <a:ext cx="68580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DE-Hosting, ADV-Vertrag, verschluesselt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1752" y="4270248"/>
            <a:ext cx="11585448" cy="512064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427024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Team-Kompetenzaufbau</a:t>
            </a:r>
          </a:p>
        </p:txBody>
      </p:sp>
      <p:sp>
        <p:nvSpPr>
          <p:cNvPr id="51" name="Oval 50"/>
          <p:cNvSpPr/>
          <p:nvPr/>
        </p:nvSpPr>
        <p:spPr>
          <a:xfrm>
            <a:off x="3593592" y="447141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849624" y="447141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105656" y="4471416"/>
            <a:ext cx="164592" cy="164592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361688" y="447141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617720" y="4471416"/>
            <a:ext cx="164592" cy="164592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48072" y="4270248"/>
            <a:ext cx="68580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Ausbau ITSM-Team +1,5-2 FTE, Ausbildung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01752" y="4910327"/>
            <a:ext cx="11585448" cy="1536192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01752" y="4910327"/>
            <a:ext cx="64008" cy="15361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" y="4946903"/>
            <a:ext cx="1131112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Fazit Risiko-Bewertung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" y="5230367"/>
            <a:ext cx="11311128" cy="1170432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Kein Risiko ist ein Show-Stopper. Alle Risiken sind mit Standard-Vertraegen (Preisgarantie, DSGVO-ADV, SLA) und Standard-First-Governance beherrschbar.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ServiceNow bei STIHL - Vertragshistorie 2014-2026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1752" y="960120"/>
            <a:ext cx="11585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07F12"/>
                </a:solidFill>
                <a:latin typeface="Calibri"/>
              </a:rPr>
              <a:t>Vertragsstufen und jaehrliche Lizenzausgaben (indikativ)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" y="1234440"/>
            <a:ext cx="11585448" cy="2743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" y="3611879"/>
            <a:ext cx="10853928" cy="182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7784" y="3190363"/>
            <a:ext cx="219456" cy="42151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6072" y="3098923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109728" y="2824603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180 k€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09728" y="3685031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66771" y="3003023"/>
            <a:ext cx="219456" cy="608856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85059" y="2911583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9259" y="2637263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260 k€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9259" y="3685031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75759" y="2815682"/>
            <a:ext cx="219456" cy="796197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94047" y="2724242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8247" y="244992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340 k€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8247" y="3685031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4747" y="2651759"/>
            <a:ext cx="219456" cy="9601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03036" y="2560319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17236" y="2285999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410 k€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7236" y="3685031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93736" y="2464419"/>
            <a:ext cx="219456" cy="11474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12024" y="2372979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6224" y="2098659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490 k€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6224" y="3685031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2022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2724" y="2300496"/>
            <a:ext cx="219456" cy="1311383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21012" y="2209056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35212" y="1934736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560 k€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5212" y="3685031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2024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11712" y="1691639"/>
            <a:ext cx="219456" cy="19202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430000" y="1600199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44200" y="1325879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Calibri"/>
              </a:rPr>
              <a:t>820 k€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3685031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" y="4114800"/>
            <a:ext cx="1158544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07F12"/>
                </a:solidFill>
                <a:latin typeface="Calibri"/>
              </a:rPr>
              <a:t>Meilensteine der Zusammenarbeit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1752" y="4389120"/>
            <a:ext cx="3770375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1752" y="4389120"/>
            <a:ext cx="54864" cy="5029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4407407"/>
            <a:ext cx="3587495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2014 · Erstvertrag ITSM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4626864"/>
            <a:ext cx="358749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Standard Package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9288" y="4389120"/>
            <a:ext cx="3770375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09288" y="4389120"/>
            <a:ext cx="54864" cy="5029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46448" y="4407407"/>
            <a:ext cx="3587495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2016 · Erweiterung Global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6448" y="4626864"/>
            <a:ext cx="358749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Ausrollung inkl. China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16824" y="4389120"/>
            <a:ext cx="3770375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16824" y="4389120"/>
            <a:ext cx="54864" cy="5029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53984" y="4407407"/>
            <a:ext cx="3587495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2018 · Enterprise-Vertrag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53984" y="4626864"/>
            <a:ext cx="358749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Volumen-Diskont, HR-SD add-on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1752" y="4937759"/>
            <a:ext cx="3770375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1752" y="4937759"/>
            <a:ext cx="54864" cy="5029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4956047"/>
            <a:ext cx="3587495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2020 · ITOM + CMDB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" y="5175503"/>
            <a:ext cx="358749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Discovery, Event Mgmt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09288" y="4937759"/>
            <a:ext cx="3770375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09288" y="4937759"/>
            <a:ext cx="54864" cy="5029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46448" y="4956047"/>
            <a:ext cx="3587495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2022 · Contract Renewal 3J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46448" y="5175503"/>
            <a:ext cx="358749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Preisanpassung +5% p.a.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16824" y="4937759"/>
            <a:ext cx="3770375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16824" y="4937759"/>
            <a:ext cx="54864" cy="5029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53984" y="4956047"/>
            <a:ext cx="3587495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2024 · Now Assist Preview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53984" y="5175503"/>
            <a:ext cx="358749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GenAI eingefuehrt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1752" y="5486400"/>
            <a:ext cx="3770375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01752" y="5486400"/>
            <a:ext cx="54864" cy="5029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912" y="5504688"/>
            <a:ext cx="3587495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Calibri"/>
              </a:rPr>
              <a:t>2026 · SPM Pro (geplant)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" y="5724144"/>
            <a:ext cx="358749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Neuer Modul-Baustein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ROI-Kalkulation &amp; Empfehlung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1752" y="960120"/>
            <a:ext cx="2814066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1752" y="960120"/>
            <a:ext cx="2814066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960120"/>
            <a:ext cx="281406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NPV 5 Jahre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1280160"/>
            <a:ext cx="281406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Calibri"/>
              </a:rPr>
              <a:t>~ +8,5 M€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1783080"/>
            <a:ext cx="28140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Base Case, WACC 6 %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5546" y="960120"/>
            <a:ext cx="2814066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25546" y="960120"/>
            <a:ext cx="2814066" cy="2743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5546" y="960120"/>
            <a:ext cx="281406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5546" y="1280160"/>
            <a:ext cx="281406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Calibri"/>
              </a:rPr>
              <a:t>~ 32 %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5546" y="1783080"/>
            <a:ext cx="28140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ueber Investitionshuerde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960120"/>
            <a:ext cx="2814066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9340" y="960120"/>
            <a:ext cx="2814066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9340" y="960120"/>
            <a:ext cx="281406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Payback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9340" y="1280160"/>
            <a:ext cx="281406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Calibri"/>
              </a:rPr>
              <a:t>~ 3,5 J.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9340" y="1783080"/>
            <a:ext cx="28140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nach Kickoff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3134" y="960120"/>
            <a:ext cx="2814066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73134" y="960120"/>
            <a:ext cx="2814066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3134" y="960120"/>
            <a:ext cx="2814066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TCO 5 Jahre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3134" y="1280160"/>
            <a:ext cx="281406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2C3E50"/>
                </a:solidFill>
                <a:latin typeface="Calibri"/>
              </a:rPr>
              <a:t>~ 7,0 M€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3134" y="1783080"/>
            <a:ext cx="281406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einmalig + laufend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2240280"/>
            <a:ext cx="11585448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Calibri"/>
              </a:rPr>
              <a:t>Kosten-Nutzen-Uebersicht (5 Jahre kumuliert, Base Case)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" y="2514600"/>
            <a:ext cx="11585448" cy="31089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5328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Kosten (TCO)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4152" y="2532888"/>
            <a:ext cx="367588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B91C1C"/>
                </a:solidFill>
                <a:latin typeface="Calibri"/>
              </a:rPr>
              <a:t>- 7,0 M€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" y="2862072"/>
            <a:ext cx="11585448" cy="310896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28803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Konsolidierung Tools (5 J.)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2880360"/>
            <a:ext cx="367588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+ 4,7 M€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" y="3209544"/>
            <a:ext cx="11585448" cy="31089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2278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Konsolidierung Schnittstellen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4152" y="3227832"/>
            <a:ext cx="367588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+ 1,1 M€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" y="3557016"/>
            <a:ext cx="11585448" cy="310896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5753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Business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4152" y="3575304"/>
            <a:ext cx="367588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+ 11,6 M€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1752" y="3904487"/>
            <a:ext cx="11585448" cy="31089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922775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Flankierende Prozesse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4152" y="3922775"/>
            <a:ext cx="367588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Calibri"/>
              </a:rPr>
              <a:t>+ 5,3 M€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1752" y="4251960"/>
            <a:ext cx="11585448" cy="310896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4270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Netto-Effekt 5 Jahre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74152" y="4270248"/>
            <a:ext cx="367588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300" b="1" i="0">
                <a:solidFill>
                  <a:srgbClr val="F07F12"/>
                </a:solidFill>
                <a:latin typeface="Calibri"/>
              </a:rPr>
              <a:t>+ 15,7 M€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1752" y="4736592"/>
            <a:ext cx="11585448" cy="1709927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" y="4736592"/>
            <a:ext cx="3200400" cy="1709927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★ EMPFEHLUNG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76472" y="4828032"/>
            <a:ext cx="7927848" cy="1527047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Beschluss zur Umsetzung von Szenario A (Full Scope 24 Monate) und Freigabe Detail-Planung / RFP-Prozess bis Q3 2026 empfohlen. NPV +8,5 M€, IRR 32 %, Payback ~3,5 J. - deutlich ueber Investitions-Huerde.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Vielen Dank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81C1C579840D48AC999B396FE66310" ma:contentTypeVersion="12" ma:contentTypeDescription="Create a new document." ma:contentTypeScope="" ma:versionID="646d29713344052343ad324215fc0f96">
  <xsd:schema xmlns:xsd="http://www.w3.org/2001/XMLSchema" xmlns:xs="http://www.w3.org/2001/XMLSchema" xmlns:p="http://schemas.microsoft.com/office/2006/metadata/properties" xmlns:ns2="523280cd-a023-47fb-9c6b-d00b9095b7ab" xmlns:ns3="1449935d-50da-41e9-87a8-3306d78bd466" targetNamespace="http://schemas.microsoft.com/office/2006/metadata/properties" ma:root="true" ma:fieldsID="7a04719490a9881a1c9c6d2c79e269f8" ns2:_="" ns3:_="">
    <xsd:import namespace="523280cd-a023-47fb-9c6b-d00b9095b7ab"/>
    <xsd:import namespace="1449935d-50da-41e9-87a8-3306d78bd4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3280cd-a023-47fb-9c6b-d00b9095b7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49935d-50da-41e9-87a8-3306d78bd46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1aa8117-7af4-4a81-9c32-6097d7e72bd7}" ma:internalName="TaxCatchAll" ma:showField="CatchAllData" ma:web="1449935d-50da-41e9-87a8-3306d78bd4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449935d-50da-41e9-87a8-3306d78bd466" xsi:nil="true"/>
    <lcf76f155ced4ddcb4097134ff3c332f xmlns="523280cd-a023-47fb-9c6b-d00b9095b7a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5E7DB3-A956-4506-AAD6-F0A62C6F1C01}">
  <ds:schemaRefs>
    <ds:schemaRef ds:uri="1449935d-50da-41e9-87a8-3306d78bd466"/>
    <ds:schemaRef ds:uri="523280cd-a023-47fb-9c6b-d00b9095b7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1449935d-50da-41e9-87a8-3306d78bd466"/>
    <ds:schemaRef ds:uri="2f256423-360f-43c8-9cc5-edab87e38065"/>
    <ds:schemaRef ds:uri="523280cd-a023-47fb-9c6b-d00b9095b7ab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677</Words>
  <Application>Microsoft Office PowerPoint</Application>
  <PresentationFormat>Breitbild</PresentationFormat>
  <Paragraphs>132</Paragraphs>
  <Slides>6</Slides>
  <Notes>4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4" baseType="lpstr">
      <vt:lpstr>Arial</vt:lpstr>
      <vt:lpstr>Calibri</vt:lpstr>
      <vt:lpstr>STIHL Contraface Display Title</vt:lpstr>
      <vt:lpstr>STIHL Contraface Text</vt:lpstr>
      <vt:lpstr>Symbol</vt:lpstr>
      <vt:lpstr>STIHL EN 16:9</vt:lpstr>
      <vt:lpstr>think-cell Slide</vt:lpstr>
      <vt:lpstr>think-cell Folie</vt:lpstr>
      <vt:lpstr>SEPM Weiteres Vorgehen  ƒ</vt:lpstr>
      <vt:lpstr>Weiteres Vorgehen </vt:lpstr>
      <vt:lpstr>Vorstandsprotokoll SEPM </vt:lpstr>
      <vt:lpstr>Vorgänge </vt:lpstr>
      <vt:lpstr>Detail-Terminierung</vt:lpstr>
      <vt:lpstr>PowerPoint-Präsentation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</cp:revision>
  <dcterms:created xsi:type="dcterms:W3CDTF">2025-07-07T10:08:27Z</dcterms:created>
  <dcterms:modified xsi:type="dcterms:W3CDTF">2026-07-01T14:46:47Z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0x0101003681C1C579840D48AC999B396FE66310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