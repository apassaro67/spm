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811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21920"/>
          </a:xfrm>
          <a:prstGeom prst="rect">
            <a:avLst/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24384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Team-Building &amp; Scope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77240"/>
            <a:ext cx="9144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Digital Workplace &amp; Support</a:t>
            </a:r>
            <a:r>
              <a:rPr sz="1300" b="0" i="1">
                <a:solidFill>
                  <a:srgbClr val="B9C6DB"/>
                </a:solidFill>
                <a:latin typeface="Calibri"/>
              </a:rPr>
              <a:t>     „Wir sind für Sie da.“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0" y="228600"/>
            <a:ext cx="31242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r"/>
            <a:r>
              <a:rPr sz="850" b="0" i="0">
                <a:solidFill>
                  <a:srgbClr val="B9C6DB"/>
                </a:solidFill>
                <a:latin typeface="Calibri"/>
              </a:rPr>
              <a:t>Abteilung</a:t>
            </a:r>
          </a:p>
          <a:p>
            <a:pPr algn="r"/>
            <a:r>
              <a:rPr sz="1200" b="1" i="0">
                <a:solidFill>
                  <a:srgbClr val="FFFFFF"/>
                </a:solidFill>
                <a:latin typeface="Calibri"/>
              </a:rPr>
              <a:t>Alexander Passaro</a:t>
            </a:r>
          </a:p>
          <a:p>
            <a:pPr algn="r"/>
            <a:r>
              <a:rPr sz="950" b="1" i="0">
                <a:solidFill>
                  <a:srgbClr val="E0600C"/>
                </a:solidFill>
                <a:latin typeface="Calibri"/>
              </a:rPr>
              <a:t>Termin: KW 42 / 43 · Okt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31064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ZIELE DES WORKSHOPS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554480"/>
            <a:ext cx="2712720" cy="40386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 w="9525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554480"/>
            <a:ext cx="53340" cy="40386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2560320" cy="4038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Über Teamgrenzen kennenlernen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554480"/>
            <a:ext cx="2712720" cy="40386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 w="9525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554480"/>
            <a:ext cx="53340" cy="40386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4240" y="1554480"/>
            <a:ext cx="2560320" cy="4038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Gemeinsames Zielbild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1720" y="1554480"/>
            <a:ext cx="2712720" cy="40386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 w="9525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41720" y="1554480"/>
            <a:ext cx="53340" cy="40386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400" y="1554480"/>
            <a:ext cx="2560320" cy="4038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Scope schärfen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5880" y="1554480"/>
            <a:ext cx="2712720" cy="40386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 w="9525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45880" y="1554480"/>
            <a:ext cx="53340" cy="40386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554480"/>
            <a:ext cx="2560320" cy="4038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Zusammenarbeit vereinbaren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2171700"/>
            <a:ext cx="5486400" cy="2667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3400" y="2171700"/>
            <a:ext cx="5486400" cy="609600"/>
          </a:xfrm>
          <a:prstGeom prst="roundRect">
            <a:avLst>
              <a:gd name="adj" fmla="val 9000"/>
            </a:avLst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3400" y="2514600"/>
            <a:ext cx="5486400" cy="266700"/>
          </a:xfrm>
          <a:prstGeom prst="rect">
            <a:avLst/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209800"/>
            <a:ext cx="5181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900" b="1" i="0">
                <a:solidFill>
                  <a:srgbClr val="FBE7D6"/>
                </a:solidFill>
                <a:latin typeface="Calibri"/>
              </a:rPr>
              <a:t>TEIL 1 · MITEINANDER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407920"/>
            <a:ext cx="51816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Team Building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895600"/>
            <a:ext cx="5181600" cy="18669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E0600C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Vorstellung bewusst gemischt — Person, Rolle, Beitrag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E0600C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Skills- &amp; Stärken-Landkarte der Abteilung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E0600C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Erwartungen: „was ich beitrage / was ich brauche“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E0600C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Gemeinsame Werte &amp; Team-Charter erarbeiten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E0600C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Neue Kolleg:innen aktiv einbinden (Buddy-Prinzip)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171700"/>
            <a:ext cx="5486400" cy="2667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72200" y="2171700"/>
            <a:ext cx="5486400" cy="609600"/>
          </a:xfrm>
          <a:prstGeom prst="roundRect">
            <a:avLst>
              <a:gd name="adj" fmla="val 9000"/>
            </a:avLst>
          </a:prstGeom>
          <a:solidFill>
            <a:srgbClr val="2E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2514600"/>
            <a:ext cx="5486400" cy="266700"/>
          </a:xfrm>
          <a:prstGeom prst="rect">
            <a:avLst/>
          </a:prstGeom>
          <a:solidFill>
            <a:srgbClr val="2E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4600" y="2209800"/>
            <a:ext cx="5181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900" b="1" i="0">
                <a:solidFill>
                  <a:srgbClr val="E4ECF6"/>
                </a:solidFill>
                <a:latin typeface="Calibri"/>
              </a:rPr>
              <a:t>TEIL 2 · AUFTRAG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2407920"/>
            <a:ext cx="51816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Scope &amp; Auftrag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2895600"/>
            <a:ext cx="5181600" cy="18669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2E6CB0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Gemeinsame Mission: Digital Workplace aus einer Hand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2E6CB0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Drei Säulen &amp; ihren Kernauftrag klären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2E6CB0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In-Scope vs. Out-of-Scope je Säule abgrenzen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2E6CB0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Sechs Leitmotive mit Leben füllen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50" b="1" i="0">
                <a:solidFill>
                  <a:srgbClr val="2E6CB0"/>
                </a:solidFill>
                <a:latin typeface="Calibri"/>
              </a:rPr>
              <a:t>▸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Schnittstellen zwischen Teams &amp; nach außen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400" y="4953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UNSERE DREI TEAMS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400" y="5181600"/>
            <a:ext cx="3604260" cy="647700"/>
          </a:xfrm>
          <a:prstGeom prst="roundRect">
            <a:avLst>
              <a:gd name="adj" fmla="val 9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19700"/>
            <a:ext cx="329946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IT Support &amp; ITSM Platform Services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532120"/>
            <a:ext cx="32994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850" b="0" i="0">
                <a:solidFill>
                  <a:srgbClr val="B9C6DB"/>
                </a:solidFill>
                <a:latin typeface="Calibri"/>
              </a:rPr>
              <a:t>Leitung:  </a:t>
            </a:r>
            <a:r>
              <a:rPr sz="950" b="1" i="0">
                <a:solidFill>
                  <a:srgbClr val="FFFFFF"/>
                </a:solidFill>
                <a:latin typeface="Calibri"/>
              </a:rPr>
              <a:t>Patrick Böhme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8160" y="5181600"/>
            <a:ext cx="3604260" cy="647700"/>
          </a:xfrm>
          <a:prstGeom prst="roundRect">
            <a:avLst>
              <a:gd name="adj" fmla="val 9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60" y="5219700"/>
            <a:ext cx="329946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Modern Workplace &amp; Experience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532120"/>
            <a:ext cx="32994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850" b="0" i="0">
                <a:solidFill>
                  <a:srgbClr val="B9C6DB"/>
                </a:solidFill>
                <a:latin typeface="Calibri"/>
              </a:rPr>
              <a:t>Leitung:  </a:t>
            </a:r>
            <a:r>
              <a:rPr sz="950" b="1" i="0">
                <a:solidFill>
                  <a:srgbClr val="FFFFFF"/>
                </a:solidFill>
                <a:latin typeface="Calibri"/>
              </a:rPr>
              <a:t>Christopher Hahn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2920" y="5181600"/>
            <a:ext cx="3604260" cy="647700"/>
          </a:xfrm>
          <a:prstGeom prst="roundRect">
            <a:avLst>
              <a:gd name="adj" fmla="val 9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5219700"/>
            <a:ext cx="329946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Client Services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532120"/>
            <a:ext cx="32994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850" b="0" i="0">
                <a:solidFill>
                  <a:srgbClr val="B9C6DB"/>
                </a:solidFill>
                <a:latin typeface="Calibri"/>
              </a:rPr>
              <a:t>Leitung:  </a:t>
            </a:r>
            <a:r>
              <a:rPr sz="950" b="1" i="0">
                <a:solidFill>
                  <a:srgbClr val="FFFFFF"/>
                </a:solidFill>
                <a:latin typeface="Calibri"/>
              </a:rPr>
              <a:t>Moritz Heller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3400" y="5981700"/>
            <a:ext cx="11125200" cy="6096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 w="9525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3400" y="5981700"/>
            <a:ext cx="76200" cy="609600"/>
          </a:xfrm>
          <a:prstGeom prst="rect">
            <a:avLst/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3900" y="5981700"/>
            <a:ext cx="10896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1B3A6B"/>
                </a:solidFill>
                <a:latin typeface="Calibri"/>
              </a:rPr>
              <a:t>Was wir mitnehmen:  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Team-Charter &amp; Spielregeln  ·  Scope-Landkarte (in/out + Schnittstellen)  ·  konkrete Commitments  ·  Follow-up-Termin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06680"/>
          </a:xfrm>
          <a:prstGeom prst="rect">
            <a:avLst/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19812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Unser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0080"/>
            <a:ext cx="9144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1200" b="0" i="1">
                <a:solidFill>
                  <a:srgbClr val="B9C6DB"/>
                </a:solidFill>
                <a:latin typeface="Calibri"/>
              </a:rPr>
              <a:t>Digital Workplace &amp; Support · drei Teams, eine Mannschaft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0" y="335280"/>
            <a:ext cx="3124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r"/>
            <a:r>
              <a:rPr sz="1000" b="1" i="0">
                <a:solidFill>
                  <a:srgbClr val="E0600C"/>
                </a:solidFill>
                <a:latin typeface="Calibri"/>
              </a:rPr>
              <a:t>KW 42 / 43 · Okt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257300"/>
            <a:ext cx="3604260" cy="838200"/>
          </a:xfrm>
          <a:prstGeom prst="roundRect">
            <a:avLst>
              <a:gd name="adj" fmla="val 9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60" y="1310640"/>
            <a:ext cx="33451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IT Support &amp; ITSM Platform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1752600"/>
            <a:ext cx="33451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850" b="0" i="0">
                <a:solidFill>
                  <a:srgbClr val="B9C6DB"/>
                </a:solidFill>
                <a:latin typeface="Calibri"/>
              </a:rPr>
              <a:t>Leitung:  </a:t>
            </a:r>
            <a:r>
              <a:rPr sz="1000" b="1" i="0">
                <a:solidFill>
                  <a:srgbClr val="E0600C"/>
                </a:solidFill>
                <a:latin typeface="Calibri"/>
              </a:rPr>
              <a:t>Patrick Böhme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2209800"/>
            <a:ext cx="3604260" cy="419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3400" y="2209800"/>
            <a:ext cx="360426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60" y="2209800"/>
            <a:ext cx="33756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900" b="1" i="0">
                <a:solidFill>
                  <a:srgbClr val="4B5563"/>
                </a:solidFill>
                <a:latin typeface="Calibri"/>
              </a:rPr>
              <a:t>9 Mitglieder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" y="2628900"/>
            <a:ext cx="3375660" cy="36576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Christian Falk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Dieter Munk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Otto Sliz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Lea Juros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Cem Tatar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Gerd Stürner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Oliver Gallus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Jose Ricardo Bock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Tanja Kohler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8160" y="1257300"/>
            <a:ext cx="3604260" cy="838200"/>
          </a:xfrm>
          <a:prstGeom prst="roundRect">
            <a:avLst>
              <a:gd name="adj" fmla="val 9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1310640"/>
            <a:ext cx="33451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Modern Workplace &amp;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1752600"/>
            <a:ext cx="33451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850" b="0" i="0">
                <a:solidFill>
                  <a:srgbClr val="B9C6DB"/>
                </a:solidFill>
                <a:latin typeface="Calibri"/>
              </a:rPr>
              <a:t>Leitung:  </a:t>
            </a:r>
            <a:r>
              <a:rPr sz="1000" b="1" i="0">
                <a:solidFill>
                  <a:srgbClr val="E0600C"/>
                </a:solidFill>
                <a:latin typeface="Calibri"/>
              </a:rPr>
              <a:t>Christopher Hahn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8160" y="2209800"/>
            <a:ext cx="3604260" cy="419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8160" y="2209800"/>
            <a:ext cx="360426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5320" y="2209800"/>
            <a:ext cx="33756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900" b="1" i="0">
                <a:solidFill>
                  <a:srgbClr val="4B5563"/>
                </a:solidFill>
                <a:latin typeface="Calibri"/>
              </a:rPr>
              <a:t>9 Mitglieder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5320" y="2628900"/>
            <a:ext cx="3375660" cy="36576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Philippe Duboc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Sven Engel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Mathias Heisig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Thomas Bernecker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Dunja Akar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Philipp Heckhausen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Linda Finner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Sascha Kremp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Constanze Pretzler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2920" y="1257300"/>
            <a:ext cx="3604260" cy="838200"/>
          </a:xfrm>
          <a:prstGeom prst="roundRect">
            <a:avLst>
              <a:gd name="adj" fmla="val 9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0079" y="1310640"/>
            <a:ext cx="33451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Client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0079" y="1752600"/>
            <a:ext cx="33451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850" b="0" i="0">
                <a:solidFill>
                  <a:srgbClr val="B9C6DB"/>
                </a:solidFill>
                <a:latin typeface="Calibri"/>
              </a:rPr>
              <a:t>Leitung:  </a:t>
            </a:r>
            <a:r>
              <a:rPr sz="1000" b="1" i="0">
                <a:solidFill>
                  <a:srgbClr val="E0600C"/>
                </a:solidFill>
                <a:latin typeface="Calibri"/>
              </a:rPr>
              <a:t>Moritz Heller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2920" y="2209800"/>
            <a:ext cx="3604260" cy="419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2920" y="2209800"/>
            <a:ext cx="360426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0079" y="2209800"/>
            <a:ext cx="33756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900" b="1" i="0">
                <a:solidFill>
                  <a:srgbClr val="4B5563"/>
                </a:solidFill>
                <a:latin typeface="Calibri"/>
              </a:rPr>
              <a:t>5 Mitglieder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0079" y="2628900"/>
            <a:ext cx="3375660" cy="36576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Pascal Mörmann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Edgar Sattler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Tim Zimmer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Christoph Walker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1" i="0">
                <a:solidFill>
                  <a:srgbClr val="1B3A6B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Magali Münzenrieder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649224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850" b="0" i="1">
                <a:solidFill>
                  <a:srgbClr val="D1D7DF"/>
                </a:solidFill>
                <a:latin typeface="Calibri"/>
              </a:rPr>
              <a:t>Reihenfolge ohne Wertung · Stand Org-Aufstellung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06680"/>
          </a:xfrm>
          <a:prstGeom prst="rect">
            <a:avLst/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19812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Workshop-Agenda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0080"/>
            <a:ext cx="9144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/>
            <a:r>
              <a:rPr sz="1200" b="0" i="1">
                <a:solidFill>
                  <a:srgbClr val="B9C6DB"/>
                </a:solidFill>
                <a:latin typeface="Calibri"/>
              </a:rPr>
              <a:t>Team-Building &amp; Scope · Vorschlag für einen gemeinsamen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400" y="1181100"/>
            <a:ext cx="11125200" cy="4953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 w="9525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3400" y="1181100"/>
            <a:ext cx="76200" cy="495300"/>
          </a:xfrm>
          <a:prstGeom prst="rect">
            <a:avLst/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1181100"/>
            <a:ext cx="10896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  <a:latin typeface="Calibri"/>
              </a:rPr>
              <a:t>Termin:  </a:t>
            </a:r>
            <a:r>
              <a:rPr sz="1150" b="1" i="0">
                <a:solidFill>
                  <a:srgbClr val="1F2937"/>
                </a:solidFill>
                <a:latin typeface="Calibri"/>
              </a:rPr>
              <a:t>KW 42 / 43  ·  12.–25. Oktober 2026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     Empfehlung: 1 gemeinsamer Tag, ca. 09:00–17:00, extern/offsite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828800"/>
            <a:ext cx="5486400" cy="4495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3400" y="1828800"/>
            <a:ext cx="5486400" cy="495300"/>
          </a:xfrm>
          <a:prstGeom prst="roundRect">
            <a:avLst>
              <a:gd name="adj" fmla="val 9000"/>
            </a:avLst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3400" y="2095500"/>
            <a:ext cx="5486400" cy="228600"/>
          </a:xfrm>
          <a:prstGeom prst="rect">
            <a:avLst/>
          </a:prstGeom>
          <a:solidFill>
            <a:srgbClr val="E06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800"/>
            <a:ext cx="5181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VORMITTAG · Miteinander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" y="2438400"/>
            <a:ext cx="5181600" cy="3810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E0600C"/>
                </a:solidFill>
                <a:latin typeface="Calibri"/>
              </a:rPr>
              <a:t>09:00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Ankommen &amp; Begrüßung (A. Passaro)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E0600C"/>
                </a:solidFill>
                <a:latin typeface="Calibri"/>
              </a:rPr>
              <a:t>09:20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Warum wir hier sind — Zielbild der Abteilung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E0600C"/>
                </a:solidFill>
                <a:latin typeface="Calibri"/>
              </a:rPr>
              <a:t>09:45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Kennenlernen: Vorstellung bewusst gemischt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4B5563"/>
                </a:solidFill>
                <a:latin typeface="Calibri"/>
              </a:rPr>
              <a:t>10:30   </a:t>
            </a:r>
            <a:r>
              <a:rPr sz="1000" b="0" i="1">
                <a:solidFill>
                  <a:srgbClr val="4B5563"/>
                </a:solidFill>
                <a:latin typeface="Calibri"/>
              </a:rPr>
              <a:t>Pause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E0600C"/>
                </a:solidFill>
                <a:latin typeface="Calibri"/>
              </a:rPr>
              <a:t>10:45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Skills- &amp; Stärken-Landkarte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E0600C"/>
                </a:solidFill>
                <a:latin typeface="Calibri"/>
              </a:rPr>
              <a:t>11:30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Erwartungen &amp; Werte → Team-Charter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4B5563"/>
                </a:solidFill>
                <a:latin typeface="Calibri"/>
              </a:rPr>
              <a:t>12:30   </a:t>
            </a:r>
            <a:r>
              <a:rPr sz="1000" b="0" i="1">
                <a:solidFill>
                  <a:srgbClr val="4B5563"/>
                </a:solidFill>
                <a:latin typeface="Calibri"/>
              </a:rPr>
              <a:t>Mittagspause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86400" cy="4495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1D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86400" cy="495300"/>
          </a:xfrm>
          <a:prstGeom prst="roundRect">
            <a:avLst>
              <a:gd name="adj" fmla="val 9000"/>
            </a:avLst>
          </a:prstGeom>
          <a:solidFill>
            <a:srgbClr val="2E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095500"/>
            <a:ext cx="5486400" cy="228600"/>
          </a:xfrm>
          <a:prstGeom prst="rect">
            <a:avLst/>
          </a:prstGeom>
          <a:solidFill>
            <a:srgbClr val="2E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4600" y="1828800"/>
            <a:ext cx="5181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0000" rIns="40000" tIns="12000" bIns="120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NACHMITTAG · Auftrag &amp;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840" y="2438400"/>
            <a:ext cx="5181600" cy="3810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rIns="40000" tIns="12000" bIns="12000">
            <a:spAutoFit/>
          </a:bodyPr>
          <a:lstStyle/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2E6CB0"/>
                </a:solidFill>
                <a:latin typeface="Calibri"/>
              </a:rPr>
              <a:t>13:30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Unsere Mission &amp; sechs Leitmotive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2E6CB0"/>
                </a:solidFill>
                <a:latin typeface="Calibri"/>
              </a:rPr>
              <a:t>14:00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Scope je Säule: In/Out (3 Teams parallel)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2E6CB0"/>
                </a:solidFill>
                <a:latin typeface="Calibri"/>
              </a:rPr>
              <a:t>15:00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Schnittstellen: intern &amp; nach außen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4B5563"/>
                </a:solidFill>
                <a:latin typeface="Calibri"/>
              </a:rPr>
              <a:t>15:30   </a:t>
            </a:r>
            <a:r>
              <a:rPr sz="1000" b="0" i="1">
                <a:solidFill>
                  <a:srgbClr val="4B5563"/>
                </a:solidFill>
                <a:latin typeface="Calibri"/>
              </a:rPr>
              <a:t>Pause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2E6CB0"/>
                </a:solidFill>
                <a:latin typeface="Calibri"/>
              </a:rPr>
              <a:t>15:45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Scope-Landkarte konsolidieren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2E6CB0"/>
                </a:solidFill>
                <a:latin typeface="Calibri"/>
              </a:rPr>
              <a:t>16:15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Zusammenarbeit &amp; Rituale vereinbaren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2E6CB0"/>
                </a:solidFill>
                <a:latin typeface="Calibri"/>
              </a:rPr>
              <a:t>16:45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Commitments &amp; nächste Schritte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000" b="1" i="0">
                <a:solidFill>
                  <a:srgbClr val="2E6CB0"/>
                </a:solidFill>
                <a:latin typeface="Calibri"/>
              </a:rPr>
              <a:t>17:00   </a:t>
            </a:r>
            <a:r>
              <a:rPr sz="1000" b="0" i="0">
                <a:solidFill>
                  <a:srgbClr val="1F2937"/>
                </a:solidFill>
                <a:latin typeface="Calibri"/>
              </a:rPr>
              <a:t>Abschluss &amp; gemeinsamer Ausklang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