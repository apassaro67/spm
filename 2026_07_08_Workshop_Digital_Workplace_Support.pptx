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1811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E0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43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Team-Building &amp; Scope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724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Digital Workplace &amp; Support</a:t>
            </a:r>
            <a:r>
              <a:rPr sz="1300" b="0" i="1">
                <a:solidFill>
                  <a:srgbClr val="B9C6DB"/>
                </a:solidFill>
                <a:latin typeface="Calibri"/>
              </a:rPr>
              <a:t>     „Wir sind für Sie da.“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2004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r"/>
            <a:r>
              <a:rPr sz="900" b="0" i="0">
                <a:solidFill>
                  <a:srgbClr val="B9C6DB"/>
                </a:solidFill>
                <a:latin typeface="Calibri"/>
              </a:rPr>
              <a:t>Abteilung</a:t>
            </a:r>
          </a:p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Alexander Passaro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31064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ZIELE DES WORKSHOPS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554480"/>
            <a:ext cx="2712720" cy="4038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9525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1554480"/>
            <a:ext cx="53340" cy="4038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2560320" cy="4038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2000" bIns="12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Über Teamgrenzen kennenlernen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12720" cy="4038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9525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554480"/>
            <a:ext cx="53340" cy="4038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4240" y="1554480"/>
            <a:ext cx="2560320" cy="4038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2000" bIns="12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Gemeinsames Zielbild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1720" y="1554480"/>
            <a:ext cx="2712720" cy="4038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9525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1720" y="1554480"/>
            <a:ext cx="53340" cy="4038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1554480"/>
            <a:ext cx="2560320" cy="4038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2000" bIns="12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Scope schärfen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5880" y="1554480"/>
            <a:ext cx="2712720" cy="4038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9525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5880" y="1554480"/>
            <a:ext cx="53340" cy="4038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554480"/>
            <a:ext cx="2560320" cy="4038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2000" bIns="12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Zusammenarbeit vereinbaren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2171700"/>
            <a:ext cx="5486400" cy="2667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400" y="2171700"/>
            <a:ext cx="5486400" cy="609600"/>
          </a:xfrm>
          <a:prstGeom prst="roundRect">
            <a:avLst>
              <a:gd name="adj" fmla="val 9000"/>
            </a:avLst>
          </a:prstGeom>
          <a:solidFill>
            <a:srgbClr val="E0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400" y="2514600"/>
            <a:ext cx="5486400" cy="266700"/>
          </a:xfrm>
          <a:prstGeom prst="rect">
            <a:avLst/>
          </a:prstGeom>
          <a:solidFill>
            <a:srgbClr val="E0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20980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900" b="1" i="0">
                <a:solidFill>
                  <a:srgbClr val="FBE7D6"/>
                </a:solidFill>
                <a:latin typeface="Calibri"/>
              </a:rPr>
              <a:t>TEIL 1 · MITEINANDER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40792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Team Building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95600"/>
            <a:ext cx="518160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E0600C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Vorstellung bewusst gemischt — Person, Rolle, Beitrag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E0600C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Skills- &amp; Stärken-Landkarte der Abteilung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E0600C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Erwartungen: „was ich beitrage / was ich brauche“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E0600C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Gemeinsame Werte &amp; Team-Charter erarbeiten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E0600C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Neue Kolleg:innen aktiv einbinden (Buddy-Prinzip)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171700"/>
            <a:ext cx="5486400" cy="2667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2171700"/>
            <a:ext cx="5486400" cy="609600"/>
          </a:xfrm>
          <a:prstGeom prst="roundRect">
            <a:avLst>
              <a:gd name="adj" fmla="val 9000"/>
            </a:avLst>
          </a:prstGeom>
          <a:solidFill>
            <a:srgbClr val="2E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514600"/>
            <a:ext cx="5486400" cy="266700"/>
          </a:xfrm>
          <a:prstGeom prst="rect">
            <a:avLst/>
          </a:prstGeom>
          <a:solidFill>
            <a:srgbClr val="2E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600" y="220980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900" b="1" i="0">
                <a:solidFill>
                  <a:srgbClr val="E4ECF6"/>
                </a:solidFill>
                <a:latin typeface="Calibri"/>
              </a:rPr>
              <a:t>TEIL 2 · AUFTRAG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240792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Scope &amp; Auftrag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2895600"/>
            <a:ext cx="518160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E6CB0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Gemeinsame Mission: Digital Workplace aus einer Hand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E6CB0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Drei Säulen &amp; ihren Kernauftrag klären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E6CB0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In-Scope vs. Out-of-Scope je Säule abgrenzen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E6CB0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Sechs Leitmotive mit Leben füllen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E6CB0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Schnittstellen zwischen Teams &amp; nach außen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4953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UNSERE DREI TEAMS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5181600"/>
            <a:ext cx="3604260" cy="6477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19700"/>
            <a:ext cx="329946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IT Support &amp; ITSM Platform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32120"/>
            <a:ext cx="32994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850" b="0" i="0">
                <a:solidFill>
                  <a:srgbClr val="B9C6DB"/>
                </a:solidFill>
                <a:latin typeface="Calibri"/>
              </a:rPr>
              <a:t>Leitung: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Patrick Böhme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8160" y="5181600"/>
            <a:ext cx="3604260" cy="6477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219700"/>
            <a:ext cx="329946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Modern Workplace &amp;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532120"/>
            <a:ext cx="32994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850" b="0" i="0">
                <a:solidFill>
                  <a:srgbClr val="B9C6DB"/>
                </a:solidFill>
                <a:latin typeface="Calibri"/>
              </a:rPr>
              <a:t>Leitung: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Christopher Hahn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2920" y="5181600"/>
            <a:ext cx="3604260" cy="647700"/>
          </a:xfrm>
          <a:prstGeom prst="roundRect">
            <a:avLst>
              <a:gd name="adj" fmla="val 9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5219700"/>
            <a:ext cx="329946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Client Services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532120"/>
            <a:ext cx="32994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2000" bIns="12000">
            <a:spAutoFit/>
          </a:bodyPr>
          <a:lstStyle/>
          <a:p>
            <a:pPr algn="l"/>
            <a:r>
              <a:rPr sz="850" b="0" i="0">
                <a:solidFill>
                  <a:srgbClr val="B9C6DB"/>
                </a:solidFill>
                <a:latin typeface="Calibri"/>
              </a:rPr>
              <a:t>Leitung: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Moritz Heller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400" y="5981700"/>
            <a:ext cx="11125200" cy="60960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9525">
            <a:solidFill>
              <a:srgbClr val="D1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3400" y="5981700"/>
            <a:ext cx="76200" cy="609600"/>
          </a:xfrm>
          <a:prstGeom prst="rect">
            <a:avLst/>
          </a:prstGeom>
          <a:solidFill>
            <a:srgbClr val="E0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" y="5981700"/>
            <a:ext cx="108966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2000" bIns="120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B3A6B"/>
                </a:solidFill>
                <a:latin typeface="Calibri"/>
              </a:rPr>
              <a:t>Was wir mitnehmen: 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Team-Charter &amp; Spielregeln  ·  Scope-Landkarte (in/out + Schnittstellen)  ·  konkrete Commitments  ·  Follow-up-Termin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