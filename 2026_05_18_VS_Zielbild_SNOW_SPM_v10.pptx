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286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286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286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6992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992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240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240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47360" y="815340"/>
            <a:ext cx="78486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736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9840" y="815340"/>
            <a:ext cx="78486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984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815340"/>
            <a:ext cx="78486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800" y="815340"/>
            <a:ext cx="78486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480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1728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728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0224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0224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94720" y="815340"/>
            <a:ext cx="784860" cy="152400"/>
          </a:xfrm>
          <a:prstGeom prst="rect">
            <a:avLst/>
          </a:prstGeom>
          <a:solidFill>
            <a:srgbClr val="F7F7F7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4720" y="815340"/>
            <a:ext cx="78486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" y="571500"/>
            <a:ext cx="19812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800" y="1028700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0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125730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2984500" y="1203960"/>
            <a:ext cx="106680" cy="10668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8240" y="998220"/>
            <a:ext cx="12192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88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8240" y="133350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ctr"/>
            <a:r>
              <a:rPr sz="780" b="0" i="1">
                <a:solidFill>
                  <a:srgbClr val="4B5563"/>
                </a:solidFill>
                <a:latin typeface="Calibri"/>
              </a:rPr>
              <a:t>Programm- / Projekt-Boards</a:t>
            </a:r>
          </a:p>
        </p:txBody>
      </p:sp>
      <p:sp>
        <p:nvSpPr>
          <p:cNvPr id="43" name="Diamond 42"/>
          <p:cNvSpPr/>
          <p:nvPr/>
        </p:nvSpPr>
        <p:spPr>
          <a:xfrm>
            <a:off x="3225799" y="1181100"/>
            <a:ext cx="152400" cy="15240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2399" y="998220"/>
            <a:ext cx="12192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88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2399" y="133350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ctr"/>
            <a:r>
              <a:rPr sz="780" b="0" i="1">
                <a:solidFill>
                  <a:srgbClr val="4B5563"/>
                </a:solidFill>
                <a:latin typeface="Calibri"/>
              </a:rPr>
              <a:t>Vorstand – heutige Sitzung</a:t>
            </a:r>
          </a:p>
        </p:txBody>
      </p:sp>
      <p:sp>
        <p:nvSpPr>
          <p:cNvPr id="46" name="Diamond 45"/>
          <p:cNvSpPr/>
          <p:nvPr/>
        </p:nvSpPr>
        <p:spPr>
          <a:xfrm>
            <a:off x="4305300" y="1203960"/>
            <a:ext cx="106680" cy="10668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0" y="998220"/>
            <a:ext cx="12192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88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133350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ctr"/>
            <a:r>
              <a:rPr sz="78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49" name="Diamond 48"/>
          <p:cNvSpPr/>
          <p:nvPr/>
        </p:nvSpPr>
        <p:spPr>
          <a:xfrm>
            <a:off x="4833619" y="1203960"/>
            <a:ext cx="106680" cy="10668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7359" y="998220"/>
            <a:ext cx="12192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88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7359" y="133350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ctr"/>
            <a:r>
              <a:rPr sz="78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52" name="Diamond 51"/>
          <p:cNvSpPr/>
          <p:nvPr/>
        </p:nvSpPr>
        <p:spPr>
          <a:xfrm>
            <a:off x="8244840" y="1181100"/>
            <a:ext cx="152400" cy="15240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11440" y="998220"/>
            <a:ext cx="12192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88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1440" y="133350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ctr"/>
            <a:r>
              <a:rPr sz="78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55" name="Diamond 54"/>
          <p:cNvSpPr/>
          <p:nvPr/>
        </p:nvSpPr>
        <p:spPr>
          <a:xfrm>
            <a:off x="11414760" y="1181100"/>
            <a:ext cx="152400" cy="15240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81360" y="998220"/>
            <a:ext cx="12192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88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1360" y="133350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ctr"/>
            <a:r>
              <a:rPr sz="78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4800" y="1600200"/>
            <a:ext cx="19812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4800" y="1600200"/>
            <a:ext cx="53340" cy="6477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1645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1859280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1600200"/>
            <a:ext cx="950976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6992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6240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5488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4736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3984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2480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1728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0976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30224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94720" y="16306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543556" y="1676400"/>
            <a:ext cx="2045207" cy="49530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566416" y="1676400"/>
            <a:ext cx="1999487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Auftragsklärung · Stakeholder-Mgmt · Phasen- und Kostenplanung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66416" y="1924050"/>
            <a:ext cx="1999487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87012" y="1676400"/>
            <a:ext cx="1411224" cy="4953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09872" y="1676400"/>
            <a:ext cx="1365504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Partnerauswahl ServiceNow SPM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09872" y="1924050"/>
            <a:ext cx="1365504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79492" y="1676400"/>
            <a:ext cx="1252728" cy="4953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02352" y="1676400"/>
            <a:ext cx="1207008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ServiceNow Budgetierung &amp; Contract Renewal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2352" y="1924050"/>
            <a:ext cx="1207008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4800" y="2324100"/>
            <a:ext cx="19812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4800" y="2324100"/>
            <a:ext cx="53340" cy="647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23698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2583180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77440" y="2324100"/>
            <a:ext cx="950976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16992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6240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75488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4736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33984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13232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92480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1728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50976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30224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094720" y="23545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762500" y="2400300"/>
            <a:ext cx="777239" cy="49530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85360" y="2400300"/>
            <a:ext cx="731519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Konzeption Phase 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85360" y="2647950"/>
            <a:ext cx="731519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54979" y="2400300"/>
            <a:ext cx="3154680" cy="4953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0" y="2400300"/>
            <a:ext cx="3108960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77840" y="2647950"/>
            <a:ext cx="310896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407908" y="2400300"/>
            <a:ext cx="301752" cy="4953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30768" y="2400300"/>
            <a:ext cx="256032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30768" y="2647950"/>
            <a:ext cx="256032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Org + IT Projekte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04800" y="3048000"/>
            <a:ext cx="19812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04800" y="3048000"/>
            <a:ext cx="53340" cy="6477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30937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1480" y="3307080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377440" y="3048000"/>
            <a:ext cx="950976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16992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96240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5488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54736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3984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13232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2480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71728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50976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224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94720" y="30784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139940" y="3124200"/>
            <a:ext cx="1569719" cy="49530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162800" y="3124200"/>
            <a:ext cx="1523999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62800" y="3371850"/>
            <a:ext cx="1523999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Project Mgmt: Org-Projekte, PEP, VPM, Portfolio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724900" y="3124200"/>
            <a:ext cx="2916935" cy="4953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747760" y="3124200"/>
            <a:ext cx="2871215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747760" y="3371850"/>
            <a:ext cx="2871215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+ Zusatzthemen (Maßnahmen-Mgmt …)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577828" y="3124200"/>
            <a:ext cx="301751" cy="4953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600688" y="3124200"/>
            <a:ext cx="256031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600688" y="3371850"/>
            <a:ext cx="256031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04800" y="3771900"/>
            <a:ext cx="19812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04800" y="3771900"/>
            <a:ext cx="53340" cy="647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11480" y="38176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11480" y="4030980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8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377440" y="3771900"/>
            <a:ext cx="950976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16992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96240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75488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54736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33984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13232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92480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1728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50976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30224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1094720" y="3802380"/>
            <a:ext cx="3048" cy="5867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762500" y="3848100"/>
            <a:ext cx="2362200" cy="4953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785360" y="3848100"/>
            <a:ext cx="2316480" cy="272415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Alternative PM-Plattform (VEW, VPM)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85360" y="4095750"/>
            <a:ext cx="231648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Bewertung als Risiko-Hedge zur SNOW-Roadmap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04800" y="453390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143000" y="45796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87780" y="453390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819400" y="45796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964180" y="453390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495800" y="45796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40580" y="453390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172200" y="45796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16980" y="453390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848600" y="45796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993380" y="453390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525000" y="45796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669780" y="453390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65" name="Diamond 164"/>
          <p:cNvSpPr/>
          <p:nvPr/>
        </p:nvSpPr>
        <p:spPr>
          <a:xfrm>
            <a:off x="9906000" y="457200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058400" y="453390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