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Worksheet.xlsb" ContentType="application/vnd.ms-excel.sheet.binary.macroEnabled.12"/>
  <Override PartName="/ppt/embeddings/Microsoft_Excel_Binary_Worksheet1.xlsb" ContentType="application/vnd.ms-excel.sheet.binary.macroEnabled.12"/>
  <Override PartName="/ppt/embeddings/Microsoft_Excel_Binary_Worksheet2.xlsb" ContentType="application/vnd.ms-excel.sheet.binary.macroEnabled.12"/>
  <Override PartName="/ppt/embeddings/Microsoft_Excel_Binary_Worksheet3.xlsb" ContentType="application/vnd.ms-excel.sheet.binary.macroEnabled.12"/>
  <Override PartName="/ppt/embeddings/Microsoft_Excel_Binary_Worksheet4.xlsb" ContentType="application/vnd.ms-excel.sheet.binary.macroEnabled.12"/>
  <Override PartName="/ppt/embeddings/Microsoft_Excel_Binary_Worksheet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18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0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13"/>
    <p:sldId id="2147483634" r:id="rId39"/>
    <p:sldId id="571" r:id="rId14"/>
    <p:sldId id="572" r:id="rId15"/>
    <p:sldId id="2147483635" r:id="rId40"/>
    <p:sldId id="2147483633" r:id="rId16"/>
    <p:sldId id="569" r:id="rId17"/>
    <p:sldId id="570" r:id="rId18"/>
    <p:sldId id="2147483631" r:id="rId19"/>
    <p:sldId id="288" r:id="rId20"/>
    <p:sldId id="2147375009" r:id="rId21"/>
    <p:sldId id="286" r:id="rId22"/>
    <p:sldId id="287" r:id="rId23"/>
    <p:sldId id="563" r:id="rId24"/>
    <p:sldId id="282" r:id="rId25"/>
    <p:sldId id="283" r:id="rId26"/>
    <p:sldId id="278" r:id="rId27"/>
    <p:sldId id="284" r:id="rId28"/>
    <p:sldId id="574" r:id="rId29"/>
  </p:sldIdLst>
  <p:sldSz cx="12192000" cy="6858000"/>
  <p:notesSz cx="6858000" cy="9144000"/>
  <p:custDataLst>
    <p:tags r:id="rId3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9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5/10/relationships/revisionInfo" Target="revisionInfo.xml"/><Relationship Id="rId38" Type="http://schemas.microsoft.com/office/2018/10/relationships/authors" Target="authors.xml"/><Relationship Id="rId39" Type="http://schemas.openxmlformats.org/officeDocument/2006/relationships/slide" Target="slides/slide10.xml"/><Relationship Id="rId40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031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4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tags" Target="../tags/tag60.xml"/><Relationship Id="rId9" Type="http://schemas.openxmlformats.org/officeDocument/2006/relationships/tags" Target="../tags/tag61.xml"/><Relationship Id="rId10" Type="http://schemas.openxmlformats.org/officeDocument/2006/relationships/tags" Target="../tags/tag62.xml"/><Relationship Id="rId11" Type="http://schemas.openxmlformats.org/officeDocument/2006/relationships/tags" Target="../tags/tag63.xml"/><Relationship Id="rId12" Type="http://schemas.openxmlformats.org/officeDocument/2006/relationships/tags" Target="../tags/tag64.xml"/><Relationship Id="rId13" Type="http://schemas.openxmlformats.org/officeDocument/2006/relationships/tags" Target="../tags/tag65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5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Relationship Id="rId5" Type="http://schemas.openxmlformats.org/officeDocument/2006/relationships/image" Target="../media/image23.png"/><Relationship Id="rId6" Type="http://schemas.openxmlformats.org/officeDocument/2006/relationships/image" Target="../media/image24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7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28.bin"/><Relationship Id="rId5" Type="http://schemas.openxmlformats.org/officeDocument/2006/relationships/image" Target="../media/image25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tags" Target="../tags/tag76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4800" y="5334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Funktions-Vergleich – SPM-Plattform vs. Best-of-Breed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731520"/>
            <a:ext cx="3200400" cy="2667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240" y="73152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Funktion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200" y="731520"/>
            <a:ext cx="3810000" cy="2667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1400" y="73152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SPM-Plattform (ServiceNow)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731520"/>
            <a:ext cx="4572000" cy="266700"/>
          </a:xfrm>
          <a:prstGeom prst="round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91400" y="731520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Best-of-Breed (Einzeltools)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102108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4800" y="10210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6240" y="10210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Strategie (Ziele, KPI)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5200" y="10210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96640" y="10668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6640" y="1066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0210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0210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Workpath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" y="128016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4800" y="12801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6240" y="12801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Demand &amp; Portfolio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5200" y="12801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96640" y="13258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96640" y="13258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12801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2801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ServiceNow / SharePoint-Listen / Power-Automate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" y="153924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4800" y="153924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240" y="153924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Workflow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5200" y="153924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96640" y="15849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96640" y="158496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153924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153924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SharePoint-Listen / Power-Automate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800" y="179832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04800" y="179832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6240" y="179832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Projekt-Mgmt. – Ressourcen-Planung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5200" y="179832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596640" y="184404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96640" y="184404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179832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179832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Planisware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800" y="205740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04800" y="205740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6240" y="205740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Aufgaben-Management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5200" y="205740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596640" y="210312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596640" y="210312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205740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205740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MS Planner · Jira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4800" y="231648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04800" y="23164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6240" y="23164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AI-Fähigkeiten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05200" y="23164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596640" y="23622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96640" y="23622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23164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23164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Je Tool separat, unterschiedliche Reife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4800" y="257556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04800" y="25755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96240" y="25755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05200" y="25755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3596640" y="26212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596640" y="26212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25755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 + Power BI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0" y="25755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Power BI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04800" y="2910840"/>
            <a:ext cx="579120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19100" y="2910840"/>
            <a:ext cx="5562600" cy="2743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Wirtschaftlichkeitsbetrachtung – TCO-Analyse 5 Jahre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3215640"/>
            <a:ext cx="57912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41960" y="3349504"/>
            <a:ext cx="3420465" cy="189472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 dirty="0">
                <a:solidFill>
                  <a:srgbClr val="1F2937"/>
                </a:solidFill>
                <a:latin typeface="Calibri"/>
              </a:rPr>
              <a:t>5-Jahres-TCO</a:t>
            </a:r>
            <a:r>
              <a:rPr lang="de-DE" sz="1100" b="1" i="0" dirty="0">
                <a:solidFill>
                  <a:srgbClr val="1F2937"/>
                </a:solidFill>
                <a:latin typeface="Calibri"/>
              </a:rPr>
              <a:t> Analyse </a:t>
            </a:r>
            <a:endParaRPr sz="1100" b="1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746760" y="5695949"/>
            <a:ext cx="3077565" cy="762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46760" y="569671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41960" y="560831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6760" y="5199506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1960" y="511111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6760" y="470230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1960" y="461390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6760" y="4205097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41960" y="411670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6760" y="370789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41960" y="361949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1960" y="3550920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Mio. 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57386" y="4511440"/>
            <a:ext cx="888979" cy="1188319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81186" y="434380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b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4.78 M€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4986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ServiceNow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(SPM-Plattform)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639019" y="3954570"/>
            <a:ext cx="888979" cy="1745189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562819" y="378693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b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7.02 M€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86619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Best-of-Breed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Einzeltools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62425" y="3569456"/>
            <a:ext cx="2020214" cy="189472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lang="de-DE" sz="1100" b="1" i="0" dirty="0">
                <a:solidFill>
                  <a:srgbClr val="1F2937"/>
                </a:solidFill>
                <a:latin typeface="Calibri"/>
              </a:rPr>
              <a:t>Vorteil Plattform</a:t>
            </a:r>
            <a:endParaRPr sz="1100" b="1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4246146" y="3781426"/>
            <a:ext cx="1282164" cy="920875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266285" y="3266630"/>
            <a:ext cx="1314276" cy="1435968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endParaRPr lang="de-DE" sz="3600" b="1" i="0" dirty="0">
              <a:solidFill>
                <a:srgbClr val="2E7D32"/>
              </a:solidFill>
              <a:latin typeface="Calibri"/>
            </a:endParaRPr>
          </a:p>
          <a:p>
            <a:pPr algn="ctr"/>
            <a:r>
              <a:rPr lang="de-DE" sz="1600" b="1" dirty="0">
                <a:solidFill>
                  <a:srgbClr val="2E7D32"/>
                </a:solidFill>
                <a:latin typeface="Calibri"/>
              </a:rPr>
              <a:t>~</a:t>
            </a:r>
            <a:r>
              <a:rPr lang="de-DE" sz="2000" b="1" dirty="0">
                <a:solidFill>
                  <a:srgbClr val="2E7D32"/>
                </a:solidFill>
                <a:latin typeface="Calibri"/>
              </a:rPr>
              <a:t>30 % </a:t>
            </a:r>
            <a:br>
              <a:rPr lang="de-DE" sz="2400" b="1" dirty="0">
                <a:solidFill>
                  <a:srgbClr val="2E7D32"/>
                </a:solidFill>
                <a:latin typeface="Calibri"/>
              </a:rPr>
            </a:br>
            <a:endParaRPr lang="de-DE" sz="3600"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862425" y="4152672"/>
            <a:ext cx="1959254" cy="504943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TCO </a:t>
            </a:r>
          </a:p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+ </a:t>
            </a:r>
          </a:p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Betriebskosten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8400" y="2910840"/>
            <a:ext cx="563880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362700" y="2910840"/>
            <a:ext cx="541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Gartner Executive Summary 2025  (Pure-Play vs. Platform)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48400" y="3215640"/>
            <a:ext cx="56388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6362700" y="327660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6438900" y="334518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438900" y="334518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05600" y="331470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lang="de-DE" sz="1100" b="1" i="0" noProof="0">
                <a:solidFill>
                  <a:srgbClr val="1F2937"/>
                </a:solidFill>
                <a:latin typeface="Calibri"/>
              </a:rPr>
              <a:t>Integration schlägt Funktionsbreite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05600" y="3505200"/>
            <a:ext cx="5029200" cy="312583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Nur eine Plattform ermöglicht End-</a:t>
            </a:r>
            <a:r>
              <a:rPr lang="de-DE" sz="950" b="0" i="0" noProof="0" dirty="0" err="1">
                <a:solidFill>
                  <a:srgbClr val="4B5563"/>
                </a:solidFill>
                <a:latin typeface="Calibri"/>
              </a:rPr>
              <a:t>to</a:t>
            </a: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-End-</a:t>
            </a:r>
            <a:r>
              <a:rPr lang="de-DE" sz="950" b="0" i="0" noProof="0" dirty="0" err="1">
                <a:solidFill>
                  <a:srgbClr val="4B5563"/>
                </a:solidFill>
                <a:latin typeface="Calibri"/>
              </a:rPr>
              <a:t>Governance</a:t>
            </a: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 </a:t>
            </a:r>
            <a:br>
              <a:rPr lang="de-DE" sz="950" b="0" i="0" noProof="0" dirty="0">
                <a:solidFill>
                  <a:srgbClr val="4B5563"/>
                </a:solidFill>
                <a:latin typeface="Calibri"/>
              </a:rPr>
            </a:b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über Strategie, Projekte, Produkte, IT &amp; Finance hinweg.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362700" y="422656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6438900" y="429514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438900" y="429514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05600" y="426466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TCO + Governance-Vorteile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705600" y="445516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Weniger Tools · weniger Schnittstellen · konsistente KPIs.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362700" y="517652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438900" y="524510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38900" y="524510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05600" y="521462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lang="de-DE" sz="1100" b="1" i="0" noProof="0">
                <a:solidFill>
                  <a:srgbClr val="1F2937"/>
                </a:solidFill>
                <a:latin typeface="Calibri"/>
              </a:rPr>
              <a:t>Zukunftssicherheit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05600" y="540512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Plattformen wie ServiceNow erweitern SPM nativ um AI und Workflow-Automatisierung.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00800" y="6092927"/>
            <a:ext cx="5334000" cy="143306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800" b="0" i="1" dirty="0">
                <a:solidFill>
                  <a:srgbClr val="4B5563"/>
                </a:solidFill>
                <a:latin typeface="Calibri"/>
              </a:rPr>
              <a:t>Quelle: Gartner 2025 – Pure-Play Versus Platform, Comparing SPM Solutions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81940" y="510540"/>
            <a:ext cx="11628120" cy="230886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/>
      <p:bldP spid="72" grpId="0" animBg="1"/>
      <p:bldP spid="73" grpId="0"/>
      <p:bldP spid="74" grpId="0" animBg="1"/>
      <p:bldP spid="75" grpId="0" animBg="1"/>
      <p:bldP spid="76" grpId="0"/>
      <p:bldP spid="77" grpId="0" animBg="1"/>
      <p:bldP spid="78" grpId="0"/>
      <p:bldP spid="79" grpId="0" animBg="1"/>
      <p:bldP spid="80" grpId="0"/>
      <p:bldP spid="81" grpId="0" animBg="1"/>
      <p:bldP spid="82" grpId="0"/>
      <p:bldP spid="83" grpId="0" animBg="1"/>
      <p:bldP spid="84" grpId="0"/>
      <p:bldP spid="85" grpId="0"/>
      <p:bldP spid="86" grpId="0" animBg="1"/>
      <p:bldP spid="87" grpId="0"/>
      <p:bldP spid="88" grpId="0"/>
      <p:bldP spid="89" grpId="0" animBg="1"/>
      <p:bldP spid="90" grpId="0"/>
      <p:bldP spid="91" grpId="0"/>
      <p:bldP spid="94" grpId="0"/>
      <p:bldP spid="95" grpId="0" animBg="1"/>
      <p:bldP spid="96" grpId="0"/>
      <p:bldP spid="98" grpId="0"/>
      <p:bldP spid="100" grpId="0" animBg="1"/>
      <p:bldP spid="101" grpId="0"/>
      <p:bldP spid="102" grpId="0" animBg="1"/>
      <p:bldP spid="103" grpId="0" animBg="1"/>
      <p:bldP spid="104" grpId="0" animBg="1"/>
      <p:bldP spid="105" grpId="0"/>
      <p:bldP spid="106" grpId="0"/>
      <p:bldP spid="107" grpId="0"/>
      <p:bldP spid="108" grpId="0" animBg="1"/>
      <p:bldP spid="109" grpId="0" animBg="1"/>
      <p:bldP spid="110" grpId="0"/>
      <p:bldP spid="111" grpId="0"/>
      <p:bldP spid="112" grpId="0"/>
      <p:bldP spid="113" grpId="0" animBg="1"/>
      <p:bldP spid="114" grpId="0" animBg="1"/>
      <p:bldP spid="115" grpId="0"/>
      <p:bldP spid="116" grpId="0"/>
      <p:bldP spid="117" grpId="0"/>
      <p:bldP spid="118" grpId="0"/>
      <p:bldP spid="1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 dirty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ServiceNow SPM PoC bei STIHL – Beispiele aus dem Strategic Planning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Strategien, Portfolios, Roadmaps und Ziele live auf der Plattform – STIHL TRAIL 2030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Folie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5734050" cy="268605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4800" y="571500"/>
            <a:ext cx="573405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9100" y="594360"/>
            <a:ext cx="466725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Prioritization mit Strategic-Investments-Lens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2550" y="624840"/>
            <a:ext cx="762000" cy="1981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2550" y="624840"/>
            <a:ext cx="762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Bild 1 /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9100" y="937260"/>
            <a:ext cx="5505450" cy="186309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AE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100" y="937260"/>
            <a:ext cx="5505450" cy="186309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A8AEB6"/>
                </a:solidFill>
                <a:latin typeface="Calibri"/>
              </a:rPr>
              <a:t>📷  Hier Screenshot einfügen</a:t>
            </a:r>
          </a:p>
          <a:p>
            <a:pPr algn="ctr"/>
            <a:r>
              <a:rPr sz="900" b="0" i="1">
                <a:solidFill>
                  <a:srgbClr val="A8AEB6"/>
                </a:solidFill>
                <a:latin typeface="Calibri"/>
              </a:rPr>
              <a:t>Drag-and-Drop in PowerPoint oder Einfügen → Bild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2830830"/>
            <a:ext cx="55054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STIHL TRAIL 2030 Demo – Lens-Hierarchie zeigt Strategic Priorities, Initiatives, Programs, Projects und Demands mit Gantt-Visualisierung. Filter über Lens-Auswahl (Org Unit, Strategic Investments, …).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150" y="571500"/>
            <a:ext cx="5734050" cy="268605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53150" y="571500"/>
            <a:ext cx="573405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7450" y="594360"/>
            <a:ext cx="466725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Goals &amp; Targets mit Status und 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10900" y="624840"/>
            <a:ext cx="762000" cy="1981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10900" y="624840"/>
            <a:ext cx="762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Bild 2 /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7450" y="937260"/>
            <a:ext cx="5505450" cy="186309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AE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7450" y="937260"/>
            <a:ext cx="5505450" cy="186309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A8AEB6"/>
                </a:solidFill>
                <a:latin typeface="Calibri"/>
              </a:rPr>
              <a:t>📷  Hier Screenshot einfügen</a:t>
            </a:r>
          </a:p>
          <a:p>
            <a:pPr algn="ctr"/>
            <a:r>
              <a:rPr sz="900" b="0" i="1">
                <a:solidFill>
                  <a:srgbClr val="A8AEB6"/>
                </a:solidFill>
                <a:latin typeface="Calibri"/>
              </a:rPr>
              <a:t>Drag-and-Drop in PowerPoint oder Einfügen → Bild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7450" y="2830830"/>
            <a:ext cx="55054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OKR-/Ziel-Hierarchie mit Status-Ampel (Grün/Gelb/Rot), Fortschritt in % und Trend-Charts pro Ziel. Side-Panel mit Soll-/Ist-Vergleich.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4800" y="3371850"/>
            <a:ext cx="5734050" cy="268605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04800" y="3371850"/>
            <a:ext cx="573405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9100" y="3394710"/>
            <a:ext cx="466725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Stihl Product Roadmap – Swim-Lane-Planung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62550" y="3425190"/>
            <a:ext cx="762000" cy="1981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2550" y="3425190"/>
            <a:ext cx="762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Bild 3 /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9100" y="3737610"/>
            <a:ext cx="5505450" cy="186309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AE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9100" y="3737610"/>
            <a:ext cx="5505450" cy="186309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A8AEB6"/>
                </a:solidFill>
                <a:latin typeface="Calibri"/>
              </a:rPr>
              <a:t>📷  Hier Screenshot einfügen</a:t>
            </a:r>
          </a:p>
          <a:p>
            <a:pPr algn="ctr"/>
            <a:r>
              <a:rPr sz="900" b="0" i="1">
                <a:solidFill>
                  <a:srgbClr val="A8AEB6"/>
                </a:solidFill>
                <a:latin typeface="Calibri"/>
              </a:rPr>
              <a:t>Drag-and-Drop in PowerPoint oder Einfügen → Bild 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9100" y="5631180"/>
            <a:ext cx="5505450" cy="380999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Portfolio-Planning-Workbench mit Produkt-Swim-Lanes (z. B. PMS 180.0, WKP 250.0, ZMS 400.0). FY26-Quartale + Monatsraster; Demands und Projekte direkt auf der Zeitachse.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150" y="3371850"/>
            <a:ext cx="5734050" cy="268605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53150" y="3371850"/>
            <a:ext cx="573405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7450" y="3394710"/>
            <a:ext cx="466725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Strategic Hierarchy – Programme &amp; Initiativen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10900" y="3425190"/>
            <a:ext cx="762000" cy="1981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10900" y="3425190"/>
            <a:ext cx="762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Bild 4 / 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7450" y="3737610"/>
            <a:ext cx="5505450" cy="186309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AE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7450" y="3737610"/>
            <a:ext cx="5505450" cy="186309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A8AEB6"/>
                </a:solidFill>
                <a:latin typeface="Calibri"/>
              </a:rPr>
              <a:t>📷  Hier Screenshot einfügen</a:t>
            </a:r>
          </a:p>
          <a:p>
            <a:pPr algn="ctr"/>
            <a:r>
              <a:rPr sz="900" b="0" i="1">
                <a:solidFill>
                  <a:srgbClr val="A8AEB6"/>
                </a:solidFill>
                <a:latin typeface="Calibri"/>
              </a:rPr>
              <a:t>Drag-and-Drop in PowerPoint oder Einfügen → Bild 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7450" y="5631180"/>
            <a:ext cx="5505450" cy="380999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Volle Lens-Hierarchie: STIHL TRAIL 2030 → Customer-Centric Products → Connected → einzelne Vorhaben (Stihl Global AI Hub, EURO Umstellung Bulgarien, OT Security, EMEA Shared Datacenter …).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PoC-Screenshots aus ServiceNow Strategic Planning Workspace / Portfolio Planning – Demo-Instance STIHL TRAIL 2030.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86063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101569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40431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45358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303651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6063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11938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927444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966306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071233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129526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11938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575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758081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796943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901870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960163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2575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86063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101569" y="59937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140431" y="56361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245358" y="53874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03651" y="54263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86063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11938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927444" y="59937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966306" y="56361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71233" y="53874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29526" y="54263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11938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442575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823917" y="5933364"/>
            <a:ext cx="427939" cy="8321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853635" y="5659958"/>
            <a:ext cx="368503" cy="29718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33874" y="5469763"/>
            <a:ext cx="148590" cy="29718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978451" y="5499481"/>
            <a:ext cx="59436" cy="59436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42575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60 %</a:t>
            </a: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Outcomes – Was SNOW SPM für STIHL konkret bedeutet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Die 9 ServiceNow Business Outcomes konsolidiert auf 6 wirkungsstarke STIHL-Ergebnisse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11582400" cy="3429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5715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15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57150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Was es bedeutet (Ziel)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0" y="571500"/>
            <a:ext cx="598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STIHL-Wirkung – konkreter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95250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4800" y="9525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3860" y="12496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3860" y="12496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9829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Speed &amp; Time-to-Market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15621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1 Faster Time to Market + 7 Improved Speed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80" y="9829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Schneller von Idee zur Markt-/Projektreife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6920" y="9829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End-to-end-Digitalisierung Idee → MPM → VEW. Gates (SBGo, PH) im System. Workflows ersetzen wochenlange manuelle Schleifen zwischen Excel, SAP und PIT.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" y="183642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4800" y="183642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3860" y="213360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3860" y="213360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" y="186690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Resilience &amp; Agility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80" y="244602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2 Response to Disruptions + 6 Increased Agility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480" y="186690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 auf Störungen und Veränderungen reagieren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6920" y="186690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Alternativ-Roadmaps ohne neue Excel-Iterationen. Bei Budgetkürzung oder Marktveränderung sofort Re-Priorisierung – Effekte auf Kapazität und Strategie sind unmittelbar sichtbar.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72034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4800" y="272034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03860" y="301752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3860" y="301752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80" y="275082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Strategic Alignment &amp; Transparency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480" y="332994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3 Strategy ↔ Execution + 8 Big-picture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8480" y="275082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Strategie und Umsetzung durchgängig verknüpfen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6920" y="275082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OKRs/Ziele direkt mit Programmen, Projekten und Demands verbunden. Vorstands-Cockpit mit Ampelstatus, Budget-Auslastung und OKR-Beitrag aller Projekte.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360426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4800" y="360426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03860" y="3901439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3860" y="3901439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480" y="3634739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480" y="421386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4 Improved Efficiency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8480" y="3634739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Doppelarbeit und manuelle Reportingschleifen vermeiden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6920" y="3634739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Priorisierung über Scoring-Logik (Market / Business Case) ersetzt Excel-Bewertungen. Stunden im System, SAP-Ist-Kosten automatisch eingebunden – Plan-vs-Ist live, ohne manuelle Datenladevorgänge.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0" y="448818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04800" y="448818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03860" y="478536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03860" y="478536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480" y="451866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Cross-Functional Cohesion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480" y="509778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5 Cohesion of Multiple Disciplines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78480" y="451866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Eine Plattform für alle Disziplinen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6920" y="451866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Einheitliches Datenmodell und Templates für MPM, VEW/PEP, VPM und IT. Cross-funktionale Programme mit gemeinsamer Freigabe, Abhängigkeiten und Reporting – Insellösungen entfallen.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537210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4800" y="53721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03860" y="56692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3860" y="56692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2480" y="54025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Business Value Realization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480" y="59817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9 Business Value Realization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8480" y="54025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messbar machen und nachverfolgen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6920" y="54025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Business Cases strukturiert erfasst und über den gesamten Projektlebenszyklus nachverfolgt. Nach Projektabschluss Soll-/Ist-Abgleich gegen Strategie- und Nutzen-Ziele.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4800" y="62865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'Stihl_SPM_Business_Outcomes' – 9 ursprüngliche Outcomes (Faster Time to Market, Response to Disruptions, Strategy/Execution, Efficiency, Cohesion, Agility, Speed Overall, Big-picture, Value Realization).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Roadmap 2026 – 2028:  Konzeption · Umsetzung ·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Drei-Jahres-Plan SNOW SPM mit Phasen, Meilensteinen und vertraglichen Eckpunkten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71500"/>
            <a:ext cx="3154680" cy="266700"/>
          </a:xfrm>
          <a:prstGeom prst="roundRect">
            <a:avLst/>
          </a:prstGeom>
          <a:solidFill>
            <a:srgbClr val="F7C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360" y="571500"/>
            <a:ext cx="3154680" cy="266700"/>
          </a:xfrm>
          <a:prstGeom prst="roundRect">
            <a:avLst/>
          </a:prstGeom>
          <a:solidFill>
            <a:srgbClr val="F4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4736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7280" y="571500"/>
            <a:ext cx="3154680" cy="266700"/>
          </a:xfrm>
          <a:prstGeom prst="roundRect">
            <a:avLst/>
          </a:prstGeom>
          <a:solidFill>
            <a:srgbClr val="E0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1728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61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585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107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3603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285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209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595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9842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9090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4800" y="571500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4B5563"/>
                </a:solidFill>
                <a:latin typeface="Calibri"/>
              </a:rPr>
              <a:t>Zeit 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975360"/>
            <a:ext cx="1981200" cy="838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1390650"/>
            <a:ext cx="9509760" cy="114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iamond 24"/>
          <p:cNvSpPr/>
          <p:nvPr/>
        </p:nvSpPr>
        <p:spPr>
          <a:xfrm>
            <a:off x="29768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347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520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PPB 08.04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20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Projekt-Board</a:t>
            </a:r>
          </a:p>
        </p:txBody>
      </p:sp>
      <p:sp>
        <p:nvSpPr>
          <p:cNvPr id="29" name="Diamond 28"/>
          <p:cNvSpPr/>
          <p:nvPr/>
        </p:nvSpPr>
        <p:spPr>
          <a:xfrm>
            <a:off x="3218179" y="1310640"/>
            <a:ext cx="167640" cy="16764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8951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1619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VS 18.05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619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heutige Vorstandssitzung</a:t>
            </a:r>
          </a:p>
        </p:txBody>
      </p:sp>
      <p:sp>
        <p:nvSpPr>
          <p:cNvPr id="33" name="Diamond 32"/>
          <p:cNvSpPr/>
          <p:nvPr/>
        </p:nvSpPr>
        <p:spPr>
          <a:xfrm>
            <a:off x="42976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555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28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8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01.09.2026</a:t>
            </a:r>
          </a:p>
        </p:txBody>
      </p:sp>
      <p:sp>
        <p:nvSpPr>
          <p:cNvPr id="37" name="Diamond 36"/>
          <p:cNvSpPr/>
          <p:nvPr/>
        </p:nvSpPr>
        <p:spPr>
          <a:xfrm>
            <a:off x="4826000" y="1333500"/>
            <a:ext cx="121920" cy="121920"/>
          </a:xfrm>
          <a:prstGeom prst="diamond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83911" y="101346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0115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F07F12"/>
                </a:solidFill>
                <a:latin typeface="Calibri"/>
              </a:rPr>
              <a:t>Kick-off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115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Q3/Q4 2026</a:t>
            </a:r>
          </a:p>
        </p:txBody>
      </p:sp>
      <p:sp>
        <p:nvSpPr>
          <p:cNvPr id="41" name="Diamond 40"/>
          <p:cNvSpPr/>
          <p:nvPr/>
        </p:nvSpPr>
        <p:spPr>
          <a:xfrm>
            <a:off x="823722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17992" y="148590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352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Org + IT Projekte</a:t>
            </a:r>
          </a:p>
        </p:txBody>
      </p:sp>
      <p:sp>
        <p:nvSpPr>
          <p:cNvPr id="45" name="Diamond 44"/>
          <p:cNvSpPr/>
          <p:nvPr/>
        </p:nvSpPr>
        <p:spPr>
          <a:xfrm>
            <a:off x="1140714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487912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05160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5160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VEW / VPM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1889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04800" y="1889760"/>
            <a:ext cx="60960" cy="6858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9100" y="1927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Vorbereitung &amp; Vertrag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100" y="2148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Auftragsklärung · Budget · Partnerauswahl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77440" y="1889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54278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71270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543556" y="1973580"/>
            <a:ext cx="2045207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81656" y="1988820"/>
            <a:ext cx="1953767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Auftragsklärung · Stakeholder · Phasen-/Kostenplanung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1656" y="2232660"/>
            <a:ext cx="1953767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Q1 – Q3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7012" y="1973580"/>
            <a:ext cx="1411224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25112" y="1988820"/>
            <a:ext cx="1319784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Partnerauswahl SNOW SPM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25112" y="2232660"/>
            <a:ext cx="1319784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Q3/Q4 2026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79492" y="1973580"/>
            <a:ext cx="1252728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17592" y="1988820"/>
            <a:ext cx="1161288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SNOW Budgetierung &amp; Contract Renewal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7592" y="2232660"/>
            <a:ext cx="1161288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ab Q4 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0" y="2651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04800" y="265176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9100" y="2689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1  SNOW SPM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100" y="2910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77440" y="2651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54278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71270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762500" y="2735580"/>
            <a:ext cx="77723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0600" y="2750820"/>
            <a:ext cx="685799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Konzeption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2994660"/>
            <a:ext cx="685799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Demand · Strategy · MDM · Portfolio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54979" y="2735580"/>
            <a:ext cx="3154680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93079" y="2750820"/>
            <a:ext cx="306324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93079" y="2994660"/>
            <a:ext cx="306324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PIT-Schnittstelle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07908" y="2735580"/>
            <a:ext cx="301752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46008" y="2750820"/>
            <a:ext cx="210312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6008" y="2994660"/>
            <a:ext cx="210312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Org +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800" y="3413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04800" y="3413760"/>
            <a:ext cx="60960" cy="6858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9100" y="3451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2  SNOW SPM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" y="3672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Project Management · PEP · VPM · Portfolio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377440" y="3413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54278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71270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7139940" y="3497580"/>
            <a:ext cx="156971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178040" y="3512820"/>
            <a:ext cx="147828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Konzeption Phase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3756660"/>
            <a:ext cx="147828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Project Mgmt · PEP · VPM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24900" y="3497580"/>
            <a:ext cx="2916935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763000" y="3512820"/>
            <a:ext cx="2825495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63000" y="3756660"/>
            <a:ext cx="2825495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Maßnahmen-Mgmt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577828" y="3497580"/>
            <a:ext cx="301751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1615928" y="3512820"/>
            <a:ext cx="210311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5928" y="3756660"/>
            <a:ext cx="210311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VEW / VPM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04800" y="4175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04800" y="4175760"/>
            <a:ext cx="60960" cy="6858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9100" y="4213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Alternative-Spur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9100" y="4434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PM-Plattform für VEW / VPM (Hedge)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175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54278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71270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762500" y="4259580"/>
            <a:ext cx="2362200" cy="518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800600" y="4274820"/>
            <a:ext cx="227076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Alternative PM-Plattform (VEW / VPM)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4518660"/>
            <a:ext cx="227076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Bewertung als Risiko-Hedge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496062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43000" y="4998720"/>
            <a:ext cx="121920" cy="12192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287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43200" y="49987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8879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43400" y="4998720"/>
            <a:ext cx="121920" cy="1219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881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 +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0" y="4998720"/>
            <a:ext cx="12192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0883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43800" y="4998720"/>
            <a:ext cx="121920" cy="121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6885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Vorbereitung / Vertrag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0" y="49987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288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20" name="Diamond 119"/>
          <p:cNvSpPr/>
          <p:nvPr/>
        </p:nvSpPr>
        <p:spPr>
          <a:xfrm>
            <a:off x="9906000" y="4998720"/>
            <a:ext cx="121920" cy="12192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058400" y="496062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den Original-Folien 2026 / 2027 / 2028 (Rough Schedule).  Stand: 18.05.2026.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C53D5A5-84E6-3148-A66F-9B15DBC4BC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53D5A5-84E6-3148-A66F-9B15DBC4BC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15611A1-1F36-6A2B-E722-70AE1395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Bewertung der Plattformstrategie mit ServiceNow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9D25D2-9E95-2963-5013-89D932592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1. Was soll gegenüber gestellt werden?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067B29F-F1F7-5509-BCB5-9E9364656E43}"/>
              </a:ext>
            </a:extLst>
          </p:cNvPr>
          <p:cNvGraphicFramePr>
            <a:graphicFrameLocks noGrp="1"/>
          </p:cNvGraphicFramePr>
          <p:nvPr/>
        </p:nvGraphicFramePr>
        <p:xfrm>
          <a:off x="479426" y="1482756"/>
          <a:ext cx="11658918" cy="552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363">
                  <a:extLst>
                    <a:ext uri="{9D8B030D-6E8A-4147-A177-3AD203B41FA5}">
                      <a16:colId xmlns:a16="http://schemas.microsoft.com/office/drawing/2014/main" val="1926975194"/>
                    </a:ext>
                  </a:extLst>
                </a:gridCol>
                <a:gridCol w="5391555">
                  <a:extLst>
                    <a:ext uri="{9D8B030D-6E8A-4147-A177-3AD203B41FA5}">
                      <a16:colId xmlns:a16="http://schemas.microsoft.com/office/drawing/2014/main" val="2469589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SPM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Multi-Tool-Ansatz (B-o-B) </a:t>
                      </a:r>
                      <a:br>
                        <a:rPr lang="de-DE" dirty="0"/>
                      </a:br>
                      <a:r>
                        <a:rPr lang="de-DE" dirty="0"/>
                        <a:t>– inkl. Toolannahmen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48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Strategische Produkt- Portfolioplanung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SharePoint-Listen / Power-</a:t>
                      </a:r>
                      <a:r>
                        <a:rPr lang="de-DE" err="1"/>
                        <a:t>Automate</a:t>
                      </a:r>
                      <a:r>
                        <a:rPr lang="de-DE"/>
                        <a:t>/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368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OKR, Strategisches Projekt Portfolio Management, </a:t>
                      </a:r>
                      <a:br>
                        <a:rPr lang="de-DE" dirty="0"/>
                      </a:br>
                      <a:r>
                        <a:rPr lang="de-DE" dirty="0"/>
                        <a:t>Programm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Workpath, Power BI, SharePoint Listen, Planisware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1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Finanzielle Planung von Projekten (Jahresplanung)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SAC, (Planisware)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62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Power Automate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43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Demand-Management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ServiceNow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07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Terminplanung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91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Ressourcenplanung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248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Aufgabenmanagement (Einzelprojekt)</a:t>
                      </a:r>
                      <a:br>
                        <a:rPr lang="de-DE" dirty="0"/>
                      </a:br>
                      <a:r>
                        <a:rPr lang="de-DE" dirty="0"/>
                        <a:t>ServiceNow „Planner“, 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MS Planner, Jira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99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Reporting,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10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DAP „light“ für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DAP - Plattform zur Verbindung aller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59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Eine SAP-Schnittstelle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SAP-Integration über DAP 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84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983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 dirty="0"/>
              <a:t>Arbeitsvorrat</a:t>
            </a:r>
            <a:r>
              <a:rPr lang="de-DE" sz="1400" dirty="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 dirty="0"/>
              <a:t>Agile Abarbeitung </a:t>
            </a:r>
            <a:r>
              <a:rPr lang="de-DE" sz="1400" dirty="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Steuerung von </a:t>
            </a:r>
            <a:r>
              <a:rPr lang="de-DE" sz="1400" b="1" dirty="0"/>
              <a:t>Schlüssel-Ressourcen</a:t>
            </a:r>
            <a:r>
              <a:rPr lang="de-DE" sz="1400" dirty="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Abwägung der </a:t>
            </a:r>
            <a:r>
              <a:rPr lang="de-DE" sz="1400" b="1" dirty="0"/>
              <a:t>resultierenden Betriebskosten </a:t>
            </a:r>
            <a:r>
              <a:rPr lang="de-DE" sz="1400" dirty="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Detail-Terminierung 18.05. – 31.10.2026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Vorbereitende Aktivitäten zwischen Vorstandstermin und Vorstandssitzung Q3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Terminplan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5715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ZEITRAUM 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4200" y="571500"/>
            <a:ext cx="682449" cy="274320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4200" y="571500"/>
            <a:ext cx="682449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Mai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63248" y="571500"/>
            <a:ext cx="1527075" cy="2743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248" y="571500"/>
            <a:ext cx="152707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Juni 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6922" y="571500"/>
            <a:ext cx="1579864" cy="274320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6922" y="571500"/>
            <a:ext cx="15798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Juli 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3386" y="571500"/>
            <a:ext cx="1579864" cy="2743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3386" y="571500"/>
            <a:ext cx="15798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Aug 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19850" y="571500"/>
            <a:ext cx="1527075" cy="274320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9850" y="571500"/>
            <a:ext cx="152707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Sept 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03525" y="571500"/>
            <a:ext cx="1579864" cy="2743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3525" y="571500"/>
            <a:ext cx="15798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Okt 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60200" y="85344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43874" y="85344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80338" y="85344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16802" y="85344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00477" y="85344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800" y="9525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4200" y="1291590"/>
            <a:ext cx="8763000" cy="76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032760" y="1203960"/>
            <a:ext cx="182880" cy="18288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21152" y="990600"/>
            <a:ext cx="6096" cy="21336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93726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b" lIns="20000" rIns="2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Calibri"/>
              </a:rPr>
              <a:t>VS 18.05.2026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1089660"/>
            <a:ext cx="16764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Vorstand – heutige Sitzung</a:t>
            </a:r>
          </a:p>
        </p:txBody>
      </p:sp>
      <p:sp>
        <p:nvSpPr>
          <p:cNvPr id="31" name="Diamond 30"/>
          <p:cNvSpPr/>
          <p:nvPr/>
        </p:nvSpPr>
        <p:spPr>
          <a:xfrm>
            <a:off x="9895350" y="1203960"/>
            <a:ext cx="182880" cy="18288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83742" y="1386840"/>
            <a:ext cx="6096" cy="21336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8590" y="1455420"/>
            <a:ext cx="16764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b" lIns="20000" rIns="2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Calibri"/>
              </a:rPr>
              <a:t>VS Ende Sept.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8590" y="1592580"/>
            <a:ext cx="16764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Vorstand Q3 2026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4800" y="1714500"/>
            <a:ext cx="27432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4800" y="1714500"/>
            <a:ext cx="53340" cy="5715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174498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Prozess- &amp; Toolanalyse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1973580"/>
            <a:ext cx="167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880" b="0" i="1">
                <a:solidFill>
                  <a:srgbClr val="4B5563"/>
                </a:solidFill>
                <a:latin typeface="Calibri"/>
              </a:rPr>
              <a:t>Planhorizon · Anforderungen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57400" y="1752600"/>
            <a:ext cx="914400" cy="1981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1752600"/>
            <a:ext cx="9144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30.05. – 15.07.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24200" y="1714500"/>
            <a:ext cx="87630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60200" y="174498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43874" y="174498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80338" y="174498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16802" y="174498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300477" y="174498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757669" y="1790700"/>
            <a:ext cx="2420681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88149" y="1790700"/>
            <a:ext cx="2359721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Analyse · Klärung · Planhorizon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2331720"/>
            <a:ext cx="27432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4800" y="2331720"/>
            <a:ext cx="53340" cy="5715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23622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Business Case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2590800"/>
            <a:ext cx="167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880" b="0" i="1">
                <a:solidFill>
                  <a:srgbClr val="4B5563"/>
                </a:solidFill>
                <a:latin typeface="Calibri"/>
              </a:rPr>
              <a:t>Wirtschaftlichkeit, ROI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57400" y="2369820"/>
            <a:ext cx="914400" cy="1981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369820"/>
            <a:ext cx="9144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15.06. – 30.08.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124200" y="2331720"/>
            <a:ext cx="87630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60200" y="236220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43874" y="236220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080338" y="236220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716802" y="236220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300477" y="236220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602296" y="2407920"/>
            <a:ext cx="4004355" cy="41910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32776" y="2407920"/>
            <a:ext cx="3943395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Business Case Ausarbeitung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04800" y="2948940"/>
            <a:ext cx="27432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04800" y="2948940"/>
            <a:ext cx="53340" cy="5715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297942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Alternative PM-Plattform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3208020"/>
            <a:ext cx="167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880" b="0" i="1">
                <a:solidFill>
                  <a:srgbClr val="4B5563"/>
                </a:solidFill>
                <a:latin typeface="Calibri"/>
              </a:rPr>
              <a:t>VEW / VPM (Hedge)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057400" y="2987040"/>
            <a:ext cx="914400" cy="1981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2987040"/>
            <a:ext cx="9144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11.06. – 30.08.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124200" y="2948940"/>
            <a:ext cx="87630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860200" y="297942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443874" y="297942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80338" y="297942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716802" y="297942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300477" y="297942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391139" y="3025140"/>
            <a:ext cx="4215512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21619" y="3025140"/>
            <a:ext cx="4154552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Bewertung alternativer PM-Tools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04800" y="3566160"/>
            <a:ext cx="27432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04800" y="3566160"/>
            <a:ext cx="53340" cy="57150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3596639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Stakeholder-Management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3825239"/>
            <a:ext cx="167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880" b="0" i="1">
                <a:solidFill>
                  <a:srgbClr val="4B5563"/>
                </a:solidFill>
                <a:latin typeface="Calibri"/>
              </a:rPr>
              <a:t>Vorstandsinfos je Ressort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057400" y="3604260"/>
            <a:ext cx="914400" cy="1981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57400" y="3604260"/>
            <a:ext cx="9144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30.06. – 16.10.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124200" y="3566160"/>
            <a:ext cx="87630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860200" y="3596639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443874" y="3596639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0338" y="3596639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716802" y="3596639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300477" y="3596639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394133" y="3642360"/>
            <a:ext cx="5693608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24613" y="3642360"/>
            <a:ext cx="5632648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Ressort-Bilateralen · Abstimmungs-Workshops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04800" y="4183380"/>
            <a:ext cx="27432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04800" y="4183380"/>
            <a:ext cx="53340" cy="5715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421386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Budgetplanung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4442460"/>
            <a:ext cx="167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880" b="0" i="1">
                <a:solidFill>
                  <a:srgbClr val="4B5563"/>
                </a:solidFill>
                <a:latin typeface="Calibri"/>
              </a:rPr>
              <a:t>Plan- &amp; Investitions-Mittel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057400" y="4221480"/>
            <a:ext cx="914400" cy="1981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57400" y="4221480"/>
            <a:ext cx="9144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01.08. – 30.08.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124200" y="4183380"/>
            <a:ext cx="87630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860200" y="421386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443874" y="421386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080338" y="421386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16802" y="421386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300477" y="421386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7083386" y="4259580"/>
            <a:ext cx="1523265" cy="4191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13866" y="4259580"/>
            <a:ext cx="1462305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Budgetplanung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04800" y="4800600"/>
            <a:ext cx="27432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04800" y="4800600"/>
            <a:ext cx="53340" cy="5715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11480" y="483108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RFP Dienstleisterauswahl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1480" y="5059680"/>
            <a:ext cx="167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880" b="0" i="1">
                <a:solidFill>
                  <a:srgbClr val="4B5563"/>
                </a:solidFill>
                <a:latin typeface="Calibri"/>
              </a:rPr>
              <a:t>Ausschreibung &amp; Vergabe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057400" y="4838700"/>
            <a:ext cx="914400" cy="19812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057400" y="4838700"/>
            <a:ext cx="9144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01.10. – 31.10.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124200" y="4800600"/>
            <a:ext cx="8763000" cy="5715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860200" y="483108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43874" y="483108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080338" y="483108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716802" y="483108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300477" y="4831080"/>
            <a:ext cx="6096" cy="5105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10303525" y="4876800"/>
            <a:ext cx="1576054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334005" y="4876800"/>
            <a:ext cx="1515094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RFP · Bewertung · Vergabe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119628" y="1691640"/>
            <a:ext cx="9144" cy="3733799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982980" y="1691640"/>
            <a:ext cx="7620" cy="3733799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800" y="5455920"/>
            <a:ext cx="22860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371600" y="5509260"/>
            <a:ext cx="106680" cy="1066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501140" y="545592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Analyse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819400" y="5509260"/>
            <a:ext cx="106680" cy="10668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948940" y="545592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Business Case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267200" y="5509260"/>
            <a:ext cx="106680" cy="1066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396740" y="545592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715000" y="5509260"/>
            <a:ext cx="106680" cy="10668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844540" y="545592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Stakeholder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162800" y="5509260"/>
            <a:ext cx="106680" cy="1066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92340" y="545592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Budget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610600" y="5509260"/>
            <a:ext cx="106680" cy="10668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740140" y="545592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RFP</a:t>
            </a:r>
          </a:p>
        </p:txBody>
      </p:sp>
      <p:sp>
        <p:nvSpPr>
          <p:cNvPr id="134" name="Diamond 133"/>
          <p:cNvSpPr/>
          <p:nvPr/>
        </p:nvSpPr>
        <p:spPr>
          <a:xfrm>
            <a:off x="10058400" y="5501639"/>
            <a:ext cx="106680" cy="10668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187940" y="5455920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Detail-Terminierung zwischen Vorstand 18.05.2026 und Vorstand Q3 2026.  Stand: 18.05.2026.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2860</Words>
  <Application>Microsoft Office PowerPoint</Application>
  <PresentationFormat>Breitbild</PresentationFormat>
  <Paragraphs>792</Paragraphs>
  <Slides>25</Slides>
  <Notes>6</Notes>
  <HiddenSlides>7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5" baseType="lpstr">
      <vt:lpstr>Arial</vt:lpstr>
      <vt:lpstr>Arial Narrow</vt:lpstr>
      <vt:lpstr>Calibri</vt:lpstr>
      <vt:lpstr>stihl contraface display medium</vt:lpstr>
      <vt:lpstr>stihl contraface display medium</vt:lpstr>
      <vt:lpstr>STIHL Contraface Display Title</vt:lpstr>
      <vt:lpstr>STIHL Contraface Text</vt:lpstr>
      <vt:lpstr>Wingdings</vt:lpstr>
      <vt:lpstr>STIHL EN 16:9</vt:lpstr>
      <vt:lpstr>think-cell Slide</vt:lpstr>
      <vt:lpstr>Überblick PPM@STIHL und zwischenstand servicenow plattform  ƒ</vt:lpstr>
      <vt:lpstr>Informationen zur Vorstandsvorlage </vt:lpstr>
      <vt:lpstr>Projekte und Projektportfoliomanagement bei STIHL</vt:lpstr>
      <vt:lpstr>PowerPoint-Präsentation</vt:lpstr>
      <vt:lpstr>Herausforderungen im Status Quo</vt:lpstr>
      <vt:lpstr>Vorgehen / Ansatz / Prämissen</vt:lpstr>
      <vt:lpstr>Vorprojekt SNOW – Überblick</vt:lpstr>
      <vt:lpstr>PowerPoint-Präsentation</vt:lpstr>
      <vt:lpstr>PowerPoint-Präsentation</vt:lpstr>
      <vt:lpstr>Vorprojekt SNOW – Ergebnisse (1 von 2)</vt:lpstr>
      <vt:lpstr>Vorprojekt SNOW – Ergebnisse (2 von 2)</vt:lpstr>
      <vt:lpstr>PowerPoint-Präsentation</vt:lpstr>
      <vt:lpstr>Lessons Learned MSPO</vt:lpstr>
      <vt:lpstr>Weiteres Vorgehen SNOW</vt:lpstr>
      <vt:lpstr>PowerPoint-Präsentation</vt:lpstr>
      <vt:lpstr>PowerPoint-Präsentation</vt:lpstr>
      <vt:lpstr>Bewertung der Plattformstrategie mit ServiceNow</vt:lpstr>
      <vt:lpstr>PowerPoint-Präsentation</vt:lpstr>
      <vt:lpstr>PowerPoint-Präsentation</vt:lpstr>
      <vt:lpstr>PowerPoint-Präsentation</vt:lpstr>
      <vt:lpstr>Status Quo</vt:lpstr>
      <vt:lpstr>Status Quo: IT Demand and Project landscape </vt:lpstr>
      <vt:lpstr>Steuerungs- und Transparenzebenen im Strategischen PPM</vt:lpstr>
      <vt:lpstr>PowerPoint-Präsentation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26</cp:revision>
  <dcterms:created xsi:type="dcterms:W3CDTF">2025-07-07T10:08:27Z</dcterms:created>
  <dcterms:modified xsi:type="dcterms:W3CDTF">2026-05-11T13:20:31Z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