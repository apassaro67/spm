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34800" y="0"/>
            <a:ext cx="457200" cy="6858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24000" y="11430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2800" b="1" i="0">
                <a:solidFill>
                  <a:srgbClr val="F07F12"/>
                </a:solidFill>
                <a:latin typeface="Calibri"/>
              </a:rPr>
              <a:t>STIHL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38400"/>
            <a:ext cx="9906000" cy="152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Business Case SEPM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505200"/>
            <a:ext cx="9906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2000" b="0" i="1">
                <a:solidFill>
                  <a:srgbClr val="FDE6CC"/>
                </a:solidFill>
                <a:latin typeface="Calibri"/>
              </a:rPr>
              <a:t>Detaillierte Wirtschaftlichkeits-Betrachtung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1910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400" b="0" i="0">
                <a:solidFill>
                  <a:srgbClr val="D1D5DB"/>
                </a:solidFill>
                <a:latin typeface="Calibri"/>
              </a:rPr>
              <a:t>TCO · ROI · Business Value · Szenarien · Risiken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91000" y="4953000"/>
            <a:ext cx="3810000" cy="304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181600"/>
            <a:ext cx="990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0" i="0">
                <a:solidFill>
                  <a:srgbClr val="D1D5DB"/>
                </a:solidFill>
                <a:latin typeface="Calibri"/>
              </a:rPr>
              <a:t>Stand: 01.07.2026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6388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0" i="1">
                <a:solidFill>
                  <a:srgbClr val="D1D5DB"/>
                </a:solidFill>
                <a:latin typeface="Calibri"/>
              </a:rPr>
              <a:t>Autoren: Alex Passaro · Torsten Zahn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Management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Kernaussagen des Business Case auf einen Blick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609600"/>
            <a:ext cx="2809875" cy="152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4800" y="609600"/>
            <a:ext cx="2809875" cy="3048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" y="640080"/>
            <a:ext cx="2733675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5-Jahres-TCO Vorteil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" y="1066800"/>
            <a:ext cx="2733675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2800" b="1" i="0">
                <a:solidFill>
                  <a:srgbClr val="2E7D32"/>
                </a:solidFill>
                <a:latin typeface="Calibri"/>
              </a:rPr>
              <a:t>~ 2,2 M€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" y="1752600"/>
            <a:ext cx="2733675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  <a:latin typeface="Calibri"/>
              </a:rPr>
              <a:t>vs Best-of-Breed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8975" y="609600"/>
            <a:ext cx="2809875" cy="152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28975" y="609600"/>
            <a:ext cx="2809875" cy="304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7075" y="640080"/>
            <a:ext cx="2733675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Payback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7075" y="1066800"/>
            <a:ext cx="2733675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2800" b="1" i="0">
                <a:solidFill>
                  <a:srgbClr val="F07F12"/>
                </a:solidFill>
                <a:latin typeface="Calibri"/>
              </a:rPr>
              <a:t>~ 3,5 J.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7075" y="1752600"/>
            <a:ext cx="2733675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  <a:latin typeface="Calibri"/>
              </a:rPr>
              <a:t>nach Go-Live Phase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150" y="609600"/>
            <a:ext cx="2809875" cy="152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53150" y="609600"/>
            <a:ext cx="2809875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1250" y="640080"/>
            <a:ext cx="2733675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Jährl. Nutzen (steady)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1250" y="1066800"/>
            <a:ext cx="2733675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2800" b="1" i="0">
                <a:solidFill>
                  <a:srgbClr val="2C3E50"/>
                </a:solidFill>
                <a:latin typeface="Calibri"/>
              </a:rPr>
              <a:t>~ 4,3 M€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1250" y="1752600"/>
            <a:ext cx="2733675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  <a:latin typeface="Calibri"/>
              </a:rPr>
              <a:t>Konsolidierung + Value + Flanking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7325" y="609600"/>
            <a:ext cx="2809875" cy="152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77325" y="609600"/>
            <a:ext cx="2809875" cy="30480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5425" y="640080"/>
            <a:ext cx="2733675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Empfohlenes Szenario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5425" y="1066800"/>
            <a:ext cx="2733675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2800" b="1" i="0">
                <a:solidFill>
                  <a:srgbClr val="3B6BA5"/>
                </a:solidFill>
                <a:latin typeface="Calibri"/>
              </a:rPr>
              <a:t>A · 24 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5425" y="1752600"/>
            <a:ext cx="2733675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  <a:latin typeface="Calibri"/>
              </a:rPr>
              <a:t>Full Scope Phase 1+2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800" y="24384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00" y="2667000"/>
            <a:ext cx="11582400" cy="3505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4800" y="2667000"/>
            <a:ext cx="53340" cy="3505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682240"/>
            <a:ext cx="45720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Konsolidierung von &gt;6 PPM-Tools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1600" y="2682240"/>
            <a:ext cx="66294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spart ~950 k€ / Jahr an Lizenz + Wartung + FTE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4800" y="3048000"/>
            <a:ext cx="11582400" cy="3505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4800" y="3048000"/>
            <a:ext cx="53340" cy="3505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063240"/>
            <a:ext cx="45720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Business Value SPM (steady state)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1600" y="3063240"/>
            <a:ext cx="66294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~2,3 M€ / Jahr durch Effizienz, Time-to-Market, Governance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4800" y="3429000"/>
            <a:ext cx="11582400" cy="3505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4800" y="3429000"/>
            <a:ext cx="53340" cy="3505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444240"/>
            <a:ext cx="45720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Flankierende Prozesse (Maßnahmen-Mgmt etc.)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81600" y="3444240"/>
            <a:ext cx="66294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zusätzlich ~1,0 M€ / Jahr Einsparpotenzial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4800" y="3810000"/>
            <a:ext cx="11582400" cy="3505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4800" y="3810000"/>
            <a:ext cx="53340" cy="3505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825240"/>
            <a:ext cx="45720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SNOW-Plattform-Risiko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81600" y="3825240"/>
            <a:ext cx="66294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Vendor Lock-in adressiert durch Standard-first und Marktscreening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4800" y="4191000"/>
            <a:ext cx="11582400" cy="3505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4800" y="4191000"/>
            <a:ext cx="53340" cy="3505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206240"/>
            <a:ext cx="45720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Vertragshistorie 2014–heute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81600" y="4206240"/>
            <a:ext cx="66294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SNOW als bewährter STIHL-Partner (ITSM seit 12 J.)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Alle Zahlen illustrativ.  Endgültige Erhebung erfolgt in der Vorlage Business_Case_SEPM.xlsx.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Business Case Methodik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Vier Dimensionen der Wirtschaftlichkeits-Betrachtung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685800"/>
            <a:ext cx="5715000" cy="2438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4800" y="685800"/>
            <a:ext cx="5715000" cy="3810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1000" y="746760"/>
            <a:ext cx="259080" cy="259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000" y="746760"/>
            <a:ext cx="25908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500" b="1" i="0">
                <a:solidFill>
                  <a:srgbClr val="F07F12"/>
                </a:solidFill>
                <a:latin typeface="Calibri"/>
              </a:rPr>
              <a:t>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716280"/>
            <a:ext cx="5257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TCO (5 Jahre)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1143000"/>
            <a:ext cx="548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Calibri"/>
              </a:rPr>
              <a:t>Lizenzen · Implementierung · Support · Change · Betrieb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1554480"/>
            <a:ext cx="76200" cy="762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9120" y="14478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Lizenzen SNOW SPM Pro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1897380"/>
            <a:ext cx="76200" cy="762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9120" y="17907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Implementierung (Berater + interne FTE)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2240280"/>
            <a:ext cx="76200" cy="762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9120" y="21336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Change &amp; Schulung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2583180"/>
            <a:ext cx="76200" cy="762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120" y="24765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Support / Wartung (intern + extern)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685800"/>
            <a:ext cx="5715000" cy="2438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685800"/>
            <a:ext cx="5715000" cy="3810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48400" y="746760"/>
            <a:ext cx="259080" cy="259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8400" y="746760"/>
            <a:ext cx="25908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  <a:latin typeface="Calibri"/>
              </a:rPr>
              <a:t>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200" y="716280"/>
            <a:ext cx="5257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Nutzen / Business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0" y="1143000"/>
            <a:ext cx="548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Calibri"/>
              </a:rPr>
              <a:t>Effizienz · Time-to-Market · Governance · Ressourcen</a:t>
            </a:r>
          </a:p>
        </p:txBody>
      </p:sp>
      <p:sp>
        <p:nvSpPr>
          <p:cNvPr id="27" name="Oval 26"/>
          <p:cNvSpPr/>
          <p:nvPr/>
        </p:nvSpPr>
        <p:spPr>
          <a:xfrm>
            <a:off x="6324600" y="1554480"/>
            <a:ext cx="76200" cy="76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4478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Effizienz PPM (weniger Excels)</a:t>
            </a:r>
          </a:p>
        </p:txBody>
      </p:sp>
      <p:sp>
        <p:nvSpPr>
          <p:cNvPr id="29" name="Oval 28"/>
          <p:cNvSpPr/>
          <p:nvPr/>
        </p:nvSpPr>
        <p:spPr>
          <a:xfrm>
            <a:off x="6324600" y="1897380"/>
            <a:ext cx="76200" cy="76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17907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Time-to-Market Ideen → Projekte</a:t>
            </a:r>
          </a:p>
        </p:txBody>
      </p:sp>
      <p:sp>
        <p:nvSpPr>
          <p:cNvPr id="31" name="Oval 30"/>
          <p:cNvSpPr/>
          <p:nvPr/>
        </p:nvSpPr>
        <p:spPr>
          <a:xfrm>
            <a:off x="6324600" y="2240280"/>
            <a:ext cx="76200" cy="76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21336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Ressourcen-Steuerung</a:t>
            </a:r>
          </a:p>
        </p:txBody>
      </p:sp>
      <p:sp>
        <p:nvSpPr>
          <p:cNvPr id="33" name="Oval 32"/>
          <p:cNvSpPr/>
          <p:nvPr/>
        </p:nvSpPr>
        <p:spPr>
          <a:xfrm>
            <a:off x="6324600" y="2583180"/>
            <a:ext cx="76200" cy="76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4765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Governance &amp; Compliance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4800" y="3276600"/>
            <a:ext cx="5715000" cy="2438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04800" y="3276600"/>
            <a:ext cx="5715000" cy="3810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81000" y="3337560"/>
            <a:ext cx="259080" cy="259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1000" y="3337560"/>
            <a:ext cx="25908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500" b="1" i="0">
                <a:solidFill>
                  <a:srgbClr val="2C3E50"/>
                </a:solidFill>
                <a:latin typeface="Calibri"/>
              </a:rPr>
              <a:t>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307080"/>
            <a:ext cx="5257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Konsolidierung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9100" y="3733800"/>
            <a:ext cx="548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Calibri"/>
              </a:rPr>
              <a:t>Tool-Ablöse · Schnittstellen · flankierende Prozesse</a:t>
            </a:r>
          </a:p>
        </p:txBody>
      </p:sp>
      <p:sp>
        <p:nvSpPr>
          <p:cNvPr id="41" name="Oval 40"/>
          <p:cNvSpPr/>
          <p:nvPr/>
        </p:nvSpPr>
        <p:spPr>
          <a:xfrm>
            <a:off x="457200" y="4145280"/>
            <a:ext cx="76200" cy="762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9120" y="40386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PIT / MSPO / Workpath / PowerApps</a:t>
            </a:r>
          </a:p>
        </p:txBody>
      </p:sp>
      <p:sp>
        <p:nvSpPr>
          <p:cNvPr id="43" name="Oval 42"/>
          <p:cNvSpPr/>
          <p:nvPr/>
        </p:nvSpPr>
        <p:spPr>
          <a:xfrm>
            <a:off x="457200" y="4488180"/>
            <a:ext cx="76200" cy="762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9120" y="43815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Schnittstellen (APIs, ETL)</a:t>
            </a:r>
          </a:p>
        </p:txBody>
      </p:sp>
      <p:sp>
        <p:nvSpPr>
          <p:cNvPr id="45" name="Oval 44"/>
          <p:cNvSpPr/>
          <p:nvPr/>
        </p:nvSpPr>
        <p:spPr>
          <a:xfrm>
            <a:off x="457200" y="4831080"/>
            <a:ext cx="76200" cy="762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9120" y="47244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Maßnahmen-Mgmt Produktentw.</a:t>
            </a:r>
          </a:p>
        </p:txBody>
      </p:sp>
      <p:sp>
        <p:nvSpPr>
          <p:cNvPr id="47" name="Oval 46"/>
          <p:cNvSpPr/>
          <p:nvPr/>
        </p:nvSpPr>
        <p:spPr>
          <a:xfrm>
            <a:off x="457200" y="5173980"/>
            <a:ext cx="76200" cy="762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9120" y="50673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Application Portfolio Mgmt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2200" y="3276600"/>
            <a:ext cx="5715000" cy="2438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72200" y="3276600"/>
            <a:ext cx="5715000" cy="38100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248400" y="3337560"/>
            <a:ext cx="259080" cy="259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48400" y="3337560"/>
            <a:ext cx="25908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500" b="1" i="0">
                <a:solidFill>
                  <a:srgbClr val="B91C1C"/>
                </a:solidFill>
                <a:latin typeface="Calibri"/>
              </a:rPr>
              <a:t>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53200" y="3307080"/>
            <a:ext cx="5257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Risiko / Sensitivität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6500" y="3733800"/>
            <a:ext cx="548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Calibri"/>
              </a:rPr>
              <a:t>Vendor · Preis · Betrieb · Roadmap · DSGVO</a:t>
            </a:r>
          </a:p>
        </p:txBody>
      </p:sp>
      <p:sp>
        <p:nvSpPr>
          <p:cNvPr id="55" name="Oval 54"/>
          <p:cNvSpPr/>
          <p:nvPr/>
        </p:nvSpPr>
        <p:spPr>
          <a:xfrm>
            <a:off x="6324600" y="4145280"/>
            <a:ext cx="76200" cy="762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40386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Vendor Lock-in</a:t>
            </a:r>
          </a:p>
        </p:txBody>
      </p:sp>
      <p:sp>
        <p:nvSpPr>
          <p:cNvPr id="57" name="Oval 56"/>
          <p:cNvSpPr/>
          <p:nvPr/>
        </p:nvSpPr>
        <p:spPr>
          <a:xfrm>
            <a:off x="6324600" y="4488180"/>
            <a:ext cx="76200" cy="762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43815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Preis-Eskalation</a:t>
            </a:r>
          </a:p>
        </p:txBody>
      </p:sp>
      <p:sp>
        <p:nvSpPr>
          <p:cNvPr id="59" name="Oval 58"/>
          <p:cNvSpPr/>
          <p:nvPr/>
        </p:nvSpPr>
        <p:spPr>
          <a:xfrm>
            <a:off x="6324600" y="4831080"/>
            <a:ext cx="76200" cy="762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47244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Ausfall / Betriebs-SLA</a:t>
            </a:r>
          </a:p>
        </p:txBody>
      </p:sp>
      <p:sp>
        <p:nvSpPr>
          <p:cNvPr id="61" name="Oval 60"/>
          <p:cNvSpPr/>
          <p:nvPr/>
        </p:nvSpPr>
        <p:spPr>
          <a:xfrm>
            <a:off x="6324600" y="5173980"/>
            <a:ext cx="76200" cy="762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46520" y="50673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Best/Base/Worst Sensitivity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Framework orientiert an Gartner Business Case Toolkit + STIHL Investitionsrichtlinie.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Alternative PM-Plattform – Bewertung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Punkt 3 Folie 4: PM-Plattform VEW / VPM als Absicherung (Hedge)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609600"/>
            <a:ext cx="5638800" cy="3048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4800" y="609600"/>
            <a:ext cx="563880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6096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Warum Alternative bewerten?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143000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1051560"/>
            <a:ext cx="50292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Risiko-Absicherung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12954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Falls SNOW SPM für VEW/VPM nicht ausreichend tief.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1767840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76784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1676400"/>
            <a:ext cx="50292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Verhandlungsposition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Best-of-Breed-Angebot senkt SNOW-Verhandlungspreis.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392680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39268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2301240"/>
            <a:ext cx="50292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Engineering-Spezifika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25450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PLM-nahe Prozesse ggf. besser in Fach-Tool.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3017519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017519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2926079"/>
            <a:ext cx="50292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Vorstand EWW-Bedenken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316991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Explizite Alternative senkt Widerstand.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8400" y="609600"/>
            <a:ext cx="5638800" cy="3048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48400" y="609600"/>
            <a:ext cx="563880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4600" y="6096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Shortlist Alternative PM-Plattformen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62700" y="1028700"/>
            <a:ext cx="5410200" cy="4191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62700" y="1028700"/>
            <a:ext cx="45720" cy="419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7000" y="1043940"/>
            <a:ext cx="3429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Planisware Enterprise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0" y="12192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Marktführer Engineering-PPM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1104900"/>
            <a:ext cx="1524000" cy="2667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1104900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Lead Jonas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62700" y="1524000"/>
            <a:ext cx="5410200" cy="4191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62700" y="1524000"/>
            <a:ext cx="45720" cy="419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7000" y="1539240"/>
            <a:ext cx="3429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SAP Enterprise Portfolio &amp; Project Mgmt (EPPM)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0" y="17145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SAP-Ökosystem-Integration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0" y="1600200"/>
            <a:ext cx="1524000" cy="2667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0" y="1600200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Lead Jonas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62700" y="2019300"/>
            <a:ext cx="5410200" cy="4191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62700" y="2019300"/>
            <a:ext cx="45720" cy="419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7000" y="2034540"/>
            <a:ext cx="3429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Sciforma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0" y="22098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Mittelstands-Standard, hybrid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0" y="2095500"/>
            <a:ext cx="1524000" cy="2667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0" y="2095500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Lead Jonas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4600" y="2590800"/>
            <a:ext cx="54864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Calibri"/>
              </a:rPr>
              <a:t>Zeitraum: 11.06. – 30.08.2026  ·  Ergebnis: klare Empfehlung mit TCO-Vergleich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4800" y="3886200"/>
            <a:ext cx="11582400" cy="228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04800" y="3886200"/>
            <a:ext cx="11582400" cy="3048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1000" y="3886200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Bewertungskriterien und Zwischenergebnis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1000" y="4236720"/>
            <a:ext cx="4572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Kriterium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0" y="4236720"/>
            <a:ext cx="1676400" cy="2438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0" y="4236720"/>
            <a:ext cx="167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SNOW SPM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81800" y="4236720"/>
            <a:ext cx="1676400" cy="2438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81800" y="4236720"/>
            <a:ext cx="167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Planisware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34400" y="4236720"/>
            <a:ext cx="1676400" cy="2438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34400" y="4236720"/>
            <a:ext cx="167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SAP EPPM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287000" y="4236720"/>
            <a:ext cx="1524000" cy="2438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87000" y="4236720"/>
            <a:ext cx="1524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Sciforma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1000" y="4495800"/>
            <a:ext cx="11430000" cy="2743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495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Funktions-Deckung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0" y="4495800"/>
            <a:ext cx="167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70%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81800" y="4495800"/>
            <a:ext cx="167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80%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34400" y="4495800"/>
            <a:ext cx="167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60%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87000" y="4495800"/>
            <a:ext cx="1524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65%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1000" y="4800600"/>
            <a:ext cx="11430000" cy="27432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Integration STIHL-Landschaft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0" y="4800600"/>
            <a:ext cx="167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80%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81800" y="4800600"/>
            <a:ext cx="167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50%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34400" y="4800600"/>
            <a:ext cx="167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70%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87000" y="4800600"/>
            <a:ext cx="1524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40%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1000" y="5105400"/>
            <a:ext cx="11430000" cy="2743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1054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TCO 5 Jahre (rel.)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0" y="5105400"/>
            <a:ext cx="167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100%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81800" y="5105400"/>
            <a:ext cx="167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115%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34400" y="5105400"/>
            <a:ext cx="167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125%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87000" y="5105400"/>
            <a:ext cx="1524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95%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1000" y="5410200"/>
            <a:ext cx="11430000" cy="27432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5410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Change-Aufwand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0" y="5410200"/>
            <a:ext cx="167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Mittel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81800" y="5410200"/>
            <a:ext cx="167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Hoch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34400" y="5410200"/>
            <a:ext cx="167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Mittel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87000" y="5410200"/>
            <a:ext cx="1524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Niedrig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1000" y="5715000"/>
            <a:ext cx="11430000" cy="2743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" y="57150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Zukunftssicherheit AI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0" y="5715000"/>
            <a:ext cx="167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Hoch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81800" y="5715000"/>
            <a:ext cx="167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Mittel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34400" y="5715000"/>
            <a:ext cx="167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Hoch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287000" y="5715000"/>
            <a:ext cx="1524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Niedrig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Detaillierte Bewertung erfolgt bis 30.08.2026 (siehe Timeline Folie 5, Vorgang 3).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Komplexitäts-Reduzierung ProjektControlling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Punkt 4 Folie 4: Was heute Aufwand verursacht – und was SEPM konsolidiert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609600"/>
            <a:ext cx="5638800" cy="5638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4800" y="609600"/>
            <a:ext cx="5638800" cy="30480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6096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HEUTE  –  Komplexitätstreiber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100" y="1028700"/>
            <a:ext cx="5410200" cy="838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100" y="1028700"/>
            <a:ext cx="45720" cy="838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1059180"/>
            <a:ext cx="5181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Multi-Tool-Landschaft PPM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128778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PIT · MSPO · Excel · SharePoint · Power Apps · Workpath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15773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~ 2,5 FTE Betriebs- &amp; Integrations-Aufwand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9100" y="1943100"/>
            <a:ext cx="5410200" cy="838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9100" y="1943100"/>
            <a:ext cx="45720" cy="838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400" y="1973580"/>
            <a:ext cx="5181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Manuelle Daten-Aggregation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220218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Excel-Konsolidierung für Reportings, Steckbriefe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24917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~ 2 Wochen/Monat Reporting-Aufwand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100" y="2857500"/>
            <a:ext cx="5410200" cy="838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9100" y="2857500"/>
            <a:ext cx="45720" cy="838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" y="2887980"/>
            <a:ext cx="5181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Uneinheitliche Datenmodelle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311658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Jede Insel eigener Struktur – Vergleichbarkeit begrenzt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34061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~ 1 FTE Datenqualitäts-Arbeit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9100" y="3771900"/>
            <a:ext cx="5410200" cy="838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100" y="3771900"/>
            <a:ext cx="45720" cy="838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400" y="3802380"/>
            <a:ext cx="5181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Doppelte Datenpflege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403098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Projekte in PIT + Excel + SharePoint erfasst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43205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~ 0,8 FTE Doppelerfassung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9100" y="4686300"/>
            <a:ext cx="5410200" cy="838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9100" y="4686300"/>
            <a:ext cx="45720" cy="838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3400" y="4716780"/>
            <a:ext cx="5181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Fehlende Traceability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494538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Idee ↔ Portfolio ↔ Projekt ↔ Kosten nicht durchgängig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400" y="52349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Governance-Aufwand hoch, Audits schwierig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8400" y="609600"/>
            <a:ext cx="5638800" cy="5638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48400" y="609600"/>
            <a:ext cx="5638800" cy="3048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4600" y="6096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MIT SEPM  –  Konsolidierungs-Hebel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2700" y="1028700"/>
            <a:ext cx="5410200" cy="838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62700" y="1028700"/>
            <a:ext cx="45720" cy="838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7000" y="1059180"/>
            <a:ext cx="5181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Eine Plattform, ein Datenmodell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0" y="128778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SNOW SPM als Single Source of Truth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7000" y="15773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− 6 Tools · − 0,5 FTE Betrieb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62700" y="1943100"/>
            <a:ext cx="5410200" cy="838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62700" y="1943100"/>
            <a:ext cx="45720" cy="838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7000" y="1973580"/>
            <a:ext cx="5181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Automatische Reports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0" y="220218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Live-Dashboards ersetzen manuelles Excel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7000" y="24917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− 1,5 Wochen/Monat Reporting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62700" y="2857500"/>
            <a:ext cx="5410200" cy="838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62700" y="2857500"/>
            <a:ext cx="45720" cy="838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77000" y="2887980"/>
            <a:ext cx="5181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Standard-Datenmodell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7000" y="311658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Vorhaben-Steckbrief einheitlich, konsistente KPIs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7000" y="34061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− 0,7 FTE Datenqualitäts-Arbeit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62700" y="3771900"/>
            <a:ext cx="5410200" cy="838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62700" y="3771900"/>
            <a:ext cx="45720" cy="838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77000" y="3802380"/>
            <a:ext cx="5181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Erfassung einmal – Nutzung überall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77000" y="403098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Demand → Portfolio → Projekt in einem System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7000" y="43205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− 0,6 FTE Doppelerfassung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62700" y="4686300"/>
            <a:ext cx="5410200" cy="838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62700" y="4686300"/>
            <a:ext cx="45720" cy="838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77000" y="4716780"/>
            <a:ext cx="5181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Durchgängige Traceability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77000" y="494538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OKR → Portfolio → Projekt → Kosten → Nutzen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7000" y="52349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Audit-fähig, Compliance-sicher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Gesamt-Effekt Komplexitäts-Reduzierung: ~ 2,3 FTE Einsparung + Reporting-Zeit halbiert.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Business Value 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Nutzen-Kategorien und quantifizierter Steady-State p.a.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609600"/>
            <a:ext cx="11582400" cy="609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96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Gesamt-Nutzen SEPM (Steady State p.a.)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096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Calibri"/>
              </a:rPr>
              <a:t>~ 2.320 k€ / Jahr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09600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1">
                <a:solidFill>
                  <a:srgbClr val="D1D5DB"/>
                </a:solidFill>
                <a:latin typeface="Calibri"/>
              </a:rPr>
              <a:t>davon quantifiziert  100 %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" y="1371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Detail – Nutzen-Kategorien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" y="1676400"/>
            <a:ext cx="11582400" cy="762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4800" y="1676400"/>
            <a:ext cx="53340" cy="762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06880"/>
            <a:ext cx="3810000" cy="701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Effizienz PM/PPM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717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Weniger manuelle Excels/Berichte, Ressourcen-Steuerung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9600" y="1905000"/>
            <a:ext cx="5943600" cy="3048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19600" y="1905000"/>
            <a:ext cx="5943600" cy="304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167640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820 k€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4800" y="2476500"/>
            <a:ext cx="11582400" cy="7620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4800" y="2476500"/>
            <a:ext cx="53340" cy="762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506980"/>
            <a:ext cx="3810000" cy="701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Time-to-Market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7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Schnellere Idee→Projekt-Start (Gates in System)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2705100"/>
            <a:ext cx="5943600" cy="3048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19600" y="2705100"/>
            <a:ext cx="3479180" cy="304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0" y="247650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480 k€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4800" y="3276600"/>
            <a:ext cx="11582400" cy="762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4800" y="3276600"/>
            <a:ext cx="53340" cy="762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307080"/>
            <a:ext cx="3810000" cy="701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Governance / Rework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7719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Weniger Doppelarbeit, klare Priorisierung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19600" y="3505200"/>
            <a:ext cx="5943600" cy="3048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19600" y="3505200"/>
            <a:ext cx="2609385" cy="304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327660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360 k€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4800" y="4076700"/>
            <a:ext cx="11582400" cy="7620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4800" y="4076700"/>
            <a:ext cx="53340" cy="762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107180"/>
            <a:ext cx="3810000" cy="701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Ressourcen-Optimierung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572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Skill-Match, Auslastungs-Steuerung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19600" y="4305300"/>
            <a:ext cx="5943600" cy="3048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419600" y="4305300"/>
            <a:ext cx="3769112" cy="304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0" y="407670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520 k€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4800" y="4876800"/>
            <a:ext cx="11582400" cy="762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4800" y="4876800"/>
            <a:ext cx="53340" cy="762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907280"/>
            <a:ext cx="3810000" cy="701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Compliance / Audit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3721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Nachvollziehbarkeit, Business Cases im System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19600" y="5105400"/>
            <a:ext cx="5943600" cy="3048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419600" y="5105400"/>
            <a:ext cx="1014760" cy="304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0" y="487680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140 k€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Alle Werte Steady State p.a. nach Erreichung Phase 2 (~ ab Jahr 3 nach Kickoff).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TCO – Total Cost of Ownership (5 Jahre)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Gesamt-Kosten SEPM: einmalig + laufend, aufgeschlüsselt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609600"/>
            <a:ext cx="11582400" cy="6096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96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5-Jahres-TCO SEPM (Base Case)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0" y="6096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2400" b="1" i="0">
                <a:solidFill>
                  <a:srgbClr val="F07F12"/>
                </a:solidFill>
                <a:latin typeface="Calibri"/>
              </a:rPr>
              <a:t>~ 8.7 Mio.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3200" y="609600"/>
            <a:ext cx="1524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0" i="1">
                <a:solidFill>
                  <a:srgbClr val="D1D5DB"/>
                </a:solidFill>
                <a:latin typeface="Calibri"/>
              </a:rPr>
              <a:t>(~ 1.73 M€ p.a. 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4800" y="1371600"/>
            <a:ext cx="5638800" cy="4572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4800" y="1371600"/>
            <a:ext cx="563880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13716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Einmalige Kosten (Year 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9100" y="1828800"/>
            <a:ext cx="54102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300" y="185928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Implementierungs-Partner (SI)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300" y="21336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SNOW-Zertifiziert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9600" y="182880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300" b="1" i="0">
                <a:solidFill>
                  <a:srgbClr val="2C3E50"/>
                </a:solidFill>
                <a:latin typeface="Calibri"/>
              </a:rPr>
              <a:t>1.300 k€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9100" y="2667000"/>
            <a:ext cx="54102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300" y="269748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Interne FTE (Phase 1+2)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300" y="29718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4 FTE × 2 J. 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9600" y="266700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300" b="1" i="0">
                <a:solidFill>
                  <a:srgbClr val="2C3E50"/>
                </a:solidFill>
                <a:latin typeface="Calibri"/>
              </a:rPr>
              <a:t>1.040 k€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9100" y="3505200"/>
            <a:ext cx="54102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5300" y="353568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Change / Schulung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300" y="38100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Anwender + Multiplikatoren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9600" y="350520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300" b="1" i="0">
                <a:solidFill>
                  <a:srgbClr val="2C3E50"/>
                </a:solidFill>
                <a:latin typeface="Calibri"/>
              </a:rPr>
              <a:t>250 k€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9100" y="4343400"/>
            <a:ext cx="54102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300" y="437388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Contingency (10 %)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300" y="46482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Puffer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600" y="434340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300" b="1" i="0">
                <a:solidFill>
                  <a:srgbClr val="2C3E50"/>
                </a:solidFill>
                <a:latin typeface="Calibri"/>
              </a:rPr>
              <a:t>259 k€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" y="5486400"/>
            <a:ext cx="5486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Summe einmalig: 2.849 k€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8400" y="1371600"/>
            <a:ext cx="5638800" cy="4572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48400" y="1371600"/>
            <a:ext cx="5638800" cy="304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4600" y="13716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Laufende Kosten p.a. (Steady State)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62700" y="1828800"/>
            <a:ext cx="54102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8900" y="185928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Lizenzen SNOW SPM Pro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8900" y="21336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~ 350-450 Named User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63200" y="182880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300" b="1" i="0">
                <a:solidFill>
                  <a:srgbClr val="F07F12"/>
                </a:solidFill>
                <a:latin typeface="Calibri"/>
              </a:rPr>
              <a:t>850 k€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2700" y="2667000"/>
            <a:ext cx="54102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38900" y="269748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Interne Betriebs-FTE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8900" y="29718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~ 3.0 FTE (IT + Business)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3200" y="266700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300" b="1" i="0">
                <a:solidFill>
                  <a:srgbClr val="F07F12"/>
                </a:solidFill>
                <a:latin typeface="Calibri"/>
              </a:rPr>
              <a:t>390 k€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62700" y="3505200"/>
            <a:ext cx="54102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38900" y="353568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Externer Support / Wartung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8900" y="38100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Retainer + Ticket-Volumen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3200" y="350520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300" b="1" i="0">
                <a:solidFill>
                  <a:srgbClr val="F07F12"/>
                </a:solidFill>
                <a:latin typeface="Calibri"/>
              </a:rPr>
              <a:t>180 k€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62700" y="4343400"/>
            <a:ext cx="54102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38900" y="437388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Weiterentwicklung (Backlog)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8900" y="46482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kontinuierliche Feature-Erweiterung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63200" y="434340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300" b="1" i="0">
                <a:solidFill>
                  <a:srgbClr val="F07F12"/>
                </a:solidFill>
                <a:latin typeface="Calibri"/>
              </a:rPr>
              <a:t>220 k€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4600" y="5486400"/>
            <a:ext cx="5486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Calibri"/>
              </a:rPr>
              <a:t>Summe p.a.: 1.640 k€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Alle Werte Base Case. Sensitivity ±20 % in Szenario-Analyse (Folie 15). Detail siehe Excel-Vorlage Tab 'TCO_Detail'.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Support-Kosten – Detailbetrachtung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Interner + externer Support, laufender Betrieb, Weiterentwicklung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609600"/>
            <a:ext cx="3759200" cy="4572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4800" y="609600"/>
            <a:ext cx="3759200" cy="3810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640080"/>
            <a:ext cx="36068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Interner Betrieb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000" y="1066800"/>
            <a:ext cx="3606800" cy="609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896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SNOW-Plattform-Admin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2235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1,0 FTE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2400" y="1089660"/>
            <a:ext cx="12192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Calibri"/>
              </a:rPr>
              <a:t>130 k€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1000" y="1714500"/>
            <a:ext cx="3606800" cy="609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7373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SPM Business 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973580"/>
            <a:ext cx="2235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1,0 FTE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2400" y="1737360"/>
            <a:ext cx="12192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Calibri"/>
              </a:rPr>
              <a:t>130 k€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1000" y="2362200"/>
            <a:ext cx="3606800" cy="609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3850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Integration / Schnittstellen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621280"/>
            <a:ext cx="2235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0,5 FTE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2400" y="2385060"/>
            <a:ext cx="12192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Calibri"/>
              </a:rPr>
              <a:t>65 k€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3009900"/>
            <a:ext cx="3606800" cy="609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0327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Data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68980"/>
            <a:ext cx="2235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0,3 FTE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2400" y="3032760"/>
            <a:ext cx="12192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Calibri"/>
              </a:rPr>
              <a:t>39 k€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3657600"/>
            <a:ext cx="3606800" cy="609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804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User Support (2nd Level)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16680"/>
            <a:ext cx="2235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0,2 FTE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2400" y="3680460"/>
            <a:ext cx="12192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Calibri"/>
              </a:rPr>
              <a:t>26 k€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1000" y="4724400"/>
            <a:ext cx="3606800" cy="304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1000" y="4724400"/>
            <a:ext cx="3606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Summe: 390 k€ / Jahr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16400" y="609600"/>
            <a:ext cx="3759200" cy="4572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16400" y="609600"/>
            <a:ext cx="3759200" cy="3810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2600" y="640080"/>
            <a:ext cx="36068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Externer Support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2600" y="1066800"/>
            <a:ext cx="3606800" cy="609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8800" y="10896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Wartungsvertrag SNOW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8800" y="1325880"/>
            <a:ext cx="2235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Standard 22%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000" y="1089660"/>
            <a:ext cx="12192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70 k€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2600" y="1714500"/>
            <a:ext cx="3606800" cy="609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8800" y="17373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Managed-Service Partner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8800" y="1973580"/>
            <a:ext cx="2235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Retainer + T&amp;M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4000" y="1737360"/>
            <a:ext cx="12192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90 k€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2600" y="2362200"/>
            <a:ext cx="3606800" cy="609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68800" y="23850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Externes Consulting (Retainer)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68800" y="2621280"/>
            <a:ext cx="2235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20-30 Tage/y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4000" y="2385060"/>
            <a:ext cx="12192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60 k€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92600" y="3009900"/>
            <a:ext cx="3606800" cy="609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68800" y="30327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Zertifikate &amp; Schulungen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68800" y="3268980"/>
            <a:ext cx="2235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5-8 Personen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4000" y="3032760"/>
            <a:ext cx="12192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30 k€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2600" y="4724400"/>
            <a:ext cx="360680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2600" y="4724400"/>
            <a:ext cx="3606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Summe: 250 k€ / Jahr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28000" y="609600"/>
            <a:ext cx="3759200" cy="4572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128000" y="609600"/>
            <a:ext cx="3759200" cy="3810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04200" y="640080"/>
            <a:ext cx="36068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Weiterentwicklung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04200" y="1066800"/>
            <a:ext cx="3606800" cy="609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80400" y="10896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Feature-Backlog (Business)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0400" y="1325880"/>
            <a:ext cx="2235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~10 PT/Mo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1089660"/>
            <a:ext cx="12192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100 k€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04200" y="1714500"/>
            <a:ext cx="3606800" cy="609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80400" y="17373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Release-Upgrade-Anpassungen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80400" y="1973580"/>
            <a:ext cx="2235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2× / Jahr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737360"/>
            <a:ext cx="12192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50 k€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04200" y="2362200"/>
            <a:ext cx="3606800" cy="609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80400" y="23850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Custom-Reports / Dashboards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80400" y="2621280"/>
            <a:ext cx="2235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4-6 PT/Mo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2385060"/>
            <a:ext cx="12192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40 k€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04200" y="3009900"/>
            <a:ext cx="3606800" cy="609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80400" y="30327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Innovation Sprints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80400" y="3268980"/>
            <a:ext cx="2235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1× Q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3032760"/>
            <a:ext cx="12192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30 k€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04200" y="4724400"/>
            <a:ext cx="3606800" cy="3048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04200" y="4724400"/>
            <a:ext cx="3606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Summe: 220 k€ / Jahr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04800" y="5410200"/>
            <a:ext cx="11582400" cy="6096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5410200"/>
            <a:ext cx="6858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Gesamt Support &amp; Weiterentwicklung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0" y="54102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Calibri"/>
              </a:rPr>
              <a:t>~ 860 k€ / Jahr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Zahlen indikativ, endgültige Erhebung in Excel-Vorlage Tab 'Support_Kosten'. FTE-Satz Ø 130 k€ p.a.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Konsolidierungseinsparungen – Tool-Ablöse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Wegfall bisheriger Tools durch SNOW SPM Konsolidierung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609600"/>
            <a:ext cx="11582400" cy="609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9600"/>
            <a:ext cx="6858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Gesamt Tool-Ablöse-Ersparnis (Steady State p.a.)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096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~ 950 k€ / Jahr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1371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Detail – Tool-für-Tool-Ablöse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4800" y="1676400"/>
            <a:ext cx="11582400" cy="6477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4800" y="1676400"/>
            <a:ext cx="53340" cy="6477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99260"/>
            <a:ext cx="3048000" cy="6019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PIT / PLANTA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9550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Projekt-/Ressourcen-Mgmt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905000"/>
            <a:ext cx="67056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0" y="1905000"/>
            <a:ext cx="6705600" cy="228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0" y="167640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− 380 k€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4800" y="2354580"/>
            <a:ext cx="11582400" cy="6477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4800" y="2354580"/>
            <a:ext cx="53340" cy="6477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3048000" cy="6019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MS Project Online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77368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Klass. Projekt-Mgmt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2583180"/>
            <a:ext cx="67056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57600" y="2583180"/>
            <a:ext cx="2117557" cy="228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0" y="235458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− 120 k€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4800" y="3032760"/>
            <a:ext cx="11582400" cy="6477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" y="3032760"/>
            <a:ext cx="53340" cy="6477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055619"/>
            <a:ext cx="3048000" cy="6019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Workpath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45186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Strategie / OKR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3261360"/>
            <a:ext cx="67056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57600" y="3261360"/>
            <a:ext cx="2646947" cy="228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0" y="303276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− 150 k€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4800" y="3710940"/>
            <a:ext cx="11582400" cy="6477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4800" y="3710940"/>
            <a:ext cx="53340" cy="6477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733800"/>
            <a:ext cx="3048000" cy="6019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Power Apps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13004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Custom-Formulare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0" y="3939540"/>
            <a:ext cx="67056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657600" y="3939540"/>
            <a:ext cx="1588168" cy="228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0" y="371094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− 90 k€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4800" y="4389120"/>
            <a:ext cx="11582400" cy="6477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4800" y="4389120"/>
            <a:ext cx="53340" cy="6477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411980"/>
            <a:ext cx="3048000" cy="6019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SharePoint-Listen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80822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Demand-Listen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0" y="4617720"/>
            <a:ext cx="67056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657600" y="4617720"/>
            <a:ext cx="1235242" cy="228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0" y="438912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− 70 k€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4800" y="5067300"/>
            <a:ext cx="11582400" cy="6477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4800" y="5067300"/>
            <a:ext cx="53340" cy="6477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090160"/>
            <a:ext cx="3048000" cy="6019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Lucom (EV, teilweise)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48640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EV-Prozess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0" y="5295900"/>
            <a:ext cx="67056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657600" y="5295900"/>
            <a:ext cx="2470484" cy="228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15600" y="506730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− 140 k€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4800" y="5943600"/>
            <a:ext cx="115824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Calibri"/>
              </a:rPr>
              <a:t>Basis-Annahme: Ablöse durch SEPM ab Jahr 3 vollständig realisierbar. Übergangsphase 12-18 Monate.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Datenerhebung Tab 'Konsolidierung_Tools' in Business_Case_SEPM.xlsx.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Konsolidierungseinsparungen – Schnittstellen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Wegfall komplexer Integrationen durch eine Plattform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609600"/>
            <a:ext cx="11582400" cy="609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9600"/>
            <a:ext cx="6858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Ersparnis Schnittstellen &amp; Integration p.a.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096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~ 220 k€ / Jahr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800" y="1371600"/>
            <a:ext cx="5638800" cy="4724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4800" y="1371600"/>
            <a:ext cx="5638800" cy="30480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13716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HEUTE – Fragmentierte 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28800"/>
            <a:ext cx="5334000" cy="426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38100" cy="426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1828800"/>
            <a:ext cx="5181600" cy="4267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PIT ↔ SAP FI (Kostentransfer)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46960"/>
            <a:ext cx="5334000" cy="426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346960"/>
            <a:ext cx="38100" cy="426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2346960"/>
            <a:ext cx="5181600" cy="4267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MSPO ↔ SAP HCM (Personalstamm)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865120"/>
            <a:ext cx="5334000" cy="426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865120"/>
            <a:ext cx="38100" cy="426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2865120"/>
            <a:ext cx="5181600" cy="4267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SharePoint ↔ Excel (Datenexport)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383280"/>
            <a:ext cx="5334000" cy="426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383280"/>
            <a:ext cx="38100" cy="426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3383280"/>
            <a:ext cx="5181600" cy="4267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Workpath ↔ Excel (OKR-Reporting)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901440"/>
            <a:ext cx="5334000" cy="426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901440"/>
            <a:ext cx="38100" cy="426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3901440"/>
            <a:ext cx="5181600" cy="4267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PowerApps ↔ Dataverse (Custom-Data)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419600"/>
            <a:ext cx="5334000" cy="426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419600"/>
            <a:ext cx="38100" cy="426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4419600"/>
            <a:ext cx="5181600" cy="4267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Lucom EV ↔ SAP (Freigabestatus)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937760"/>
            <a:ext cx="5334000" cy="426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937760"/>
            <a:ext cx="38100" cy="426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4937760"/>
            <a:ext cx="5181600" cy="4267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Diverse Excel-Konsolidierungen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8400" y="1371600"/>
            <a:ext cx="5638800" cy="4724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48400" y="1371600"/>
            <a:ext cx="5638800" cy="3048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4600" y="13716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MIT SEPM – Native SNOW-Integration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1828800"/>
            <a:ext cx="5334000" cy="426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1828800"/>
            <a:ext cx="38100" cy="426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3200" y="183642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SAP FI Konnektor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39200" y="1836420"/>
            <a:ext cx="2895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Standard, im Integration Hub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2346960"/>
            <a:ext cx="5334000" cy="426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2346960"/>
            <a:ext cx="38100" cy="426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53200" y="23545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SAP HCM Konnektor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9200" y="2354580"/>
            <a:ext cx="2895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Standard, im Integration Hub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2865120"/>
            <a:ext cx="5334000" cy="426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2865120"/>
            <a:ext cx="38100" cy="426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53200" y="287274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Interne Datenmodelle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39200" y="2872740"/>
            <a:ext cx="2895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keine Excel-Export-Ketten mehr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3383280"/>
            <a:ext cx="5334000" cy="426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0" y="3383280"/>
            <a:ext cx="38100" cy="426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53200" y="33909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OKR-Modul nativ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39200" y="3390900"/>
            <a:ext cx="2895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kein Workpath-Bridge nötig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3901440"/>
            <a:ext cx="5334000" cy="426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0" y="3901440"/>
            <a:ext cx="38100" cy="426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39090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App Engine (Low-Code)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39200" y="3909060"/>
            <a:ext cx="2895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Custom-Data auf gleicher Plattform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4419600"/>
            <a:ext cx="5334000" cy="426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00800" y="4419600"/>
            <a:ext cx="38100" cy="426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53200" y="442722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EV-Prozess nativ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39200" y="4427220"/>
            <a:ext cx="2895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kein Lucom-Bridge nötig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0" y="4937760"/>
            <a:ext cx="5334000" cy="426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00800" y="4937760"/>
            <a:ext cx="38100" cy="426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53200" y="4945379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Live-Reporting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39200" y="4945379"/>
            <a:ext cx="2895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Excel-Konsolidierung entfällt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Effekt: −7 Integrationen · − 0,7 FTE Betrieb · − 45 Personentage / Jahr Wartung/Fehlerbehebung.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Flankierende Prozess-Potentiale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Zusätzliche Einsparungen durch SPM-nahe Prozess-Digitalisierung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609600"/>
            <a:ext cx="11582400" cy="609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9600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Zusätzliches Einspar-Potenzial (SPM-flankierend, p.a.)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7200" y="609600"/>
            <a:ext cx="3810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~ 1.060 k€ / Jahr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800" y="1371600"/>
            <a:ext cx="11582400" cy="8763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4800" y="1371600"/>
            <a:ext cx="53340" cy="8763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1630680"/>
            <a:ext cx="304800" cy="3048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3068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40208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Maßnahmen-Management im Zielkostenmanagement der Produktentwicklung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71450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Zentraler Maßnahmen-Backlog, Verknüpfung mit Portfolios/Cost-Targets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1600" y="1676400"/>
            <a:ext cx="15240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91600" y="1676400"/>
            <a:ext cx="1524000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68000" y="1371600"/>
            <a:ext cx="1143000" cy="876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380 k€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4800" y="2293620"/>
            <a:ext cx="11582400" cy="8763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4800" y="2293620"/>
            <a:ext cx="53340" cy="8763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2552700"/>
            <a:ext cx="304800" cy="3048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5527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3241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Innovations- / Vorhaben-Trichter (LH/CRD → Steckbrief → Projekt)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63652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Durchgängige Pipeline; weniger Reibungsverluste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1600" y="2598420"/>
            <a:ext cx="15240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91600" y="2598420"/>
            <a:ext cx="882315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0" y="2293620"/>
            <a:ext cx="1143000" cy="876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220 k€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00" y="3215640"/>
            <a:ext cx="11582400" cy="8763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4800" y="3215640"/>
            <a:ext cx="53340" cy="8763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7200" y="3474720"/>
            <a:ext cx="304800" cy="3048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47472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24612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Application Portfolio Mgmt (APM)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55854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Lifecycle-Management der Anwendungslandschaft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91600" y="3520440"/>
            <a:ext cx="15240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91600" y="3520440"/>
            <a:ext cx="641684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68000" y="3215640"/>
            <a:ext cx="1143000" cy="876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160 k€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4800" y="4137660"/>
            <a:ext cx="11582400" cy="8763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4800" y="4137660"/>
            <a:ext cx="53340" cy="8763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7200" y="4396740"/>
            <a:ext cx="304800" cy="3048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39674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168139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Benefits Realization Tracking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48056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Ist-/Soll-Nutzenabgleich nach Projektabschluss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91600" y="4442460"/>
            <a:ext cx="15240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991600" y="4442460"/>
            <a:ext cx="481263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68000" y="4137660"/>
            <a:ext cx="1143000" cy="876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120 k€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4800" y="5059680"/>
            <a:ext cx="11582400" cy="8763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4800" y="5059680"/>
            <a:ext cx="53340" cy="8763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7200" y="5318760"/>
            <a:ext cx="304800" cy="3048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31876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09016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Compliance / EV-Prozess-Digitalisierung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40258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EV-Workflow in SNOW; weniger manuelle Freigabeschleifen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91600" y="5364480"/>
            <a:ext cx="15240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991600" y="5364480"/>
            <a:ext cx="721894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68000" y="5059680"/>
            <a:ext cx="1143000" cy="876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180 k€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Fokus-Kandidat: Maßnahmen-Management Zielkostenmgmt Produktentwicklung — höchster Hebel + strategisch bedeutend.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Einführungs-Szenarien im Vergleich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Drei Szenarien zur Umsetzung SEPM – Kosten, Nutzen, Risiko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609600"/>
            <a:ext cx="3759200" cy="5486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4800" y="609600"/>
            <a:ext cx="3759200" cy="609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40000" y="609600"/>
            <a:ext cx="1524000" cy="6096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0000" y="609600"/>
            <a:ext cx="1524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★ EMPFOHLEN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647700"/>
            <a:ext cx="20828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 – Full Scope
24 Monate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3454400" cy="304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71600"/>
            <a:ext cx="3454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F07F12"/>
                </a:solidFill>
                <a:latin typeface="Calibri"/>
              </a:rPr>
              <a:t>Empfohlen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3454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Calibri"/>
              </a:rPr>
              <a:t>Dauer: 24 Monate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057400"/>
            <a:ext cx="3454400" cy="1524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2302933" cy="1524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2438400"/>
            <a:ext cx="34544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400" y="246126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268986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Alle Module Phase 1 + 2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86100"/>
            <a:ext cx="34544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400" y="310896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Ramp 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333756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Standard-Timeline (24 Mo)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33800"/>
            <a:ext cx="34544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3400" y="375666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Payback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398526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~ 3,5 Jahre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381500"/>
            <a:ext cx="34544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400" y="440436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Business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463296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Voll ab Jahr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029200"/>
            <a:ext cx="34544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3400" y="505206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Risiko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528066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Mittel — Change-intensiv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16400" y="609600"/>
            <a:ext cx="3759200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16400" y="609600"/>
            <a:ext cx="3759200" cy="60960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2600" y="647700"/>
            <a:ext cx="36068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 – Extended Ramp
36 Monate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68800" y="1371600"/>
            <a:ext cx="3454400" cy="304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8800" y="1371600"/>
            <a:ext cx="3454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3B6BA5"/>
                </a:solidFill>
                <a:latin typeface="Calibri"/>
              </a:rPr>
              <a:t>Konservativ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8800" y="1828800"/>
            <a:ext cx="3454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Calibri"/>
              </a:rPr>
              <a:t>Dauer: 36 Monate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68800" y="2057400"/>
            <a:ext cx="3454400" cy="1524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368800" y="2057400"/>
            <a:ext cx="3454400" cy="15240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368800" y="2438400"/>
            <a:ext cx="34544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45000" y="246126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Scope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45000" y="268986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Alle Module, verteilter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68800" y="3086100"/>
            <a:ext cx="34544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45000" y="310896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Ramp 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45000" y="333756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Reduziertes Tempo (+12 Mo)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68800" y="3733800"/>
            <a:ext cx="34544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45000" y="375666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Payback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45000" y="398526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~ 4,5 Jahre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68800" y="4381500"/>
            <a:ext cx="34544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45000" y="440436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Business Value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45000" y="463296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Voll ab Jahr 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68800" y="5029200"/>
            <a:ext cx="34544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45000" y="505206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Risiko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45000" y="528066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Niedrig — mehr Puffer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28000" y="609600"/>
            <a:ext cx="3759200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128000" y="609600"/>
            <a:ext cx="3759200" cy="609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04200" y="647700"/>
            <a:ext cx="36068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 – MVP-First
12 Mo + Ausbau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80400" y="1371600"/>
            <a:ext cx="3454400" cy="304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80400" y="1371600"/>
            <a:ext cx="3454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Agil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80400" y="1828800"/>
            <a:ext cx="3454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Calibri"/>
              </a:rPr>
              <a:t>Dauer: 30 Monate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80400" y="2057400"/>
            <a:ext cx="3454400" cy="1524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280400" y="2057400"/>
            <a:ext cx="2878666" cy="1524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280400" y="2438400"/>
            <a:ext cx="34544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56600" y="246126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Scope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56600" y="268986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Strategy + Portfolio zuerst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80400" y="3086100"/>
            <a:ext cx="34544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56600" y="310896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Ramp Up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56600" y="333756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MVP live in 12 Mo, dann sukzessiv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80400" y="3733800"/>
            <a:ext cx="34544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56600" y="375666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Payback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56600" y="398526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~ 3 Jahre auf Teil-Nutzen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80400" y="4381500"/>
            <a:ext cx="34544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56600" y="440436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Business Value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56600" y="463296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Teilnutzen früh, Voll ab Jahr 4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280400" y="5029200"/>
            <a:ext cx="34544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56600" y="505206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Risiko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56600" y="528066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Mittel — Nachreichung Module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Detail-Kalkulation Szenarien in Excel-Vorlage Tab 'Szenarien'. Empfehlung: A – Full Scope 24 Monate.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Szenario A – Full Scope 24 Monate (Empfohlen)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Timeline · Investitionsprofil · Nutzen-Kurve · Break-even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609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Umsetzungs-Timeline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838200"/>
            <a:ext cx="4800600" cy="274320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83820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Jahr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838200"/>
            <a:ext cx="4800600" cy="27432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83820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Jahr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800" y="1219200"/>
            <a:ext cx="19050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Konzeption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1219200"/>
            <a:ext cx="9601200" cy="4191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93620" y="1249680"/>
            <a:ext cx="1184910" cy="3581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00" y="1684020"/>
            <a:ext cx="19050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Impl. Phase 1 (Demand, Portfolio, Strategy)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1684020"/>
            <a:ext cx="9601200" cy="4191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93770" y="1714500"/>
            <a:ext cx="3585210" cy="3581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800" y="2148840"/>
            <a:ext cx="19050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Go-Live Phase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2148840"/>
            <a:ext cx="9601200" cy="4191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94220" y="2179320"/>
            <a:ext cx="384810" cy="3581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800" y="2613660"/>
            <a:ext cx="19050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Impl. Phase 2 (PM, Ress., Fin.)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2613660"/>
            <a:ext cx="9601200" cy="4191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94220" y="2644139"/>
            <a:ext cx="4385310" cy="35814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800" y="3078480"/>
            <a:ext cx="19050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Go-Live Phase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3078480"/>
            <a:ext cx="9601200" cy="4191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494770" y="3108960"/>
            <a:ext cx="384810" cy="3581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800" y="3543300"/>
            <a:ext cx="19050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Change / Rollout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3543300"/>
            <a:ext cx="9601200" cy="4191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93770" y="3573780"/>
            <a:ext cx="8385810" cy="35814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800" y="427482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Investitions- und Nutzenprofil (schematisch, Detail-Kalkulation in Excel)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4800" y="4503420"/>
            <a:ext cx="11582400" cy="1828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4800" y="4503420"/>
            <a:ext cx="231267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800" y="6103620"/>
            <a:ext cx="2316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Jahr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21280" y="4503420"/>
            <a:ext cx="2312670" cy="18288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21280" y="6103620"/>
            <a:ext cx="2316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Jahr 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4503420"/>
            <a:ext cx="231267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0" y="6103620"/>
            <a:ext cx="2316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Jahr 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54239" y="4503420"/>
            <a:ext cx="2312670" cy="18288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54239" y="6103620"/>
            <a:ext cx="2316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Jahr 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70720" y="4503420"/>
            <a:ext cx="231267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70720" y="6103620"/>
            <a:ext cx="2316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Jahr 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58240" y="5383953"/>
            <a:ext cx="266700" cy="643466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307753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Calibri"/>
              </a:rPr>
              <a:t>2.0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01140" y="5930900"/>
            <a:ext cx="266700" cy="965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10640" y="5854700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Calibri"/>
              </a:rPr>
              <a:t>0.3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74719" y="5319606"/>
            <a:ext cx="266700" cy="707813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22319" y="5243406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Calibri"/>
              </a:rPr>
              <a:t>2.2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17619" y="5544820"/>
            <a:ext cx="266700" cy="482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27119" y="5468620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Calibri"/>
              </a:rPr>
              <a:t>1.5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791200" y="5641340"/>
            <a:ext cx="266700" cy="38608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38800" y="5565140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Calibri"/>
              </a:rPr>
              <a:t>1.2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34100" y="5062219"/>
            <a:ext cx="266700" cy="9652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0" y="4986019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Calibri"/>
              </a:rPr>
              <a:t>3.0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07679" y="5705686"/>
            <a:ext cx="266700" cy="321733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55279" y="5629486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Calibri"/>
              </a:rPr>
              <a:t>1.0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50580" y="4740486"/>
            <a:ext cx="266700" cy="1286933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60079" y="4664286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Calibri"/>
              </a:rPr>
              <a:t>4.0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424159" y="5705686"/>
            <a:ext cx="266700" cy="321733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71759" y="5629486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Calibri"/>
              </a:rPr>
              <a:t>1.0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767059" y="4643966"/>
            <a:ext cx="266700" cy="1383453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76559" y="4567766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Calibri"/>
              </a:rPr>
              <a:t>4.3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4579620"/>
            <a:ext cx="2316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F07F12"/>
                </a:solidFill>
                <a:latin typeface="Calibri"/>
              </a:rPr>
              <a:t>★ Break-even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04800" y="6316979"/>
            <a:ext cx="304800" cy="12192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6278879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Investition M€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286000" y="6316979"/>
            <a:ext cx="304800" cy="121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67000" y="6278879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Nutzen M€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Detail-Kalkulation Szenario A in Excel Tab 'Szenarien'.  Break-even Ø Base-Case ~ Jahr 4.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Szenario B – Extended Ramp-Up 36 Monate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Vergleich zu Szenario A: konservativer, weniger Change-Druck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609600"/>
            <a:ext cx="5638800" cy="30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4800" y="609600"/>
            <a:ext cx="5638800" cy="3810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800" y="609600"/>
            <a:ext cx="5638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Szenario A – 24 Monate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66800"/>
            <a:ext cx="533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Dauer: 24 Monate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95400"/>
            <a:ext cx="5334000" cy="1524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295400"/>
            <a:ext cx="3556000" cy="1524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" y="1714500"/>
            <a:ext cx="106680" cy="10668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16002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Standard-Tempo, 2 Jahre End-to-End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095500"/>
            <a:ext cx="106680" cy="10668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700" y="19812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Höherer Change-Druck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2476500"/>
            <a:ext cx="106680" cy="10668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700" y="23622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 ab Jahr 3 vollständig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2857500"/>
            <a:ext cx="106680" cy="10668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700" y="27432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Payback ~ 3,5 Jahre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3238500"/>
            <a:ext cx="106680" cy="10668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700" y="31242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Empfohlen bei ausreichenden Ressourcen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400" y="609600"/>
            <a:ext cx="5638800" cy="30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48400" y="609600"/>
            <a:ext cx="5638800" cy="38100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609600"/>
            <a:ext cx="5638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Szenario B – 36 Monate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066800"/>
            <a:ext cx="533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Dauer: 36 Monate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295400"/>
            <a:ext cx="5334000" cy="1524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1295400"/>
            <a:ext cx="5334000" cy="15240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1714500"/>
            <a:ext cx="106680" cy="10668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91300" y="16002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Verteiltes Tempo, 3 Jahre End-to-End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2095500"/>
            <a:ext cx="106680" cy="10668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1300" y="19812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Weniger Change-Druck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2476500"/>
            <a:ext cx="106680" cy="10668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91300" y="23622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 ab Jahr 4 vollständig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2857500"/>
            <a:ext cx="106680" cy="10668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91300" y="27432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Payback ~ 4,5 Jahre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0" y="3238500"/>
            <a:ext cx="106680" cy="10668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91300" y="31242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Empfohlen bei knappen Ressourcen / hoher Aversion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4800" y="38862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Kosten- &amp; Nutzen-Delta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4800" y="4191000"/>
            <a:ext cx="11582400" cy="27432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4800" y="4191000"/>
            <a:ext cx="4191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Kennzahl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191000"/>
            <a:ext cx="2438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Szenario 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0400" y="4191000"/>
            <a:ext cx="2438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Szenario 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48800" y="4191000"/>
            <a:ext cx="2438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Δ B vs 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4800" y="4495800"/>
            <a:ext cx="11582400" cy="2819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495800"/>
            <a:ext cx="3962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Einmalige Kosten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4495800"/>
            <a:ext cx="2438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F07F12"/>
                </a:solidFill>
                <a:latin typeface="Calibri"/>
              </a:rPr>
              <a:t>3,0 M€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10400" y="4495800"/>
            <a:ext cx="2438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3B6BA5"/>
                </a:solidFill>
                <a:latin typeface="Calibri"/>
              </a:rPr>
              <a:t>2,7 M€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48800" y="4495800"/>
            <a:ext cx="2438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B91C1C"/>
                </a:solidFill>
                <a:latin typeface="Calibri"/>
              </a:rPr>
              <a:t>−0,3 M€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4800" y="4800600"/>
            <a:ext cx="11582400" cy="2819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800600"/>
            <a:ext cx="3962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Laufend p.a. steady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4800600"/>
            <a:ext cx="2438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F07F12"/>
                </a:solidFill>
                <a:latin typeface="Calibri"/>
              </a:rPr>
              <a:t>0,85 M€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10400" y="4800600"/>
            <a:ext cx="2438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3B6BA5"/>
                </a:solidFill>
                <a:latin typeface="Calibri"/>
              </a:rPr>
              <a:t>0,80 M€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48800" y="4800600"/>
            <a:ext cx="2438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B91C1C"/>
                </a:solidFill>
                <a:latin typeface="Calibri"/>
              </a:rPr>
              <a:t>−0,05 M€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4800" y="5105400"/>
            <a:ext cx="11582400" cy="2819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105400"/>
            <a:ext cx="3962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5-Jahres-TCO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5105400"/>
            <a:ext cx="2438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F07F12"/>
                </a:solidFill>
                <a:latin typeface="Calibri"/>
              </a:rPr>
              <a:t>7,0 M€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10400" y="5105400"/>
            <a:ext cx="2438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3B6BA5"/>
                </a:solidFill>
                <a:latin typeface="Calibri"/>
              </a:rPr>
              <a:t>6,7 M€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48800" y="5105400"/>
            <a:ext cx="2438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B91C1C"/>
                </a:solidFill>
                <a:latin typeface="Calibri"/>
              </a:rPr>
              <a:t>−0,3 M€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4800" y="5410200"/>
            <a:ext cx="11582400" cy="2819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5410200"/>
            <a:ext cx="3962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Nutzen Y3 (kumul.)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0" y="5410200"/>
            <a:ext cx="2438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F07F12"/>
                </a:solidFill>
                <a:latin typeface="Calibri"/>
              </a:rPr>
              <a:t>3,5 M€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10400" y="5410200"/>
            <a:ext cx="2438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3B6BA5"/>
                </a:solidFill>
                <a:latin typeface="Calibri"/>
              </a:rPr>
              <a:t>1,8 M€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48800" y="5410200"/>
            <a:ext cx="2438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B91C1C"/>
                </a:solidFill>
                <a:latin typeface="Calibri"/>
              </a:rPr>
              <a:t>−1,7 M€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4800" y="5715000"/>
            <a:ext cx="11582400" cy="2819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5715000"/>
            <a:ext cx="3962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Nutzen Y5 (kumul.)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5715000"/>
            <a:ext cx="2438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F07F12"/>
                </a:solidFill>
                <a:latin typeface="Calibri"/>
              </a:rPr>
              <a:t>16 M€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10400" y="5715000"/>
            <a:ext cx="2438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3B6BA5"/>
                </a:solidFill>
                <a:latin typeface="Calibri"/>
              </a:rPr>
              <a:t>12 M€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48800" y="5715000"/>
            <a:ext cx="2438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B91C1C"/>
                </a:solidFill>
                <a:latin typeface="Calibri"/>
              </a:rPr>
              <a:t>−4 M€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4800" y="6019800"/>
            <a:ext cx="11582400" cy="2819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019800"/>
            <a:ext cx="3962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Payback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0" y="6019800"/>
            <a:ext cx="2438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F07F12"/>
                </a:solidFill>
                <a:latin typeface="Calibri"/>
              </a:rPr>
              <a:t>~ 3,5 J.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10400" y="6019800"/>
            <a:ext cx="2438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3B6BA5"/>
                </a:solidFill>
                <a:latin typeface="Calibri"/>
              </a:rPr>
              <a:t>~ 4,5 J.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48800" y="6019800"/>
            <a:ext cx="2438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+1 J.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Fazit: Szenario B spart geringfügig Kosten, verzögert aber ~ 4 M€ Nutzen um 1 Jahr → A ist wirtschaftlich stärker.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Budgetplanung SEPM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Punkt 6 Folie 4: Investitionsprofil für Jahresplanung 2027 + 2028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609600"/>
            <a:ext cx="11582400" cy="609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9600"/>
            <a:ext cx="6858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Gesamt-Investition SEPM 2027–2031 (Base Case)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096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Calibri"/>
              </a:rPr>
              <a:t>~ 7.6 Mio. 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27760" y="1828800"/>
            <a:ext cx="1219200" cy="24384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360" y="1638300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2.2 M€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360" y="43053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360" y="45339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Phase 1 Impl. + Lizenz Y1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828800"/>
            <a:ext cx="1219200" cy="24384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0880" y="1638300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2.2 M€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0880" y="43053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2028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5339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Phase 2 Impl. + Lizenz Y2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38800" y="2937163"/>
            <a:ext cx="1219200" cy="1330036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2746663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1.2 M€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3053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2029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4400" y="45339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Steady State + Weiterentwicklung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94320" y="3158836"/>
            <a:ext cx="1219200" cy="1108363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1920" y="2968336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1.0 M€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1920" y="43053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2030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9920" y="45339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Steady State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49840" y="3158836"/>
            <a:ext cx="1219200" cy="1108363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97440" y="2968336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1.0 M€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7440" y="43053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2031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5339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Steady State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4267200"/>
            <a:ext cx="11277600" cy="1143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800" y="5181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Milestones Jahresplanung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4800" y="5448300"/>
            <a:ext cx="3657600" cy="838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381000" y="5676900"/>
            <a:ext cx="228600" cy="228600"/>
          </a:xfrm>
          <a:prstGeom prst="diamond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478780"/>
            <a:ext cx="3200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Q3 2026: Jahresplanung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7531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Investitions-Beschluss 2027 &amp; Rahmen 2028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0" y="5448300"/>
            <a:ext cx="3657600" cy="838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iamond 36"/>
          <p:cNvSpPr/>
          <p:nvPr/>
        </p:nvSpPr>
        <p:spPr>
          <a:xfrm>
            <a:off x="4191000" y="5676900"/>
            <a:ext cx="228600" cy="228600"/>
          </a:xfrm>
          <a:prstGeom prst="diamond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5800" y="5478780"/>
            <a:ext cx="3200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Q3 2027: Jahresplanung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5800" y="57531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Freigabe Phase 2 &amp; Rahmen 2028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24800" y="5448300"/>
            <a:ext cx="3657600" cy="838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iamond 40"/>
          <p:cNvSpPr/>
          <p:nvPr/>
        </p:nvSpPr>
        <p:spPr>
          <a:xfrm>
            <a:off x="8001000" y="5676900"/>
            <a:ext cx="228600" cy="228600"/>
          </a:xfrm>
          <a:prstGeom prst="diamond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05800" y="5478780"/>
            <a:ext cx="3200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Q3 2028: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5800" y="57531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Übergang in Steady 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Alle Werte Base Case. Für Jahresplanung 09/26 wird das Detail-Budget aus Excel Tab 'Szenarien' abgeleitet.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Risiken der ServiceNow-Plattform-Abhängigkeit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Systematische Bewertung + Mitigationen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609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Risiko-Matrix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838200"/>
            <a:ext cx="11582400" cy="27432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838200"/>
            <a:ext cx="289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Risiko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5200" y="838200"/>
            <a:ext cx="1219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Schwere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0" y="838200"/>
            <a:ext cx="7010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" y="1143000"/>
            <a:ext cx="11582400" cy="6096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165860"/>
            <a:ext cx="28956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Vendor Lock-in</a:t>
            </a:r>
          </a:p>
        </p:txBody>
      </p:sp>
      <p:sp>
        <p:nvSpPr>
          <p:cNvPr id="14" name="Oval 13"/>
          <p:cNvSpPr/>
          <p:nvPr/>
        </p:nvSpPr>
        <p:spPr>
          <a:xfrm>
            <a:off x="3505200" y="1386840"/>
            <a:ext cx="182880" cy="18288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33800" y="1386840"/>
            <a:ext cx="182880" cy="18288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62400" y="1386840"/>
            <a:ext cx="182880" cy="18288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1000" y="1386840"/>
            <a:ext cx="182880" cy="18288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19600" y="1386840"/>
            <a:ext cx="182880" cy="18288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6800" y="1165860"/>
            <a:ext cx="68580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Standard-Konfiguration, Migrations-Klauseln, jährl. Marktscreening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4800" y="1790700"/>
            <a:ext cx="11582400" cy="6096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1813560"/>
            <a:ext cx="28956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Preis-Eskalation</a:t>
            </a:r>
          </a:p>
        </p:txBody>
      </p:sp>
      <p:sp>
        <p:nvSpPr>
          <p:cNvPr id="22" name="Oval 21"/>
          <p:cNvSpPr/>
          <p:nvPr/>
        </p:nvSpPr>
        <p:spPr>
          <a:xfrm>
            <a:off x="3505200" y="2034540"/>
            <a:ext cx="182880" cy="18288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733800" y="2034540"/>
            <a:ext cx="182880" cy="18288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62400" y="2034540"/>
            <a:ext cx="182880" cy="18288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91000" y="2034540"/>
            <a:ext cx="182880" cy="18288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19600" y="2034540"/>
            <a:ext cx="182880" cy="18288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6800" y="1813560"/>
            <a:ext cx="68580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Mehrjahresvertrag mit Preisgarantie, Volumen-Rabatte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00" y="2438400"/>
            <a:ext cx="11582400" cy="6096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461260"/>
            <a:ext cx="28956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Ausfall/Betrieb</a:t>
            </a:r>
          </a:p>
        </p:txBody>
      </p:sp>
      <p:sp>
        <p:nvSpPr>
          <p:cNvPr id="30" name="Oval 29"/>
          <p:cNvSpPr/>
          <p:nvPr/>
        </p:nvSpPr>
        <p:spPr>
          <a:xfrm>
            <a:off x="3505200" y="2682240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733800" y="2682240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962400" y="2682240"/>
            <a:ext cx="182880" cy="18288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191000" y="2682240"/>
            <a:ext cx="182880" cy="18288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419600" y="2682240"/>
            <a:ext cx="182880" cy="18288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6800" y="2461260"/>
            <a:ext cx="68580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SLA 99,9% + regionaler DC (Frankfurt/Düsseldorf), DSGVO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4800" y="3086100"/>
            <a:ext cx="11582400" cy="6096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108960"/>
            <a:ext cx="28956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Roadmap-Divergenz</a:t>
            </a:r>
          </a:p>
        </p:txBody>
      </p:sp>
      <p:sp>
        <p:nvSpPr>
          <p:cNvPr id="38" name="Oval 37"/>
          <p:cNvSpPr/>
          <p:nvPr/>
        </p:nvSpPr>
        <p:spPr>
          <a:xfrm>
            <a:off x="3505200" y="3329940"/>
            <a:ext cx="182880" cy="18288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733800" y="3329940"/>
            <a:ext cx="182880" cy="18288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962400" y="3329940"/>
            <a:ext cx="182880" cy="18288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191000" y="3329940"/>
            <a:ext cx="182880" cy="18288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419600" y="3329940"/>
            <a:ext cx="182880" cy="18288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76800" y="3108960"/>
            <a:ext cx="68580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Standard first, keine tiefen Anpassungen; halbjährl. Review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4800" y="3733800"/>
            <a:ext cx="11582400" cy="6096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756660"/>
            <a:ext cx="28956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Datenhoheit / DSGVO</a:t>
            </a:r>
          </a:p>
        </p:txBody>
      </p:sp>
      <p:sp>
        <p:nvSpPr>
          <p:cNvPr id="46" name="Oval 45"/>
          <p:cNvSpPr/>
          <p:nvPr/>
        </p:nvSpPr>
        <p:spPr>
          <a:xfrm>
            <a:off x="3505200" y="3977640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33800" y="3977640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962400" y="3977640"/>
            <a:ext cx="182880" cy="18288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191000" y="3977640"/>
            <a:ext cx="182880" cy="18288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419600" y="3977640"/>
            <a:ext cx="182880" cy="18288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76800" y="3756660"/>
            <a:ext cx="68580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DE-Hosting, ADV-Vertrag, verschlüsselte Datenhaltung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800" y="4381500"/>
            <a:ext cx="11582400" cy="6096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404360"/>
            <a:ext cx="28956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Team-Kompetenzaufbau</a:t>
            </a:r>
          </a:p>
        </p:txBody>
      </p:sp>
      <p:sp>
        <p:nvSpPr>
          <p:cNvPr id="54" name="Oval 53"/>
          <p:cNvSpPr/>
          <p:nvPr/>
        </p:nvSpPr>
        <p:spPr>
          <a:xfrm>
            <a:off x="3505200" y="4625340"/>
            <a:ext cx="182880" cy="18288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733800" y="4625340"/>
            <a:ext cx="182880" cy="18288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962400" y="4625340"/>
            <a:ext cx="182880" cy="18288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191000" y="4625340"/>
            <a:ext cx="182880" cy="18288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419600" y="4625340"/>
            <a:ext cx="182880" cy="18288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76800" y="4404360"/>
            <a:ext cx="6858000" cy="563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Ausbau ITSM-Team +1,5-2 FTE, Ausbildungsplan, Partner-Support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4800" y="5486400"/>
            <a:ext cx="11582400" cy="76200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04800" y="5486400"/>
            <a:ext cx="53340" cy="762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486400"/>
            <a:ext cx="11277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Fazit Risiko-Bewertung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5715000"/>
            <a:ext cx="11277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Kein Risiko ist ein Show-Stopper.  Alle Risiken sind mit Standard-Verträgen (Preisgarantie, DSGVO-ADV, SLA), Standard-First-Governance und regelmäßigem Markt-Screening beherrschbar.  Der größte Hebel gegen Vendor Lock-in: konsequente Nutzung der SNOW-Standard-Prozesse ohne tiefe Customizings.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Detail-Bewertung + Aktions-Plan in Excel-Vorlage Tab 'Risiken'. Review halbjährlich im Programm-Board.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bei STIHL – Vertragshistorie 2014–2026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Partner: 12 Jahre gemeinsame Historie, kontrolliertes Wachstum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609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Vertragsstufen und jährliche Lizenzausgaben (indikativ)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914400"/>
            <a:ext cx="11582400" cy="3200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733800"/>
            <a:ext cx="11277600" cy="1143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5300" y="3198541"/>
            <a:ext cx="228600" cy="53525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8160" y="3107101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-152400" y="2848021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180 k€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52400" y="3810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24100" y="2960648"/>
            <a:ext cx="228600" cy="773151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6960" y="2869208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76400" y="2610128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260 k€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6400" y="3810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52900" y="2722756"/>
            <a:ext cx="228600" cy="1011043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75760" y="2631316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5200" y="2372236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340 k€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5200" y="3810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2018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1700" y="2514600"/>
            <a:ext cx="228600" cy="12192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04560" y="2423160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34000" y="2164080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410 k€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3810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2020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0500" y="2276707"/>
            <a:ext cx="228600" cy="145709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33360" y="2185267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62800" y="1926187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490 k€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2800" y="3810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2022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39300" y="2068551"/>
            <a:ext cx="228600" cy="166524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62160" y="1977111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91600" y="1718031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560 k€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91600" y="3810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2024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68100" y="1295400"/>
            <a:ext cx="228600" cy="24384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90960" y="1203960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20400" y="944880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820 k€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400" y="3810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4800" y="42672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Meilensteine der Zusammenarbeit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4800" y="4495800"/>
            <a:ext cx="3733800" cy="533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4800" y="4495800"/>
            <a:ext cx="38100" cy="5334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9100" y="451104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2014 · Erstvertrag ITSM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9100" y="4754880"/>
            <a:ext cx="350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Standard Package, 500 Fulfiller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91000" y="4495800"/>
            <a:ext cx="3733800" cy="533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91000" y="4495800"/>
            <a:ext cx="38100" cy="5334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05300" y="451104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2016 · Erweiterung Global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5300" y="4754880"/>
            <a:ext cx="350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Ausrollung inkl. China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77200" y="4495800"/>
            <a:ext cx="3733800" cy="533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77200" y="4495800"/>
            <a:ext cx="38100" cy="5334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91500" y="451104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2018 · Enterprise-Vertrag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1500" y="4754880"/>
            <a:ext cx="350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Volumen-Diskont, HR-SD add-on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5105400"/>
            <a:ext cx="3733800" cy="533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4800" y="5105400"/>
            <a:ext cx="38100" cy="5334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9100" y="512064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2020 · ITOM + CMDB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9100" y="5364480"/>
            <a:ext cx="350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Discovery, Event Mgmt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91000" y="5105400"/>
            <a:ext cx="3733800" cy="533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91000" y="5105400"/>
            <a:ext cx="38100" cy="5334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05300" y="512064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2022 · Contract Renewal 3J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05300" y="5364480"/>
            <a:ext cx="350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Preisanpassung +5% p.a.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77200" y="5105400"/>
            <a:ext cx="3733800" cy="533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077200" y="5105400"/>
            <a:ext cx="38100" cy="5334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91500" y="512064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2024 · Now Assist Preview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91500" y="5364480"/>
            <a:ext cx="350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GenAI eingeführt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04800" y="5715000"/>
            <a:ext cx="3733800" cy="533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04800" y="5715000"/>
            <a:ext cx="38100" cy="5334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9100" y="573024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2026 · SPM Pro (geplant)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9100" y="5974080"/>
            <a:ext cx="350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Neuer Modul-Baustein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Detail-Kalkulation und Vertragsdokumente in Excel-Vorlage Tab 'SNOW_Vertragshistorie'.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ROI-Kalkulation &amp; Empfehlung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2000" bIns="12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Gesamt-Wirtschaftlichkeit und Beschlussvorschlag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609600"/>
            <a:ext cx="2809875" cy="121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4800" y="609600"/>
            <a:ext cx="2809875" cy="259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800" y="609600"/>
            <a:ext cx="2809875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NPV 5 Jahre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914400"/>
            <a:ext cx="2809875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Calibri"/>
              </a:rPr>
              <a:t>~ +8,5 M€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" y="1447800"/>
            <a:ext cx="2809875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Base Case, WACC 6 %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8975" y="609600"/>
            <a:ext cx="2809875" cy="121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28975" y="609600"/>
            <a:ext cx="2809875" cy="259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8975" y="609600"/>
            <a:ext cx="2809875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8975" y="914400"/>
            <a:ext cx="2809875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Calibri"/>
              </a:rPr>
              <a:t>~ 32 %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8975" y="1447800"/>
            <a:ext cx="2809875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über Investitionshürde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150" y="609600"/>
            <a:ext cx="2809875" cy="121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53150" y="609600"/>
            <a:ext cx="2809875" cy="2590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150" y="609600"/>
            <a:ext cx="2809875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Payback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150" y="914400"/>
            <a:ext cx="2809875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Calibri"/>
              </a:rPr>
              <a:t>~ 3,5 J.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150" y="1447800"/>
            <a:ext cx="2809875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nach Kickoff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7325" y="609600"/>
            <a:ext cx="2809875" cy="121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77325" y="609600"/>
            <a:ext cx="2809875" cy="2590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7325" y="609600"/>
            <a:ext cx="2809875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TCO 5 Jahre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7325" y="914400"/>
            <a:ext cx="2809875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2200" b="1" i="0">
                <a:solidFill>
                  <a:srgbClr val="2C3E50"/>
                </a:solidFill>
                <a:latin typeface="Calibri"/>
              </a:rPr>
              <a:t>~ 7,0 M€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7325" y="1447800"/>
            <a:ext cx="2809875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einmalig + laufend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800" y="20574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Kosten-Nutzen-Übersicht (5 Jahre kumuliert, Base Case)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00" y="2362200"/>
            <a:ext cx="11582400" cy="4267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38506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Kosten (TCO)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0" y="2385060"/>
            <a:ext cx="39624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B91C1C"/>
                </a:solidFill>
                <a:latin typeface="Calibri"/>
              </a:rPr>
              <a:t>− 7,0 M€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4800" y="2819400"/>
            <a:ext cx="11582400" cy="4267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84226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Konsolidierung Tools (5 J.)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0" y="2842260"/>
            <a:ext cx="39624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+ 4,7 M€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4800" y="3276600"/>
            <a:ext cx="11582400" cy="4267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29946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Konsolidierung Schnittstellen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0" y="3299460"/>
            <a:ext cx="39624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+ 1,1 M€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4800" y="3733800"/>
            <a:ext cx="11582400" cy="4267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75666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Business 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0" y="3756660"/>
            <a:ext cx="39624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+ 11,6 M€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4800" y="4191000"/>
            <a:ext cx="11582400" cy="4267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21386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Flankierende Prozesse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0" y="4213860"/>
            <a:ext cx="39624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+ 5,3 M€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4800" y="4648200"/>
            <a:ext cx="11582400" cy="42672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67106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Netto-Effekt 5 Jahre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0000" y="4671060"/>
            <a:ext cx="39624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r"/>
            <a:r>
              <a:rPr sz="1400" b="1" i="0">
                <a:solidFill>
                  <a:srgbClr val="F07F12"/>
                </a:solidFill>
                <a:latin typeface="Calibri"/>
              </a:rPr>
              <a:t>+ 15,7 M€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4800" y="5257800"/>
            <a:ext cx="11582400" cy="990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257800"/>
            <a:ext cx="3048000" cy="990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★ EMPFEHLUNG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05200" y="52578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Beschluss zur Umsetzung von Szenario A (Full Scope 24 Monate) und Freigabe Detail-Planung / RFP-Prozess bis Q3 2026 empfohlen. NPV +8,5 M€, IRR 32 %, Payback ~3,5 J. — deutlich über Investitions-Hürde.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2000" bIns="12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Detail-Zahlen aus Excel-Vorlage 'Auswertung' und 'Szenarien'. Nach Freigabe: Detail-Konzept + RFP.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