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embeddings/Microsoft_Excel_Binary_Worksheet2.xlsb" ContentType="application/vnd.ms-excel.sheet.binary.macroEnabled.12"/>
  <Override PartName="/ppt/embeddings/Microsoft_Excel_Binary_Worksheet3.xlsb" ContentType="application/vnd.ms-excel.sheet.binary.macroEnabled.12"/>
  <Override PartName="/ppt/embeddings/Microsoft_Excel_Binary_Worksheet4.xlsb" ContentType="application/vnd.ms-excel.sheet.binary.macroEnabled.12"/>
  <Override PartName="/ppt/embeddings/Microsoft_Excel_Binary_Worksheet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8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0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13"/>
    <p:sldId id="571" r:id="rId14"/>
    <p:sldId id="572" r:id="rId15"/>
    <p:sldId id="2147483633" r:id="rId16"/>
    <p:sldId id="569" r:id="rId17"/>
    <p:sldId id="570" r:id="rId18"/>
    <p:sldId id="2147483631" r:id="rId19"/>
    <p:sldId id="288" r:id="rId20"/>
    <p:sldId id="2147375009" r:id="rId21"/>
    <p:sldId id="286" r:id="rId22"/>
    <p:sldId id="287" r:id="rId23"/>
    <p:sldId id="563" r:id="rId24"/>
    <p:sldId id="282" r:id="rId25"/>
    <p:sldId id="283" r:id="rId26"/>
    <p:sldId id="278" r:id="rId27"/>
    <p:sldId id="284" r:id="rId28"/>
    <p:sldId id="574" r:id="rId29"/>
  </p:sldIdLst>
  <p:sldSz cx="12192000" cy="6858000"/>
  <p:notesSz cx="6858000" cy="9144000"/>
  <p:custDataLst>
    <p:tags r:id="rId3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9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tags" Target="tags/tag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5/10/relationships/revisionInfo" Target="revisionInfo.xml"/><Relationship Id="rId38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3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4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tags" Target="../tags/tag60.xml"/><Relationship Id="rId9" Type="http://schemas.openxmlformats.org/officeDocument/2006/relationships/tags" Target="../tags/tag61.xml"/><Relationship Id="rId10" Type="http://schemas.openxmlformats.org/officeDocument/2006/relationships/tags" Target="../tags/tag62.xml"/><Relationship Id="rId11" Type="http://schemas.openxmlformats.org/officeDocument/2006/relationships/tags" Target="../tags/tag63.xml"/><Relationship Id="rId12" Type="http://schemas.openxmlformats.org/officeDocument/2006/relationships/tags" Target="../tags/tag64.xml"/><Relationship Id="rId13" Type="http://schemas.openxmlformats.org/officeDocument/2006/relationships/tags" Target="../tags/tag65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5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3.png"/><Relationship Id="rId6" Type="http://schemas.openxmlformats.org/officeDocument/2006/relationships/image" Target="../media/image24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7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25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4800" y="5334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Funktions-Vergleich – SPM-Plattform vs. Best-of-Breed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731520"/>
            <a:ext cx="3200400" cy="2667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240" y="73152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Funktion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200" y="731520"/>
            <a:ext cx="3810000" cy="2667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1400" y="73152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SPM-Plattform (ServiceNow)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731520"/>
            <a:ext cx="4572000" cy="26670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91400" y="731520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Best-of-Breed (Einzeltools)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800" y="102108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4800" y="10210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6240" y="10210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Strategie (Ziele, KPI)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5200" y="10210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96640" y="10668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6640" y="10668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0210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0210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Workpath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800" y="128016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4800" y="12801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6240" y="12801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Demand &amp; Portfolio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5200" y="12801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96640" y="13258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6640" y="13258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12801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2801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ServiceNow / SharePoint-Listen / Power-Automate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4800" y="153924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4800" y="153924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240" y="153924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Workflow Management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5200" y="153924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96640" y="15849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96640" y="158496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153924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53924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SharePoint-Listen / Power-Automate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4800" y="179832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04800" y="179832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6240" y="179832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Projekt-Mgmt. – Ressourcen-Planung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05200" y="179832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96640" y="184404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96640" y="184404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179832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179832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Planisware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800" y="205740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04800" y="205740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6240" y="205740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Aufgaben-Management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05200" y="205740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596640" y="210312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96640" y="210312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05740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05740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MS Planner · Jira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4800" y="231648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4800" y="231648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6240" y="231648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AI-Fähigkeiten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05200" y="231648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3596640" y="236220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96640" y="23622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231648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231648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Je Tool separat, unterschiedliche Reife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" y="257556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04800" y="2575560"/>
            <a:ext cx="3200400" cy="24384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96240" y="2575560"/>
            <a:ext cx="30480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05200" y="2575560"/>
            <a:ext cx="45720" cy="2438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3596640" y="262128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596640" y="262128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94760" y="2575560"/>
            <a:ext cx="34671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Calibri"/>
              </a:rPr>
              <a:t>integriert + Power BI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6640" y="2575560"/>
            <a:ext cx="4419600" cy="24384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Power BI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04800" y="2910840"/>
            <a:ext cx="57912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19100" y="2910840"/>
            <a:ext cx="55626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Wirtschaftlichkeitsbetrachtung – TCO-Analyse 5 Jahre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3215640"/>
            <a:ext cx="57912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41960" y="3349504"/>
            <a:ext cx="3420465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 dirty="0">
                <a:solidFill>
                  <a:srgbClr val="1F2937"/>
                </a:solidFill>
                <a:latin typeface="Calibri"/>
              </a:rPr>
              <a:t>5-Jahres-TCO</a:t>
            </a:r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 Analyse 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46760" y="5695949"/>
            <a:ext cx="3077565" cy="762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46760" y="569671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41960" y="560831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6760" y="5199506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1960" y="511111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6760" y="470230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1960" y="461390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6760" y="4205097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41960" y="4116704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6760" y="3707891"/>
            <a:ext cx="3077565" cy="609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41960" y="3619499"/>
            <a:ext cx="304800" cy="18288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r"/>
            <a:r>
              <a:rPr sz="850" b="0" i="0">
                <a:solidFill>
                  <a:srgbClr val="4B5563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1960" y="3550920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Mio. 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57386" y="4511440"/>
            <a:ext cx="888979" cy="1188319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81186" y="434380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4.78 M€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4986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ServiceNow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(SPM-Plattform)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639019" y="3954570"/>
            <a:ext cx="888979" cy="1745189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562819" y="3786930"/>
            <a:ext cx="1041379" cy="152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b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7.02 M€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86619" y="5730239"/>
            <a:ext cx="1193779" cy="2286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Best-of-Breed</a:t>
            </a:r>
          </a:p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Einzeltools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62425" y="3569456"/>
            <a:ext cx="2020214" cy="189472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ctr"/>
            <a:r>
              <a:rPr lang="de-DE" sz="1100" b="1" i="0" dirty="0">
                <a:solidFill>
                  <a:srgbClr val="1F2937"/>
                </a:solidFill>
                <a:latin typeface="Calibri"/>
              </a:rPr>
              <a:t>Vorteil Plattform</a:t>
            </a:r>
            <a:endParaRPr sz="1100" b="1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4246146" y="3781426"/>
            <a:ext cx="1282164" cy="92087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266285" y="3266630"/>
            <a:ext cx="1314276" cy="1435968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endParaRPr lang="de-DE" sz="3600" b="1" i="0" dirty="0">
              <a:solidFill>
                <a:srgbClr val="2E7D32"/>
              </a:solidFill>
              <a:latin typeface="Calibri"/>
            </a:endParaRPr>
          </a:p>
          <a:p>
            <a:pPr algn="ctr"/>
            <a:r>
              <a:rPr lang="de-DE" sz="1600" b="1" dirty="0">
                <a:solidFill>
                  <a:srgbClr val="2E7D32"/>
                </a:solidFill>
                <a:latin typeface="Calibri"/>
              </a:rPr>
              <a:t>~</a:t>
            </a:r>
            <a:r>
              <a:rPr lang="de-DE" sz="2000" b="1" dirty="0">
                <a:solidFill>
                  <a:srgbClr val="2E7D32"/>
                </a:solidFill>
                <a:latin typeface="Calibri"/>
              </a:rPr>
              <a:t>30 % </a:t>
            </a:r>
            <a:br>
              <a:rPr lang="de-DE" sz="2400" b="1" dirty="0">
                <a:solidFill>
                  <a:srgbClr val="2E7D32"/>
                </a:solidFill>
                <a:latin typeface="Calibri"/>
              </a:rPr>
            </a:br>
            <a:endParaRPr lang="de-DE" sz="36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862425" y="4152672"/>
            <a:ext cx="1959254" cy="50494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TCO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+ </a:t>
            </a:r>
          </a:p>
          <a:p>
            <a:pPr algn="ctr"/>
            <a:r>
              <a:rPr lang="de-DE" sz="1050" b="0" i="1" noProof="0" dirty="0">
                <a:solidFill>
                  <a:srgbClr val="4B5563"/>
                </a:solidFill>
                <a:latin typeface="Calibri"/>
              </a:rPr>
              <a:t>Betriebskosten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8400" y="2910840"/>
            <a:ext cx="5638800" cy="2743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362700" y="2910840"/>
            <a:ext cx="541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Gartner Executive Summary 2025  (Pure-Play vs. Platform)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48400" y="3215640"/>
            <a:ext cx="5638800" cy="303276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6362700" y="327660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6438900" y="334518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438900" y="334518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05600" y="33147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Integration schlägt Funktionsbreite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05600" y="3505200"/>
            <a:ext cx="5029200" cy="312583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Nur eine Plattform ermöglicht 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to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-End-</a:t>
            </a:r>
            <a:r>
              <a:rPr lang="de-DE" sz="950" b="0" i="0" noProof="0" dirty="0" err="1">
                <a:solidFill>
                  <a:srgbClr val="4B5563"/>
                </a:solidFill>
                <a:latin typeface="Calibri"/>
              </a:rPr>
              <a:t>Governance</a:t>
            </a: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 </a:t>
            </a:r>
            <a:br>
              <a:rPr lang="de-DE" sz="950" b="0" i="0" noProof="0" dirty="0">
                <a:solidFill>
                  <a:srgbClr val="4B5563"/>
                </a:solidFill>
                <a:latin typeface="Calibri"/>
              </a:rPr>
            </a:br>
            <a:r>
              <a:rPr lang="de-DE" sz="950" b="0" i="0" noProof="0" dirty="0">
                <a:solidFill>
                  <a:srgbClr val="4B5563"/>
                </a:solidFill>
                <a:latin typeface="Calibri"/>
              </a:rPr>
              <a:t>über Strategie, Projekte, Produkte, IT &amp; Finance hinweg.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362700" y="422656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6438900" y="429514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438900" y="429514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05600" y="426466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TCO + Governance-Vorteile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05600" y="445516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Weniger Tools · weniger Schnittstellen · konsistente KPIs.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362700" y="5176520"/>
            <a:ext cx="5410200" cy="88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438900" y="5245100"/>
            <a:ext cx="198120" cy="19812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38900" y="5245100"/>
            <a:ext cx="198120" cy="19812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05600" y="521462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lang="de-DE" sz="1100" b="1" i="0" noProof="0">
                <a:solidFill>
                  <a:srgbClr val="1F2937"/>
                </a:solidFill>
                <a:latin typeface="Calibri"/>
              </a:rPr>
              <a:t>Zukunftssicherheit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05600" y="5405120"/>
            <a:ext cx="5029200" cy="660400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t">
            <a:spAutoFit/>
          </a:bodyPr>
          <a:lstStyle/>
          <a:p>
            <a:pPr algn="l"/>
            <a:r>
              <a:rPr sz="950" b="0" i="0">
                <a:solidFill>
                  <a:srgbClr val="4B5563"/>
                </a:solidFill>
                <a:latin typeface="Calibri"/>
              </a:rPr>
              <a:t>Plattformen wie ServiceNow erweitern SPM nativ um AI und Workflow-Automatisierung.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00800" y="6092927"/>
            <a:ext cx="5334000" cy="143306"/>
          </a:xfrm>
          <a:prstGeom prst="rect">
            <a:avLst/>
          </a:prstGeom>
          <a:noFill/>
          <a:ln>
            <a:noFill/>
          </a:ln>
        </p:spPr>
        <p:txBody>
          <a:bodyPr wrap="square" lIns="30000" tIns="10000" rIns="30000" bIns="10000" anchor="ctr">
            <a:spAutoFit/>
          </a:bodyPr>
          <a:lstStyle/>
          <a:p>
            <a:pPr algn="l"/>
            <a:r>
              <a:rPr sz="800" b="0" i="1" dirty="0">
                <a:solidFill>
                  <a:srgbClr val="4B5563"/>
                </a:solidFill>
                <a:latin typeface="Calibri"/>
              </a:rPr>
              <a:t>Quelle: Gartner 2025 – Pure-Play Versus Platform, Comparing SPM Solutions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81940" y="510540"/>
            <a:ext cx="11628120" cy="230886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/>
      <p:bldP spid="72" grpId="0" animBg="1"/>
      <p:bldP spid="73" grpId="0"/>
      <p:bldP spid="74" grpId="0" animBg="1"/>
      <p:bldP spid="75" grpId="0" animBg="1"/>
      <p:bldP spid="76" grpId="0"/>
      <p:bldP spid="77" grpId="0" animBg="1"/>
      <p:bldP spid="78" grpId="0"/>
      <p:bldP spid="79" grpId="0" animBg="1"/>
      <p:bldP spid="80" grpId="0"/>
      <p:bldP spid="81" grpId="0" animBg="1"/>
      <p:bldP spid="82" grpId="0"/>
      <p:bldP spid="83" grpId="0" animBg="1"/>
      <p:bldP spid="84" grpId="0"/>
      <p:bldP spid="85" grpId="0"/>
      <p:bldP spid="86" grpId="0" animBg="1"/>
      <p:bldP spid="87" grpId="0"/>
      <p:bldP spid="88" grpId="0"/>
      <p:bldP spid="89" grpId="0" animBg="1"/>
      <p:bldP spid="90" grpId="0"/>
      <p:bldP spid="91" grpId="0"/>
      <p:bldP spid="94" grpId="0"/>
      <p:bldP spid="95" grpId="0" animBg="1"/>
      <p:bldP spid="96" grpId="0"/>
      <p:bldP spid="98" grpId="0"/>
      <p:bldP spid="100" grpId="0" animBg="1"/>
      <p:bldP spid="101" grpId="0"/>
      <p:bldP spid="102" grpId="0" animBg="1"/>
      <p:bldP spid="103" grpId="0" animBg="1"/>
      <p:bldP spid="104" grpId="0" animBg="1"/>
      <p:bldP spid="105" grpId="0"/>
      <p:bldP spid="106" grpId="0"/>
      <p:bldP spid="107" grpId="0"/>
      <p:bldP spid="108" grpId="0" animBg="1"/>
      <p:bldP spid="109" grpId="0" animBg="1"/>
      <p:bldP spid="110" grpId="0"/>
      <p:bldP spid="111" grpId="0"/>
      <p:bldP spid="112" grpId="0"/>
      <p:bldP spid="113" grpId="0" animBg="1"/>
      <p:bldP spid="114" grpId="0" animBg="1"/>
      <p:bldP spid="115" grpId="0"/>
      <p:bldP spid="116" grpId="0"/>
      <p:bldP spid="117" grpId="0"/>
      <p:bldP spid="118" grpId="0"/>
      <p:bldP spid="1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 dirty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28963" y="2591118"/>
            <a:ext cx="502920" cy="1097280"/>
          </a:xfrm>
          <a:prstGeom prst="roundRect">
            <a:avLst/>
          </a:prstGeom>
          <a:solidFill>
            <a:srgbClr val="18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243263" y="2659698"/>
            <a:ext cx="274320" cy="274320"/>
          </a:xfrm>
          <a:prstGeom prst="ellipse">
            <a:avLst/>
          </a:prstGeom>
          <a:solidFill>
            <a:srgbClr val="4A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243263" y="3002598"/>
            <a:ext cx="274320" cy="274320"/>
          </a:xfrm>
          <a:prstGeom prst="ellipse">
            <a:avLst/>
          </a:prstGeom>
          <a:solidFill>
            <a:srgbClr val="554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224975" y="3327210"/>
            <a:ext cx="310896" cy="310896"/>
          </a:xfrm>
          <a:prstGeom prst="ellipse">
            <a:avLst/>
          </a:prstGeom>
          <a:solidFill>
            <a:srgbClr val="2E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243263" y="3345498"/>
            <a:ext cx="274320" cy="274320"/>
          </a:xfrm>
          <a:prstGeom prst="ellipse">
            <a:avLst/>
          </a:prstGeom>
          <a:solidFill>
            <a:srgbClr val="2E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6063" y="372497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2E9B32"/>
                </a:solidFill>
                <a:latin typeface="Calibri"/>
              </a:rPr>
              <a:t>80%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86063" y="3926141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Machbar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54838" y="2591118"/>
            <a:ext cx="502920" cy="1097280"/>
          </a:xfrm>
          <a:prstGeom prst="roundRect">
            <a:avLst/>
          </a:prstGeom>
          <a:solidFill>
            <a:srgbClr val="18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9138" y="2659698"/>
            <a:ext cx="274320" cy="274320"/>
          </a:xfrm>
          <a:prstGeom prst="ellipse">
            <a:avLst/>
          </a:prstGeom>
          <a:solidFill>
            <a:srgbClr val="4A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69138" y="3002598"/>
            <a:ext cx="274320" cy="274320"/>
          </a:xfrm>
          <a:prstGeom prst="ellipse">
            <a:avLst/>
          </a:prstGeom>
          <a:solidFill>
            <a:srgbClr val="554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050850" y="3327210"/>
            <a:ext cx="310896" cy="310896"/>
          </a:xfrm>
          <a:prstGeom prst="ellipse">
            <a:avLst/>
          </a:prstGeom>
          <a:solidFill>
            <a:srgbClr val="2E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9138" y="3345498"/>
            <a:ext cx="274320" cy="274320"/>
          </a:xfrm>
          <a:prstGeom prst="ellipse">
            <a:avLst/>
          </a:prstGeom>
          <a:solidFill>
            <a:srgbClr val="2E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11938" y="372497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2E9B32"/>
                </a:solidFill>
                <a:latin typeface="Calibri"/>
              </a:rPr>
              <a:t>80%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938" y="3926141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Machbar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85475" y="2591118"/>
            <a:ext cx="502920" cy="1097280"/>
          </a:xfrm>
          <a:prstGeom prst="roundRect">
            <a:avLst/>
          </a:prstGeom>
          <a:solidFill>
            <a:srgbClr val="18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899775" y="2659698"/>
            <a:ext cx="274320" cy="274320"/>
          </a:xfrm>
          <a:prstGeom prst="ellipse">
            <a:avLst/>
          </a:prstGeom>
          <a:solidFill>
            <a:srgbClr val="4A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899775" y="3002598"/>
            <a:ext cx="274320" cy="274320"/>
          </a:xfrm>
          <a:prstGeom prst="ellipse">
            <a:avLst/>
          </a:prstGeom>
          <a:solidFill>
            <a:srgbClr val="554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881487" y="3327210"/>
            <a:ext cx="310896" cy="310896"/>
          </a:xfrm>
          <a:prstGeom prst="ellipse">
            <a:avLst/>
          </a:prstGeom>
          <a:solidFill>
            <a:srgbClr val="2E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899775" y="3345498"/>
            <a:ext cx="274320" cy="274320"/>
          </a:xfrm>
          <a:prstGeom prst="ellipse">
            <a:avLst/>
          </a:prstGeom>
          <a:solidFill>
            <a:srgbClr val="2E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42575" y="372497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2E9B32"/>
                </a:solidFill>
                <a:latin typeface="Calibri"/>
              </a:rPr>
              <a:t>80%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42575" y="3926141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Machbar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128963" y="5143818"/>
            <a:ext cx="502920" cy="1097280"/>
          </a:xfrm>
          <a:prstGeom prst="roundRect">
            <a:avLst/>
          </a:prstGeom>
          <a:solidFill>
            <a:srgbClr val="18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243263" y="5212398"/>
            <a:ext cx="274320" cy="274320"/>
          </a:xfrm>
          <a:prstGeom prst="ellipse">
            <a:avLst/>
          </a:prstGeom>
          <a:solidFill>
            <a:srgbClr val="4A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243263" y="5555298"/>
            <a:ext cx="274320" cy="274320"/>
          </a:xfrm>
          <a:prstGeom prst="ellipse">
            <a:avLst/>
          </a:prstGeom>
          <a:solidFill>
            <a:srgbClr val="554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224975" y="5879910"/>
            <a:ext cx="310896" cy="310896"/>
          </a:xfrm>
          <a:prstGeom prst="ellipse">
            <a:avLst/>
          </a:prstGeom>
          <a:solidFill>
            <a:srgbClr val="2E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243263" y="5898198"/>
            <a:ext cx="274320" cy="274320"/>
          </a:xfrm>
          <a:prstGeom prst="ellipse">
            <a:avLst/>
          </a:prstGeom>
          <a:solidFill>
            <a:srgbClr val="2E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86063" y="627767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2E9B32"/>
                </a:solidFill>
                <a:latin typeface="Calibri"/>
              </a:rPr>
              <a:t>80%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86063" y="647884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Machbar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54838" y="5143818"/>
            <a:ext cx="502920" cy="1097280"/>
          </a:xfrm>
          <a:prstGeom prst="roundRect">
            <a:avLst/>
          </a:prstGeom>
          <a:solidFill>
            <a:srgbClr val="18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069138" y="5212398"/>
            <a:ext cx="274320" cy="274320"/>
          </a:xfrm>
          <a:prstGeom prst="ellipse">
            <a:avLst/>
          </a:prstGeom>
          <a:solidFill>
            <a:srgbClr val="4A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9138" y="5555298"/>
            <a:ext cx="274320" cy="274320"/>
          </a:xfrm>
          <a:prstGeom prst="ellipse">
            <a:avLst/>
          </a:prstGeom>
          <a:solidFill>
            <a:srgbClr val="554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050850" y="5879910"/>
            <a:ext cx="310896" cy="310896"/>
          </a:xfrm>
          <a:prstGeom prst="ellipse">
            <a:avLst/>
          </a:prstGeom>
          <a:solidFill>
            <a:srgbClr val="2E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069138" y="5898198"/>
            <a:ext cx="274320" cy="274320"/>
          </a:xfrm>
          <a:prstGeom prst="ellipse">
            <a:avLst/>
          </a:prstGeom>
          <a:solidFill>
            <a:srgbClr val="2E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11938" y="627767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2E9B32"/>
                </a:solidFill>
                <a:latin typeface="Calibri"/>
              </a:rPr>
              <a:t>80%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11938" y="647884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Machbar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785475" y="5143818"/>
            <a:ext cx="502920" cy="1097280"/>
          </a:xfrm>
          <a:prstGeom prst="roundRect">
            <a:avLst/>
          </a:prstGeom>
          <a:solidFill>
            <a:srgbClr val="182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899775" y="5212398"/>
            <a:ext cx="274320" cy="274320"/>
          </a:xfrm>
          <a:prstGeom prst="ellipse">
            <a:avLst/>
          </a:prstGeom>
          <a:solidFill>
            <a:srgbClr val="4A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881487" y="5537010"/>
            <a:ext cx="310896" cy="310896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899775" y="5555298"/>
            <a:ext cx="274320" cy="27432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99775" y="5898198"/>
            <a:ext cx="274320" cy="274320"/>
          </a:xfrm>
          <a:prstGeom prst="ellipse">
            <a:avLst/>
          </a:prstGeom>
          <a:solidFill>
            <a:srgbClr val="244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442575" y="627767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1100" b="1" i="0">
                <a:solidFill>
                  <a:srgbClr val="F5C214"/>
                </a:solidFill>
                <a:latin typeface="Calibri"/>
              </a:rPr>
              <a:t>60%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42575" y="647884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20000" rIns="20000" tIns="10000" bIns="10000" anchor="ctr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Calibri"/>
              </a:rPr>
              <a:t>Bedingt machbar</a:t>
            </a: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Business Outcomes – Was SNOW SPM für STIHL konkret bedeutet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Die 9 ServiceNow Business Outcomes konsolidiert auf 6 wirkungsstarke STIHL-Ergebnisse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71500"/>
            <a:ext cx="11582400" cy="3429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800" y="571500"/>
            <a:ext cx="4572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571500"/>
            <a:ext cx="217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2300" y="57150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Was es bedeutet (Ziel)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0" y="571500"/>
            <a:ext cx="5981700" cy="3429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STIHL-Wirkung – konkreter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95250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800" y="9525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3860" y="12496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3860" y="12496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80" y="9829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Speed &amp; Time-to-Market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" y="15621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1 Faster Time to Market + 7 Improved Speed Overall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8480" y="9829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Schneller von Idee zur Markt-/Projektreife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6920" y="9829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End-to-end-Digitalisierung Idee → MPM → VEW. Gates (SBGo, PH) im System. Workflows ersetzen wochenlange manuelle Schleifen zwischen Excel, SAP und PIT.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" y="183642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04800" y="183642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3860" y="213360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3860" y="213360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80" y="186690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Resilience &amp; Agility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80" y="244602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2 Response to Disruptions + 6 Increased Agility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8480" y="186690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Schnell auf Störungen und Veränderungen reagieren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6920" y="186690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Alternativ-Roadmaps ohne neue Excel-Iterationen. Bei Budgetkürzung oder Marktveränderung sofort Re-Priorisierung – Effekte auf Kapazität und Strategie sind unmittelbar sichtbar.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272034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4800" y="272034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03860" y="301752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3860" y="301752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80" y="275082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Strategic Alignment &amp;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" y="332994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konsolidiert: 3 Strategy ↔ Execution + 8 Big-picture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78480" y="275082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Strategie und Umsetzung durchgängig verknüpfen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6920" y="275082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OKRs/Ziele direkt mit Programmen, Projekten und Demands verbunden. Vorstands-Cockpit mit Ampelstatus, Budget-Auslastung und OKR-Beitrag aller Projekte.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360426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800" y="360426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03860" y="3901439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3860" y="3901439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480" y="3634739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480" y="421386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4 Improved Efficiency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8480" y="3634739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Doppelarbeit und manuelle Reportingschleifen vermeiden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6920" y="3634739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Priorisierung über Scoring-Logik (Market / Business Case) ersetzt Excel-Bewertungen. Stunden im System, SAP-Ist-Kosten automatisch eingebunden – Plan-vs-Ist live, ohne manuelle Datenladevorgänge.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4800" y="4488180"/>
            <a:ext cx="11582400" cy="838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04800" y="448818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03860" y="478536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03860" y="478536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" y="451866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Cross-Functional Cohesion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" y="509778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5 Cohesion of Multiple Disciplines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78480" y="451866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Eine Plattform für alle Disziplinen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6920" y="451866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Einheitliches Datenmodell und Templates für MPM, VEW/PEP, VPM und IT. Cross-funktionale Programme mit gemeinsamer Freigabe, Abhängigkeiten und Reporting – Insellösungen entfallen.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800" y="5372100"/>
            <a:ext cx="11582400" cy="8382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04800" y="5372100"/>
            <a:ext cx="53340" cy="838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03860" y="5669280"/>
            <a:ext cx="243840" cy="2438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03860" y="5669280"/>
            <a:ext cx="243840" cy="2438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2480" y="5402580"/>
            <a:ext cx="2225040" cy="5715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Business Value Realization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80" y="5981700"/>
            <a:ext cx="222504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Quelle: 9 Business Value Realization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78480" y="5402580"/>
            <a:ext cx="268224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Nutzen messbar machen und nachverfolgen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36920" y="5402580"/>
            <a:ext cx="6004560" cy="7772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Business Cases strukturiert erfasst und über den gesamten Projektlebenszyklus nachverfolgt. Nach Projektabschluss Soll-/Ist-Abgleich gegen Strategie- und Nutzen-Ziele.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4800" y="62865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'Stihl_SPM_Business_Outcomes' – 9 ursprüngliche Outcomes (Faster Time to Market, Response to Disruptions, Strategy/Execution, Efficiency, Cohesion, Agility, Speed Overall, Big-picture, Value Realization).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b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t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40000" tIns="15000" rIns="40000" bIns="15000" anchor="ctr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C53D5A5-84E6-3148-A66F-9B15DBC4BC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53D5A5-84E6-3148-A66F-9B15DBC4B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15611A1-1F36-6A2B-E722-70AE13956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Bewertung der Plattformstrategie mit ServiceNow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9D25D2-9E95-2963-5013-89D932592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1. Was soll gegenüber gestellt werden?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067B29F-F1F7-5509-BCB5-9E9364656E43}"/>
              </a:ext>
            </a:extLst>
          </p:cNvPr>
          <p:cNvGraphicFramePr>
            <a:graphicFrameLocks noGrp="1"/>
          </p:cNvGraphicFramePr>
          <p:nvPr/>
        </p:nvGraphicFramePr>
        <p:xfrm>
          <a:off x="479426" y="1482756"/>
          <a:ext cx="11658918" cy="552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7363">
                  <a:extLst>
                    <a:ext uri="{9D8B030D-6E8A-4147-A177-3AD203B41FA5}">
                      <a16:colId xmlns:a16="http://schemas.microsoft.com/office/drawing/2014/main" val="1926975194"/>
                    </a:ext>
                  </a:extLst>
                </a:gridCol>
                <a:gridCol w="5391555">
                  <a:extLst>
                    <a:ext uri="{9D8B030D-6E8A-4147-A177-3AD203B41FA5}">
                      <a16:colId xmlns:a16="http://schemas.microsoft.com/office/drawing/2014/main" val="2469589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SPM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Multi-Tool-Ansatz (B-o-B) </a:t>
                      </a:r>
                      <a:br>
                        <a:rPr lang="de-DE" dirty="0"/>
                      </a:br>
                      <a:r>
                        <a:rPr lang="de-DE" dirty="0"/>
                        <a:t>– inkl. Toolannahmen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8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Strategische Produkt- Portfolioplanung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SharePoint-Listen / Power-</a:t>
                      </a:r>
                      <a:r>
                        <a:rPr lang="de-DE" err="1"/>
                        <a:t>Automate</a:t>
                      </a:r>
                      <a:r>
                        <a:rPr lang="de-DE"/>
                        <a:t>/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6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OKR, Strategisches Projekt Portfolio Management, </a:t>
                      </a:r>
                      <a:br>
                        <a:rPr lang="de-DE" dirty="0"/>
                      </a:br>
                      <a:r>
                        <a:rPr lang="de-DE" dirty="0"/>
                        <a:t>Programm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Workpath, Power BI, SharePoint Listen, Planisware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18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Finanzielle Planung von Projekten (Jahresplanung)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SAC, (Planisware)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627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Power Automate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3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Demand-Management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7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Terminplanung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1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Ressourcenplanung (Einzelprojekt)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Planisware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248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Aufgabenmanagement (Einzelprojekt)</a:t>
                      </a:r>
                      <a:br>
                        <a:rPr lang="de-DE" dirty="0"/>
                      </a:br>
                      <a:r>
                        <a:rPr lang="de-DE" dirty="0"/>
                        <a:t>ServiceNow „Planner“, 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MS Planner, Jira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9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ServiceNow Reporting,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10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DAP „light“ für </a:t>
                      </a:r>
                      <a:r>
                        <a:rPr lang="de-DE" dirty="0" err="1"/>
                        <a:t>PowerBI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DAP - Plattform zur Verbindung aller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9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Eine SAP-Schnittstelle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SAP-Integration über DAP 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84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983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Arbeitsvorrat</a:t>
            </a:r>
            <a:r>
              <a:rPr lang="de-DE" sz="1400" dirty="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 dirty="0"/>
              <a:t>Agile Abarbeitung </a:t>
            </a:r>
            <a:r>
              <a:rPr lang="de-DE" sz="1400" dirty="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Steuerung von </a:t>
            </a:r>
            <a:r>
              <a:rPr lang="de-DE" sz="1400" b="1" dirty="0"/>
              <a:t>Schlüssel-Ressourcen</a:t>
            </a:r>
            <a:r>
              <a:rPr lang="de-DE" sz="1400" dirty="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dirty="0"/>
              <a:t>Abwägung der </a:t>
            </a:r>
            <a:r>
              <a:rPr lang="de-DE" sz="1400" b="1" dirty="0"/>
              <a:t>resultierenden Betriebskosten </a:t>
            </a:r>
            <a:r>
              <a:rPr lang="de-DE" sz="1400" dirty="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2860</Words>
  <Application>Microsoft Office PowerPoint</Application>
  <PresentationFormat>Breitbild</PresentationFormat>
  <Paragraphs>792</Paragraphs>
  <Slides>25</Slides>
  <Notes>6</Notes>
  <HiddenSlides>7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5" baseType="lpstr">
      <vt:lpstr>Arial</vt:lpstr>
      <vt:lpstr>Arial Narrow</vt:lpstr>
      <vt:lpstr>Calibri</vt:lpstr>
      <vt:lpstr>stihl contraface display medium</vt:lpstr>
      <vt:lpstr>stihl contraface display medium</vt:lpstr>
      <vt:lpstr>STIHL Contraface Display Title</vt:lpstr>
      <vt:lpstr>STIHL Contraface Text</vt:lpstr>
      <vt:lpstr>Wingdings</vt:lpstr>
      <vt:lpstr>STIHL EN 16:9</vt:lpstr>
      <vt:lpstr>think-cell Slide</vt:lpstr>
      <vt:lpstr>Überblick PPM@STIHL und zwischenstand servicenow plattform  ƒ</vt:lpstr>
      <vt:lpstr>Informationen zur Vorstandsvorlage </vt:lpstr>
      <vt:lpstr>Projekte und Projektportfoliomanagement bei STIHL</vt:lpstr>
      <vt:lpstr>PowerPoint-Präsentation</vt:lpstr>
      <vt:lpstr>Herausforderungen im Status Quo</vt:lpstr>
      <vt:lpstr>Vorgehen / Ansatz / Prämissen</vt:lpstr>
      <vt:lpstr>Vorprojekt SNOW – Überblick</vt:lpstr>
      <vt:lpstr>PowerPoint-Präsentation</vt:lpstr>
      <vt:lpstr>PowerPoint-Präsentation</vt:lpstr>
      <vt:lpstr>Vorprojekt SNOW – Ergebnisse (1 von 2)</vt:lpstr>
      <vt:lpstr>Vorprojekt SNOW – Ergebnisse (2 von 2)</vt:lpstr>
      <vt:lpstr>PowerPoint-Präsentation</vt:lpstr>
      <vt:lpstr>Lessons Learned MSPO</vt:lpstr>
      <vt:lpstr>Weiteres Vorgehen SNOW</vt:lpstr>
      <vt:lpstr>PowerPoint-Präsentation</vt:lpstr>
      <vt:lpstr>PowerPoint-Präsentation</vt:lpstr>
      <vt:lpstr>Bewertung der Plattformstrategie mit ServiceNow</vt:lpstr>
      <vt:lpstr>PowerPoint-Präsentation</vt:lpstr>
      <vt:lpstr>PowerPoint-Präsentation</vt:lpstr>
      <vt:lpstr>PowerPoint-Präsentation</vt:lpstr>
      <vt:lpstr>Status Quo</vt:lpstr>
      <vt:lpstr>Status Quo: IT Demand and Project landscape </vt:lpstr>
      <vt:lpstr>Steuerungs- und Transparenzebenen im Strategischen PPM</vt:lpstr>
      <vt:lpstr>PowerPoint-Präsentation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26</cp:revision>
  <dcterms:created xsi:type="dcterms:W3CDTF">2025-07-07T10:08:27Z</dcterms:created>
  <dcterms:modified xsi:type="dcterms:W3CDTF">2026-05-11T13:20:31Z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