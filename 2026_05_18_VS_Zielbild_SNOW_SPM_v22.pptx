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2147483634" r:id="rId39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Relationship Id="rId3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960" y="3349504"/>
            <a:ext cx="3420465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 dirty="0">
                <a:solidFill>
                  <a:srgbClr val="1F2937"/>
                </a:solidFill>
                <a:latin typeface="Calibri"/>
              </a:rPr>
              <a:t>5-Jahres-TCO</a:t>
            </a:r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 Analyse 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2425" y="3569456"/>
            <a:ext cx="2020214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Vorteil Plattform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6146" y="3781426"/>
            <a:ext cx="1282164" cy="92087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66285" y="3266630"/>
            <a:ext cx="1314276" cy="1435968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endParaRPr lang="de-DE" sz="3600" b="1" i="0" dirty="0">
              <a:solidFill>
                <a:srgbClr val="2E7D32"/>
              </a:solidFill>
              <a:latin typeface="Calibri"/>
            </a:endParaRPr>
          </a:p>
          <a:p>
            <a:pPr algn="ctr"/>
            <a:r>
              <a:rPr lang="de-DE" sz="1600" b="1" dirty="0">
                <a:solidFill>
                  <a:srgbClr val="2E7D32"/>
                </a:solidFill>
                <a:latin typeface="Calibri"/>
              </a:rPr>
              <a:t>~</a:t>
            </a:r>
            <a:r>
              <a:rPr lang="de-DE" sz="2000" b="1" dirty="0">
                <a:solidFill>
                  <a:srgbClr val="2E7D32"/>
                </a:solidFill>
                <a:latin typeface="Calibri"/>
              </a:rPr>
              <a:t>30 % </a:t>
            </a:r>
            <a:br>
              <a:rPr lang="de-DE" sz="2400" b="1" dirty="0">
                <a:solidFill>
                  <a:srgbClr val="2E7D32"/>
                </a:solidFill>
                <a:latin typeface="Calibri"/>
              </a:rPr>
            </a:br>
            <a:endParaRPr lang="de-DE" sz="36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62425" y="4152672"/>
            <a:ext cx="1959254" cy="50494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TCO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+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Betriebskosten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31258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Nur eine Plattform ermöglicht 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to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-End-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Governance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 </a:t>
            </a:r>
            <a:br>
              <a:rPr lang="de-DE" sz="950" b="0" i="0" noProof="0" dirty="0">
                <a:solidFill>
                  <a:srgbClr val="4B5563"/>
                </a:solidFill>
                <a:latin typeface="Calibri"/>
              </a:rPr>
            </a:b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2927"/>
            <a:ext cx="5334000" cy="143306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00" b="0" i="1" dirty="0">
                <a:solidFill>
                  <a:srgbClr val="4B5563"/>
                </a:solidFill>
                <a:latin typeface="Calibri"/>
              </a:rPr>
              <a:t>Quelle: Gartner 2025 – Pure-Play Versus Platform, Comparing SPM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4" grpId="0"/>
      <p:bldP spid="95" grpId="0" animBg="1"/>
      <p:bldP spid="96" grpId="0"/>
      <p:bldP spid="98" grpId="0"/>
      <p:bldP spid="100" grpId="0" animBg="1"/>
      <p:bldP spid="101" grpId="0"/>
      <p:bldP spid="102" grpId="0" animBg="1"/>
      <p:bldP spid="103" grpId="0" animBg="1"/>
      <p:bldP spid="104" grpId="0" animBg="1"/>
      <p:bldP spid="105" grpId="0"/>
      <p:bldP spid="106" grpId="0"/>
      <p:bldP spid="107" grpId="0"/>
      <p:bldP spid="108" grpId="0" animBg="1"/>
      <p:bldP spid="109" grpId="0" animBg="1"/>
      <p:bldP spid="110" grpId="0"/>
      <p:bldP spid="111" grpId="0"/>
      <p:bldP spid="112" grpId="0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ServiceNow SPM PoC bei STIHL – Beispiele aus dem Strategic Planning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Strategien, Portfolios, Roadmaps und Ziele live auf der Plattform – STIHL TRAIL 2030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57150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59436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Prioritization mit Strategic-Investments-Lens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2550" y="62484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2550" y="62484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1 /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100" y="93726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100" y="93726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2830830"/>
            <a:ext cx="55054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STIHL TRAIL 2030 Demo – Lens-Hierarchie zeigt Strategic Priorities, Initiatives, Programs, Projects und Demands mit Gantt-Visualisierung. Filter über Lens-Auswahl (Org Unit, Strategic Investments, …).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150" y="57150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150" y="57150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59436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Goals &amp; Targets mit Status und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10900" y="62484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0900" y="62484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2 /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7450" y="93726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7450" y="93726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450" y="2830830"/>
            <a:ext cx="55054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OKR-/Ziel-Hierarchie mit Status-Ampel (Grün/Gelb/Rot), Fortschritt in % und Trend-Charts pro Ziel. Side-Panel mit Soll-/Ist-Vergleich.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800" y="337185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4800" y="337185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100" y="339471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Stihl Product Roadmap – Swim-Lane-Planung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2550" y="342519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2550" y="342519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3 /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9100" y="373761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9100" y="373761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631180"/>
            <a:ext cx="5505450" cy="380999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Portfolio-Planning-Workbench mit Produkt-Swim-Lanes (z. B. PMS 180.0, WKP 250.0, ZMS 400.0). FY26-Quartale + Monatsraster; Demands und Projekte direkt auf der Zeitachse.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150" y="337185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150" y="337185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7450" y="339471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Strategic Hierarchy – Programme &amp; Initiativen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10900" y="342519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10900" y="342519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4 /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7450" y="373761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7450" y="373761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7450" y="5631180"/>
            <a:ext cx="5505450" cy="380999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Volle Lens-Hierarchie: STIHL TRAIL 2030 → Customer-Centric Products → Connected → einzelne Vorhaben (Stihl Global AI Hub, EURO Umstellung Bulgarien, OT Security, EMEA Shared Datacenter …).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PoC-Screenshots aus ServiceNow Strategic Planning Workspace / Portfolio Planning – Demo-Instance STIHL TRAIL 2030.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6063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01569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40431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5358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03651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6063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1938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27444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66306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71233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29526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11938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575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758081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96943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901870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60163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2575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6063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101569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0431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45358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03651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063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11938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27444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66306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71233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29526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938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42575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823917" y="5933364"/>
            <a:ext cx="427939" cy="8321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53635" y="5659958"/>
            <a:ext cx="368503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33874" y="5469763"/>
            <a:ext cx="148590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978451" y="5499481"/>
            <a:ext cx="59436" cy="59436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42575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60 %</a:t>
            </a: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Arbeitsvorrat</a:t>
            </a:r>
            <a:r>
              <a:rPr lang="de-DE" sz="1400" dirty="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Agile Abarbeitung </a:t>
            </a:r>
            <a:r>
              <a:rPr lang="de-DE" sz="1400" dirty="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Steuerung von </a:t>
            </a:r>
            <a:r>
              <a:rPr lang="de-DE" sz="1400" b="1" dirty="0"/>
              <a:t>Schlüssel-Ressourcen</a:t>
            </a:r>
            <a:r>
              <a:rPr lang="de-DE" sz="1400" dirty="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Abwägung der </a:t>
            </a:r>
            <a:r>
              <a:rPr lang="de-DE" sz="1400" b="1" dirty="0"/>
              <a:t>resultierenden Betriebskosten </a:t>
            </a:r>
            <a:r>
              <a:rPr lang="de-DE" sz="1400" dirty="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