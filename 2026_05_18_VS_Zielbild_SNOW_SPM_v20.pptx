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2147483634" r:id="rId39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9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Relationship Id="rId39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1960" y="3349504"/>
            <a:ext cx="3420465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 dirty="0">
                <a:solidFill>
                  <a:srgbClr val="1F2937"/>
                </a:solidFill>
                <a:latin typeface="Calibri"/>
              </a:rPr>
              <a:t>5-Jahres-TCO</a:t>
            </a:r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 Analyse 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2425" y="3569456"/>
            <a:ext cx="2020214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Vorteil Plattform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246146" y="3781426"/>
            <a:ext cx="1282164" cy="92087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66285" y="3266630"/>
            <a:ext cx="1314276" cy="1435968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endParaRPr lang="de-DE" sz="3600" b="1" i="0" dirty="0">
              <a:solidFill>
                <a:srgbClr val="2E7D32"/>
              </a:solidFill>
              <a:latin typeface="Calibri"/>
            </a:endParaRPr>
          </a:p>
          <a:p>
            <a:pPr algn="ctr"/>
            <a:r>
              <a:rPr lang="de-DE" sz="1600" b="1" dirty="0">
                <a:solidFill>
                  <a:srgbClr val="2E7D32"/>
                </a:solidFill>
                <a:latin typeface="Calibri"/>
              </a:rPr>
              <a:t>~</a:t>
            </a:r>
            <a:r>
              <a:rPr lang="de-DE" sz="2000" b="1" dirty="0">
                <a:solidFill>
                  <a:srgbClr val="2E7D32"/>
                </a:solidFill>
                <a:latin typeface="Calibri"/>
              </a:rPr>
              <a:t>30 % </a:t>
            </a:r>
            <a:br>
              <a:rPr lang="de-DE" sz="2400" b="1" dirty="0">
                <a:solidFill>
                  <a:srgbClr val="2E7D32"/>
                </a:solidFill>
                <a:latin typeface="Calibri"/>
              </a:rPr>
            </a:br>
            <a:endParaRPr lang="de-DE" sz="36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62425" y="4152672"/>
            <a:ext cx="1959254" cy="50494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TCO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+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Betriebskosten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31258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Nur eine Plattform ermöglicht 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to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-End-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Governance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 </a:t>
            </a:r>
            <a:br>
              <a:rPr lang="de-DE" sz="950" b="0" i="0" noProof="0" dirty="0">
                <a:solidFill>
                  <a:srgbClr val="4B5563"/>
                </a:solidFill>
                <a:latin typeface="Calibri"/>
              </a:rPr>
            </a:b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2927"/>
            <a:ext cx="5334000" cy="143306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00" b="0" i="1" dirty="0">
                <a:solidFill>
                  <a:srgbClr val="4B5563"/>
                </a:solidFill>
                <a:latin typeface="Calibri"/>
              </a:rPr>
              <a:t>Quelle: Gartner 2025 – Pure-Play Versus Platform, Comparing SPM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4" grpId="0"/>
      <p:bldP spid="95" grpId="0" animBg="1"/>
      <p:bldP spid="96" grpId="0"/>
      <p:bldP spid="98" grpId="0"/>
      <p:bldP spid="100" grpId="0" animBg="1"/>
      <p:bldP spid="101" grpId="0"/>
      <p:bldP spid="102" grpId="0" animBg="1"/>
      <p:bldP spid="103" grpId="0" animBg="1"/>
      <p:bldP spid="104" grpId="0" animBg="1"/>
      <p:bldP spid="105" grpId="0"/>
      <p:bldP spid="106" grpId="0"/>
      <p:bldP spid="107" grpId="0"/>
      <p:bldP spid="108" grpId="0" animBg="1"/>
      <p:bldP spid="109" grpId="0" animBg="1"/>
      <p:bldP spid="110" grpId="0"/>
      <p:bldP spid="111" grpId="0"/>
      <p:bldP spid="112" grpId="0"/>
      <p:bldP spid="113" grpId="0" animBg="1"/>
      <p:bldP spid="114" grpId="0" animBg="1"/>
      <p:bldP spid="115" grpId="0"/>
      <p:bldP spid="116" grpId="0"/>
      <p:bldP spid="117" grpId="0"/>
      <p:bldP spid="118" grpId="0"/>
      <p:bldP spid="1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6063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101569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40431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5358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03651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6063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1938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27444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66306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71233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29526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11938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575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758081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796943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901870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60163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2575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86063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101569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140431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45358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03651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6063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11938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927444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66306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71233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29526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938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42575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823917" y="5933364"/>
            <a:ext cx="427939" cy="8321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853635" y="5659958"/>
            <a:ext cx="368503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33874" y="5469763"/>
            <a:ext cx="148590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978451" y="5499481"/>
            <a:ext cx="59436" cy="59436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42575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60 %</a:t>
            </a: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Arbeitsvorrat</a:t>
            </a:r>
            <a:r>
              <a:rPr lang="de-DE" sz="1400" dirty="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Agile Abarbeitung </a:t>
            </a:r>
            <a:r>
              <a:rPr lang="de-DE" sz="1400" dirty="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Steuerung von </a:t>
            </a:r>
            <a:r>
              <a:rPr lang="de-DE" sz="1400" b="1" dirty="0"/>
              <a:t>Schlüssel-Ressourcen</a:t>
            </a:r>
            <a:r>
              <a:rPr lang="de-DE" sz="1400" dirty="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Abwägung der </a:t>
            </a:r>
            <a:r>
              <a:rPr lang="de-DE" sz="1400" b="1" dirty="0"/>
              <a:t>resultierenden Betriebskosten </a:t>
            </a:r>
            <a:r>
              <a:rPr lang="de-DE" sz="1400" dirty="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SPM in Aktion – Vom Konzern-Ziel zum Projekt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Strategische Initiativen → Portfolios → Projekte · Produkte · Anforderungen auf einer Plattform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Eyecatcher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" y="518160"/>
            <a:ext cx="11887200" cy="60198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38100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24840"/>
            <a:ext cx="3505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STRATEGISCHE INITIATIVEN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62000"/>
            <a:ext cx="35052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Konzern-Ziele · OKRs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609600"/>
            <a:ext cx="38100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9600" y="624840"/>
            <a:ext cx="3505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PORTFOLIOS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762000"/>
            <a:ext cx="35052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Wert- und Themen-Cluster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609600"/>
            <a:ext cx="3810000" cy="304800"/>
          </a:xfrm>
          <a:prstGeom prst="roundRect">
            <a:avLst/>
          </a:prstGeom>
          <a:solidFill>
            <a:srgbClr val="29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624840"/>
            <a:ext cx="3505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UMSETZUNG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762000"/>
            <a:ext cx="35052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Projekte · Produkte · Anforderungen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800" y="1028700"/>
            <a:ext cx="3810000" cy="1066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800" y="1028700"/>
            <a:ext cx="76200" cy="1066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08966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Operational Excellence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09700"/>
            <a:ext cx="350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Effiziente Prozesse · Kostendisziplin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600" y="1089660"/>
            <a:ext cx="685800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6600" y="108966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OKR  3 /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927860"/>
            <a:ext cx="3505200" cy="6096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1927860"/>
            <a:ext cx="2173224" cy="609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04060"/>
            <a:ext cx="35052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Fortschritt: 62 %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4800" y="2286000"/>
            <a:ext cx="3810000" cy="1066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2286000"/>
            <a:ext cx="76200" cy="1066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4696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Digitale Transformation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67000"/>
            <a:ext cx="350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Plattform-Strategie · Workflow-Automation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2346960"/>
            <a:ext cx="685800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234696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OKR  4 /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185160"/>
            <a:ext cx="3505200" cy="6096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3185160"/>
            <a:ext cx="2593848" cy="609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261360"/>
            <a:ext cx="35052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Fortschritt: 74 %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800" y="3543300"/>
            <a:ext cx="3810000" cy="1066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4800" y="3543300"/>
            <a:ext cx="76200" cy="1066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60426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Nachhaltigkeit &amp; 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924300"/>
            <a:ext cx="350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Green-IT · Energie · Reporting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76600" y="3604260"/>
            <a:ext cx="685800" cy="2286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76600" y="360426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OKR  2 / 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42460"/>
            <a:ext cx="3505200" cy="6096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" y="4442460"/>
            <a:ext cx="1927860" cy="6096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518660"/>
            <a:ext cx="35052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Fortschritt: 55 %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67200" y="1028700"/>
            <a:ext cx="3810000" cy="647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67200" y="1028700"/>
            <a:ext cx="76200" cy="647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19600" y="10668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PPM &amp; Strategy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9600" y="1287780"/>
            <a:ext cx="3505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27 Vorhaben · 12 Mio. €</a:t>
            </a:r>
          </a:p>
        </p:txBody>
      </p:sp>
      <p:sp>
        <p:nvSpPr>
          <p:cNvPr id="48" name="Oval 47"/>
          <p:cNvSpPr/>
          <p:nvPr/>
        </p:nvSpPr>
        <p:spPr>
          <a:xfrm>
            <a:off x="7734300" y="110490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9600" y="1493520"/>
            <a:ext cx="3505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2E7D32"/>
                </a:solidFill>
                <a:latin typeface="Calibri"/>
              </a:rPr>
              <a:t>on track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67200" y="1790700"/>
            <a:ext cx="3810000" cy="647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67200" y="1790700"/>
            <a:ext cx="76200" cy="647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19600" y="18288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IT-Modernisierung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19600" y="2049780"/>
            <a:ext cx="3505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18 Vorhaben · 8 Mio. €</a:t>
            </a:r>
          </a:p>
        </p:txBody>
      </p:sp>
      <p:sp>
        <p:nvSpPr>
          <p:cNvPr id="54" name="Oval 53"/>
          <p:cNvSpPr/>
          <p:nvPr/>
        </p:nvSpPr>
        <p:spPr>
          <a:xfrm>
            <a:off x="7734300" y="1866900"/>
            <a:ext cx="91440" cy="914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19600" y="2255520"/>
            <a:ext cx="3505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2E7D32"/>
                </a:solidFill>
                <a:latin typeface="Calibri"/>
              </a:rPr>
              <a:t>on track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67200" y="2552700"/>
            <a:ext cx="3810000" cy="647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67200" y="2552700"/>
            <a:ext cx="7620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9600" y="25908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Production &amp; Supply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19600" y="2811780"/>
            <a:ext cx="3505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33 Vorhaben · 18 Mio. €</a:t>
            </a:r>
          </a:p>
        </p:txBody>
      </p:sp>
      <p:sp>
        <p:nvSpPr>
          <p:cNvPr id="60" name="Oval 59"/>
          <p:cNvSpPr/>
          <p:nvPr/>
        </p:nvSpPr>
        <p:spPr>
          <a:xfrm>
            <a:off x="7734300" y="262890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19600" y="3017520"/>
            <a:ext cx="3505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2E7D32"/>
                </a:solidFill>
                <a:latin typeface="Calibri"/>
              </a:rPr>
              <a:t>on track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67200" y="3314700"/>
            <a:ext cx="3810000" cy="647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67200" y="3314700"/>
            <a:ext cx="76200" cy="6477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19600" y="33528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Green-IT &amp; Compliance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9600" y="3573780"/>
            <a:ext cx="3505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9 Vorhaben · 3 Mio. €</a:t>
            </a:r>
          </a:p>
        </p:txBody>
      </p:sp>
      <p:sp>
        <p:nvSpPr>
          <p:cNvPr id="66" name="Oval 65"/>
          <p:cNvSpPr/>
          <p:nvPr/>
        </p:nvSpPr>
        <p:spPr>
          <a:xfrm>
            <a:off x="7734300" y="339090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19600" y="3779520"/>
            <a:ext cx="3505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2E7D32"/>
                </a:solidFill>
                <a:latin typeface="Calibri"/>
              </a:rPr>
              <a:t>on track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600" y="1028700"/>
            <a:ext cx="3810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29600" y="1028700"/>
            <a:ext cx="6096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343900" y="1074420"/>
            <a:ext cx="419100" cy="137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43900" y="1074420"/>
            <a:ext cx="4191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PRJ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01100" y="10591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SPM Rollout Phase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43900" y="1242060"/>
            <a:ext cx="3581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Q4/26 Kick-off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29600" y="1562100"/>
            <a:ext cx="3810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600" y="1562100"/>
            <a:ext cx="6096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343900" y="1607820"/>
            <a:ext cx="419100" cy="137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43900" y="1607820"/>
            <a:ext cx="4191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PRJ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01100" y="15925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MSPO-Ablöse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43900" y="1775460"/>
            <a:ext cx="3581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Go-Live 2027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29600" y="2095500"/>
            <a:ext cx="3810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99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29600" y="2095500"/>
            <a:ext cx="60960" cy="457200"/>
          </a:xfrm>
          <a:prstGeom prst="rect">
            <a:avLst/>
          </a:prstGeom>
          <a:solidFill>
            <a:srgbClr val="29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343900" y="2141220"/>
            <a:ext cx="419100" cy="137160"/>
          </a:xfrm>
          <a:prstGeom prst="roundRect">
            <a:avLst/>
          </a:prstGeom>
          <a:solidFill>
            <a:srgbClr val="29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43900" y="2141220"/>
            <a:ext cx="4191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DMD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01100" y="21259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DEM-2510  PIT-Brücke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43900" y="2308860"/>
            <a:ext cx="3581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Klassifizierung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29600" y="2628900"/>
            <a:ext cx="3810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29600" y="2628900"/>
            <a:ext cx="60960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343900" y="2674620"/>
            <a:ext cx="419100" cy="137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43900" y="2674620"/>
            <a:ext cx="4191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01100" y="26593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Akku-Linie MS3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43900" y="2842260"/>
            <a:ext cx="3581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Modell-Stufe 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29600" y="3162300"/>
            <a:ext cx="3810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62300"/>
            <a:ext cx="6096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343900" y="3208020"/>
            <a:ext cx="419100" cy="137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43900" y="3208020"/>
            <a:ext cx="4191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PRJ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801100" y="31927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Supply-Chain Cockpit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43900" y="3375660"/>
            <a:ext cx="3581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in Bewertung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29600" y="3695700"/>
            <a:ext cx="3810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29600" y="3695700"/>
            <a:ext cx="60960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343900" y="3741420"/>
            <a:ext cx="419100" cy="137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43900" y="3741420"/>
            <a:ext cx="4191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01100" y="37261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Green-Reporting EU CSRD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43900" y="3909060"/>
            <a:ext cx="3581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Konzeption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229600" y="4229100"/>
            <a:ext cx="3810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99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229600" y="4229100"/>
            <a:ext cx="60960" cy="457200"/>
          </a:xfrm>
          <a:prstGeom prst="rect">
            <a:avLst/>
          </a:prstGeom>
          <a:solidFill>
            <a:srgbClr val="29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343900" y="4274820"/>
            <a:ext cx="419100" cy="137160"/>
          </a:xfrm>
          <a:prstGeom prst="roundRect">
            <a:avLst/>
          </a:prstGeom>
          <a:solidFill>
            <a:srgbClr val="29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43900" y="4274820"/>
            <a:ext cx="4191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DMD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01100" y="42595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DEM-2611  CMDB-Integration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43900" y="4442460"/>
            <a:ext cx="3581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Backlog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4114800" y="1352550"/>
            <a:ext cx="152400" cy="2724150"/>
          </a:xfrm>
          <a:prstGeom prst="line">
            <a:avLst/>
          </a:prstGeom>
          <a:ln w="15240">
            <a:solidFill>
              <a:srgbClr val="F07F1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114800" y="2114550"/>
            <a:ext cx="152400" cy="704850"/>
          </a:xfrm>
          <a:prstGeom prst="line">
            <a:avLst/>
          </a:prstGeom>
          <a:ln w="15240">
            <a:solidFill>
              <a:srgbClr val="F07F1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114800" y="1562100"/>
            <a:ext cx="152400" cy="1314450"/>
          </a:xfrm>
          <a:prstGeom prst="line">
            <a:avLst/>
          </a:prstGeom>
          <a:ln w="15240">
            <a:solidFill>
              <a:srgbClr val="F07F1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114800" y="3638550"/>
            <a:ext cx="152400" cy="438150"/>
          </a:xfrm>
          <a:prstGeom prst="line">
            <a:avLst/>
          </a:prstGeom>
          <a:ln w="15240">
            <a:solidFill>
              <a:srgbClr val="F07F1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077200" y="1257300"/>
            <a:ext cx="152400" cy="95250"/>
          </a:xfrm>
          <a:prstGeom prst="line">
            <a:avLst/>
          </a:prstGeom>
          <a:ln w="12700">
            <a:solidFill>
              <a:srgbClr val="299B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077200" y="1790700"/>
            <a:ext cx="152400" cy="323850"/>
          </a:xfrm>
          <a:prstGeom prst="line">
            <a:avLst/>
          </a:prstGeom>
          <a:ln w="12700">
            <a:solidFill>
              <a:srgbClr val="299B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077200" y="2114550"/>
            <a:ext cx="152400" cy="209550"/>
          </a:xfrm>
          <a:prstGeom prst="line">
            <a:avLst/>
          </a:prstGeom>
          <a:ln w="12700">
            <a:solidFill>
              <a:srgbClr val="299B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077200" y="2857500"/>
            <a:ext cx="152400" cy="19050"/>
          </a:xfrm>
          <a:prstGeom prst="line">
            <a:avLst/>
          </a:prstGeom>
          <a:ln w="12700">
            <a:solidFill>
              <a:srgbClr val="299B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077200" y="2876550"/>
            <a:ext cx="152400" cy="514350"/>
          </a:xfrm>
          <a:prstGeom prst="line">
            <a:avLst/>
          </a:prstGeom>
          <a:ln w="12700">
            <a:solidFill>
              <a:srgbClr val="299B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077200" y="3638550"/>
            <a:ext cx="152400" cy="285750"/>
          </a:xfrm>
          <a:prstGeom prst="line">
            <a:avLst/>
          </a:prstGeom>
          <a:ln w="12700">
            <a:solidFill>
              <a:srgbClr val="299B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077200" y="3638550"/>
            <a:ext cx="152400" cy="819150"/>
          </a:xfrm>
          <a:prstGeom prst="line">
            <a:avLst/>
          </a:prstGeom>
          <a:ln w="12700">
            <a:solidFill>
              <a:srgbClr val="299B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304800" y="60579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66800" y="61036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211580" y="605790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Projekt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00400" y="61036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45180" y="605790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Produkt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334000" y="6103620"/>
            <a:ext cx="121920" cy="121920"/>
          </a:xfrm>
          <a:prstGeom prst="roundRect">
            <a:avLst/>
          </a:prstGeom>
          <a:solidFill>
            <a:srgbClr val="29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478780" y="605790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Demand / Anforderung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67600" y="6057900"/>
            <a:ext cx="4572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→ verknüpft auf einer Plattform: Strategie → Portfolio → Umsetzung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Beispielhafte Visualisierung der ServiceNow SPM-Plattform.  Daten illustrativ.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2860</Words>
  <Application>Microsoft Office PowerPoint</Application>
  <PresentationFormat>Breitbild</PresentationFormat>
  <Paragraphs>792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26</cp:revision>
  <dcterms:created xsi:type="dcterms:W3CDTF">2025-07-07T10:08:27Z</dcterms:created>
  <dcterms:modified xsi:type="dcterms:W3CDTF">2026-05-11T13:20:31Z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