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1"/>
  </p:notesMasterIdLst>
  <p:sldIdLst>
    <p:sldId id="256" r:id="rId10"/>
    <p:sldId id="257" r:id="rId9"/>
    <p:sldId id="258" r:id="rId8"/>
    <p:sldId id="259" r:id="rId7"/>
    <p:sldId id="260" r:id="rId6"/>
    <p:sldId id="261" r:id="rId5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</p:sldIdLst>
  <p:sldSz cx="12192000" cy="6858000"/>
  <p:notesSz cx="6858000" cy="9144000"/>
  <p:custDataLst>
    <p:tags r:id="rId12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78703C2-CE7A-A6E6-F672-41AF8EBE77F5}" name="D1/SP1 Voss, Julia" initials="DJ" userId="S::julia.voss@stihl.de::f87d376c-395b-4d21-8036-37e0fcfef90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1/MCD Brenner, Damaris" initials="DB" lastIdx="12" clrIdx="0">
    <p:extLst>
      <p:ext uri="{19B8F6BF-5375-455C-9EA6-DF929625EA0E}">
        <p15:presenceInfo xmlns:p15="http://schemas.microsoft.com/office/powerpoint/2012/main" userId="S::damaris.brenner@stihl.de::c0224df7-585a-493d-840a-5fc0188c5fc4" providerId="AD"/>
      </p:ext>
    </p:extLst>
  </p:cmAuthor>
  <p:cmAuthor id="2" name="D1/MCG-sr Schramm, Benedikt" initials="DB" lastIdx="2" clrIdx="1">
    <p:extLst>
      <p:ext uri="{19B8F6BF-5375-455C-9EA6-DF929625EA0E}">
        <p15:presenceInfo xmlns:p15="http://schemas.microsoft.com/office/powerpoint/2012/main" userId="S::benedikt.schramm@stihl.de::b9b01b33-59af-4d45-91d2-53f551bfe4e7" providerId="AD"/>
      </p:ext>
    </p:extLst>
  </p:cmAuthor>
  <p:cmAuthor id="3" name="D1/MC2 Ecke, Oliver" initials="OE" lastIdx="1" clrIdx="2">
    <p:extLst>
      <p:ext uri="{19B8F6BF-5375-455C-9EA6-DF929625EA0E}">
        <p15:presenceInfo xmlns:p15="http://schemas.microsoft.com/office/powerpoint/2012/main" userId="S::oliver.ecke@stihl.de::ec09961d-ee56-4f4a-96cf-13a7f9ec3e5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7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tags" Target="tags/tag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8/10/relationships/authors" Target="authors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9CC96-28B7-4EB5-AF28-4751D63D6205}" type="datetimeFigureOut">
              <a:rPr lang="de-DE" smtClean="0"/>
              <a:t>01.07.2026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E65A7-789D-47E6-985F-DF61FF0CF5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041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tags" Target="../tags/tag3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3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3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575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067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1559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600847"/>
                </a:lnTo>
                <a:lnTo>
                  <a:pt x="5325750" y="6595767"/>
                </a:lnTo>
                <a:cubicBezTo>
                  <a:pt x="5324057" y="5336219"/>
                  <a:pt x="5317283" y="4081752"/>
                  <a:pt x="531559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C95D28-A98E-4740-A955-E3F7D2C2C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817195"/>
            <a:ext cx="5040000" cy="2627144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2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BC4FC7-E1E4-9FAD-A3D9-49BF44B67F3F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279634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titl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47461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23714 w 12192000"/>
              <a:gd name="connsiteY7" fmla="*/ 104826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95080 w 12192000"/>
              <a:gd name="connsiteY5" fmla="*/ 36154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295080 w 12192000"/>
              <a:gd name="connsiteY9" fmla="*/ 3615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830369 w 12192000"/>
              <a:gd name="connsiteY7" fmla="*/ 96444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757979 w 12192000"/>
              <a:gd name="connsiteY8" fmla="*/ 39774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62695 w 12192000"/>
              <a:gd name="connsiteY5" fmla="*/ 35202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262695 w 12192000"/>
              <a:gd name="connsiteY9" fmla="*/ 3520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905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4877694 w 12192000"/>
              <a:gd name="connsiteY3" fmla="*/ 89913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1002030 w 12192000"/>
              <a:gd name="connsiteY1" fmla="*/ 6140162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4481454 w 12192000"/>
              <a:gd name="connsiteY2" fmla="*/ 559152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60345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147823 w 12192000"/>
              <a:gd name="connsiteY2" fmla="*/ 648153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547116 w 12192000"/>
              <a:gd name="connsiteY1" fmla="*/ 629103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93776 w 12192000"/>
              <a:gd name="connsiteY0" fmla="*/ 43012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493776 w 12192000"/>
              <a:gd name="connsiteY4" fmla="*/ 43012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3083 w 12192000"/>
              <a:gd name="connsiteY3" fmla="*/ 258677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2321" y="258677"/>
                </a:moveTo>
                <a:lnTo>
                  <a:pt x="284226" y="6607268"/>
                </a:lnTo>
                <a:lnTo>
                  <a:pt x="5321178" y="6605363"/>
                </a:lnTo>
                <a:lnTo>
                  <a:pt x="5323083" y="258677"/>
                </a:lnTo>
                <a:lnTo>
                  <a:pt x="282321" y="258677"/>
                </a:lnTo>
                <a:close/>
                <a:moveTo>
                  <a:pt x="10146490" y="268201"/>
                </a:moveTo>
                <a:lnTo>
                  <a:pt x="10142680" y="1025401"/>
                </a:lnTo>
                <a:lnTo>
                  <a:pt x="11904664" y="1025401"/>
                </a:lnTo>
                <a:lnTo>
                  <a:pt x="11904664" y="268201"/>
                </a:lnTo>
                <a:lnTo>
                  <a:pt x="10146490" y="268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58750"/>
            <a:ext cx="5040000" cy="50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Add a title by clicking on it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15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F9C6E9C-7482-8BA6-FA8A-F9B75621B89B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853677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970E17-5A52-472F-AD9C-2A0296A44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113200"/>
            <a:ext cx="8640000" cy="3240000"/>
          </a:xfrm>
        </p:spPr>
        <p:txBody>
          <a:bodyPr vert="horz" lIns="0" tIns="0" rIns="0" bIns="0" rtlCol="0">
            <a:noAutofit/>
          </a:bodyPr>
          <a:lstStyle>
            <a:lvl1pPr>
              <a:defRPr lang="de-DE" sz="4800" cap="none" baseline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DFE4EF3-E694-84AE-1AE6-1C292CC7C560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79719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25DBC705-8149-459E-9D73-71848E406B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25DBC705-8149-459E-9D73-71848E406B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 hidden="1">
            <a:extLst>
              <a:ext uri="{FF2B5EF4-FFF2-40B4-BE49-F238E27FC236}">
                <a16:creationId xmlns:a16="http://schemas.microsoft.com/office/drawing/2014/main" id="{39010A7A-64D4-40B1-96E7-BCEEBB7E8A3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E73F636-8F03-4538-831F-37B264F004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6" y="1128730"/>
            <a:ext cx="11244913" cy="2492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53CF0BC-3DA6-4688-820F-374B0CB9CA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200"/>
            </a:lvl1pPr>
          </a:lstStyle>
          <a:p>
            <a:r>
              <a:rPr lang="en-GB"/>
              <a:t>Edit master title format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4" hasCustomPrompt="1"/>
          </p:nvPr>
        </p:nvSpPr>
        <p:spPr>
          <a:xfrm>
            <a:off x="479425" y="1605307"/>
            <a:ext cx="11233149" cy="4855818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359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F0605A64-2B63-413A-A26B-43B30D7712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F0605A64-2B63-413A-A26B-43B30D7712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00416A2A-8426-4273-BB96-478B631470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490E706-F8A4-4052-9AE3-BC93A228C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C20E754-BBFE-4A95-AA44-67ACDA85C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</p:spTree>
    <p:extLst>
      <p:ext uri="{BB962C8B-B14F-4D97-AF65-F5344CB8AC3E}">
        <p14:creationId xmlns:p14="http://schemas.microsoft.com/office/powerpoint/2010/main" val="11440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08ED5069-7E91-48C5-95E3-99F57E1765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08ED5069-7E91-48C5-95E3-99F57E176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B2A3BD8A-6CFF-48E0-A155-11F4B2BBD5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2EA80287-A2C9-4521-95F7-BFAC821FCA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605435"/>
            <a:ext cx="11233147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824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7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3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336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ground imag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n-ea"/>
              <a:cs typeface="+mn-cs"/>
              <a:sym typeface="STIHL Contraface Text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75232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600284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721784 w 12192000"/>
              <a:gd name="connsiteY8" fmla="*/ 39012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649394 w 12192000"/>
              <a:gd name="connsiteY7" fmla="*/ 87109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56074 w 12192000"/>
              <a:gd name="connsiteY7" fmla="*/ 9530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2759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35119 w 12192000"/>
              <a:gd name="connsiteY7" fmla="*/ 89967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3111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8510 w 12192000"/>
              <a:gd name="connsiteY2" fmla="*/ 660345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233214 w 12192000"/>
              <a:gd name="connsiteY3" fmla="*/ 46822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549021 w 12192000"/>
              <a:gd name="connsiteY0" fmla="*/ 47241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549021 w 12192000"/>
              <a:gd name="connsiteY4" fmla="*/ 47241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422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8422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4226" y="259058"/>
                </a:moveTo>
                <a:lnTo>
                  <a:pt x="282702" y="6597362"/>
                </a:lnTo>
                <a:lnTo>
                  <a:pt x="4502795" y="6599648"/>
                </a:lnTo>
                <a:cubicBezTo>
                  <a:pt x="4504883" y="4535648"/>
                  <a:pt x="4501636" y="2322677"/>
                  <a:pt x="4503724" y="258677"/>
                </a:cubicBezTo>
                <a:lnTo>
                  <a:pt x="284226" y="259058"/>
                </a:lnTo>
                <a:close/>
                <a:moveTo>
                  <a:pt x="10144585" y="266296"/>
                </a:moveTo>
                <a:lnTo>
                  <a:pt x="10144585" y="1025401"/>
                </a:lnTo>
                <a:lnTo>
                  <a:pt x="11900854" y="1027306"/>
                </a:lnTo>
                <a:lnTo>
                  <a:pt x="11902759" y="268201"/>
                </a:lnTo>
                <a:lnTo>
                  <a:pt x="10144585" y="26629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27895B51-0BE5-4A27-BF19-DDD42ED32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316" y="5443855"/>
            <a:ext cx="4219882" cy="166199"/>
          </a:xfrm>
          <a:prstGeom prst="rect">
            <a:avLst/>
          </a:prstGeom>
        </p:spPr>
        <p:txBody>
          <a:bodyPr lIns="288000" rIns="288000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12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316" y="258750"/>
            <a:ext cx="4219882" cy="1191023"/>
          </a:xfrm>
        </p:spPr>
        <p:txBody>
          <a:bodyPr vert="horz" lIns="288000" tIns="288000" rIns="288000" bIns="288000" rtlCol="0">
            <a:noAutofit/>
          </a:bodyPr>
          <a:lstStyle>
            <a:lvl1pPr>
              <a:spcBef>
                <a:spcPts val="0"/>
              </a:spcBef>
              <a:defRPr lang="de-DE" sz="2200" cap="none" baseline="0" dirty="0"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283316" y="1533024"/>
            <a:ext cx="4219882" cy="3910831"/>
          </a:xfrm>
        </p:spPr>
        <p:txBody>
          <a:bodyPr lIns="288000" rIns="288000"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838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content left /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7533893B-821E-4ADE-9220-F4BFD56A94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7533893B-821E-4ADE-9220-F4BFD56A94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459E3539-5FD6-406C-97C0-23B63907A3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007" y="1605435"/>
            <a:ext cx="5372567" cy="484934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lnSpc>
                <a:spcPct val="90000"/>
              </a:lnSpc>
              <a:defRPr lang="de-DE" dirty="0"/>
            </a:lvl1pPr>
          </a:lstStyle>
          <a:p>
            <a:pPr lvl="0"/>
            <a:r>
              <a:rPr lang="en-US"/>
              <a:t>Add image by clicking on icon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3F74B75A-3F3E-4E2B-84F3-277B54EBC3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2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637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C37FF3E-A92A-4E10-BE06-1BAF6DBEE3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C37FF3E-A92A-4E10-BE06-1BAF6DBEE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59466C3-9696-446B-A506-2764C30C524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1605435"/>
            <a:ext cx="5384332" cy="48493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5E1810CB-B3A3-4F48-882E-1806957C5A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</a:t>
            </a:r>
            <a:r>
              <a:rPr lang="en-GB" noProof="0"/>
              <a:t>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6328242" y="1605435"/>
            <a:ext cx="5384332" cy="484934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513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title background image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68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4547426" y="1605435"/>
            <a:ext cx="5488114" cy="484934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9743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arg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731876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7209713" y="1605435"/>
            <a:ext cx="4502861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8451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A3FDA9-3CE6-48AD-AE14-9F756B6E73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9427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D7E1FB2-B072-4C41-88FD-F720EB87728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28241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6328241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</p:spTree>
    <p:extLst>
      <p:ext uri="{BB962C8B-B14F-4D97-AF65-F5344CB8AC3E}">
        <p14:creationId xmlns:p14="http://schemas.microsoft.com/office/powerpoint/2010/main" val="2056246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05824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v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7434865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12574" y="503236"/>
            <a:ext cx="3600000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5" name="Bildplatzhalter 7">
            <a:extLst>
              <a:ext uri="{FF2B5EF4-FFF2-40B4-BE49-F238E27FC236}">
                <a16:creationId xmlns:a16="http://schemas.microsoft.com/office/drawing/2014/main" id="{39157FFC-465D-4202-AA4E-49F8E951F1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12574" y="3578149"/>
            <a:ext cx="3600000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Bildplatzhalter 7">
            <a:extLst>
              <a:ext uri="{FF2B5EF4-FFF2-40B4-BE49-F238E27FC236}">
                <a16:creationId xmlns:a16="http://schemas.microsoft.com/office/drawing/2014/main" id="{398ADFCC-9F73-4FCE-B41A-76494D790BA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26525" y="3578149"/>
            <a:ext cx="4587765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9C2AE974-6668-41BF-9CA5-FBFDB292E2F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9427" y="3578149"/>
            <a:ext cx="2648814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556729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6912000" cy="5951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87672" y="503236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9" name="Bildplatzhalter 7">
            <a:extLst>
              <a:ext uri="{FF2B5EF4-FFF2-40B4-BE49-F238E27FC236}">
                <a16:creationId xmlns:a16="http://schemas.microsoft.com/office/drawing/2014/main" id="{77162A5A-203D-4041-B750-63013653294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87672" y="3578151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363988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 err="1"/>
              <a:t>Subheadline</a:t>
            </a:r>
            <a:endParaRPr lang="en-GB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323809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168191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17" hasCustomPrompt="1"/>
          </p:nvPr>
        </p:nvSpPr>
        <p:spPr>
          <a:xfrm>
            <a:off x="9012574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8" hasCustomPrompt="1"/>
          </p:nvPr>
        </p:nvSpPr>
        <p:spPr>
          <a:xfrm>
            <a:off x="479427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9" name="Bildplatzhalter 8"/>
          <p:cNvSpPr>
            <a:spLocks noGrp="1"/>
          </p:cNvSpPr>
          <p:nvPr>
            <p:ph type="pic" sz="quarter" idx="19" hasCustomPrompt="1"/>
          </p:nvPr>
        </p:nvSpPr>
        <p:spPr>
          <a:xfrm>
            <a:off x="3323809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20" hasCustomPrompt="1"/>
          </p:nvPr>
        </p:nvSpPr>
        <p:spPr>
          <a:xfrm>
            <a:off x="6168191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1" name="Bildplatzhalter 8"/>
          <p:cNvSpPr>
            <a:spLocks noGrp="1"/>
          </p:cNvSpPr>
          <p:nvPr>
            <p:ph type="pic" sz="quarter" idx="21" hasCustomPrompt="1"/>
          </p:nvPr>
        </p:nvSpPr>
        <p:spPr>
          <a:xfrm>
            <a:off x="9012574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</p:spTree>
    <p:extLst>
      <p:ext uri="{BB962C8B-B14F-4D97-AF65-F5344CB8AC3E}">
        <p14:creationId xmlns:p14="http://schemas.microsoft.com/office/powerpoint/2010/main" val="268184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message">
    <p:bg>
      <p:bgPr>
        <a:solidFill>
          <a:srgbClr val="F37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400" b="1" i="0" baseline="0">
              <a:solidFill>
                <a:schemeClr val="tx1"/>
              </a:solidFill>
              <a:latin typeface="STIHL Contraface Display Title" panose="02000600040000020004" pitchFamily="50" charset="0"/>
              <a:ea typeface="+mj-ea"/>
              <a:cs typeface="+mj-cs"/>
              <a:sym typeface="STIHL Contraface Display Title" panose="02000600040000020004" pitchFamily="50" charset="0"/>
            </a:endParaRP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568237" y="1186049"/>
            <a:ext cx="450670" cy="609398"/>
          </a:xfrm>
        </p:spPr>
        <p:txBody>
          <a:bodyPr wrap="square">
            <a:no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»	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018907" y="3806696"/>
            <a:ext cx="10695256" cy="24929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12D84E73-3E59-4631-ADBE-BD56824264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907" y="1186049"/>
            <a:ext cx="10695256" cy="609398"/>
          </a:xfrm>
        </p:spPr>
        <p:txBody>
          <a:bodyPr wrap="square">
            <a:sp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quote «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images 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4117246"/>
            <a:ext cx="1772284" cy="12534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72000" rIns="72000" bIns="7200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tx1"/>
                </a:solidFill>
              </a:rPr>
              <a:t>The Guillemets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can be inserted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391722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16762DA5-7BF5-44ED-A0E7-1C1B1049A63C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5499656"/>
            <a:ext cx="7812088" cy="67127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lnSpc>
                <a:spcPct val="90000"/>
              </a:lnSpc>
              <a:buNone/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Conclusion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558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228CAB1-2EA1-4F8A-B1D7-C5BA22E44783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54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673524 w 12192000"/>
              <a:gd name="connsiteY7" fmla="*/ 907291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474785 w 12192000"/>
              <a:gd name="connsiteY6" fmla="*/ 90411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510345 w 12192000"/>
              <a:gd name="connsiteY5" fmla="*/ 58189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510345 w 12192000"/>
              <a:gd name="connsiteY9" fmla="*/ 58189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566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26500 w 12192000"/>
              <a:gd name="connsiteY5" fmla="*/ 33995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226500 w 12192000"/>
              <a:gd name="connsiteY9" fmla="*/ 3399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7306"/>
                </a:lnTo>
                <a:lnTo>
                  <a:pt x="11902124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2951999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Final words </a:t>
            </a:r>
            <a:br>
              <a:rPr lang="en-GB"/>
            </a:br>
            <a:r>
              <a:rPr lang="en-GB"/>
              <a:t>(many thanks)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9123761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2212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Agenda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137502"/>
            <a:ext cx="1772284" cy="2582997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The suggested font sizes are not binding and can be adjusted individually depending on the content density and type of presentation. Please ensure good readability.</a:t>
            </a:r>
          </a:p>
        </p:txBody>
      </p:sp>
    </p:spTree>
    <p:extLst>
      <p:ext uri="{BB962C8B-B14F-4D97-AF65-F5344CB8AC3E}">
        <p14:creationId xmlns:p14="http://schemas.microsoft.com/office/powerpoint/2010/main" val="29665773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8136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325750 w 12192000"/>
              <a:gd name="connsiteY2" fmla="*/ 659576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595767"/>
                </a:lnTo>
                <a:lnTo>
                  <a:pt x="5325750" y="6595767"/>
                </a:lnTo>
                <a:cubicBezTo>
                  <a:pt x="5327443" y="5337913"/>
                  <a:pt x="5329137" y="4080058"/>
                  <a:pt x="533083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904" y="5510860"/>
            <a:ext cx="5040313" cy="360000"/>
          </a:xfrm>
          <a:prstGeom prst="rect">
            <a:avLst/>
          </a:prstGeom>
        </p:spPr>
        <p:txBody>
          <a:bodyPr lIns="288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4904" y="588610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4" y="609184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Datum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84400" y="2822400"/>
            <a:ext cx="5040000" cy="2664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Mastertitel-format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D0F5813-BF0E-7EA3-7885-1C045487E8CF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17" name="Grafik 16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D249AA5-8627-DE9F-73EE-593603AC078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06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chluss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de-DE"/>
              <a:t>Abschlussworte (vielen Dank)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39923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4CCAB04F-9C20-1FC6-8252-4035346818F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779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Relationship Id="rId27" Type="http://schemas.openxmlformats.org/officeDocument/2006/relationships/tags" Target="../tags/tag2.xml"/><Relationship Id="rId28" Type="http://schemas.openxmlformats.org/officeDocument/2006/relationships/tags" Target="../tags/tag3.xml"/><Relationship Id="rId29" Type="http://schemas.openxmlformats.org/officeDocument/2006/relationships/oleObject" Target="../embeddings/oleObject1.bin"/><Relationship Id="rId30" Type="http://schemas.openxmlformats.org/officeDocument/2006/relationships/image" Target="../media/image1.emf"/><Relationship Id="rId31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9C97816-FB06-4E95-856C-7D63D0431A47}"/>
              </a:ext>
            </a:extLst>
          </p:cNvPr>
          <p:cNvGraphicFramePr>
            <a:graphicFrameLocks/>
          </p:cNvGraphicFramePr>
          <p:nvPr>
            <p:custDataLst>
              <p:tags r:id="rId27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9" imgW="408" imgH="408" progId="TCLayout.ActiveDocument.1">
                  <p:embed/>
                </p:oleObj>
              </mc:Choice>
              <mc:Fallback>
                <p:oleObj name="think-cell Slide" r:id="rId29" imgW="408" imgH="408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9C97816-FB06-4E95-856C-7D63D0431A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5931360F-217C-4503-B09B-C80FE49E58A8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881EEE-4F13-4DC9-B8A4-B54C0C3C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Edit master title format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2C7C99F-364C-426F-8FE4-3FD5F0CADA8A}"/>
              </a:ext>
            </a:extLst>
          </p:cNvPr>
          <p:cNvSpPr txBox="1"/>
          <p:nvPr/>
        </p:nvSpPr>
        <p:spPr>
          <a:xfrm>
            <a:off x="479425" y="6592970"/>
            <a:ext cx="145392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800">
                <a:solidFill>
                  <a:schemeClr val="tx2"/>
                </a:solidFill>
              </a:rPr>
              <a:t>© ANDREAS STIHL AG &amp; Co. KG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B120AD0C-5E57-45D6-8C62-2EFE6678C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8228" y="6592970"/>
            <a:ext cx="18434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chemeClr val="tx2"/>
                </a:solidFill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9pPr>
          </a:lstStyle>
          <a:p>
            <a:pPr lvl="0" algn="r"/>
            <a:fld id="{7AA7B471-74A3-4F5F-8955-6C99E2375CAC}" type="slidenum">
              <a:rPr lang="en-GB" noProof="1" smtClean="0">
                <a:sym typeface="+mn-lt"/>
              </a:rPr>
              <a:pPr lvl="0" algn="r"/>
              <a:t>‹Nr.›</a:t>
            </a:fld>
            <a:endParaRPr lang="en-GB" noProof="1">
              <a:sym typeface="+mn-lt"/>
            </a:endParaRPr>
          </a:p>
        </p:txBody>
      </p:sp>
      <p:cxnSp>
        <p:nvCxnSpPr>
          <p:cNvPr id="23" name="Gerade Verbindung 7">
            <a:extLst>
              <a:ext uri="{FF2B5EF4-FFF2-40B4-BE49-F238E27FC236}">
                <a16:creationId xmlns:a16="http://schemas.microsoft.com/office/drawing/2014/main" id="{28D584E0-5EF6-4DC5-B2D7-FFDA778CFAC1}"/>
              </a:ext>
            </a:extLst>
          </p:cNvPr>
          <p:cNvCxnSpPr>
            <a:cxnSpLocks/>
          </p:cNvCxnSpPr>
          <p:nvPr/>
        </p:nvCxnSpPr>
        <p:spPr>
          <a:xfrm>
            <a:off x="10059360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6" y="1130298"/>
            <a:ext cx="11233147" cy="53227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18" name="Gerade Verbindung 7">
            <a:extLst>
              <a:ext uri="{FF2B5EF4-FFF2-40B4-BE49-F238E27FC236}">
                <a16:creationId xmlns:a16="http://schemas.microsoft.com/office/drawing/2014/main" id="{EFB36787-F98E-4B12-B104-EEBBD9EECC10}"/>
              </a:ext>
            </a:extLst>
          </p:cNvPr>
          <p:cNvCxnSpPr>
            <a:cxnSpLocks/>
          </p:cNvCxnSpPr>
          <p:nvPr/>
        </p:nvCxnSpPr>
        <p:spPr>
          <a:xfrm>
            <a:off x="90280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7">
            <a:extLst>
              <a:ext uri="{FF2B5EF4-FFF2-40B4-BE49-F238E27FC236}">
                <a16:creationId xmlns:a16="http://schemas.microsoft.com/office/drawing/2014/main" id="{465918F8-CA5D-4293-89DC-F10E8B1C5462}"/>
              </a:ext>
            </a:extLst>
          </p:cNvPr>
          <p:cNvCxnSpPr>
            <a:cxnSpLocks/>
          </p:cNvCxnSpPr>
          <p:nvPr/>
        </p:nvCxnSpPr>
        <p:spPr>
          <a:xfrm>
            <a:off x="69111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7">
            <a:extLst>
              <a:ext uri="{FF2B5EF4-FFF2-40B4-BE49-F238E27FC236}">
                <a16:creationId xmlns:a16="http://schemas.microsoft.com/office/drawing/2014/main" id="{160AE795-C735-4204-9FF6-8CD4C42875B3}"/>
              </a:ext>
            </a:extLst>
          </p:cNvPr>
          <p:cNvCxnSpPr>
            <a:cxnSpLocks/>
          </p:cNvCxnSpPr>
          <p:nvPr/>
        </p:nvCxnSpPr>
        <p:spPr>
          <a:xfrm>
            <a:off x="47942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7">
            <a:extLst>
              <a:ext uri="{FF2B5EF4-FFF2-40B4-BE49-F238E27FC236}">
                <a16:creationId xmlns:a16="http://schemas.microsoft.com/office/drawing/2014/main" id="{0F42B521-F5CC-46CF-86E8-5B383F9E4C65}"/>
              </a:ext>
            </a:extLst>
          </p:cNvPr>
          <p:cNvCxnSpPr>
            <a:cxnSpLocks/>
          </p:cNvCxnSpPr>
          <p:nvPr/>
        </p:nvCxnSpPr>
        <p:spPr>
          <a:xfrm rot="5400000">
            <a:off x="-160655" y="196071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/>
          <p:cNvPicPr>
            <a:picLocks noChangeAspect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4" name="MSIPCMContentMarking" descr="{&quot;HashCode&quot;:-1642666559,&quot;Placement&quot;:&quot;Header&quot;,&quot;Top&quot;:0.0,&quot;Left&quot;:435.1923,&quot;SlideWidth&quot;:960,&quot;SlideHeight&quot;:540}"/>
          <p:cNvSpPr txBox="1"/>
          <p:nvPr userDrawn="1"/>
        </p:nvSpPr>
        <p:spPr>
          <a:xfrm>
            <a:off x="5526942" y="0"/>
            <a:ext cx="1138115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rgbClr val="B1B1B1"/>
                </a:solidFill>
                <a:latin typeface="Arial" panose="020B0604020202020204" pitchFamily="34" charset="0"/>
              </a:rPr>
              <a:t>Intern | Internal</a:t>
            </a:r>
            <a:endParaRPr lang="de-DE" sz="1000" err="1">
              <a:solidFill>
                <a:srgbClr val="B1B1B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46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9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1" r:id="rId23"/>
    <p:sldLayoutId id="2147483710" r:id="rId24"/>
    <p:sldLayoutId id="2147483712" r:id="rId2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lang="de-DE" sz="1800" kern="1200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825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155950" indent="-2622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01">
          <p15:clr>
            <a:srgbClr val="F26B43"/>
          </p15:clr>
        </p15:guide>
        <p15:guide id="4" pos="7379">
          <p15:clr>
            <a:srgbClr val="F26B43"/>
          </p15:clr>
        </p15:guide>
        <p15:guide id="5" orient="horz" pos="317">
          <p15:clr>
            <a:srgbClr val="F26B43"/>
          </p15:clr>
        </p15:guide>
        <p15:guide id="10" orient="horz" pos="4066">
          <p15:clr>
            <a:srgbClr val="F26B43"/>
          </p15:clr>
        </p15:guide>
        <p15:guide id="11" orient="horz" pos="1010">
          <p15:clr>
            <a:srgbClr val="F26B43"/>
          </p15:clr>
        </p15:guide>
        <p15:guide id="13" orient="horz" pos="712">
          <p15:clr>
            <a:srgbClr val="F26B43"/>
          </p15:clr>
        </p15:guide>
        <p15:guide id="14" orient="horz" pos="16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Detaillierte Wirtschaftlichkeits-Betrachtung  ·  TCO · ROI · Business Value · Szenarien · Risiken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Alex Passaro · Torsten Zahn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01.07.2026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Case SEPM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Management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Kernaussagen des Business Case auf einen Blick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1524000"/>
            <a:ext cx="2809875" cy="1524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4800" y="1524000"/>
            <a:ext cx="2809875" cy="3048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900" y="1546860"/>
            <a:ext cx="2733675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tihl Contraface Text"/>
              </a:rPr>
              <a:t>5-Jahres-TCO Vorteil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" y="1965960"/>
            <a:ext cx="2733675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600" b="1" i="0">
                <a:solidFill>
                  <a:srgbClr val="2E7D32"/>
                </a:solidFill>
                <a:latin typeface="Stihl Contraface Text"/>
              </a:rPr>
              <a:t>~ 2,2 M€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2628900"/>
            <a:ext cx="2733675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1">
                <a:solidFill>
                  <a:srgbClr val="4B5563"/>
                </a:solidFill>
                <a:latin typeface="Stihl Contraface Text"/>
              </a:rPr>
              <a:t>vs Best-of-Breed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28975" y="1524000"/>
            <a:ext cx="2809875" cy="1524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28975" y="1524000"/>
            <a:ext cx="2809875" cy="3048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7075" y="1546860"/>
            <a:ext cx="2733675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tihl Contraface Text"/>
              </a:rPr>
              <a:t>Payback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7075" y="1965960"/>
            <a:ext cx="2733675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600" b="1" i="0">
                <a:solidFill>
                  <a:srgbClr val="F07F12"/>
                </a:solidFill>
                <a:latin typeface="Stihl Contraface Text"/>
              </a:rPr>
              <a:t>~ 3,5 J.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7075" y="2628900"/>
            <a:ext cx="2733675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1">
                <a:solidFill>
                  <a:srgbClr val="4B5563"/>
                </a:solidFill>
                <a:latin typeface="Stihl Contraface Text"/>
              </a:rPr>
              <a:t>nach Go-Live Phase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150" y="1524000"/>
            <a:ext cx="2809875" cy="1524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53150" y="1524000"/>
            <a:ext cx="2809875" cy="3048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1250" y="1546860"/>
            <a:ext cx="2733675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tihl Contraface Text"/>
              </a:rPr>
              <a:t>Jährl. Nutzen (steady)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1250" y="1965960"/>
            <a:ext cx="2733675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600" b="1" i="0">
                <a:solidFill>
                  <a:srgbClr val="2C3E50"/>
                </a:solidFill>
                <a:latin typeface="Stihl Contraface Text"/>
              </a:rPr>
              <a:t>~ 4,3 M€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1250" y="2628900"/>
            <a:ext cx="2733675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1">
                <a:solidFill>
                  <a:srgbClr val="4B5563"/>
                </a:solidFill>
                <a:latin typeface="Stihl Contraface Text"/>
              </a:rPr>
              <a:t>Konsolidierung + Value + Flanking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7325" y="1524000"/>
            <a:ext cx="2809875" cy="1524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77325" y="1524000"/>
            <a:ext cx="2809875" cy="30480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5425" y="1546860"/>
            <a:ext cx="2733675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tihl Contraface Text"/>
              </a:rPr>
              <a:t>Empfohlenes Szenario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5425" y="1965960"/>
            <a:ext cx="2733675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600" b="1" i="0">
                <a:solidFill>
                  <a:srgbClr val="3B6BA5"/>
                </a:solidFill>
                <a:latin typeface="Stihl Contraface Text"/>
              </a:rPr>
              <a:t>A · 24 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5425" y="2628900"/>
            <a:ext cx="2733675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1">
                <a:solidFill>
                  <a:srgbClr val="4B5563"/>
                </a:solidFill>
                <a:latin typeface="Stihl Contraface Text"/>
              </a:rPr>
              <a:t>Full Scope Phase 1+2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4800" y="32004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F07F12"/>
                </a:solidFill>
                <a:latin typeface="Stihl Contraface Text"/>
              </a:rPr>
              <a:t>Kernbotschaften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4800" y="3429000"/>
            <a:ext cx="11582400" cy="38862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" y="3429000"/>
            <a:ext cx="53340" cy="38862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444240"/>
            <a:ext cx="4572000" cy="3733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Stihl Contraface Text"/>
              </a:rPr>
              <a:t>Konsolidierung von &gt;6 PPM-Tools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1600" y="3444240"/>
            <a:ext cx="6629400" cy="3733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Stihl Contraface Text"/>
              </a:rPr>
              <a:t>spart ~950 k€ / Jahr an Lizenz + Wartung + FTE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4800" y="3848100"/>
            <a:ext cx="11582400" cy="38862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800" y="3848100"/>
            <a:ext cx="53340" cy="38862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863340"/>
            <a:ext cx="4572000" cy="3733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Stihl Contraface Text"/>
              </a:rPr>
              <a:t>Business Value SPM (steady state)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1600" y="3863340"/>
            <a:ext cx="6629400" cy="3733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Stihl Contraface Text"/>
              </a:rPr>
              <a:t>~2,3 M€ / Jahr durch Effizienz, Time-to-Market, Governance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4800" y="4267200"/>
            <a:ext cx="11582400" cy="38862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4800" y="4267200"/>
            <a:ext cx="53340" cy="38862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282440"/>
            <a:ext cx="4572000" cy="3733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Stihl Contraface Text"/>
              </a:rPr>
              <a:t>Flankierende Prozesse (Maßnahmen-Mgmt etc.)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1600" y="4282440"/>
            <a:ext cx="6629400" cy="3733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Stihl Contraface Text"/>
              </a:rPr>
              <a:t>zusätzlich ~1,0 M€ / Jahr Einsparpotenzial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4800" y="4686300"/>
            <a:ext cx="11582400" cy="38862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04800" y="4686300"/>
            <a:ext cx="53340" cy="38862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701540"/>
            <a:ext cx="4572000" cy="3733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Stihl Contraface Text"/>
              </a:rPr>
              <a:t>SNOW-Plattform-Risiko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81600" y="4701540"/>
            <a:ext cx="6629400" cy="3733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Stihl Contraface Text"/>
              </a:rPr>
              <a:t>Vendor Lock-in adressiert durch Standard-first und Marktscreening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4800" y="5105400"/>
            <a:ext cx="11582400" cy="38862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04800" y="5105400"/>
            <a:ext cx="53340" cy="38862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120640"/>
            <a:ext cx="4572000" cy="3733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Stihl Contraface Text"/>
              </a:rPr>
              <a:t>Vertragshistorie 2014–heute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81600" y="5120640"/>
            <a:ext cx="6629400" cy="3733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4B5563"/>
                </a:solidFill>
                <a:latin typeface="Stihl Contraface Text"/>
              </a:rPr>
              <a:t>SNOW als bewährter STIHL-Partner (ITSM seit 12 J.)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Case Methodik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Vier Dimensionen der Wirtschaftlichkeits-Betrachtung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1524000"/>
            <a:ext cx="5715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4800" y="1524000"/>
            <a:ext cx="5715000" cy="3810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1000" y="1584960"/>
            <a:ext cx="259080" cy="259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1000" y="1584960"/>
            <a:ext cx="25908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F07F12"/>
                </a:solidFill>
                <a:latin typeface="Stihl Contraface Text"/>
              </a:rPr>
              <a:t>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52578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tihl Contraface Text"/>
              </a:rPr>
              <a:t>TCO (5 Jahre)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1981200"/>
            <a:ext cx="5486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1">
                <a:solidFill>
                  <a:srgbClr val="4B5563"/>
                </a:solidFill>
                <a:latin typeface="Stihl Contraface Text"/>
              </a:rPr>
              <a:t>Lizenzen · Implementierung · Support · Change · Betrieb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392680"/>
            <a:ext cx="76200" cy="762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9120" y="22860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Stihl Contraface Text"/>
              </a:rPr>
              <a:t>Lizenzen SNOW SPM Pro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735580"/>
            <a:ext cx="76200" cy="762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9120" y="26289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Stihl Contraface Text"/>
              </a:rPr>
              <a:t>Implementierung (Berater + interne FTE)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078480"/>
            <a:ext cx="76200" cy="762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9120" y="29718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Stihl Contraface Text"/>
              </a:rPr>
              <a:t>Change &amp; Schulung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421380"/>
            <a:ext cx="76200" cy="762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9120" y="33147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Stihl Contraface Text"/>
              </a:rPr>
              <a:t>Support / Wartung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524000"/>
            <a:ext cx="5715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72200" y="1524000"/>
            <a:ext cx="5715000" cy="3810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48400" y="1584960"/>
            <a:ext cx="259080" cy="259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8400" y="1584960"/>
            <a:ext cx="25908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2E7D32"/>
                </a:solidFill>
                <a:latin typeface="Stihl Contraface Text"/>
              </a:rPr>
              <a:t>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200" y="1554480"/>
            <a:ext cx="52578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tihl Contraface Text"/>
              </a:rPr>
              <a:t>Nutzen / Business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0" y="1981200"/>
            <a:ext cx="5486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1">
                <a:solidFill>
                  <a:srgbClr val="4B5563"/>
                </a:solidFill>
                <a:latin typeface="Stihl Contraface Text"/>
              </a:rPr>
              <a:t>Effizienz · Time-to-Market · Governance · Ressourcen</a:t>
            </a:r>
          </a:p>
        </p:txBody>
      </p:sp>
      <p:sp>
        <p:nvSpPr>
          <p:cNvPr id="24" name="Oval 23"/>
          <p:cNvSpPr/>
          <p:nvPr/>
        </p:nvSpPr>
        <p:spPr>
          <a:xfrm>
            <a:off x="6324600" y="2392680"/>
            <a:ext cx="76200" cy="76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2860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Stihl Contraface Text"/>
              </a:rPr>
              <a:t>Effizienz PPM</a:t>
            </a:r>
          </a:p>
        </p:txBody>
      </p:sp>
      <p:sp>
        <p:nvSpPr>
          <p:cNvPr id="26" name="Oval 25"/>
          <p:cNvSpPr/>
          <p:nvPr/>
        </p:nvSpPr>
        <p:spPr>
          <a:xfrm>
            <a:off x="6324600" y="2735580"/>
            <a:ext cx="76200" cy="76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6289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Stihl Contraface Text"/>
              </a:rPr>
              <a:t>Time-to-Market</a:t>
            </a:r>
          </a:p>
        </p:txBody>
      </p:sp>
      <p:sp>
        <p:nvSpPr>
          <p:cNvPr id="28" name="Oval 27"/>
          <p:cNvSpPr/>
          <p:nvPr/>
        </p:nvSpPr>
        <p:spPr>
          <a:xfrm>
            <a:off x="6324600" y="3078480"/>
            <a:ext cx="76200" cy="76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29718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Stihl Contraface Text"/>
              </a:rPr>
              <a:t>Ressourcen-Steuerung</a:t>
            </a:r>
          </a:p>
        </p:txBody>
      </p:sp>
      <p:sp>
        <p:nvSpPr>
          <p:cNvPr id="30" name="Oval 29"/>
          <p:cNvSpPr/>
          <p:nvPr/>
        </p:nvSpPr>
        <p:spPr>
          <a:xfrm>
            <a:off x="6324600" y="3421380"/>
            <a:ext cx="76200" cy="76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3147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Stihl Contraface Text"/>
              </a:rPr>
              <a:t>Governance &amp; Compliance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4800" y="3962400"/>
            <a:ext cx="5715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04800" y="3962400"/>
            <a:ext cx="5715000" cy="3810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1000" y="4023360"/>
            <a:ext cx="259080" cy="259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1000" y="4023360"/>
            <a:ext cx="25908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2C3E50"/>
                </a:solidFill>
                <a:latin typeface="Stihl Contraface Text"/>
              </a:rPr>
              <a:t>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3992880"/>
            <a:ext cx="52578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tihl Contraface Text"/>
              </a:rPr>
              <a:t>Konsolidierung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9100" y="4419600"/>
            <a:ext cx="5486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1">
                <a:solidFill>
                  <a:srgbClr val="4B5563"/>
                </a:solidFill>
                <a:latin typeface="Stihl Contraface Text"/>
              </a:rPr>
              <a:t>Tool-Ablöse · Schnittstellen · flankierende Prozesse</a:t>
            </a:r>
          </a:p>
        </p:txBody>
      </p:sp>
      <p:sp>
        <p:nvSpPr>
          <p:cNvPr id="38" name="Oval 37"/>
          <p:cNvSpPr/>
          <p:nvPr/>
        </p:nvSpPr>
        <p:spPr>
          <a:xfrm>
            <a:off x="457200" y="4831080"/>
            <a:ext cx="76200" cy="762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9120" y="47244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Stihl Contraface Text"/>
              </a:rPr>
              <a:t>PIT / MSPO / Workpath / PowerApps</a:t>
            </a:r>
          </a:p>
        </p:txBody>
      </p:sp>
      <p:sp>
        <p:nvSpPr>
          <p:cNvPr id="40" name="Oval 39"/>
          <p:cNvSpPr/>
          <p:nvPr/>
        </p:nvSpPr>
        <p:spPr>
          <a:xfrm>
            <a:off x="457200" y="5173980"/>
            <a:ext cx="76200" cy="762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9120" y="50673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Stihl Contraface Text"/>
              </a:rPr>
              <a:t>Schnittstellen (APIs, ETL)</a:t>
            </a:r>
          </a:p>
        </p:txBody>
      </p:sp>
      <p:sp>
        <p:nvSpPr>
          <p:cNvPr id="42" name="Oval 41"/>
          <p:cNvSpPr/>
          <p:nvPr/>
        </p:nvSpPr>
        <p:spPr>
          <a:xfrm>
            <a:off x="457200" y="5516880"/>
            <a:ext cx="76200" cy="762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9120" y="54102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Stihl Contraface Text"/>
              </a:rPr>
              <a:t>Maßnahmen-Mgmt Produktentw.</a:t>
            </a:r>
          </a:p>
        </p:txBody>
      </p:sp>
      <p:sp>
        <p:nvSpPr>
          <p:cNvPr id="44" name="Oval 43"/>
          <p:cNvSpPr/>
          <p:nvPr/>
        </p:nvSpPr>
        <p:spPr>
          <a:xfrm>
            <a:off x="457200" y="5859780"/>
            <a:ext cx="76200" cy="762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9120" y="57531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Stihl Contraface Text"/>
              </a:rPr>
              <a:t>Application Portfolio Mgmt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72200" y="3962400"/>
            <a:ext cx="5715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172200" y="3962400"/>
            <a:ext cx="5715000" cy="38100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48400" y="4023360"/>
            <a:ext cx="259080" cy="259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48400" y="4023360"/>
            <a:ext cx="25908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B91C1C"/>
                </a:solidFill>
                <a:latin typeface="Stihl Contraface Text"/>
              </a:rPr>
              <a:t>⚠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53200" y="3992880"/>
            <a:ext cx="52578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tihl Contraface Text"/>
              </a:rPr>
              <a:t>Risiko / Sensitivität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86500" y="4419600"/>
            <a:ext cx="5486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1">
                <a:solidFill>
                  <a:srgbClr val="4B5563"/>
                </a:solidFill>
                <a:latin typeface="Stihl Contraface Text"/>
              </a:rPr>
              <a:t>Vendor · Preis · Betrieb · Roadmap · DSGVO</a:t>
            </a:r>
          </a:p>
        </p:txBody>
      </p:sp>
      <p:sp>
        <p:nvSpPr>
          <p:cNvPr id="52" name="Oval 51"/>
          <p:cNvSpPr/>
          <p:nvPr/>
        </p:nvSpPr>
        <p:spPr>
          <a:xfrm>
            <a:off x="6324600" y="4831080"/>
            <a:ext cx="76200" cy="7620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46520" y="47244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Stihl Contraface Text"/>
              </a:rPr>
              <a:t>Vendor Lock-in</a:t>
            </a:r>
          </a:p>
        </p:txBody>
      </p:sp>
      <p:sp>
        <p:nvSpPr>
          <p:cNvPr id="54" name="Oval 53"/>
          <p:cNvSpPr/>
          <p:nvPr/>
        </p:nvSpPr>
        <p:spPr>
          <a:xfrm>
            <a:off x="6324600" y="5173980"/>
            <a:ext cx="76200" cy="7620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46520" y="50673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Stihl Contraface Text"/>
              </a:rPr>
              <a:t>Preis-Eskalation</a:t>
            </a:r>
          </a:p>
        </p:txBody>
      </p:sp>
      <p:sp>
        <p:nvSpPr>
          <p:cNvPr id="56" name="Oval 55"/>
          <p:cNvSpPr/>
          <p:nvPr/>
        </p:nvSpPr>
        <p:spPr>
          <a:xfrm>
            <a:off x="6324600" y="5516880"/>
            <a:ext cx="76200" cy="7620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54102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Stihl Contraface Text"/>
              </a:rPr>
              <a:t>Ausfall / Betrieb</a:t>
            </a:r>
          </a:p>
        </p:txBody>
      </p:sp>
      <p:sp>
        <p:nvSpPr>
          <p:cNvPr id="58" name="Oval 57"/>
          <p:cNvSpPr/>
          <p:nvPr/>
        </p:nvSpPr>
        <p:spPr>
          <a:xfrm>
            <a:off x="6324600" y="5859780"/>
            <a:ext cx="76200" cy="7620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46520" y="57531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Stihl Contraface Text"/>
              </a:rPr>
              <a:t>Best/Base/Worst Sensitivity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Alternative PM-Plattform – Bewertung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Punkt 3 Folie 4: PM-Plattform VEW / VPM als Absicherung (Hedge)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1524000"/>
            <a:ext cx="5638800" cy="2438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4800" y="1524000"/>
            <a:ext cx="5638800" cy="3048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1524000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tihl Contraface Text"/>
              </a:rPr>
              <a:t>Warum Alternative bewerten?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049780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4978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tihl Contraface Tex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195834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Risiko-Absicherung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217170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Falls SNOW für VEW/VPM nicht ausreichend tief.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545080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54508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tihl Contraface Tex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245364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Verhandlungsposition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266700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Best-of-Breed-Angebot senkt SNOW-Verhandlungspreis.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040380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04038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tihl Contraface Tex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" y="294894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Engineering-Spezifika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316230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PLM-nahe Prozesse ggf. besser in Fach-Tool.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3535680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53568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tihl Contraface Text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" y="344424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EWW-Bedenken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3657600"/>
            <a:ext cx="50292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Explizite Alternative senkt Widerstand.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8400" y="1524000"/>
            <a:ext cx="5638800" cy="2438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48400" y="1524000"/>
            <a:ext cx="5638800" cy="3048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4600" y="1524000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tihl Contraface Text"/>
              </a:rPr>
              <a:t>Shortlist Alternative PM-Plattformen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2700" y="1943100"/>
            <a:ext cx="541020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62700" y="1943100"/>
            <a:ext cx="45720" cy="4572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7000" y="195834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Stihl Contraface Text"/>
              </a:rPr>
              <a:t>Planisware Enterprise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0" y="2148840"/>
            <a:ext cx="3429000" cy="25146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Marktführer Engineering-PPM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0" y="2034540"/>
            <a:ext cx="1524000" cy="2743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0" y="2034540"/>
            <a:ext cx="1524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tihl Contraface Text"/>
              </a:rPr>
              <a:t>Lead Jonas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62700" y="2476500"/>
            <a:ext cx="541020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62700" y="2476500"/>
            <a:ext cx="45720" cy="4572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7000" y="249174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Stihl Contraface Text"/>
              </a:rPr>
              <a:t>SAP EPPM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7000" y="2682240"/>
            <a:ext cx="3429000" cy="25146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SAP-Ökosystem-Integration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58400" y="2567940"/>
            <a:ext cx="1524000" cy="2743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0" y="2567940"/>
            <a:ext cx="1524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tihl Contraface Text"/>
              </a:rPr>
              <a:t>Lead Jonas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62700" y="3009900"/>
            <a:ext cx="541020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62700" y="3009900"/>
            <a:ext cx="45720" cy="4572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77000" y="3025140"/>
            <a:ext cx="34290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Stihl Contraface Text"/>
              </a:rPr>
              <a:t>Sciforma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7000" y="3215640"/>
            <a:ext cx="3429000" cy="25146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Mittelstands-Standard, hybrid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58400" y="3101340"/>
            <a:ext cx="1524000" cy="2743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0" y="3101340"/>
            <a:ext cx="1524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tihl Contraface Text"/>
              </a:rPr>
              <a:t>Lead Jonas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4600" y="3581400"/>
            <a:ext cx="54864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Stihl Contraface Text"/>
              </a:rPr>
              <a:t>Zeitraum: 11.06. – 30.08.2026  ·  Ergebnis: klare Empfehlung mit TCO-Vergleich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04800" y="4114800"/>
            <a:ext cx="11582400" cy="228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04800" y="4114800"/>
            <a:ext cx="11582400" cy="30480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1000" y="4114800"/>
            <a:ext cx="11430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tihl Contraface Text"/>
              </a:rPr>
              <a:t>Bewertungskriterien und Zwischenergebnis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1000" y="4465320"/>
            <a:ext cx="4572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Kriterium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0" y="4465320"/>
            <a:ext cx="1676400" cy="24384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0" y="4465320"/>
            <a:ext cx="1676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tihl Contraface Text"/>
              </a:rPr>
              <a:t>SNOW SPM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781800" y="4465320"/>
            <a:ext cx="1676400" cy="2438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81800" y="4465320"/>
            <a:ext cx="1676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tihl Contraface Text"/>
              </a:rPr>
              <a:t>Planisware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34400" y="4465320"/>
            <a:ext cx="1676400" cy="2438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34400" y="4465320"/>
            <a:ext cx="1676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tihl Contraface Text"/>
              </a:rPr>
              <a:t>SAP EPPM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287000" y="4465320"/>
            <a:ext cx="1524000" cy="24384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87000" y="4465320"/>
            <a:ext cx="1524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tihl Contraface Text"/>
              </a:rPr>
              <a:t>Sciforma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1000" y="4724400"/>
            <a:ext cx="11430000" cy="2819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4724400"/>
            <a:ext cx="45720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Stihl Contraface Text"/>
              </a:rPr>
              <a:t>Funktions-Deckung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0" y="4724400"/>
            <a:ext cx="1676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Stihl Contraface Text"/>
              </a:rPr>
              <a:t>70%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81800" y="4724400"/>
            <a:ext cx="1676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Stihl Contraface Text"/>
              </a:rPr>
              <a:t>80%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34400" y="4724400"/>
            <a:ext cx="1676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Stihl Contraface Text"/>
              </a:rPr>
              <a:t>60%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87000" y="4724400"/>
            <a:ext cx="15240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Stihl Contraface Text"/>
              </a:rPr>
              <a:t>65%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1000" y="5029200"/>
            <a:ext cx="11430000" cy="2819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5029200"/>
            <a:ext cx="45720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Stihl Contraface Text"/>
              </a:rPr>
              <a:t>Integration STIHL-Landschaft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0" y="5029200"/>
            <a:ext cx="1676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Stihl Contraface Text"/>
              </a:rPr>
              <a:t>80%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81800" y="5029200"/>
            <a:ext cx="1676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Stihl Contraface Text"/>
              </a:rPr>
              <a:t>50%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34400" y="5029200"/>
            <a:ext cx="1676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Stihl Contraface Text"/>
              </a:rPr>
              <a:t>70%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87000" y="5029200"/>
            <a:ext cx="15240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Stihl Contraface Text"/>
              </a:rPr>
              <a:t>40%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1000" y="5334000"/>
            <a:ext cx="11430000" cy="2819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5334000"/>
            <a:ext cx="45720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Stihl Contraface Text"/>
              </a:rPr>
              <a:t>TCO 5 Jahre (rel.)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0" y="5334000"/>
            <a:ext cx="1676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Stihl Contraface Text"/>
              </a:rPr>
              <a:t>100%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81800" y="5334000"/>
            <a:ext cx="1676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Stihl Contraface Text"/>
              </a:rPr>
              <a:t>115%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34400" y="5334000"/>
            <a:ext cx="1676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Stihl Contraface Text"/>
              </a:rPr>
              <a:t>125%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287000" y="5334000"/>
            <a:ext cx="15240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Stihl Contraface Text"/>
              </a:rPr>
              <a:t>95%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81000" y="5638800"/>
            <a:ext cx="11430000" cy="2819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7200" y="5638800"/>
            <a:ext cx="45720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Stihl Contraface Text"/>
              </a:rPr>
              <a:t>Change-Aufwand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9200" y="5638800"/>
            <a:ext cx="1676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Stihl Contraface Text"/>
              </a:rPr>
              <a:t>Mittel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781800" y="5638800"/>
            <a:ext cx="1676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Stihl Contraface Text"/>
              </a:rPr>
              <a:t>Hoch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34400" y="5638800"/>
            <a:ext cx="1676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Stihl Contraface Text"/>
              </a:rPr>
              <a:t>Mittel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287000" y="5638800"/>
            <a:ext cx="15240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Stihl Contraface Text"/>
              </a:rPr>
              <a:t>Niedrig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81000" y="5943600"/>
            <a:ext cx="11430000" cy="2819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7200" y="5943600"/>
            <a:ext cx="45720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Stihl Contraface Text"/>
              </a:rPr>
              <a:t>Zukunftssicherheit AI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0" y="5943600"/>
            <a:ext cx="1676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Stihl Contraface Text"/>
              </a:rPr>
              <a:t>Hoch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81800" y="5943600"/>
            <a:ext cx="1676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Stihl Contraface Text"/>
              </a:rPr>
              <a:t>Mittel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34400" y="5943600"/>
            <a:ext cx="16764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Stihl Contraface Text"/>
              </a:rPr>
              <a:t>Hoch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287000" y="5943600"/>
            <a:ext cx="1524000" cy="2819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Stihl Contraface Text"/>
              </a:rPr>
              <a:t>Niedrig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Komplexitäts-Reduzierung ProjektControlling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Punkt 4 Folie 4: Was heute Aufwand verursacht – und was SEPM konsolidiert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1524000"/>
            <a:ext cx="5638800" cy="4876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4800" y="1524000"/>
            <a:ext cx="5638800" cy="30480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1524000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tihl Contraface Text"/>
              </a:rPr>
              <a:t>HEUTE  –  Komplexitätstreiber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9100" y="1943100"/>
            <a:ext cx="5410200" cy="8001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9100" y="1943100"/>
            <a:ext cx="45720" cy="800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3400" y="1973580"/>
            <a:ext cx="5181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Multi-Tool-Landschaft PPM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218694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PIT · MSPO · Excel · SharePoint · Power Apps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246126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B91C1C"/>
                </a:solidFill>
                <a:latin typeface="Stihl Contraface Text"/>
              </a:rPr>
              <a:t>~ 2,5 FTE Betriebs- &amp; Integrations-Aufwand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9100" y="2819400"/>
            <a:ext cx="5410200" cy="8001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9100" y="2819400"/>
            <a:ext cx="45720" cy="800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" y="2849880"/>
            <a:ext cx="5181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Manuelle Daten-Aggregation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306324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Excel-Konsolidierung für Reportings, Steckbriefe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333756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B91C1C"/>
                </a:solidFill>
                <a:latin typeface="Stihl Contraface Text"/>
              </a:rPr>
              <a:t>~ 2 Wochen/Monat Reporting-Aufwand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9100" y="3695700"/>
            <a:ext cx="5410200" cy="8001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9100" y="3695700"/>
            <a:ext cx="45720" cy="800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400" y="3726180"/>
            <a:ext cx="5181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Uneinheitliche Datenmodelle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393954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Jede Insel eigener Struktur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421386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B91C1C"/>
                </a:solidFill>
                <a:latin typeface="Stihl Contraface Text"/>
              </a:rPr>
              <a:t>~ 1 FTE Datenqualitäts-Arbeit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9100" y="4572000"/>
            <a:ext cx="5410200" cy="8001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9100" y="4572000"/>
            <a:ext cx="45720" cy="800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3400" y="4602480"/>
            <a:ext cx="5181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Doppelte Datenpflege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481584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Projekte in PIT + Excel + SharePoint erfasst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" y="509016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B91C1C"/>
                </a:solidFill>
                <a:latin typeface="Stihl Contraface Text"/>
              </a:rPr>
              <a:t>~ 0,8 FTE Doppelerfassung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9100" y="5448300"/>
            <a:ext cx="5410200" cy="8001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9100" y="5448300"/>
            <a:ext cx="45720" cy="8001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3400" y="5478780"/>
            <a:ext cx="5181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Fehlende Traceability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" y="569214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Idee ↔ Portfolio ↔ Projekt ↔ Kosten nicht durchgängig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596646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B91C1C"/>
                </a:solidFill>
                <a:latin typeface="Stihl Contraface Text"/>
              </a:rPr>
              <a:t>Governance-Aufwand hoch, Audits schwierig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8400" y="1524000"/>
            <a:ext cx="5638800" cy="4876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48400" y="1524000"/>
            <a:ext cx="5638800" cy="3048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4600" y="1524000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tihl Contraface Text"/>
              </a:rPr>
              <a:t>MIT SEPM  –  Konsolidierungs-Hebel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62700" y="1943100"/>
            <a:ext cx="5410200" cy="8001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62700" y="1943100"/>
            <a:ext cx="45720" cy="8001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7000" y="1973580"/>
            <a:ext cx="5181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Eine Plattform, ein Datenmodell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7000" y="218694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SNOW SPM als Single Source of Truth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7000" y="246126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Stihl Contraface Text"/>
              </a:rPr>
              <a:t>− 6 Tools · − 0,5 FTE Betrieb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62700" y="2819400"/>
            <a:ext cx="5410200" cy="8001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62700" y="2819400"/>
            <a:ext cx="45720" cy="8001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77000" y="2849880"/>
            <a:ext cx="5181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Automatische Reports &amp; Dashboards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7000" y="306324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Live-Dashboards ersetzen manuelles Excel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7000" y="333756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Stihl Contraface Text"/>
              </a:rPr>
              <a:t>− 1,5 Wochen/Monat Reporting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62700" y="3695700"/>
            <a:ext cx="5410200" cy="8001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62700" y="3695700"/>
            <a:ext cx="45720" cy="8001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77000" y="3726180"/>
            <a:ext cx="5181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Standard-Datenmodell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7000" y="393954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Vorhaben-Steckbrief einheitlich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7000" y="421386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Stihl Contraface Text"/>
              </a:rPr>
              <a:t>− 0,7 FTE Datenqualitäts-Arbeit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62700" y="4572000"/>
            <a:ext cx="5410200" cy="8001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62700" y="4572000"/>
            <a:ext cx="45720" cy="8001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77000" y="4602480"/>
            <a:ext cx="5181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Erfassung einmal – Nutzung überall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77000" y="481584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Demand → Portfolio → Projekt in einem System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7000" y="509016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Stihl Contraface Text"/>
              </a:rPr>
              <a:t>− 0,6 FTE Doppelerfassung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62700" y="5448300"/>
            <a:ext cx="5410200" cy="8001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62700" y="5448300"/>
            <a:ext cx="45720" cy="8001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77000" y="5478780"/>
            <a:ext cx="5181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Durchgängige Traceability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77000" y="569214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OKR → Portfolio → Projekt → Kosten → Nutzen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77000" y="5966460"/>
            <a:ext cx="5181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Stihl Contraface Text"/>
              </a:rPr>
              <a:t>Audit-fähig, Compliance-sicher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 Analyse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Nutzen-Kategorien und quantifizierter Steady-State p.a.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1524000"/>
            <a:ext cx="11582400" cy="609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2400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tihl Contraface Text"/>
              </a:rPr>
              <a:t>Gesamt-Nutzen SEPM (Steady State p.a.)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52400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F07F12"/>
                </a:solidFill>
                <a:latin typeface="Stihl Contraface Text"/>
              </a:rPr>
              <a:t>~ 2.320 k€ / Jahr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" y="22860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07F12"/>
                </a:solidFill>
                <a:latin typeface="Stihl Contraface Text"/>
              </a:rPr>
              <a:t>Detail – Nutzen-Kategorien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800" y="2514600"/>
            <a:ext cx="11582400" cy="7620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4800" y="2514600"/>
            <a:ext cx="53340" cy="7620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45080"/>
            <a:ext cx="3810000" cy="701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Stihl Contraface Text"/>
              </a:rPr>
              <a:t>Effizienz PM/PPM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099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Weniger manuelle Excels/Berichte, Ressourcen-Steuerung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2743200"/>
            <a:ext cx="5943600" cy="3048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19600" y="2743200"/>
            <a:ext cx="5943600" cy="3048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0" y="2514600"/>
            <a:ext cx="13716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Stihl Contraface Text"/>
              </a:rPr>
              <a:t>820 k€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4800" y="3314700"/>
            <a:ext cx="11582400" cy="7620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4800" y="3314700"/>
            <a:ext cx="53340" cy="7620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45180"/>
            <a:ext cx="3810000" cy="701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Stihl Contraface Text"/>
              </a:rPr>
              <a:t>Time-to-Market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10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Schnellere Idee→Projekt-Start (Gates in System)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19600" y="3543300"/>
            <a:ext cx="5943600" cy="3048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19600" y="3543300"/>
            <a:ext cx="3479180" cy="3048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0" y="3314700"/>
            <a:ext cx="13716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Stihl Contraface Text"/>
              </a:rPr>
              <a:t>480 k€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4800" y="4114800"/>
            <a:ext cx="11582400" cy="7620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" y="4114800"/>
            <a:ext cx="53340" cy="7620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145280"/>
            <a:ext cx="3810000" cy="701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Stihl Contraface Text"/>
              </a:rPr>
              <a:t>Governance / Rework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6101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Weniger Doppelarbeit, klare Priorisierung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9600" y="4343400"/>
            <a:ext cx="5943600" cy="3048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19600" y="4343400"/>
            <a:ext cx="2609385" cy="3048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0" y="4114800"/>
            <a:ext cx="13716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Stihl Contraface Text"/>
              </a:rPr>
              <a:t>360 k€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4800" y="4914900"/>
            <a:ext cx="11582400" cy="7620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800" y="4914900"/>
            <a:ext cx="53340" cy="7620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945380"/>
            <a:ext cx="3810000" cy="701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Stihl Contraface Text"/>
              </a:rPr>
              <a:t>Ressourcen-Optimierung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4102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Skill-Match, Auslastungs-Steuerung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19600" y="5143500"/>
            <a:ext cx="5943600" cy="3048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19600" y="5143500"/>
            <a:ext cx="3769112" cy="3048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0" y="4914900"/>
            <a:ext cx="13716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Stihl Contraface Text"/>
              </a:rPr>
              <a:t>520 k€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4800" y="5715000"/>
            <a:ext cx="11582400" cy="7620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04800" y="5715000"/>
            <a:ext cx="53340" cy="7620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745480"/>
            <a:ext cx="3810000" cy="701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Stihl Contraface Text"/>
              </a:rPr>
              <a:t>Compliance / Audit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2103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Nachvollziehbarkeit, Business Cases im System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19600" y="5943600"/>
            <a:ext cx="5943600" cy="3048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419600" y="5943600"/>
            <a:ext cx="1014760" cy="3048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0" y="5715000"/>
            <a:ext cx="13716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Stihl Contraface Text"/>
              </a:rPr>
              <a:t>140 k€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TCO – Total Cost of Ownership (5 Jahre)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Gesamt-Kosten SEPM: einmalig + laufend, aufgeschlüsselt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1524000"/>
            <a:ext cx="11582400" cy="60960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2400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tihl Contraface Text"/>
              </a:rPr>
              <a:t>5-Jahres-TCO SEPM (Base Case)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91200" y="152400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F07F12"/>
                </a:solidFill>
                <a:latin typeface="Stihl Contraface Text"/>
              </a:rPr>
              <a:t>~ 8.7 Mio. 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3200" y="1524000"/>
            <a:ext cx="1524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0" i="1">
                <a:solidFill>
                  <a:srgbClr val="D1D5DB"/>
                </a:solidFill>
                <a:latin typeface="Stihl Contraface Text"/>
              </a:rPr>
              <a:t>(~ 1.73 M€ p.a. Ø)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800" y="2286000"/>
            <a:ext cx="5638800" cy="3962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4800" y="2286000"/>
            <a:ext cx="5638800" cy="3048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1000" y="2286000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tihl Contraface Text"/>
              </a:rPr>
              <a:t>Einmalige Kosten (Y1-Y2)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9100" y="2705100"/>
            <a:ext cx="5410200" cy="6477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5300" y="2727960"/>
            <a:ext cx="3429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Implementierungs-Partner (SI)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300" y="297180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Stihl Contraface Text"/>
              </a:rPr>
              <a:t>SNOW-Zertifiziert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9600" y="2705100"/>
            <a:ext cx="1371600" cy="647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50" b="1" i="0">
                <a:solidFill>
                  <a:srgbClr val="2C3E50"/>
                </a:solidFill>
                <a:latin typeface="Stihl Contraface Text"/>
              </a:rPr>
              <a:t>1.300 k€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9100" y="3429000"/>
            <a:ext cx="5410200" cy="6477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300" y="3451860"/>
            <a:ext cx="3429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Interne FTE (Phase 1+2)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300" y="369570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Stihl Contraface Text"/>
              </a:rPr>
              <a:t>4 FTE × 2 J.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9600" y="3429000"/>
            <a:ext cx="1371600" cy="647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50" b="1" i="0">
                <a:solidFill>
                  <a:srgbClr val="2C3E50"/>
                </a:solidFill>
                <a:latin typeface="Stihl Contraface Text"/>
              </a:rPr>
              <a:t>1.040 k€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9100" y="4152900"/>
            <a:ext cx="5410200" cy="6477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5300" y="4175760"/>
            <a:ext cx="3429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Change / Schulung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300" y="441960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Stihl Contraface Text"/>
              </a:rPr>
              <a:t>Anwender + Multiplikatoren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9600" y="4152900"/>
            <a:ext cx="1371600" cy="647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50" b="1" i="0">
                <a:solidFill>
                  <a:srgbClr val="2C3E50"/>
                </a:solidFill>
                <a:latin typeface="Stihl Contraface Text"/>
              </a:rPr>
              <a:t>250 k€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9100" y="4876800"/>
            <a:ext cx="5410200" cy="6477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300" y="4899660"/>
            <a:ext cx="3429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Contingency (10 %)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5300" y="514350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Stihl Contraface Text"/>
              </a:rPr>
              <a:t>Puffer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9600" y="4876800"/>
            <a:ext cx="1371600" cy="647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50" b="1" i="0">
                <a:solidFill>
                  <a:srgbClr val="2C3E50"/>
                </a:solidFill>
                <a:latin typeface="Stihl Contraface Text"/>
              </a:rPr>
              <a:t>259 k€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000" y="5791200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C3E50"/>
                </a:solidFill>
                <a:latin typeface="Stihl Contraface Text"/>
              </a:rPr>
              <a:t>Summe einmalig: 2.849 k€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48400" y="2286000"/>
            <a:ext cx="5638800" cy="3962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48400" y="2286000"/>
            <a:ext cx="5638800" cy="3048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4600" y="2286000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tihl Contraface Text"/>
              </a:rPr>
              <a:t>Laufende Kosten p.a. (Steady State)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62700" y="2705100"/>
            <a:ext cx="5410200" cy="6477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38900" y="2727960"/>
            <a:ext cx="3429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Lizenzen SNOW SPM Pro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8900" y="297180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Stihl Contraface Text"/>
              </a:rPr>
              <a:t>~ 350-450 Named User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63200" y="2705100"/>
            <a:ext cx="1371600" cy="647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50" b="1" i="0">
                <a:solidFill>
                  <a:srgbClr val="F07F12"/>
                </a:solidFill>
                <a:latin typeface="Stihl Contraface Text"/>
              </a:rPr>
              <a:t>850 k€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62700" y="3429000"/>
            <a:ext cx="5410200" cy="6477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8900" y="3451860"/>
            <a:ext cx="3429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Interne Betriebs-FTE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8900" y="369570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Stihl Contraface Text"/>
              </a:rPr>
              <a:t>~ 3.0 FTE (IT + Business)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63200" y="3429000"/>
            <a:ext cx="1371600" cy="647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50" b="1" i="0">
                <a:solidFill>
                  <a:srgbClr val="F07F12"/>
                </a:solidFill>
                <a:latin typeface="Stihl Contraface Text"/>
              </a:rPr>
              <a:t>390 k€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62700" y="4152900"/>
            <a:ext cx="5410200" cy="6477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38900" y="4175760"/>
            <a:ext cx="3429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Externer Support / Wartung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38900" y="441960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Stihl Contraface Text"/>
              </a:rPr>
              <a:t>Retainer + Ticket-Volumen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63200" y="4152900"/>
            <a:ext cx="1371600" cy="647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50" b="1" i="0">
                <a:solidFill>
                  <a:srgbClr val="F07F12"/>
                </a:solidFill>
                <a:latin typeface="Stihl Contraface Text"/>
              </a:rPr>
              <a:t>180 k€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62700" y="4876800"/>
            <a:ext cx="5410200" cy="6477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38900" y="4899660"/>
            <a:ext cx="3429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Weiterentwicklung (Backlog)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38900" y="514350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Stihl Contraface Text"/>
              </a:rPr>
              <a:t>kontinuierlich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63200" y="4876800"/>
            <a:ext cx="1371600" cy="647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50" b="1" i="0">
                <a:solidFill>
                  <a:srgbClr val="F07F12"/>
                </a:solidFill>
                <a:latin typeface="Stihl Contraface Text"/>
              </a:rPr>
              <a:t>220 k€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24600" y="5791200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F07F12"/>
                </a:solidFill>
                <a:latin typeface="Stihl Contraface Text"/>
              </a:rPr>
              <a:t>Summe p.a.: 1.640 k€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Support-Kosten – Detailbetrachtung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Interner + externer Support, laufender Betrieb, Weiterentwicklung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1524000"/>
            <a:ext cx="3759200" cy="41910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4800" y="1524000"/>
            <a:ext cx="3759200" cy="3810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1554480"/>
            <a:ext cx="36068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tihl Contraface Text"/>
              </a:rPr>
              <a:t>Interner Betrieb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1000" y="1981200"/>
            <a:ext cx="3606800" cy="571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04060"/>
            <a:ext cx="223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SNOW-Plattform-Admin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2235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1,0 FTE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2400" y="2004060"/>
            <a:ext cx="12192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F07F12"/>
                </a:solidFill>
                <a:latin typeface="Stihl Contraface Text"/>
              </a:rPr>
              <a:t>130 k€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1000" y="2590800"/>
            <a:ext cx="3606800" cy="571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613660"/>
            <a:ext cx="223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SPM Business Analyst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49880"/>
            <a:ext cx="2235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1,0 FTE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2400" y="2613660"/>
            <a:ext cx="12192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F07F12"/>
                </a:solidFill>
                <a:latin typeface="Stihl Contraface Text"/>
              </a:rPr>
              <a:t>130 k€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1000" y="3200400"/>
            <a:ext cx="3606800" cy="571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223260"/>
            <a:ext cx="223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Integration / Schnittstellen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459480"/>
            <a:ext cx="2235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0,5 FTE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2400" y="3223260"/>
            <a:ext cx="12192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F07F12"/>
                </a:solidFill>
                <a:latin typeface="Stihl Contraface Text"/>
              </a:rPr>
              <a:t>65 k€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1000" y="3810000"/>
            <a:ext cx="3606800" cy="571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32860"/>
            <a:ext cx="223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Data Governance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069080"/>
            <a:ext cx="2235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0,3 FTE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2400" y="3832860"/>
            <a:ext cx="12192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F07F12"/>
                </a:solidFill>
                <a:latin typeface="Stihl Contraface Text"/>
              </a:rPr>
              <a:t>39 k€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000" y="4419600"/>
            <a:ext cx="3606800" cy="571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442460"/>
            <a:ext cx="223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User Support 2nd Level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678680"/>
            <a:ext cx="2235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0,2 FTE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2400" y="4442460"/>
            <a:ext cx="12192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F07F12"/>
                </a:solidFill>
                <a:latin typeface="Stihl Contraface Text"/>
              </a:rPr>
              <a:t>26 k€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1000" y="5257800"/>
            <a:ext cx="3606800" cy="3048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1000" y="5257800"/>
            <a:ext cx="3606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tihl Contraface Text"/>
              </a:rPr>
              <a:t>Summe: 390 k€ / Jahr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16400" y="1524000"/>
            <a:ext cx="3759200" cy="41910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216400" y="1524000"/>
            <a:ext cx="3759200" cy="3810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2600" y="1554480"/>
            <a:ext cx="36068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tihl Contraface Text"/>
              </a:rPr>
              <a:t>Externer Support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2600" y="1981200"/>
            <a:ext cx="3606800" cy="571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2004060"/>
            <a:ext cx="223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Wartungsvertrag SNOW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68800" y="2240280"/>
            <a:ext cx="2235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Standard 22%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4000" y="2004060"/>
            <a:ext cx="12192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C3E50"/>
                </a:solidFill>
                <a:latin typeface="Stihl Contraface Text"/>
              </a:rPr>
              <a:t>70 k€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2600" y="2590800"/>
            <a:ext cx="3606800" cy="571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68800" y="2613660"/>
            <a:ext cx="223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Managed-Service Partner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68800" y="2849880"/>
            <a:ext cx="2235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Retainer + T&amp;M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4000" y="2613660"/>
            <a:ext cx="12192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C3E50"/>
                </a:solidFill>
                <a:latin typeface="Stihl Contraface Text"/>
              </a:rPr>
              <a:t>90 k€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2600" y="3200400"/>
            <a:ext cx="3606800" cy="571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68800" y="3223260"/>
            <a:ext cx="223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Externes Consulting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68800" y="3459480"/>
            <a:ext cx="2235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20-30 Tage/y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4000" y="3223260"/>
            <a:ext cx="12192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C3E50"/>
                </a:solidFill>
                <a:latin typeface="Stihl Contraface Text"/>
              </a:rPr>
              <a:t>60 k€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92600" y="3810000"/>
            <a:ext cx="3606800" cy="571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68800" y="3832860"/>
            <a:ext cx="223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Zertifikate &amp; Schulungen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68800" y="4069080"/>
            <a:ext cx="2235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5-8 Personen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4000" y="3832860"/>
            <a:ext cx="12192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C3E50"/>
                </a:solidFill>
                <a:latin typeface="Stihl Contraface Text"/>
              </a:rPr>
              <a:t>30 k€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92600" y="5257800"/>
            <a:ext cx="3606800" cy="3048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92600" y="5257800"/>
            <a:ext cx="3606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tihl Contraface Text"/>
              </a:rPr>
              <a:t>Summe: 250 k€ / Jahr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28000" y="1524000"/>
            <a:ext cx="3759200" cy="41910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128000" y="1524000"/>
            <a:ext cx="3759200" cy="3810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04200" y="1554480"/>
            <a:ext cx="3606800" cy="3352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tihl Contraface Text"/>
              </a:rPr>
              <a:t>Weiterentwicklung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04200" y="1981200"/>
            <a:ext cx="3606800" cy="571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80400" y="2004060"/>
            <a:ext cx="223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Feature-Backlog (Business)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80400" y="2240280"/>
            <a:ext cx="2235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~10 PT/Mo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0" y="2004060"/>
            <a:ext cx="12192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Stihl Contraface Text"/>
              </a:rPr>
              <a:t>100 k€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04200" y="2590800"/>
            <a:ext cx="3606800" cy="571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80400" y="2613660"/>
            <a:ext cx="223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Release-Upgrade-Anpassungen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80400" y="2849880"/>
            <a:ext cx="2235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2× / Jahr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2613660"/>
            <a:ext cx="12192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Stihl Contraface Text"/>
              </a:rPr>
              <a:t>50 k€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04200" y="3200400"/>
            <a:ext cx="3606800" cy="571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80400" y="3223260"/>
            <a:ext cx="223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Custom-Reports / Dashboards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80400" y="3459480"/>
            <a:ext cx="2235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4-6 PT/Mo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3223260"/>
            <a:ext cx="12192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Stihl Contraface Text"/>
              </a:rPr>
              <a:t>40 k€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204200" y="3810000"/>
            <a:ext cx="3606800" cy="571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80400" y="3832860"/>
            <a:ext cx="2235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Innovation Sprints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80400" y="4069080"/>
            <a:ext cx="2235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1× Q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3832860"/>
            <a:ext cx="12192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Stihl Contraface Text"/>
              </a:rPr>
              <a:t>30 k€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204200" y="5257800"/>
            <a:ext cx="3606800" cy="3048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04200" y="5257800"/>
            <a:ext cx="3606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tihl Contraface Text"/>
              </a:rPr>
              <a:t>Summe: 220 k€ / Jahr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04800" y="5867400"/>
            <a:ext cx="11582400" cy="45720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586740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tihl Contraface Text"/>
              </a:rPr>
              <a:t>Gesamt Support &amp; Weiterentwicklung p.a.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15200" y="58674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000" b="1" i="0">
                <a:solidFill>
                  <a:srgbClr val="F07F12"/>
                </a:solidFill>
                <a:latin typeface="Stihl Contraface Text"/>
              </a:rPr>
              <a:t>~ 860 k€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Konsolidierungseinsparungen – Tool-Ablöse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Wegfall bisheriger Tools durch SNOW SPM Konsolidierung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1524000"/>
            <a:ext cx="11582400" cy="6096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24000"/>
            <a:ext cx="6858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tihl Contraface Text"/>
              </a:rPr>
              <a:t>Gesamt Tool-Ablöse-Ersparnis (Steady State p.a.)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52400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tihl Contraface Text"/>
              </a:rPr>
              <a:t>~ 950 k€ / Jahr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" y="22860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07F12"/>
                </a:solidFill>
                <a:latin typeface="Stihl Contraface Text"/>
              </a:rPr>
              <a:t>Detail – Tool-für-Tool-Ablöse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800" y="2514600"/>
            <a:ext cx="11582400" cy="6477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4800" y="2514600"/>
            <a:ext cx="53340" cy="6477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37460"/>
            <a:ext cx="3048000" cy="6019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Stihl Contraface Text"/>
              </a:rPr>
              <a:t>PIT / PLANTA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33700"/>
            <a:ext cx="30480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Stihl Contraface Text"/>
              </a:rPr>
              <a:t>Projekt-/Ressourcen-Mgmt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2743200"/>
            <a:ext cx="6705600" cy="2286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0" y="2743200"/>
            <a:ext cx="6705600" cy="2286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0" y="2514600"/>
            <a:ext cx="1371600" cy="647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  <a:latin typeface="Stihl Contraface Text"/>
              </a:rPr>
              <a:t>− 380 k€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4800" y="3192780"/>
            <a:ext cx="11582400" cy="6477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4800" y="3192780"/>
            <a:ext cx="53340" cy="6477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15639"/>
            <a:ext cx="3048000" cy="6019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Stihl Contraface Text"/>
              </a:rPr>
              <a:t>MS Project Online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11880"/>
            <a:ext cx="30480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Stihl Contraface Text"/>
              </a:rPr>
              <a:t>Klass. Projekt-Mgmt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3421380"/>
            <a:ext cx="6705600" cy="2286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57600" y="3421380"/>
            <a:ext cx="2117557" cy="2286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0" y="3192780"/>
            <a:ext cx="1371600" cy="647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  <a:latin typeface="Stihl Contraface Text"/>
              </a:rPr>
              <a:t>− 120 k€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4800" y="3870960"/>
            <a:ext cx="11582400" cy="6477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" y="3870960"/>
            <a:ext cx="53340" cy="6477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893819"/>
            <a:ext cx="3048000" cy="6019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Stihl Contraface Text"/>
              </a:rPr>
              <a:t>Workpath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90060"/>
            <a:ext cx="30480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Stihl Contraface Text"/>
              </a:rPr>
              <a:t>Strategie / OKR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0" y="4099560"/>
            <a:ext cx="6705600" cy="2286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657600" y="4099560"/>
            <a:ext cx="2646947" cy="2286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0" y="3870960"/>
            <a:ext cx="1371600" cy="647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  <a:latin typeface="Stihl Contraface Text"/>
              </a:rPr>
              <a:t>− 150 k€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4800" y="4549140"/>
            <a:ext cx="11582400" cy="6477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4800" y="4549140"/>
            <a:ext cx="53340" cy="6477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572000"/>
            <a:ext cx="3048000" cy="6019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Stihl Contraface Text"/>
              </a:rPr>
              <a:t>Power Apps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968240"/>
            <a:ext cx="30480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Stihl Contraface Text"/>
              </a:rPr>
              <a:t>Custom-Formulare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0" y="4777740"/>
            <a:ext cx="6705600" cy="2286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657600" y="4777740"/>
            <a:ext cx="1588168" cy="2286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0" y="4549140"/>
            <a:ext cx="1371600" cy="647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  <a:latin typeface="Stihl Contraface Text"/>
              </a:rPr>
              <a:t>− 90 k€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4800" y="5227320"/>
            <a:ext cx="11582400" cy="6477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04800" y="5227320"/>
            <a:ext cx="53340" cy="6477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250179"/>
            <a:ext cx="3048000" cy="6019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Stihl Contraface Text"/>
              </a:rPr>
              <a:t>SharePoint-Listen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646420"/>
            <a:ext cx="30480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Stihl Contraface Text"/>
              </a:rPr>
              <a:t>Demand-Listen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0" y="5455920"/>
            <a:ext cx="6705600" cy="2286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657600" y="5455920"/>
            <a:ext cx="1235242" cy="2286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0" y="5227320"/>
            <a:ext cx="1371600" cy="647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  <a:latin typeface="Stihl Contraface Text"/>
              </a:rPr>
              <a:t>− 70 k€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4800" y="5905500"/>
            <a:ext cx="11582400" cy="6477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04800" y="5905500"/>
            <a:ext cx="53340" cy="6477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928360"/>
            <a:ext cx="3048000" cy="6019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Stihl Contraface Text"/>
              </a:rPr>
              <a:t>Lucom (EV, teilweise)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324600"/>
            <a:ext cx="30480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Stihl Contraface Text"/>
              </a:rPr>
              <a:t>EV-Prozess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57600" y="6134100"/>
            <a:ext cx="6705600" cy="2286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657600" y="6134100"/>
            <a:ext cx="2470484" cy="2286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0" y="5905500"/>
            <a:ext cx="1371600" cy="647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  <a:latin typeface="Stihl Contraface Text"/>
              </a:rPr>
              <a:t>− 140 k€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Konsolidierungseinsparungen – Schnittstellen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Wegfall komplexer Integrationen durch eine Plattform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1524000"/>
            <a:ext cx="11582400" cy="6096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24000"/>
            <a:ext cx="6858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tihl Contraface Text"/>
              </a:rPr>
              <a:t>Ersparnis Schnittstellen &amp; Integration p.a.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52400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tihl Contraface Text"/>
              </a:rPr>
              <a:t>~ 220 k€ / Jahr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2286000"/>
            <a:ext cx="5638800" cy="4114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4800" y="2286000"/>
            <a:ext cx="5638800" cy="30480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2286000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tihl Contraface Text"/>
              </a:rPr>
              <a:t>HEUTE – Fragmentierte Integration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05100"/>
            <a:ext cx="533400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05100"/>
            <a:ext cx="38100" cy="4114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2705100"/>
            <a:ext cx="5181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Stihl Contraface Text"/>
              </a:rPr>
              <a:t>PIT ↔ SAP FI (Kostentransfer)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00400"/>
            <a:ext cx="533400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38100" cy="4114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3200400"/>
            <a:ext cx="5181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Stihl Contraface Text"/>
              </a:rPr>
              <a:t>MSPO ↔ SAP HCM (Personalstamm)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95700"/>
            <a:ext cx="533400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695700"/>
            <a:ext cx="38100" cy="4114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3695700"/>
            <a:ext cx="5181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Stihl Contraface Text"/>
              </a:rPr>
              <a:t>SharePoint ↔ Excel (Datenexport)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91000"/>
            <a:ext cx="533400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191000"/>
            <a:ext cx="38100" cy="4114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4191000"/>
            <a:ext cx="5181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Stihl Contraface Text"/>
              </a:rPr>
              <a:t>Workpath ↔ Excel (OKR-Reporting)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686300"/>
            <a:ext cx="533400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686300"/>
            <a:ext cx="38100" cy="4114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600" y="4686300"/>
            <a:ext cx="5181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Stihl Contraface Text"/>
              </a:rPr>
              <a:t>PowerApps ↔ Dataverse (Custom-Data)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181600"/>
            <a:ext cx="533400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181600"/>
            <a:ext cx="38100" cy="4114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600" y="5181600"/>
            <a:ext cx="5181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Stihl Contraface Text"/>
              </a:rPr>
              <a:t>Lucom EV ↔ SAP (Freigabestatus)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676900"/>
            <a:ext cx="533400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676900"/>
            <a:ext cx="38100" cy="4114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9600" y="5676900"/>
            <a:ext cx="5181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Stihl Contraface Text"/>
              </a:rPr>
              <a:t>Diverse Excel-Konsolidierungen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48400" y="2286000"/>
            <a:ext cx="5638800" cy="4114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48400" y="2286000"/>
            <a:ext cx="5638800" cy="3048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4600" y="2286000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tihl Contraface Text"/>
              </a:rPr>
              <a:t>MIT SEPM – Native SNOW-Integration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705100"/>
            <a:ext cx="533400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2705100"/>
            <a:ext cx="3810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53200" y="2712720"/>
            <a:ext cx="2286000" cy="396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Stihl Contraface Text"/>
              </a:rPr>
              <a:t>SAP FI Konnektor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39200" y="2712720"/>
            <a:ext cx="2895600" cy="396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Stihl Contraface Text"/>
              </a:rPr>
              <a:t>Standard, Integration Hub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3200400"/>
            <a:ext cx="533400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3200400"/>
            <a:ext cx="3810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53200" y="3208020"/>
            <a:ext cx="2286000" cy="396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Stihl Contraface Text"/>
              </a:rPr>
              <a:t>SAP HCM Konnektor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39200" y="3208020"/>
            <a:ext cx="2895600" cy="396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Stihl Contraface Text"/>
              </a:rPr>
              <a:t>Standard, Integration Hub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3695700"/>
            <a:ext cx="533400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3695700"/>
            <a:ext cx="3810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53200" y="3703320"/>
            <a:ext cx="2286000" cy="396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Stihl Contraface Text"/>
              </a:rPr>
              <a:t>Interne Datenmodelle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9200" y="3703320"/>
            <a:ext cx="2895600" cy="396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Stihl Contraface Text"/>
              </a:rPr>
              <a:t>keine Excel-Export-Ketten mehr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4191000"/>
            <a:ext cx="533400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0" y="4191000"/>
            <a:ext cx="3810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200" y="4198620"/>
            <a:ext cx="2286000" cy="396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Stihl Contraface Text"/>
              </a:rPr>
              <a:t>OKR-Modul nativ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39200" y="4198620"/>
            <a:ext cx="2895600" cy="396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Stihl Contraface Text"/>
              </a:rPr>
              <a:t>kein Workpath-Bridge nötig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4686300"/>
            <a:ext cx="533400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00800" y="4686300"/>
            <a:ext cx="3810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53200" y="4693920"/>
            <a:ext cx="2286000" cy="396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Stihl Contraface Text"/>
              </a:rPr>
              <a:t>App Engine (Low-Code)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39200" y="4693920"/>
            <a:ext cx="2895600" cy="396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Stihl Contraface Text"/>
              </a:rPr>
              <a:t>Custom-Data auf gleicher Plattform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0" y="5181600"/>
            <a:ext cx="533400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0" y="5181600"/>
            <a:ext cx="3810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53200" y="5189220"/>
            <a:ext cx="2286000" cy="396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Stihl Contraface Text"/>
              </a:rPr>
              <a:t>EV-Prozess nativ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39200" y="5189220"/>
            <a:ext cx="2895600" cy="396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Stihl Contraface Text"/>
              </a:rPr>
              <a:t>kein Lucom-Bridge nötig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0" y="5676900"/>
            <a:ext cx="533400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400800" y="5676900"/>
            <a:ext cx="3810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53200" y="5684520"/>
            <a:ext cx="2286000" cy="396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Stihl Contraface Text"/>
              </a:rPr>
              <a:t>Live-Reporting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39200" y="5684520"/>
            <a:ext cx="2895600" cy="396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2E7D32"/>
                </a:solidFill>
                <a:latin typeface="Stihl Contraface Text"/>
              </a:rPr>
              <a:t>Excel-Konsolidierung entfällt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Flankierende Prozess-Potentiale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Zusätzliche Einsparungen durch SPM-nahe Prozess-Digitalisierung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1524000"/>
            <a:ext cx="11582400" cy="6096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24000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tihl Contraface Text"/>
              </a:rPr>
              <a:t>Zusätzliches Einspar-Potenzial (SPM-flankierend, p.a.)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77200" y="1524000"/>
            <a:ext cx="3810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tihl Contraface Text"/>
              </a:rPr>
              <a:t>~ 1.060 k€ / Jahr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2286000"/>
            <a:ext cx="11582400" cy="7620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2286000"/>
            <a:ext cx="53340" cy="7620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" y="2514600"/>
            <a:ext cx="304800" cy="3048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14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tihl Contraface Tex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16480"/>
            <a:ext cx="76200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Stihl Contraface Text"/>
              </a:rPr>
              <a:t>Maßnahmen-Management im Zielkostenmanagement der Produktentwicklung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1366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Stihl Contraface Text"/>
              </a:rPr>
              <a:t>Zentraler Maßnahmen-Backlog, Verknüpfung mit Portfolios/Cost-Targets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1600" y="2590800"/>
            <a:ext cx="1524000" cy="2286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91600" y="2590800"/>
            <a:ext cx="1524000" cy="2286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68000" y="2286000"/>
            <a:ext cx="1143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Stihl Contraface Text"/>
              </a:rPr>
              <a:t>380 k€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4800" y="3093720"/>
            <a:ext cx="11582400" cy="7620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4800" y="3093720"/>
            <a:ext cx="53340" cy="7620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7200" y="3322320"/>
            <a:ext cx="304800" cy="3048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32232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tihl Contraface Text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124200"/>
            <a:ext cx="76200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Stihl Contraface Text"/>
              </a:rPr>
              <a:t>Innovations- / Vorhaben-Trichter (LH/CRD → Steckbrief → Projekt)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42138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Stihl Contraface Text"/>
              </a:rPr>
              <a:t>Durchgängige Pipeline; weniger Reibungsverluste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1600" y="3398520"/>
            <a:ext cx="1524000" cy="2286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91600" y="3398520"/>
            <a:ext cx="882315" cy="2286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68000" y="3093720"/>
            <a:ext cx="1143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Stihl Contraface Text"/>
              </a:rPr>
              <a:t>220 k€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4800" y="3901440"/>
            <a:ext cx="11582400" cy="7620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" y="3901440"/>
            <a:ext cx="53340" cy="7620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7200" y="4130040"/>
            <a:ext cx="304800" cy="3048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13004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tihl Contraface Tex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931920"/>
            <a:ext cx="76200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Stihl Contraface Text"/>
              </a:rPr>
              <a:t>Application Portfolio Mgmt (APM)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2291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Stihl Contraface Text"/>
              </a:rPr>
              <a:t>Lifecycle-Management der Anwendungslandschaft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91600" y="4206240"/>
            <a:ext cx="1524000" cy="2286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991600" y="4206240"/>
            <a:ext cx="641684" cy="2286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68000" y="3901440"/>
            <a:ext cx="1143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Stihl Contraface Text"/>
              </a:rPr>
              <a:t>160 k€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4800" y="4709160"/>
            <a:ext cx="11582400" cy="76200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4800" y="4709160"/>
            <a:ext cx="53340" cy="7620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7200" y="4937760"/>
            <a:ext cx="304800" cy="3048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93776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tihl Contraface Text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739640"/>
            <a:ext cx="76200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Stihl Contraface Text"/>
              </a:rPr>
              <a:t>Benefits Realization Tracking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03682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Stihl Contraface Text"/>
              </a:rPr>
              <a:t>Ist-/Soll-Nutzenabgleich nach Projektabschluss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91600" y="5013960"/>
            <a:ext cx="1524000" cy="2286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91600" y="5013960"/>
            <a:ext cx="481263" cy="2286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68000" y="4709160"/>
            <a:ext cx="1143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Stihl Contraface Text"/>
              </a:rPr>
              <a:t>120 k€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4800" y="5516880"/>
            <a:ext cx="11582400" cy="7620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04800" y="5516880"/>
            <a:ext cx="53340" cy="7620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200" y="5745480"/>
            <a:ext cx="304800" cy="3048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74548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tihl Contraface Text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5547360"/>
            <a:ext cx="76200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Stihl Contraface Text"/>
              </a:rPr>
              <a:t>Compliance / EV-Prozess-Digitalisierung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584454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950" b="0" i="1">
                <a:solidFill>
                  <a:srgbClr val="4B5563"/>
                </a:solidFill>
                <a:latin typeface="Stihl Contraface Text"/>
              </a:rPr>
              <a:t>EV-Workflow in SNOW; weniger manuelle Freigabeschleifen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91600" y="5821680"/>
            <a:ext cx="1524000" cy="2286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991600" y="5821680"/>
            <a:ext cx="721894" cy="2286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668000" y="5516880"/>
            <a:ext cx="1143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  <a:latin typeface="Stihl Contraface Text"/>
              </a:rPr>
              <a:t>180 k€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Einführungs-Szenarien im Vergleich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Drei Szenarien zur Umsetzung SEPM – Kosten, Nutzen, Risiko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1524000"/>
            <a:ext cx="3759200" cy="4800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4800" y="1524000"/>
            <a:ext cx="3759200" cy="6096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40000" y="1524000"/>
            <a:ext cx="1524000" cy="60960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40000" y="1524000"/>
            <a:ext cx="1524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F07F12"/>
                </a:solidFill>
                <a:latin typeface="Stihl Contraface Text"/>
              </a:rPr>
              <a:t>★ EMPFOHLEN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1562100"/>
            <a:ext cx="20828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tihl Contraface Text"/>
              </a:rPr>
              <a:t>A – Full Scope
24 Monate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09800"/>
            <a:ext cx="3454400" cy="2743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09800"/>
            <a:ext cx="345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07F12"/>
                </a:solidFill>
                <a:latin typeface="Stihl Contraface Text"/>
              </a:rPr>
              <a:t>Empfohlen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52700"/>
            <a:ext cx="3454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0" i="1">
                <a:solidFill>
                  <a:srgbClr val="4B5563"/>
                </a:solidFill>
                <a:latin typeface="Stihl Contraface Text"/>
              </a:rPr>
              <a:t>Dauer: 24 Monate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43200"/>
            <a:ext cx="3454400" cy="1524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743200"/>
            <a:ext cx="2302933" cy="1524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3048000"/>
            <a:ext cx="3454400" cy="533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" y="3063240"/>
            <a:ext cx="33020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Stihl Contraface Text"/>
              </a:rPr>
              <a:t>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3276600"/>
            <a:ext cx="33020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Stihl Contraface Text"/>
              </a:rPr>
              <a:t>Alle Module Phase 1 + 2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57600"/>
            <a:ext cx="3454400" cy="533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400" y="3672840"/>
            <a:ext cx="33020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Stihl Contraface Text"/>
              </a:rPr>
              <a:t>Ramp 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886200"/>
            <a:ext cx="33020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Stihl Contraface Text"/>
              </a:rPr>
              <a:t>Standard-Timeline (24 Mo)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67200"/>
            <a:ext cx="3454400" cy="533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3400" y="4282440"/>
            <a:ext cx="33020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Stihl Contraface Text"/>
              </a:rPr>
              <a:t>Payback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4495800"/>
            <a:ext cx="33020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Stihl Contraface Text"/>
              </a:rPr>
              <a:t>~ 3,5 Jahre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876800"/>
            <a:ext cx="3454400" cy="533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3400" y="4892040"/>
            <a:ext cx="33020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Stihl Contraface Text"/>
              </a:rPr>
              <a:t>Business 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5105400"/>
            <a:ext cx="33020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Stihl Contraface Text"/>
              </a:rPr>
              <a:t>Voll ab Jahr 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486400"/>
            <a:ext cx="3454400" cy="533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3400" y="5501640"/>
            <a:ext cx="33020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Stihl Contraface Text"/>
              </a:rPr>
              <a:t>Risiko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5715000"/>
            <a:ext cx="33020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Stihl Contraface Text"/>
              </a:rPr>
              <a:t>Mittel — Change-intensiv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16400" y="1524000"/>
            <a:ext cx="375920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216400" y="1524000"/>
            <a:ext cx="3759200" cy="60960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2600" y="1562100"/>
            <a:ext cx="36068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tihl Contraface Text"/>
              </a:rPr>
              <a:t>B – Extended Ramp
36 Monate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68800" y="2209800"/>
            <a:ext cx="3454400" cy="2743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2209800"/>
            <a:ext cx="345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3B6BA5"/>
                </a:solidFill>
                <a:latin typeface="Stihl Contraface Text"/>
              </a:rPr>
              <a:t>Konservativ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68800" y="2552700"/>
            <a:ext cx="3454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0" i="1">
                <a:solidFill>
                  <a:srgbClr val="4B5563"/>
                </a:solidFill>
                <a:latin typeface="Stihl Contraface Text"/>
              </a:rPr>
              <a:t>Dauer: 36 Monate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68800" y="2743200"/>
            <a:ext cx="3454400" cy="1524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68800" y="2743200"/>
            <a:ext cx="3454400" cy="15240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368800" y="3048000"/>
            <a:ext cx="3454400" cy="533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45000" y="3063240"/>
            <a:ext cx="33020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Stihl Contraface Text"/>
              </a:rPr>
              <a:t>Scope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45000" y="3276600"/>
            <a:ext cx="33020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Stihl Contraface Text"/>
              </a:rPr>
              <a:t>Alle Module, verteilter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68800" y="3657600"/>
            <a:ext cx="3454400" cy="533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45000" y="3672840"/>
            <a:ext cx="33020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Stihl Contraface Text"/>
              </a:rPr>
              <a:t>Ramp 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45000" y="3886200"/>
            <a:ext cx="33020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Stihl Contraface Text"/>
              </a:rPr>
              <a:t>Reduziertes Tempo (+12 Mo)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68800" y="4267200"/>
            <a:ext cx="3454400" cy="533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45000" y="4282440"/>
            <a:ext cx="33020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Stihl Contraface Text"/>
              </a:rPr>
              <a:t>Payback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45000" y="4495800"/>
            <a:ext cx="33020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Stihl Contraface Text"/>
              </a:rPr>
              <a:t>~ 4,5 Jahre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68800" y="4876800"/>
            <a:ext cx="3454400" cy="533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45000" y="4892040"/>
            <a:ext cx="33020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Stihl Contraface Text"/>
              </a:rPr>
              <a:t>Business Value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45000" y="5105400"/>
            <a:ext cx="33020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Stihl Contraface Text"/>
              </a:rPr>
              <a:t>Voll ab Jahr 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68800" y="5486400"/>
            <a:ext cx="3454400" cy="533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45000" y="5501640"/>
            <a:ext cx="33020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Stihl Contraface Text"/>
              </a:rPr>
              <a:t>Risiko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45000" y="5715000"/>
            <a:ext cx="33020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Stihl Contraface Text"/>
              </a:rPr>
              <a:t>Niedrig — mehr Puffer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28000" y="1524000"/>
            <a:ext cx="375920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128000" y="1524000"/>
            <a:ext cx="3759200" cy="6096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04200" y="1562100"/>
            <a:ext cx="36068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tihl Contraface Text"/>
              </a:rPr>
              <a:t>C – MVP-First
12 Mo + Ausbau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80400" y="2209800"/>
            <a:ext cx="3454400" cy="2743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80400" y="2209800"/>
            <a:ext cx="345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2E7D32"/>
                </a:solidFill>
                <a:latin typeface="Stihl Contraface Text"/>
              </a:rPr>
              <a:t>Agil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80400" y="2552700"/>
            <a:ext cx="3454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50" b="0" i="1">
                <a:solidFill>
                  <a:srgbClr val="4B5563"/>
                </a:solidFill>
                <a:latin typeface="Stihl Contraface Text"/>
              </a:rPr>
              <a:t>Dauer: 30 Monate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80400" y="2743200"/>
            <a:ext cx="3454400" cy="1524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280400" y="2743200"/>
            <a:ext cx="2878666" cy="1524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280400" y="3048000"/>
            <a:ext cx="3454400" cy="533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56600" y="3063240"/>
            <a:ext cx="33020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Stihl Contraface Text"/>
              </a:rPr>
              <a:t>Scope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56600" y="3276600"/>
            <a:ext cx="33020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Stihl Contraface Text"/>
              </a:rPr>
              <a:t>Strategy + Portfolio zuerst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280400" y="3657600"/>
            <a:ext cx="3454400" cy="533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56600" y="3672840"/>
            <a:ext cx="33020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Stihl Contraface Text"/>
              </a:rPr>
              <a:t>Ramp Up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56600" y="3886200"/>
            <a:ext cx="33020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Stihl Contraface Text"/>
              </a:rPr>
              <a:t>MVP live in 12 Mo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280400" y="4267200"/>
            <a:ext cx="3454400" cy="533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56600" y="4282440"/>
            <a:ext cx="33020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Stihl Contraface Text"/>
              </a:rPr>
              <a:t>Payback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56600" y="4495800"/>
            <a:ext cx="33020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Stihl Contraface Text"/>
              </a:rPr>
              <a:t>~ 3 Jahre auf Teil-Nutzen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280400" y="4876800"/>
            <a:ext cx="3454400" cy="533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56600" y="4892040"/>
            <a:ext cx="33020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Stihl Contraface Text"/>
              </a:rPr>
              <a:t>Business Value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56600" y="5105400"/>
            <a:ext cx="33020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Stihl Contraface Text"/>
              </a:rPr>
              <a:t>Teilnutzen früh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280400" y="5486400"/>
            <a:ext cx="3454400" cy="533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56600" y="5501640"/>
            <a:ext cx="33020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1" i="0">
                <a:solidFill>
                  <a:srgbClr val="4B5563"/>
                </a:solidFill>
                <a:latin typeface="Stihl Contraface Text"/>
              </a:rPr>
              <a:t>Risiko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56600" y="5715000"/>
            <a:ext cx="33020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Stihl Contraface Text"/>
              </a:rPr>
              <a:t>Mittel — Nachreichung Module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Szenario A – Full Scope 24 Monate (Empfohlen)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Timeline · Investitionsprofil · Nutzen-Kurve · Break-even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15240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07F12"/>
                </a:solidFill>
                <a:latin typeface="Stihl Contraface Text"/>
              </a:rPr>
              <a:t>Umsetzungs-Timeline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752600"/>
            <a:ext cx="4800600" cy="259080"/>
          </a:xfrm>
          <a:prstGeom prst="roundRect">
            <a:avLst/>
          </a:prstGeom>
          <a:solidFill>
            <a:srgbClr val="FD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1752600"/>
            <a:ext cx="4800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Stihl Contraface Text"/>
              </a:rPr>
              <a:t>Jahr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1752600"/>
            <a:ext cx="4800600" cy="25908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1752600"/>
            <a:ext cx="4800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tihl Contraface Text"/>
              </a:rPr>
              <a:t>Jahr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" y="20574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Stihl Contraface Text"/>
              </a:rPr>
              <a:t>Konzeption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2057400"/>
            <a:ext cx="9601200" cy="3429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93620" y="2080260"/>
            <a:ext cx="1184910" cy="29718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800" y="243078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Stihl Contraface Text"/>
              </a:rPr>
              <a:t>Impl. Phase 1 (Demand, Portfolio)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430780"/>
            <a:ext cx="9601200" cy="3429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93770" y="2453639"/>
            <a:ext cx="3585210" cy="29718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800" y="280416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Stihl Contraface Text"/>
              </a:rPr>
              <a:t>Go-Live Phase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2804160"/>
            <a:ext cx="9601200" cy="3429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94220" y="2827019"/>
            <a:ext cx="384810" cy="2971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800" y="317754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Stihl Contraface Text"/>
              </a:rPr>
              <a:t>Impl. Phase 2 (PM, Res., Fin.)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3177540"/>
            <a:ext cx="9601200" cy="3429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094220" y="3200400"/>
            <a:ext cx="4385310" cy="29718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800" y="355092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Stihl Contraface Text"/>
              </a:rPr>
              <a:t>Go-Live Phase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3550920"/>
            <a:ext cx="9601200" cy="3429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94770" y="3573780"/>
            <a:ext cx="384810" cy="2971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800" y="3924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Stihl Contraface Text"/>
              </a:rPr>
              <a:t>Change / Rollout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3924300"/>
            <a:ext cx="9601200" cy="3429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93770" y="3947160"/>
            <a:ext cx="8385810" cy="29718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800" y="452628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07F12"/>
                </a:solidFill>
                <a:latin typeface="Stihl Contraface Text"/>
              </a:rPr>
              <a:t>Investitions- und Nutzenprofil (schematisch)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4800" y="4754880"/>
            <a:ext cx="11582400" cy="15240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4800" y="4754880"/>
            <a:ext cx="2312670" cy="152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800" y="6088380"/>
            <a:ext cx="2316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Stihl Contraface Text"/>
              </a:rPr>
              <a:t>Jahr 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21280" y="4754880"/>
            <a:ext cx="2312670" cy="1524000"/>
          </a:xfrm>
          <a:prstGeom prst="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21280" y="6088380"/>
            <a:ext cx="2316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Stihl Contraface Text"/>
              </a:rPr>
              <a:t>Jahr 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60" y="4754880"/>
            <a:ext cx="2312670" cy="152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6088380"/>
            <a:ext cx="2316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Stihl Contraface Text"/>
              </a:rPr>
              <a:t>Jahr 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54239" y="4754880"/>
            <a:ext cx="2312670" cy="1524000"/>
          </a:xfrm>
          <a:prstGeom prst="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54239" y="6088380"/>
            <a:ext cx="2316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Stihl Contraface Text"/>
              </a:rPr>
              <a:t>Jahr 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70720" y="4754880"/>
            <a:ext cx="2312670" cy="152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70720" y="6088380"/>
            <a:ext cx="2316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  <a:latin typeface="Stihl Contraface Text"/>
              </a:rPr>
              <a:t>Jahr 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96340" y="5525346"/>
            <a:ext cx="228600" cy="524933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449146"/>
            <a:ext cx="6096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B91C1C"/>
                </a:solidFill>
                <a:latin typeface="Stihl Contraface Text"/>
              </a:rPr>
              <a:t>2.0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501140" y="5971540"/>
            <a:ext cx="228600" cy="78739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10640" y="5895340"/>
            <a:ext cx="6096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2E7D32"/>
                </a:solidFill>
                <a:latin typeface="Stihl Contraface Text"/>
              </a:rPr>
              <a:t>0.3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12819" y="5472853"/>
            <a:ext cx="228600" cy="577426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22319" y="5396653"/>
            <a:ext cx="6096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B91C1C"/>
                </a:solidFill>
                <a:latin typeface="Stihl Contraface Text"/>
              </a:rPr>
              <a:t>2.2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17619" y="5656580"/>
            <a:ext cx="228600" cy="393699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27119" y="5580380"/>
            <a:ext cx="6096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2E7D32"/>
                </a:solidFill>
                <a:latin typeface="Stihl Contraface Text"/>
              </a:rPr>
              <a:t>1.5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829300" y="5735320"/>
            <a:ext cx="228600" cy="314959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38800" y="5659120"/>
            <a:ext cx="6096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B91C1C"/>
                </a:solidFill>
                <a:latin typeface="Stihl Contraface Text"/>
              </a:rPr>
              <a:t>1.2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34100" y="5262880"/>
            <a:ext cx="228600" cy="787399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0" y="5186680"/>
            <a:ext cx="6096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2E7D32"/>
                </a:solidFill>
                <a:latin typeface="Stihl Contraface Text"/>
              </a:rPr>
              <a:t>3.0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45779" y="5787813"/>
            <a:ext cx="228600" cy="262466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55279" y="5711613"/>
            <a:ext cx="6096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B91C1C"/>
                </a:solidFill>
                <a:latin typeface="Stihl Contraface Text"/>
              </a:rPr>
              <a:t>1.0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50580" y="5000413"/>
            <a:ext cx="228600" cy="1049866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60079" y="4924213"/>
            <a:ext cx="6096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2E7D32"/>
                </a:solidFill>
                <a:latin typeface="Stihl Contraface Text"/>
              </a:rPr>
              <a:t>4.0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462259" y="5787813"/>
            <a:ext cx="228600" cy="262466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71759" y="5711613"/>
            <a:ext cx="6096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B91C1C"/>
                </a:solidFill>
                <a:latin typeface="Stihl Contraface Text"/>
              </a:rPr>
              <a:t>1.0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767059" y="4921673"/>
            <a:ext cx="228600" cy="1128606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76559" y="4845473"/>
            <a:ext cx="6096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1" i="0">
                <a:solidFill>
                  <a:srgbClr val="2E7D32"/>
                </a:solidFill>
                <a:latin typeface="Stihl Contraface Text"/>
              </a:rPr>
              <a:t>4.3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80" y="4800600"/>
            <a:ext cx="2316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07F12"/>
                </a:solidFill>
                <a:latin typeface="Stihl Contraface Text"/>
              </a:rPr>
              <a:t>★ Break-even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Szenario B – Extended Ramp-Up 36 Monate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Vergleich zu Szenario A: konservativer, weniger Change-Druck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1524000"/>
            <a:ext cx="5638800" cy="2438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4800" y="1524000"/>
            <a:ext cx="5638800" cy="3810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4800" y="1524000"/>
            <a:ext cx="56388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tihl Contraface Text"/>
              </a:rPr>
              <a:t>Szenario A – 24 Monate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81200"/>
            <a:ext cx="533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Stihl Contraface Text"/>
              </a:rPr>
              <a:t>Dauer: 24 Monate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09800"/>
            <a:ext cx="5334000" cy="1524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209800"/>
            <a:ext cx="3556000" cy="1524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2606040"/>
            <a:ext cx="91440" cy="914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460" y="2514600"/>
            <a:ext cx="5181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Stihl Contraface Text"/>
              </a:rPr>
              <a:t>Standard-Tempo, 2 Jahre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895600"/>
            <a:ext cx="91440" cy="914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460" y="2804160"/>
            <a:ext cx="5181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Stihl Contraface Text"/>
              </a:rPr>
              <a:t>Höherer Change-Druck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185160"/>
            <a:ext cx="91440" cy="914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460" y="3093720"/>
            <a:ext cx="5181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Stihl Contraface Text"/>
              </a:rPr>
              <a:t>Nutzen ab Jahr 3 vollständig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474720"/>
            <a:ext cx="91440" cy="914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460" y="3383280"/>
            <a:ext cx="5181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Stihl Contraface Text"/>
              </a:rPr>
              <a:t>Payback ~ 3,5 Jahre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3764280"/>
            <a:ext cx="91440" cy="9144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460" y="3672840"/>
            <a:ext cx="5181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Stihl Contraface Text"/>
              </a:rPr>
              <a:t>Empfohlen bei ausreichenden Ressourcen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8400" y="1524000"/>
            <a:ext cx="5638800" cy="2438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6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48400" y="1524000"/>
            <a:ext cx="5638800" cy="38100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8400" y="1524000"/>
            <a:ext cx="56388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tihl Contraface Text"/>
              </a:rPr>
              <a:t>Szenario B – 36 Monate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981200"/>
            <a:ext cx="533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Stihl Contraface Text"/>
              </a:rPr>
              <a:t>Dauer: 36 Monate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209800"/>
            <a:ext cx="5334000" cy="152400"/>
          </a:xfrm>
          <a:prstGeom prst="round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0" y="2209800"/>
            <a:ext cx="5334000" cy="15240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0800" y="2606040"/>
            <a:ext cx="91440" cy="91440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76060" y="2514600"/>
            <a:ext cx="5181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Stihl Contraface Text"/>
              </a:rPr>
              <a:t>Verteiltes Tempo, 3 Jahre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2895600"/>
            <a:ext cx="91440" cy="91440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76060" y="2804160"/>
            <a:ext cx="5181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Stihl Contraface Text"/>
              </a:rPr>
              <a:t>Weniger Change-Druck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3185160"/>
            <a:ext cx="91440" cy="91440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76060" y="3093720"/>
            <a:ext cx="5181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Stihl Contraface Text"/>
              </a:rPr>
              <a:t>Nutzen ab Jahr 4 vollständig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0" y="3474720"/>
            <a:ext cx="91440" cy="91440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76060" y="3383280"/>
            <a:ext cx="5181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Stihl Contraface Text"/>
              </a:rPr>
              <a:t>Payback ~ 4,5 Jahre</a:t>
            </a:r>
          </a:p>
        </p:txBody>
      </p:sp>
      <p:sp>
        <p:nvSpPr>
          <p:cNvPr id="34" name="Oval 33"/>
          <p:cNvSpPr/>
          <p:nvPr/>
        </p:nvSpPr>
        <p:spPr>
          <a:xfrm>
            <a:off x="6400800" y="3764280"/>
            <a:ext cx="91440" cy="91440"/>
          </a:xfrm>
          <a:prstGeom prst="ellipse">
            <a:avLst/>
          </a:prstGeom>
          <a:solidFill>
            <a:srgbClr val="3B6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76060" y="3672840"/>
            <a:ext cx="5181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Stihl Contraface Text"/>
              </a:rPr>
              <a:t>Empfohlen bei knappen Ressourcen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4800" y="41910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07F12"/>
                </a:solidFill>
                <a:latin typeface="Stihl Contraface Text"/>
              </a:rPr>
              <a:t>Kosten- &amp; Nutzen-Delta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04800" y="4419600"/>
            <a:ext cx="11582400" cy="25908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4800" y="4419600"/>
            <a:ext cx="41910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tihl Contraface Text"/>
              </a:rPr>
              <a:t>Kennzahl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419600"/>
            <a:ext cx="24384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tihl Contraface Text"/>
              </a:rPr>
              <a:t>Szenario 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10400" y="4419600"/>
            <a:ext cx="24384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tihl Contraface Text"/>
              </a:rPr>
              <a:t>Szenario 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48800" y="4419600"/>
            <a:ext cx="24384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tihl Contraface Text"/>
              </a:rPr>
              <a:t>Δ B vs 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4800" y="469392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693920"/>
            <a:ext cx="3962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Einmalige Kosten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693920"/>
            <a:ext cx="2438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07F12"/>
                </a:solidFill>
                <a:latin typeface="Stihl Contraface Text"/>
              </a:rPr>
              <a:t>3,0 M€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10400" y="4693920"/>
            <a:ext cx="2438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3B6BA5"/>
                </a:solidFill>
                <a:latin typeface="Stihl Contraface Text"/>
              </a:rPr>
              <a:t>2,7 M€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48800" y="4693920"/>
            <a:ext cx="2438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B91C1C"/>
                </a:solidFill>
                <a:latin typeface="Stihl Contraface Text"/>
              </a:rPr>
              <a:t>−0,3 M€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4800" y="4953000"/>
            <a:ext cx="11582400" cy="2438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4953000"/>
            <a:ext cx="3962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Laufend p.a. steady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4953000"/>
            <a:ext cx="2438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07F12"/>
                </a:solidFill>
                <a:latin typeface="Stihl Contraface Text"/>
              </a:rPr>
              <a:t>0,85 M€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0400" y="4953000"/>
            <a:ext cx="2438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3B6BA5"/>
                </a:solidFill>
                <a:latin typeface="Stihl Contraface Text"/>
              </a:rPr>
              <a:t>0,80 M€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48800" y="4953000"/>
            <a:ext cx="2438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B91C1C"/>
                </a:solidFill>
                <a:latin typeface="Stihl Contraface Text"/>
              </a:rPr>
              <a:t>−0,05 M€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04800" y="521208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5212080"/>
            <a:ext cx="3962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5-Jahres-TCO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0" y="5212080"/>
            <a:ext cx="2438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07F12"/>
                </a:solidFill>
                <a:latin typeface="Stihl Contraface Text"/>
              </a:rPr>
              <a:t>7,0 M€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10400" y="5212080"/>
            <a:ext cx="2438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3B6BA5"/>
                </a:solidFill>
                <a:latin typeface="Stihl Contraface Text"/>
              </a:rPr>
              <a:t>6,7 M€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48800" y="5212080"/>
            <a:ext cx="2438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B91C1C"/>
                </a:solidFill>
                <a:latin typeface="Stihl Contraface Text"/>
              </a:rPr>
              <a:t>−0,3 M€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4800" y="5471160"/>
            <a:ext cx="11582400" cy="2438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5471160"/>
            <a:ext cx="3962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Nutzen Y3 (kumul.)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0" y="5471160"/>
            <a:ext cx="2438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07F12"/>
                </a:solidFill>
                <a:latin typeface="Stihl Contraface Text"/>
              </a:rPr>
              <a:t>3,5 M€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10400" y="5471160"/>
            <a:ext cx="2438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3B6BA5"/>
                </a:solidFill>
                <a:latin typeface="Stihl Contraface Text"/>
              </a:rPr>
              <a:t>1,8 M€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48800" y="5471160"/>
            <a:ext cx="2438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B91C1C"/>
                </a:solidFill>
                <a:latin typeface="Stihl Contraface Text"/>
              </a:rPr>
              <a:t>−1,7 M€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4800" y="5730240"/>
            <a:ext cx="11582400" cy="2438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5730240"/>
            <a:ext cx="3962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Nutzen Y5 (kumul.)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0" y="5730240"/>
            <a:ext cx="2438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07F12"/>
                </a:solidFill>
                <a:latin typeface="Stihl Contraface Text"/>
              </a:rPr>
              <a:t>16 M€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10400" y="5730240"/>
            <a:ext cx="2438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3B6BA5"/>
                </a:solidFill>
                <a:latin typeface="Stihl Contraface Text"/>
              </a:rPr>
              <a:t>12 M€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48800" y="5730240"/>
            <a:ext cx="2438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B91C1C"/>
                </a:solidFill>
                <a:latin typeface="Stihl Contraface Text"/>
              </a:rPr>
              <a:t>−4 M€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4800" y="5989320"/>
            <a:ext cx="11582400" cy="24384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5989320"/>
            <a:ext cx="3962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Payback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0" y="5989320"/>
            <a:ext cx="2438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F07F12"/>
                </a:solidFill>
                <a:latin typeface="Stihl Contraface Text"/>
              </a:rPr>
              <a:t>~ 3,5 J.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10400" y="5989320"/>
            <a:ext cx="2438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3B6BA5"/>
                </a:solidFill>
                <a:latin typeface="Stihl Contraface Text"/>
              </a:rPr>
              <a:t>~ 4,5 J.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48800" y="5989320"/>
            <a:ext cx="24384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Stihl Contraface Text"/>
              </a:rPr>
              <a:t>+1 J.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Budgetplanung SEPM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Punkt 6 Folie 4: Investitionsprofil für Jahresplanung 2027 + 2028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1524000"/>
            <a:ext cx="11582400" cy="6096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24000"/>
            <a:ext cx="6858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tihl Contraface Text"/>
              </a:rPr>
              <a:t>Gesamt-Investition SEPM 2027–2031 (Base Case)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52400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F07F12"/>
                </a:solidFill>
                <a:latin typeface="Stihl Contraface Text"/>
              </a:rPr>
              <a:t>~ 7.6 Mio. 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7760" y="2743200"/>
            <a:ext cx="1219200" cy="22860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360" y="2552700"/>
            <a:ext cx="152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Stihl Contraface Text"/>
              </a:rPr>
              <a:t>2.2 M€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60" y="50673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Stihl Contraface Text"/>
              </a:rPr>
              <a:t>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360" y="52959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Stihl Contraface Text"/>
              </a:rPr>
              <a:t>Phase 1 Impl. + Lizenz Y1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743200"/>
            <a:ext cx="1219200" cy="22860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30880" y="2552700"/>
            <a:ext cx="152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Stihl Contraface Text"/>
              </a:rPr>
              <a:t>2.2 M€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0880" y="50673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Stihl Contraface Text"/>
              </a:rPr>
              <a:t>2028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52959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Stihl Contraface Text"/>
              </a:rPr>
              <a:t>Phase 2 Impl. + Lizenz Y2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38800" y="3782290"/>
            <a:ext cx="1219200" cy="1246909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3591790"/>
            <a:ext cx="152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Stihl Contraface Text"/>
              </a:rPr>
              <a:t>1.2 M€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50673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Stihl Contraface Text"/>
              </a:rPr>
              <a:t>2029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4400" y="52959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Stihl Contraface Text"/>
              </a:rPr>
              <a:t>Steady State + Weiterentw.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94320" y="3990109"/>
            <a:ext cx="1219200" cy="1039090"/>
          </a:xfrm>
          <a:prstGeom prst="roundRect">
            <a:avLst/>
          </a:prstGeom>
          <a:solidFill>
            <a:srgbClr val="FD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1920" y="3799609"/>
            <a:ext cx="152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Stihl Contraface Text"/>
              </a:rPr>
              <a:t>1.0 M€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1920" y="50673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Stihl Contraface Text"/>
              </a:rPr>
              <a:t>2030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9920" y="52959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Stihl Contraface Text"/>
              </a:rPr>
              <a:t>Steady State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3990109"/>
            <a:ext cx="1219200" cy="1039090"/>
          </a:xfrm>
          <a:prstGeom prst="roundRect">
            <a:avLst/>
          </a:prstGeom>
          <a:solidFill>
            <a:srgbClr val="FDE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97440" y="3799609"/>
            <a:ext cx="152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Stihl Contraface Text"/>
              </a:rPr>
              <a:t>1.0 M€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97440" y="50673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100" b="1" i="0">
                <a:solidFill>
                  <a:srgbClr val="1F2937"/>
                </a:solidFill>
                <a:latin typeface="Stihl Contraface Text"/>
              </a:rPr>
              <a:t>2031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52959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Stihl Contraface Text"/>
              </a:rPr>
              <a:t>Steady State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5029200"/>
            <a:ext cx="11277600" cy="1143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800" y="56388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07F12"/>
                </a:solidFill>
                <a:latin typeface="Stihl Contraface Text"/>
              </a:rPr>
              <a:t>Milestones Jahresplanung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4800" y="5867400"/>
            <a:ext cx="3657600" cy="76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iamond 29"/>
          <p:cNvSpPr/>
          <p:nvPr/>
        </p:nvSpPr>
        <p:spPr>
          <a:xfrm>
            <a:off x="381000" y="6057900"/>
            <a:ext cx="228600" cy="228600"/>
          </a:xfrm>
          <a:prstGeom prst="diamond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897880"/>
            <a:ext cx="32004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Q3 2026: Jahresplanung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1569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Investitions-Beschluss 2027 &amp; Rahmen 2028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0" y="5867400"/>
            <a:ext cx="3657600" cy="76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iamond 33"/>
          <p:cNvSpPr/>
          <p:nvPr/>
        </p:nvSpPr>
        <p:spPr>
          <a:xfrm>
            <a:off x="4191000" y="6057900"/>
            <a:ext cx="228600" cy="228600"/>
          </a:xfrm>
          <a:prstGeom prst="diamond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95800" y="5897880"/>
            <a:ext cx="32004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Q3 2027: Jahresplanung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95800" y="61569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Freigabe Phase 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24800" y="5867400"/>
            <a:ext cx="3657600" cy="76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iamond 37"/>
          <p:cNvSpPr/>
          <p:nvPr/>
        </p:nvSpPr>
        <p:spPr>
          <a:xfrm>
            <a:off x="8001000" y="6057900"/>
            <a:ext cx="228600" cy="228600"/>
          </a:xfrm>
          <a:prstGeom prst="diamond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05800" y="5897880"/>
            <a:ext cx="32004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Q3 2028: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5800" y="61569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Übergang in Steady State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Risiken der ServiceNow-Plattform-Abhängigkeit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Systematische Bewertung + Mitigationen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15240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07F12"/>
                </a:solidFill>
                <a:latin typeface="Stihl Contraface Text"/>
              </a:rPr>
              <a:t>Risiko-Matrix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4800" y="1752600"/>
            <a:ext cx="11582400" cy="25908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52600"/>
            <a:ext cx="2895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tihl Contraface Text"/>
              </a:rPr>
              <a:t>Risiko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5200" y="1752600"/>
            <a:ext cx="12192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tihl Contraface Text"/>
              </a:rPr>
              <a:t>Schwere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800" y="1752600"/>
            <a:ext cx="70104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tihl Contraface Text"/>
              </a:rPr>
              <a:t>Mitigation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4800" y="2026920"/>
            <a:ext cx="11582400" cy="5029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4978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Vendor Lock-in</a:t>
            </a:r>
          </a:p>
        </p:txBody>
      </p:sp>
      <p:sp>
        <p:nvSpPr>
          <p:cNvPr id="11" name="Oval 10"/>
          <p:cNvSpPr/>
          <p:nvPr/>
        </p:nvSpPr>
        <p:spPr>
          <a:xfrm>
            <a:off x="3505200" y="2232660"/>
            <a:ext cx="152400" cy="15240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33800" y="2232660"/>
            <a:ext cx="152400" cy="15240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962400" y="2232660"/>
            <a:ext cx="152400" cy="15240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1000" y="2232660"/>
            <a:ext cx="152400" cy="15240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19600" y="223266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76800" y="20497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Stihl Contraface Text"/>
              </a:rPr>
              <a:t>Standard-Konfiguration, Migrations-Klauseln, jährl. Marktscreening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4800" y="2560320"/>
            <a:ext cx="11582400" cy="50292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58318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Preis-Eskalation</a:t>
            </a:r>
          </a:p>
        </p:txBody>
      </p:sp>
      <p:sp>
        <p:nvSpPr>
          <p:cNvPr id="19" name="Oval 18"/>
          <p:cNvSpPr/>
          <p:nvPr/>
        </p:nvSpPr>
        <p:spPr>
          <a:xfrm>
            <a:off x="3505200" y="2766060"/>
            <a:ext cx="152400" cy="152400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733800" y="2766060"/>
            <a:ext cx="152400" cy="152400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62400" y="2766060"/>
            <a:ext cx="152400" cy="152400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91000" y="276606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19600" y="276606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76800" y="25831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Stihl Contraface Text"/>
              </a:rPr>
              <a:t>Mehrjahresvertrag mit Preisgarantie, Volumen-Rabatte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4800" y="3093720"/>
            <a:ext cx="11582400" cy="5029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11658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Ausfall/Betrieb</a:t>
            </a:r>
          </a:p>
        </p:txBody>
      </p:sp>
      <p:sp>
        <p:nvSpPr>
          <p:cNvPr id="27" name="Oval 26"/>
          <p:cNvSpPr/>
          <p:nvPr/>
        </p:nvSpPr>
        <p:spPr>
          <a:xfrm>
            <a:off x="3505200" y="329946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733800" y="329946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962400" y="329946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191000" y="329946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19600" y="329946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76800" y="31165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Stihl Contraface Text"/>
              </a:rPr>
              <a:t>SLA 99,9% + regionaler DC (Frankfurt/Düsseldorf), DSGVO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4800" y="3627120"/>
            <a:ext cx="11582400" cy="50292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64998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Roadmap-Divergenz</a:t>
            </a:r>
          </a:p>
        </p:txBody>
      </p:sp>
      <p:sp>
        <p:nvSpPr>
          <p:cNvPr id="35" name="Oval 34"/>
          <p:cNvSpPr/>
          <p:nvPr/>
        </p:nvSpPr>
        <p:spPr>
          <a:xfrm>
            <a:off x="3505200" y="3832860"/>
            <a:ext cx="152400" cy="152400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733800" y="3832860"/>
            <a:ext cx="152400" cy="152400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62400" y="3832860"/>
            <a:ext cx="152400" cy="152400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191000" y="383286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419600" y="383286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76800" y="36499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Stihl Contraface Text"/>
              </a:rPr>
              <a:t>Standard first, keine tiefen Anpassungen; halbjährl. Review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4800" y="4160520"/>
            <a:ext cx="11582400" cy="50292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18338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Datenhoheit / DSGVO</a:t>
            </a:r>
          </a:p>
        </p:txBody>
      </p:sp>
      <p:sp>
        <p:nvSpPr>
          <p:cNvPr id="43" name="Oval 42"/>
          <p:cNvSpPr/>
          <p:nvPr/>
        </p:nvSpPr>
        <p:spPr>
          <a:xfrm>
            <a:off x="3505200" y="436626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733800" y="4366260"/>
            <a:ext cx="152400" cy="1524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962400" y="436626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191000" y="436626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19600" y="436626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76800" y="41833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Stihl Contraface Text"/>
              </a:rPr>
              <a:t>DE-Hosting, ADV-Vertrag, verschlüsselte Datenhaltung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4800" y="4693920"/>
            <a:ext cx="11582400" cy="50292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471678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Stihl Contraface Text"/>
              </a:rPr>
              <a:t>Team-Kompetenzaufbau</a:t>
            </a:r>
          </a:p>
        </p:txBody>
      </p:sp>
      <p:sp>
        <p:nvSpPr>
          <p:cNvPr id="51" name="Oval 50"/>
          <p:cNvSpPr/>
          <p:nvPr/>
        </p:nvSpPr>
        <p:spPr>
          <a:xfrm>
            <a:off x="3505200" y="4899660"/>
            <a:ext cx="152400" cy="152400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733800" y="4899660"/>
            <a:ext cx="152400" cy="152400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962400" y="4899660"/>
            <a:ext cx="152400" cy="152400"/>
          </a:xfrm>
          <a:prstGeom prst="ellipse">
            <a:avLst/>
          </a:prstGeom>
          <a:solidFill>
            <a:srgbClr val="F5C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191000" y="489966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419600" y="4899660"/>
            <a:ext cx="152400" cy="152400"/>
          </a:xfrm>
          <a:prstGeom prst="ellipse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76800" y="47167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Stihl Contraface Text"/>
              </a:rPr>
              <a:t>Ausbau ITSM-Team +1,5-2 FTE, Ausbildungsplan, Partner-Support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04800" y="5303520"/>
            <a:ext cx="11582400" cy="762000"/>
          </a:xfrm>
          <a:prstGeom prst="roundRect">
            <a:avLst/>
          </a:prstGeom>
          <a:solidFill>
            <a:srgbClr val="D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04800" y="5303520"/>
            <a:ext cx="53340" cy="762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5303520"/>
            <a:ext cx="11277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Stihl Contraface Text"/>
              </a:rPr>
              <a:t>Fazit Risiko-Bewertung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5532120"/>
            <a:ext cx="11277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30000" rIns="30000" tIns="10000" bIns="10000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Stihl Contraface Text"/>
              </a:rPr>
              <a:t>Kein Risiko ist ein Show-Stopper. Alle Risiken sind mit Standard-Verträgen (Preisgarantie, DSGVO-ADV, SLA) und Standard-First-Governance beherrschbar. Größter Hebel gegen Vendor Lock-in: konsequente Standard-Nutzung ohne tiefe Customizings.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ServiceNow bei STIHL – Vertragshistorie 2014–2026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Bewährter Partner: 12 Jahre gemeinsame Historie, kontrolliertes Wachstum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15240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07F12"/>
                </a:solidFill>
                <a:latin typeface="Stihl Contraface Text"/>
              </a:rPr>
              <a:t>Vertragsstufen und jährliche Lizenzausgaben (indikativ)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4800" y="1752600"/>
            <a:ext cx="11582400" cy="26670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4038600"/>
            <a:ext cx="11277600" cy="1143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5300" y="3620429"/>
            <a:ext cx="228600" cy="41817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160" y="3528989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-152400" y="3277529"/>
            <a:ext cx="152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  <a:latin typeface="Stihl Contraface Text"/>
              </a:rPr>
              <a:t>180 k€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52400" y="41148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Stihl Contraface Text"/>
              </a:rPr>
              <a:t>2014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24100" y="3434575"/>
            <a:ext cx="228600" cy="604024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6960" y="3343135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76400" y="3091675"/>
            <a:ext cx="152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  <a:latin typeface="Stihl Contraface Text"/>
              </a:rPr>
              <a:t>260 k€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6400" y="41148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Stihl Contraface Text"/>
              </a:rPr>
              <a:t>2016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52900" y="3248721"/>
            <a:ext cx="228600" cy="789878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75760" y="3157281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05200" y="2905821"/>
            <a:ext cx="152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  <a:latin typeface="Stihl Contraface Text"/>
              </a:rPr>
              <a:t>340 k€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5200" y="41148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Stihl Contraface Text"/>
              </a:rPr>
              <a:t>2018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1700" y="3086100"/>
            <a:ext cx="228600" cy="9525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04560" y="2994660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34000" y="2743200"/>
            <a:ext cx="152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  <a:latin typeface="Stihl Contraface Text"/>
              </a:rPr>
              <a:t>410 k€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0" y="41148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Stihl Contraface Text"/>
              </a:rPr>
              <a:t>2020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0500" y="2900246"/>
            <a:ext cx="228600" cy="1138353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833360" y="2808806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62800" y="2557346"/>
            <a:ext cx="152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  <a:latin typeface="Stihl Contraface Text"/>
              </a:rPr>
              <a:t>490 k€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2800" y="41148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Stihl Contraface Text"/>
              </a:rPr>
              <a:t>2022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39300" y="2737624"/>
            <a:ext cx="228600" cy="1300975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62160" y="2646184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91600" y="2394724"/>
            <a:ext cx="152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  <a:latin typeface="Stihl Contraface Text"/>
              </a:rPr>
              <a:t>560 k€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91600" y="41148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Stihl Contraface Text"/>
              </a:rPr>
              <a:t>2024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68100" y="2133600"/>
            <a:ext cx="228600" cy="19050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490960" y="2042160"/>
            <a:ext cx="182880" cy="18288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20400" y="1790700"/>
            <a:ext cx="1524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1" i="0">
                <a:solidFill>
                  <a:srgbClr val="2C3E50"/>
                </a:solidFill>
                <a:latin typeface="Stihl Contraface Text"/>
              </a:rPr>
              <a:t>820 k€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400" y="41148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Stihl Contraface Text"/>
              </a:rPr>
              <a:t>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4800" y="44958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00" b="1" i="0">
                <a:solidFill>
                  <a:srgbClr val="F07F12"/>
                </a:solidFill>
                <a:latin typeface="Stihl Contraface Text"/>
              </a:rPr>
              <a:t>Meilensteine der Zusammenarbeit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4800" y="4724400"/>
            <a:ext cx="373380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04800" y="4724400"/>
            <a:ext cx="381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9100" y="4739640"/>
            <a:ext cx="35052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Stihl Contraface Text"/>
              </a:rPr>
              <a:t>2014 · Erstvertrag ITSM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9100" y="4953000"/>
            <a:ext cx="350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Standard Package, 500 Fulfiller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91000" y="4724400"/>
            <a:ext cx="373380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1000" y="4724400"/>
            <a:ext cx="381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05300" y="4739640"/>
            <a:ext cx="35052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Stihl Contraface Text"/>
              </a:rPr>
              <a:t>2016 · Erweiterung Global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05300" y="4953000"/>
            <a:ext cx="350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Ausrollung inkl. China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77200" y="4724400"/>
            <a:ext cx="373380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77200" y="4724400"/>
            <a:ext cx="381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91500" y="4739640"/>
            <a:ext cx="35052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Stihl Contraface Text"/>
              </a:rPr>
              <a:t>2018 · Enterprise-Vertrag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91500" y="4953000"/>
            <a:ext cx="350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Volumen-Diskont, HR-SD add-on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4800" y="5257800"/>
            <a:ext cx="373380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04800" y="5257800"/>
            <a:ext cx="381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9100" y="5273040"/>
            <a:ext cx="35052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Stihl Contraface Text"/>
              </a:rPr>
              <a:t>2020 · ITOM + CMDB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9100" y="5486400"/>
            <a:ext cx="350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Discovery, Event Mgmt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191000" y="5257800"/>
            <a:ext cx="373380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91000" y="5257800"/>
            <a:ext cx="381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05300" y="5273040"/>
            <a:ext cx="35052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Stihl Contraface Text"/>
              </a:rPr>
              <a:t>2022 · Contract Renewal 3J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05300" y="5486400"/>
            <a:ext cx="350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Preisanpassung +5% p.a.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77200" y="5257800"/>
            <a:ext cx="373380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077200" y="5257800"/>
            <a:ext cx="381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91500" y="5273040"/>
            <a:ext cx="35052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Stihl Contraface Text"/>
              </a:rPr>
              <a:t>2024 · Now Assist Preview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1500" y="5486400"/>
            <a:ext cx="350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GenAI eingeführt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04800" y="5791200"/>
            <a:ext cx="3733800" cy="457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04800" y="5791200"/>
            <a:ext cx="381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9100" y="5806440"/>
            <a:ext cx="35052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000" b="1" i="0">
                <a:solidFill>
                  <a:srgbClr val="1F2937"/>
                </a:solidFill>
                <a:latin typeface="Stihl Contraface Text"/>
              </a:rPr>
              <a:t>2026 · SPM Pro (geplant)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9100" y="6019800"/>
            <a:ext cx="350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Stihl Contraface Text"/>
              </a:rPr>
              <a:t>Neuer Modul-Baustein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ROI-Kalkulation &amp; Empfehlung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Gesamt-Wirtschaftlichkeit und Beschlussvorschlag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1524000"/>
            <a:ext cx="2809875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4800" y="1524000"/>
            <a:ext cx="2809875" cy="2590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4800" y="1524000"/>
            <a:ext cx="2809875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tihl Contraface Text"/>
              </a:rPr>
              <a:t>NPV 5 Jahre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" y="1828800"/>
            <a:ext cx="2809875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  <a:latin typeface="Stihl Contraface Text"/>
              </a:rPr>
              <a:t>~ +8,5 M€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2362200"/>
            <a:ext cx="2809875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Stihl Contraface Text"/>
              </a:rPr>
              <a:t>Base Case, WACC 6 %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28975" y="1524000"/>
            <a:ext cx="2809875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28975" y="1524000"/>
            <a:ext cx="2809875" cy="2590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28975" y="1524000"/>
            <a:ext cx="2809875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tihl Contraface Text"/>
              </a:rPr>
              <a:t>IRR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8975" y="1828800"/>
            <a:ext cx="2809875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  <a:latin typeface="Stihl Contraface Text"/>
              </a:rPr>
              <a:t>~ 32 %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8975" y="2362200"/>
            <a:ext cx="2809875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Stihl Contraface Text"/>
              </a:rPr>
              <a:t>über Investitionshürde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150" y="1524000"/>
            <a:ext cx="2809875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53150" y="1524000"/>
            <a:ext cx="2809875" cy="25908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3150" y="1524000"/>
            <a:ext cx="2809875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tihl Contraface Text"/>
              </a:rPr>
              <a:t>Payback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3150" y="1828800"/>
            <a:ext cx="2809875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F07F12"/>
                </a:solidFill>
                <a:latin typeface="Stihl Contraface Text"/>
              </a:rPr>
              <a:t>~ 3,5 J.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150" y="2362200"/>
            <a:ext cx="2809875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Stihl Contraface Text"/>
              </a:rPr>
              <a:t>nach Kickoff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7325" y="1524000"/>
            <a:ext cx="2809875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77325" y="1524000"/>
            <a:ext cx="2809875" cy="25908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7325" y="1524000"/>
            <a:ext cx="2809875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tihl Contraface Text"/>
              </a:rPr>
              <a:t>TCO 5 Jahre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7325" y="1828800"/>
            <a:ext cx="2809875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2200" b="1" i="0">
                <a:solidFill>
                  <a:srgbClr val="2C3E50"/>
                </a:solidFill>
                <a:latin typeface="Stihl Contraface Text"/>
              </a:rPr>
              <a:t>~ 7,0 M€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7325" y="2362200"/>
            <a:ext cx="2809875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900" b="0" i="1">
                <a:solidFill>
                  <a:srgbClr val="4B5563"/>
                </a:solidFill>
                <a:latin typeface="Stihl Contraface Text"/>
              </a:rPr>
              <a:t>einmalig + laufend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4800" y="28956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250" b="1" i="0">
                <a:solidFill>
                  <a:srgbClr val="F07F12"/>
                </a:solidFill>
                <a:latin typeface="Stihl Contraface Text"/>
              </a:rPr>
              <a:t>Kosten-Nutzen-Übersicht (5 Jahre kumuliert, Base Case)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4800" y="3124200"/>
            <a:ext cx="11582400" cy="32004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139440"/>
            <a:ext cx="68580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Stihl Contraface Text"/>
              </a:rPr>
              <a:t>Kosten (TCO)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0" y="3139440"/>
            <a:ext cx="39624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B91C1C"/>
                </a:solidFill>
                <a:latin typeface="Stihl Contraface Text"/>
              </a:rPr>
              <a:t>− 7,0 M€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4800" y="3474720"/>
            <a:ext cx="11582400" cy="32004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489960"/>
            <a:ext cx="68580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Stihl Contraface Text"/>
              </a:rPr>
              <a:t>Konsolidierung Tools (5 J.)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0" y="3489960"/>
            <a:ext cx="39624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Stihl Contraface Text"/>
              </a:rPr>
              <a:t>+ 4,7 M€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4800" y="3825240"/>
            <a:ext cx="11582400" cy="32004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840480"/>
            <a:ext cx="68580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Stihl Contraface Text"/>
              </a:rPr>
              <a:t>Konsolidierung Schnittstellen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0" y="3840480"/>
            <a:ext cx="39624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Stihl Contraface Text"/>
              </a:rPr>
              <a:t>+ 1,1 M€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4800" y="4175760"/>
            <a:ext cx="11582400" cy="320040"/>
          </a:xfrm>
          <a:prstGeom prst="round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191000"/>
            <a:ext cx="68580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Stihl Contraface Text"/>
              </a:rPr>
              <a:t>Business Value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0" y="4191000"/>
            <a:ext cx="39624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Stihl Contraface Text"/>
              </a:rPr>
              <a:t>+ 11,6 M€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04800" y="4526280"/>
            <a:ext cx="11582400" cy="32004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541520"/>
            <a:ext cx="68580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Stihl Contraface Text"/>
              </a:rPr>
              <a:t>Flankierende Prozesse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0000" y="4541520"/>
            <a:ext cx="39624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200" b="1" i="0">
                <a:solidFill>
                  <a:srgbClr val="2E7D32"/>
                </a:solidFill>
                <a:latin typeface="Stihl Contraface Text"/>
              </a:rPr>
              <a:t>+ 5,3 M€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4800" y="4876800"/>
            <a:ext cx="11582400" cy="32004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892040"/>
            <a:ext cx="68580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tihl Contraface Text"/>
              </a:rPr>
              <a:t>Netto-Effekt 5 Jahre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0" y="4892040"/>
            <a:ext cx="3962400" cy="289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r"/>
            <a:r>
              <a:rPr sz="1300" b="1" i="0">
                <a:solidFill>
                  <a:srgbClr val="F07F12"/>
                </a:solidFill>
                <a:latin typeface="Stihl Contraface Text"/>
              </a:rPr>
              <a:t>+ 15,7 M€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04800" y="5379720"/>
            <a:ext cx="11582400" cy="7620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379720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tihl Contraface Text"/>
              </a:rPr>
              <a:t>★ EMPFEHLUNG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05200" y="54178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0000" rIns="30000" tIns="10000" bIns="1000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tihl Contraface Text"/>
              </a:rPr>
              <a:t>Beschluss zur Umsetzung von Szenario A (Full Scope 24 Monate) und Freigabe Detail-Planung / RFP-Prozess bis Q3 2026 empfohlen. NPV +8,5 M€, IRR 32 %, Payback ~3,5 J. — deutlich über Investitions-Hürde.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Vielen Dank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50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F85tvmTV.2trNKwozeA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ETTe1mSV.Cm4EVc0csL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zr7RcHSxecPfjmbUJud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rizpMrTy6lgA5SCokSf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4L0avzTJ2I6Oy1dIR0c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YOEdoRNTiaKeA_qVRivR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6IIGFvQyGz90E2L5DZm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TIHL EN 16:9">
  <a:themeElements>
    <a:clrScheme name="STILHL_CD">
      <a:dk1>
        <a:sysClr val="windowText" lastClr="000000"/>
      </a:dk1>
      <a:lt1>
        <a:sysClr val="window" lastClr="FFFFFF"/>
      </a:lt1>
      <a:dk2>
        <a:srgbClr val="B1B1B1"/>
      </a:dk2>
      <a:lt2>
        <a:srgbClr val="E7E6E6"/>
      </a:lt2>
      <a:accent1>
        <a:srgbClr val="000000"/>
      </a:accent1>
      <a:accent2>
        <a:srgbClr val="F37A1F"/>
      </a:accent2>
      <a:accent3>
        <a:srgbClr val="B1B1B1"/>
      </a:accent3>
      <a:accent4>
        <a:srgbClr val="749F4A"/>
      </a:accent4>
      <a:accent5>
        <a:srgbClr val="249ABE"/>
      </a:accent5>
      <a:accent6>
        <a:srgbClr val="FDC543"/>
      </a:accent6>
      <a:hlink>
        <a:srgbClr val="D43B3B"/>
      </a:hlink>
      <a:folHlink>
        <a:srgbClr val="878787"/>
      </a:folHlink>
    </a:clrScheme>
    <a:fontScheme name="STIHL">
      <a:majorFont>
        <a:latin typeface="STIHL Contraface Text"/>
        <a:ea typeface=""/>
        <a:cs typeface=""/>
      </a:majorFont>
      <a:minorFont>
        <a:latin typeface="STIHL Contraface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</a:spPr>
      <a:bodyPr lIns="72000" tIns="72000" rIns="72000" bIns="72000" rtlCol="0" anchor="ctr"/>
      <a:lstStyle>
        <a:defPPr algn="ctr">
          <a:lnSpc>
            <a:spcPct val="90000"/>
          </a:lnSpc>
          <a:defRPr sz="16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8000" tIns="18000" rIns="18000" bIns="18000" rtlCol="0">
        <a:spAutoFit/>
      </a:bodyPr>
      <a:lstStyle>
        <a:defPPr algn="l">
          <a:lnSpc>
            <a:spcPct val="90000"/>
          </a:lnSpc>
          <a:spcBef>
            <a:spcPts val="400"/>
          </a:spcBef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IHL_EN_16-9.potx" id="{9750D1A3-F6B3-4B5F-BA2F-8611BD39BBAB}" vid="{17D6F275-8783-4081-AFB4-15D0B82B1DD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81C1C579840D48AC999B396FE66310" ma:contentTypeVersion="12" ma:contentTypeDescription="Create a new document." ma:contentTypeScope="" ma:versionID="646d29713344052343ad324215fc0f96">
  <xsd:schema xmlns:xsd="http://www.w3.org/2001/XMLSchema" xmlns:xs="http://www.w3.org/2001/XMLSchema" xmlns:p="http://schemas.microsoft.com/office/2006/metadata/properties" xmlns:ns2="523280cd-a023-47fb-9c6b-d00b9095b7ab" xmlns:ns3="1449935d-50da-41e9-87a8-3306d78bd466" targetNamespace="http://schemas.microsoft.com/office/2006/metadata/properties" ma:root="true" ma:fieldsID="7a04719490a9881a1c9c6d2c79e269f8" ns2:_="" ns3:_="">
    <xsd:import namespace="523280cd-a023-47fb-9c6b-d00b9095b7ab"/>
    <xsd:import namespace="1449935d-50da-41e9-87a8-3306d78bd4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3280cd-a023-47fb-9c6b-d00b9095b7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751d313-418a-41e7-8296-c801e9c6f9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49935d-50da-41e9-87a8-3306d78bd46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1aa8117-7af4-4a81-9c32-6097d7e72bd7}" ma:internalName="TaxCatchAll" ma:showField="CatchAllData" ma:web="1449935d-50da-41e9-87a8-3306d78bd4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449935d-50da-41e9-87a8-3306d78bd466" xsi:nil="true"/>
    <lcf76f155ced4ddcb4097134ff3c332f xmlns="523280cd-a023-47fb-9c6b-d00b9095b7ab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A5E7DB3-A956-4506-AAD6-F0A62C6F1C01}">
  <ds:schemaRefs>
    <ds:schemaRef ds:uri="1449935d-50da-41e9-87a8-3306d78bd466"/>
    <ds:schemaRef ds:uri="523280cd-a023-47fb-9c6b-d00b9095b7a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B9BD90E-92CC-4A62-9368-6A8C72AC441B}">
  <ds:schemaRefs>
    <ds:schemaRef ds:uri="1449935d-50da-41e9-87a8-3306d78bd466"/>
    <ds:schemaRef ds:uri="2f256423-360f-43c8-9cc5-edab87e38065"/>
    <ds:schemaRef ds:uri="523280cd-a023-47fb-9c6b-d00b9095b7ab"/>
    <ds:schemaRef ds:uri="810f0827-59f8-4c5d-82e6-a3017adce94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3ACD1F0-1D83-4215-A735-A9D0BB6DD0C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STIHL_EN_16-9</Template>
  <TotalTime>0</TotalTime>
  <Words>677</Words>
  <Application>Microsoft Office PowerPoint</Application>
  <PresentationFormat>Breitbild</PresentationFormat>
  <Paragraphs>132</Paragraphs>
  <Slides>6</Slides>
  <Notes>4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2</vt:i4>
      </vt:variant>
      <vt:variant>
        <vt:lpstr>Folientitel</vt:lpstr>
      </vt:variant>
      <vt:variant>
        <vt:i4>6</vt:i4>
      </vt:variant>
    </vt:vector>
  </HeadingPairs>
  <TitlesOfParts>
    <vt:vector size="14" baseType="lpstr">
      <vt:lpstr>Arial</vt:lpstr>
      <vt:lpstr>Calibri</vt:lpstr>
      <vt:lpstr>STIHL Contraface Display Title</vt:lpstr>
      <vt:lpstr>STIHL Contraface Text</vt:lpstr>
      <vt:lpstr>Symbol</vt:lpstr>
      <vt:lpstr>STIHL EN 16:9</vt:lpstr>
      <vt:lpstr>think-cell Slide</vt:lpstr>
      <vt:lpstr>think-cell Folie</vt:lpstr>
      <vt:lpstr>SEPM Weiteres Vorgehen  ƒ</vt:lpstr>
      <vt:lpstr>Weiteres Vorgehen </vt:lpstr>
      <vt:lpstr>Vorstandsprotokoll SEPM </vt:lpstr>
      <vt:lpstr>Vorgänge </vt:lpstr>
      <vt:lpstr>Detail-Terminierung</vt:lpstr>
      <vt:lpstr>PowerPoint-Präsentation</vt:lpstr>
    </vt:vector>
  </TitlesOfParts>
  <Manager/>
  <Company>ERR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D1/MC2 Ecke, Oliver</dc:creator>
  <cp:lastModifiedBy>D8/ODS Passaro, Alexander</cp:lastModifiedBy>
  <cp:revision>2</cp:revision>
  <dcterms:created xsi:type="dcterms:W3CDTF">2025-07-07T10:08:27Z</dcterms:created>
  <dcterms:modified xsi:type="dcterms:W3CDTF">2026-07-01T14:46:47Z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0x0101003681C1C579840D48AC999B396FE66310</vt:lpwstr>
  </property>
  <property fmtid="{D5CDD505-2E9C-101B-9397-08002B2CF9AE}" pid="3" name="Verantwortlicher">
    <vt:lpwstr/>
  </property>
  <property fmtid="{D5CDD505-2E9C-101B-9397-08002B2CF9AE}" pid="4" name="MSIP_Label_f336f76c-dfa2-4ce6-8362-305539f7b79a_Enabled">
    <vt:lpwstr>true</vt:lpwstr>
  </property>
  <property fmtid="{D5CDD505-2E9C-101B-9397-08002B2CF9AE}" pid="5" name="MSIP_Label_f336f76c-dfa2-4ce6-8362-305539f7b79a_SetDate">
    <vt:lpwstr>2023-12-12T09:44:36Z</vt:lpwstr>
  </property>
  <property fmtid="{D5CDD505-2E9C-101B-9397-08002B2CF9AE}" pid="6" name="MSIP_Label_f336f76c-dfa2-4ce6-8362-305539f7b79a_Method">
    <vt:lpwstr>Privileged</vt:lpwstr>
  </property>
  <property fmtid="{D5CDD505-2E9C-101B-9397-08002B2CF9AE}" pid="7" name="MSIP_Label_f336f76c-dfa2-4ce6-8362-305539f7b79a_Name">
    <vt:lpwstr>Internal</vt:lpwstr>
  </property>
  <property fmtid="{D5CDD505-2E9C-101B-9397-08002B2CF9AE}" pid="8" name="MSIP_Label_f336f76c-dfa2-4ce6-8362-305539f7b79a_SiteId">
    <vt:lpwstr>702ed1df-fbf3-42e7-a14d-db80a314e632</vt:lpwstr>
  </property>
  <property fmtid="{D5CDD505-2E9C-101B-9397-08002B2CF9AE}" pid="9" name="MSIP_Label_f336f76c-dfa2-4ce6-8362-305539f7b79a_ActionId">
    <vt:lpwstr>f25fa44d-eaa3-46d9-9d6a-7f6f55407eae</vt:lpwstr>
  </property>
  <property fmtid="{D5CDD505-2E9C-101B-9397-08002B2CF9AE}" pid="10" name="MSIP_Label_f336f76c-dfa2-4ce6-8362-305539f7b79a_ContentBits">
    <vt:lpwstr>1</vt:lpwstr>
  </property>
  <property fmtid="{D5CDD505-2E9C-101B-9397-08002B2CF9AE}" pid="11" name="MediaServiceImageTags">
    <vt:lpwstr/>
  </property>
</Properties>
</file>