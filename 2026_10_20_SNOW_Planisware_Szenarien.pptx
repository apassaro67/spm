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Evaluierung Plattform-Szenarien für PPM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F07F12"/>
                </a:solidFill>
                <a:latin typeface="Calibri"/>
              </a:rPr>
              <a:t>ServiceNow SPM homogen vs. Kombination mit Planisware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Calibri"/>
              </a:rPr>
              <a:t>Entscheidungsvorlage für Team-Evaluierung und Vorstands-Empfehlung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Alex Passaro · Torsten Zahn  ·  20.10.2026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Ausgangslage &amp; Rahmen der Evaluierung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Was ist gesetzt, was steht zur Entscheidung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DDF1D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 Gesetzt (nicht Teil dieser Evaluierung)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48640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ServiceNow bleibt strategische Plattform (seit 2014)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ServiceNow SPM als Modul für Strategy / OKR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ServiceNow SPM als Modul für Demand Management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ServiceNow SPM als Modul für Projekt- und Produktportfolio (Roadmap)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SNOW Demand-Management ist bereits produktiv aktiv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Ablöse des Altsystems (PIT/MSPO) ist beschlossen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Funktionale Eignung SNOW für PM (inkl. PEP, Ressourcen,
    Restwert, SAP-Obligo) wurde bereits nachgewiesen —
    Massenänderungen per Low-Code/App lösbar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760720" cy="5074920"/>
          </a:xfrm>
          <a:prstGeom prst="roundRect">
            <a:avLst>
              <a:gd name="adj" fmla="val 8000"/>
            </a:avLst>
          </a:prstGeom>
          <a:solidFill>
            <a:srgbClr val="FFF6D5"/>
          </a:solidFill>
          <a:ln w="12700">
            <a:solidFill>
              <a:srgbClr val="E0A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371600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00"/>
                </a:solidFill>
                <a:latin typeface="Calibri"/>
              </a:rPr>
              <a:t>❓  Zu entscheiden in dieser Evaluierung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783080"/>
            <a:ext cx="5486400" cy="4480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Welche Plattform trägt das Projekt-Management?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  → SNOW SPM homogen für alles?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  → SNOW + Planisware nur für Entwicklung/Produktion?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  → SNOW + Planisware weltweit für alle Fachbereiche?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  → Alternativer Schnitt (z.B. nur ausgewählter PEP-Subset)?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Zielbild für Betriebsmodell (Team, Support, Verträge)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Calibri"/>
              </a:rPr>
              <a:t>•  Wirtschaftliche Rahmung (Lizenz, Implementierung, TCO 5J)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6446520"/>
            <a:ext cx="11612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Fokus dieser Präsentation: Beschreibung der Szenarien, Vor-/Nachteile, gemeinsame Scorecard für die Bewertung.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Vier bewertete Szenarien im Überblick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Gemeinsamer Kern: SNOW für Strategy · Portfolio · Demand ·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2788920" cy="777240"/>
          </a:xfrm>
          <a:prstGeom prst="roundRect">
            <a:avLst>
              <a:gd name="adj" fmla="val 15000"/>
            </a:avLst>
          </a:prstGeom>
          <a:solidFill>
            <a:srgbClr val="285AB8"/>
          </a:solidFill>
          <a:ln w="9525">
            <a:solidFill>
              <a:srgbClr val="28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298448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536192"/>
            <a:ext cx="2788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 homogen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256" y="1234440"/>
            <a:ext cx="2788920" cy="777240"/>
          </a:xfrm>
          <a:prstGeom prst="roundRect">
            <a:avLst>
              <a:gd name="adj" fmla="val 15000"/>
            </a:avLst>
          </a:prstGeom>
          <a:solidFill>
            <a:srgbClr val="F07F12"/>
          </a:solidFill>
          <a:ln w="9525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1298448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 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1536192"/>
            <a:ext cx="2788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 + Planisware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(PEP-Subset)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234440"/>
            <a:ext cx="2788920" cy="777240"/>
          </a:xfrm>
          <a:prstGeom prst="roundRect">
            <a:avLst>
              <a:gd name="adj" fmla="val 15000"/>
            </a:avLst>
          </a:prstGeom>
          <a:solidFill>
            <a:srgbClr val="3B526B"/>
          </a:solidFill>
          <a:ln w="9525">
            <a:solidFill>
              <a:srgbClr val="3B5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298448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536192"/>
            <a:ext cx="2788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 + Planisware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(Entwicklung/Produktion)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3" y="1234440"/>
            <a:ext cx="2788920" cy="777240"/>
          </a:xfrm>
          <a:prstGeom prst="roundRect">
            <a:avLst>
              <a:gd name="adj" fmla="val 15000"/>
            </a:avLst>
          </a:prstGeom>
          <a:solidFill>
            <a:srgbClr val="0E8A63"/>
          </a:solidFill>
          <a:ln w="9525">
            <a:solidFill>
              <a:srgbClr val="0E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3" y="1298448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3" y="1536192"/>
            <a:ext cx="2788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 + Planisware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(weltweit alle FB)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" y="2148840"/>
            <a:ext cx="2926080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148840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Strategy / OKR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148840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14884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9531" y="2148840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9531" y="214884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2944" y="2148840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14884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06355" y="2148840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6355" y="214884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" y="253288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2532888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Portfolio &amp; Roadmap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532888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253288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9531" y="2532888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9531" y="253288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2944" y="2532888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2944" y="253288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06355" y="2532888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6355" y="253288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" y="2916936"/>
            <a:ext cx="2926080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2916936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2916936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2916936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9531" y="2916936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9531" y="2916936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2944" y="2916936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2916936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06355" y="2916936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06355" y="2916936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" y="330098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3300984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PM IT / Business / HR / Compliance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3300984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3300984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9531" y="3300984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9531" y="3300984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52944" y="3300984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52944" y="3300984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06355" y="3300984"/>
            <a:ext cx="2107691" cy="384048"/>
          </a:xfrm>
          <a:prstGeom prst="rect">
            <a:avLst/>
          </a:prstGeom>
          <a:solidFill>
            <a:srgbClr val="E0F3E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06355" y="3300984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E8A63"/>
                </a:solidFill>
                <a:latin typeface="Calibri"/>
              </a:rPr>
              <a:t>PW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" y="3685032"/>
            <a:ext cx="2926080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3685032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PM Entwicklung &amp; Produktion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46120" y="3685032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3685032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9531" y="3685032"/>
            <a:ext cx="2107691" cy="384048"/>
          </a:xfrm>
          <a:prstGeom prst="rect">
            <a:avLst/>
          </a:prstGeom>
          <a:solidFill>
            <a:srgbClr val="FDE6CC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9531" y="3685032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C05F00"/>
                </a:solidFill>
                <a:latin typeface="Calibri"/>
              </a:rPr>
              <a:t>SNOW*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52944" y="3685032"/>
            <a:ext cx="2107691" cy="384048"/>
          </a:xfrm>
          <a:prstGeom prst="rect">
            <a:avLst/>
          </a:prstGeom>
          <a:solidFill>
            <a:srgbClr val="E0F3E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52944" y="3685032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E8A63"/>
                </a:solidFill>
                <a:latin typeface="Calibri"/>
              </a:rPr>
              <a:t>PW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06355" y="3685032"/>
            <a:ext cx="2107691" cy="384048"/>
          </a:xfrm>
          <a:prstGeom prst="rect">
            <a:avLst/>
          </a:prstGeom>
          <a:solidFill>
            <a:srgbClr val="E0F3E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06355" y="3685032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E8A63"/>
                </a:solidFill>
                <a:latin typeface="Calibri"/>
              </a:rPr>
              <a:t>PW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" y="406908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3192" y="4069080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Zeiterfassung / Ressourcen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46120" y="4069080"/>
            <a:ext cx="2107691" cy="384048"/>
          </a:xfrm>
          <a:prstGeom prst="rect">
            <a:avLst/>
          </a:prstGeom>
          <a:solidFill>
            <a:srgbClr val="E3EF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6120" y="406908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85AB8"/>
                </a:solidFill>
                <a:latin typeface="Calibri"/>
              </a:rPr>
              <a:t>SNOW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9531" y="4069080"/>
            <a:ext cx="2107691" cy="384048"/>
          </a:xfrm>
          <a:prstGeom prst="rect">
            <a:avLst/>
          </a:prstGeom>
          <a:solidFill>
            <a:srgbClr val="FFF3C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9531" y="406908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8A6300"/>
                </a:solidFill>
                <a:latin typeface="Calibri"/>
              </a:rPr>
              <a:t>gemischt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52944" y="4069080"/>
            <a:ext cx="2107691" cy="384048"/>
          </a:xfrm>
          <a:prstGeom prst="rect">
            <a:avLst/>
          </a:prstGeom>
          <a:solidFill>
            <a:srgbClr val="FFF3C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52944" y="406908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8A6300"/>
                </a:solidFill>
                <a:latin typeface="Calibri"/>
              </a:rPr>
              <a:t>gemischt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06355" y="4069080"/>
            <a:ext cx="2107691" cy="384048"/>
          </a:xfrm>
          <a:prstGeom prst="rect">
            <a:avLst/>
          </a:prstGeom>
          <a:solidFill>
            <a:srgbClr val="E0F3E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6355" y="4069080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E8A63"/>
                </a:solidFill>
                <a:latin typeface="Calibri"/>
              </a:rPr>
              <a:t>PW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" y="4453128"/>
            <a:ext cx="2926080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" y="4453128"/>
            <a:ext cx="2816352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Anzahl PPM-Systeme im Konzern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46120" y="4453128"/>
            <a:ext cx="2107691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46120" y="445312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9531" y="4453128"/>
            <a:ext cx="2107691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99531" y="445312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1 + Add-on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52944" y="4453128"/>
            <a:ext cx="2107691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52944" y="445312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06355" y="4453128"/>
            <a:ext cx="2107691" cy="384048"/>
          </a:xfrm>
          <a:prstGeom prst="rect">
            <a:avLst/>
          </a:prstGeom>
          <a:solidFill>
            <a:srgbClr val="EFF1F4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06355" y="4453128"/>
            <a:ext cx="2107691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1752" y="6355080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* SZ 2a nur ausgewählte Neuprodukt-Entwicklungen (Filter: Größe, Komplexität) in Planisware — alle anderen E&amp;P-Projekte in SNOW.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1752" y="6583680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SNOW = ServiceNow SPM Pro   ·   PW = Planisware Orchestra   ·   In allen Szenarien: SNOW trägt Strategy/Portfolio/Demand.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SZ 1 — ServiceNow SPM homogen für alles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Beschreibung · Vorteile · Nachteile · Kern-KPIs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8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solidFill>
            <a:srgbClr val="285AB8"/>
          </a:solidFill>
          <a:ln w="9525">
            <a:solidFill>
              <a:srgbClr val="28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Ein System — SNOW SPM Pro — für Strategy, Portfolio, Demand, Roadmap UND das gesamte Projekt-Management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Alle Fachbereiche (IT, Business, HR, Compliance, Entwicklung, Produktion) arbeiten in der gleichen Plattform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PEP im E&amp;P-Bereich wird per Standard-SPM + App Engine (Low-Code) abgebildet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Massenänderungen über App/Low-Code-Ergänzung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Ein Betriebsteam, ein Lizenzvertrag, eine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✔  Vorteile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Datenkontinuität End-to-End (Strategie → Ergebnis)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Niedrigste TCO (kein zweiter Vendor)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Time-to-Value am kürzesten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Ein UI, ein Support-Team, ein Training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Now Assist (KI) über die gesamte Prozesskette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Klare Governance und Reporting-Basis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✘  Nachteile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PEP-Spezifika im E&amp;P über App Engine bleiben Custom-Aufwand (Wartung, Roadmap-Abhängigkeit)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Bei sehr komplexen R&amp;D-Simulationen weniger reif als spezialisiertes Tool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Massenänderungen benötigen Low-Code-Ergänzung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Vendor-Konzentration auf ServiceNow (Klumpenrisiko)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6446520"/>
            <a:ext cx="11567160" cy="292608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Systeme: 1  ·  Vendors: 1  ·  Betriebs-FTE (est.): 4–5  ·  TCO 5J (Richtwert): ≈ Basis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SZ 2a — SNOW + Planisware nur für definierten PEP-Subset (Vorschlag)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Beschreibung · Vorteile · Nachteile · Kern-KPIs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solidFill>
            <a:srgbClr val="F07F12"/>
          </a:solidFill>
          <a:ln w="9525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 SPM Pro trägt Strategy, Portfolio, Demand, Roadmap sowie PM in IT/Business/HR/Compliance UND den Großteil E&amp;P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Planisware Orchestra kommt nur für einen klar definierten Subset zum Einsatz: z.B. NPD-Projekte &gt; X Mio. Budget oder &gt; Y parallele Ressourcen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Filter-/Übergabeprozess von SNOW zu Planisware definiert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Portfolio-Sicht bleibt in SNOW — Planisware liefert Portfolio-Rohdaten zurück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✔  Vorteile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Best-of-Breed nur dort, wo tatsächlich benötigt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Sehr begrenztes zweites Lizenz-/Betriebsmodell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Behält SNOW-Vorteile für 80–90% der Projekte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Reduziert Klumpenrisiko moderat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Klare Filterkriterien möglich (Governance)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✘  Nachteile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Zweiter Vendor trotz kleinem Scope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Schnittstelle SNOW ↔ Planisware muss gebaut &amp; betrieben werden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 UIs für E&amp;P-Anwender bei Grenzprojekten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Filter-Diskussion („was ist Subset?") politisch anspruchsvoll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Zusätzliche Trainings-/Support-Kosten für kleinen Nutzerkreis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6446520"/>
            <a:ext cx="11567160" cy="292608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Systeme: 2  ·  Vendors: 2  ·  Betriebs-FTE (est.): 5–6  ·  TCO 5J (Richtwert): +0,3–0,6 M€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SZ 2 — SNOW + Planisware für Entwicklung &amp; Produktion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Beschreibung · Vorteile · Nachteile · Kern-KPIs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5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solidFill>
            <a:srgbClr val="3B526B"/>
          </a:solidFill>
          <a:ln w="9525">
            <a:solidFill>
              <a:srgbClr val="3B5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 SPM Pro trägt Strategy, Portfolio, Demand, Roadmap sowie PM in IT/Business/HR/Compliance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Planisware Orchestra übernimmt komplettes PM für die Bereiche Entwicklung und Produktion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 → Planisware: Übergabe Demand+Portfolio-Rahmen, Planisware liefert Projekt-Ergebnisse zurück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 parallele Betriebs- und Support-Modelle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✔  Vorteile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Best-in-Class PM-Tool im wichtigsten Wertschöpfungsbereich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Planisware-Reife für Stage-Gate / PEP direkt nutzbar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SNOW-Nutzen (Integration, Now Assist) bleibt für Rest bestehen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Reduziert Klumpenrisiko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Klare fachliche Trennung (E&amp;P vs. Rest)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✘  Nachteile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Zweiter Vollvendor mit signifikantem Lizenz-/Betriebsvolumen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Umfangreiche Schnittstelle SNOW ↔ PW notwendig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 UIs, zwei Support-Prozesse, zwei Roadmaps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Datenqualität an der Schnittstelle als Dauerthema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Bereits nachgewiesene SNOW-Eignung für PEP wird nicht genutzt → höhere Kosten ohne klaren Fach-Mehrwert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Change-Aufwand E&amp;P: neuer Vendor, neue UI, neuer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6446520"/>
            <a:ext cx="11567160" cy="292608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Systeme: 2  ·  Vendors: 2  ·  Betriebs-FTE (est.): 7–9  ·  TCO 5J (Richtwert): +1,5–2,5 M€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SZ 3 — SNOW + Planisware weltweit für alle Fachbereiche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Beschreibung · Vorteile · Nachteile · Kern-KPIs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E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solidFill>
            <a:srgbClr val="0E8A63"/>
          </a:solidFill>
          <a:ln w="9525">
            <a:solidFill>
              <a:srgbClr val="0E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Beschreibung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 SPM Pro trägt Strategy, Portfolio, Demand, Roadmap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Planisware Orchestra übernimmt komplettes PM für alle Fachbereiche weltweit (IT, Business, HR, Compliance, E&amp;P, ...)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Alle projektbezogenen Aktivitäten in Planisware; SNOW-SPM nur oberhalb der Projektebene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Zwei Vendors, zwei Betriebsteams, zwei Trainingsprogramme weltweit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✔  Vorteile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Eine einheitliche PM-Welt für alle Anwender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Best-in-Class PM-Reife über den ganzen Konzern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Fachliche Trennung SPM-oben / PM-unten sauber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Planisware-Reporting konsistent für alle Bereiche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234440"/>
            <a:ext cx="379476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234440"/>
            <a:ext cx="3794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✘  Nachteile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52044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Höchste TCO (Lizenzen + Implementierung + Betrieb + Change weltweit)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Ignoriert bereits nachgewiesene SNOW-Eignung für PM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SNOW SPM-Investition wird um wichtigen Nutzen beschnitten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Umfangreichster Change-Aufwand aller Szenarien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Umfangreichste globale Rollout-Komplexität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Massives Klumpenrisiko am zweiten Vendor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Calibri"/>
              </a:rPr>
              <a:t>•  Doppelte KI-Investition (Now Assist + Oscar)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6446520"/>
            <a:ext cx="11567160" cy="292608"/>
          </a:xfrm>
          <a:prstGeom prst="roundRect">
            <a:avLst>
              <a:gd name="adj" fmla="val 15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Systeme: 2  ·  Vendors: 2  ·  Betriebs-FTE (est.): 10–14  ·  TCO 5J (Richtwert): +4–7 M€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Vorschlag: Alternativer Schnitt (Szenario 2a)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Ergänzung zu den drei Basis-Szenarien — für die Team-Diskussion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34440"/>
            <a:ext cx="11567160" cy="502920"/>
          </a:xfrm>
          <a:prstGeom prst="roundRect">
            <a:avLst>
              <a:gd name="adj" fmla="val 20000"/>
            </a:avLst>
          </a:prstGeom>
          <a:solidFill>
            <a:srgbClr val="FDE6CC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92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C05F00"/>
                </a:solidFill>
                <a:latin typeface="Calibri"/>
              </a:rPr>
              <a:t>Grundgedanke: Trenn-Kriterium ist nicht der Fachbereich, sondern das einzelne Projekt.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874519"/>
            <a:ext cx="11567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SNOW ist Standard. Planisware wird ausschließlich für Projekte aktiviert, die harte, objektive Filterkriterien erfüllen: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2377440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" y="2377440"/>
            <a:ext cx="5760720" cy="365760"/>
          </a:xfrm>
          <a:prstGeom prst="rect">
            <a:avLst/>
          </a:prstGeom>
          <a:solidFill>
            <a:srgbClr val="F07F12"/>
          </a:solidFill>
          <a:ln w="9525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377440"/>
            <a:ext cx="57607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Beispiel-Filter (in Detail-Phase zu schärfen)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0" cy="2423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Budget &gt; 5 Mio. € über gesamte Laufzeit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Laufzeit &gt; 24 Monate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&gt; 30 parallele Ressourcen aus mind. 3 Bereichen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Mind. 5 Stage-Gates (Standard-PEP)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Regulatorische R&amp;D-Dokumentationspflicht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Physisches Produkt mit BOM/PLM-Anbindung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77440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5760720" cy="36576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57607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Erwarteter Nutzen dieses Schnitts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834640"/>
            <a:ext cx="5486400" cy="2423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Planisware nur für 10–20 wirklich komplexe Projekte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80–90% aller Projekte bleiben in SNOW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Deutlich niedrigere PW-Lizenzkosten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Reduziertes Change-/Trainings-Volumen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Klare, messbare Governance („warum ist es in PW?")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1F2937"/>
                </a:solidFill>
                <a:latin typeface="Calibri"/>
              </a:rPr>
              <a:t>•  Behält SNOW-Investition und Plattform-Nutzen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5440680"/>
            <a:ext cx="11567160" cy="960120"/>
          </a:xfrm>
          <a:prstGeom prst="roundRect">
            <a:avLst>
              <a:gd name="adj" fmla="val 10000"/>
            </a:avLst>
          </a:prstGeom>
          <a:solidFill>
            <a:srgbClr val="FFF6D5"/>
          </a:solidFill>
          <a:ln w="10160">
            <a:solidFill>
              <a:srgbClr val="E0A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A6300"/>
                </a:solidFill>
                <a:latin typeface="Calibri"/>
              </a:rPr>
              <a:t>⚠  Zu klären in der Detail-Phase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1F2937"/>
                </a:solidFill>
                <a:latin typeface="Calibri"/>
              </a:rPr>
              <a:t>•  Wer entscheidet: Projekt „gehört" in PW oder SNOW? — Governance-Prozess nötig.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1F2937"/>
                </a:solidFill>
                <a:latin typeface="Calibri"/>
              </a:rPr>
              <a:t>•  Übergangs-Fälle (Projekt startet klein, wächst über Schwellwert): Migration in PW oder Verbleib?  ·  Schnittstellen-Anforderungen konkret aus Beispiel-Projekten ableiten.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Bewertungsmethodik der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6 Dimensionen · gewichtete Kriterien · Score 1 – 5 · gewichtete Gesamtsumme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41732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1732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Strategisch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8832" y="141732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5623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Fit zur Konzern-IT-Strategie, Plattform-Ansatz, Vendor-Landschaft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3192" y="141732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3192" y="141732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4632" y="141732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Funktional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4552" y="141732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4632" y="185623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PM-Tiefe, PEP/Stage-Gate, Ressourcen-, Finanz-Management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2" y="141732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912" y="141732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0352" y="141732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Technisch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141732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0352" y="185623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Integration, Schnittstellen, Extensibility, KI/GenAI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10896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10896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10896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Wirtschaftlich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8832" y="310896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54787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Lizenzen, Implementierung, Betrieb, TCO 5J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3192" y="310896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3192" y="310896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4632" y="310896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Organisatorisch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4552" y="310896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4632" y="354787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Change, Training, Betrieb, Vendor-Management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8912" y="3108960"/>
            <a:ext cx="3764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8912" y="3108960"/>
            <a:ext cx="3764280" cy="365760"/>
          </a:xfrm>
          <a:prstGeom prst="rect">
            <a:avLst/>
          </a:prstGeom>
          <a:solidFill>
            <a:srgbClr val="2C3E50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0352" y="3108960"/>
            <a:ext cx="3581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Risiko/Zukunft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0272" y="3108960"/>
            <a:ext cx="411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352" y="3547872"/>
            <a:ext cx="3581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Klumpenrisiko, Roadmap, Skalierung, Migrationsrisiko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5989320"/>
            <a:ext cx="11567160" cy="502920"/>
          </a:xfrm>
          <a:prstGeom prst="roundRect">
            <a:avLst>
              <a:gd name="adj" fmla="val 15000"/>
            </a:avLst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98932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Score-Skala je Kriterium:  1 = sehr schlecht  ·  2 = schlecht  ·  3 = ok  ·  4 = gut  ·  5 = sehr gut     |     Gewichtungen in Excel anpassbar.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Vorläufige Einschätzung &amp; Empfehlung für die Team-Diskussion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Ausgangs-Scoring — die finale Bewertung erfolgt im Team über die Excel-Scorecard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417320"/>
            <a:ext cx="11567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417320"/>
            <a:ext cx="685800" cy="109728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417320"/>
            <a:ext cx="685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SZ 1  — SNOW homogen für alles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7406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Bestes Kosten-Nutzen-Verhältnis, klarster Plattform-Case; PEP-Restrisiko durch App Engine adressiert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91640"/>
            <a:ext cx="3017520" cy="54864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91640"/>
            <a:ext cx="3017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Empfehlung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606040"/>
            <a:ext cx="11567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A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606040"/>
            <a:ext cx="685800" cy="1097280"/>
          </a:xfrm>
          <a:prstGeom prst="rect">
            <a:avLst/>
          </a:prstGeom>
          <a:solidFill>
            <a:srgbClr val="E0A80B"/>
          </a:solidFill>
          <a:ln w="9525">
            <a:solidFill>
              <a:srgbClr val="E0A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606040"/>
            <a:ext cx="685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97480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SZ 2a — SNOW + PW nur für definierten PEP-Subset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Sinnvolle Absicherung, wenn App-Engine-PEP nach Phase 1 als unzureichend bewertet wird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880360"/>
            <a:ext cx="3017520" cy="548640"/>
          </a:xfrm>
          <a:prstGeom prst="roundRect">
            <a:avLst>
              <a:gd name="adj" fmla="val 20000"/>
            </a:avLst>
          </a:prstGeom>
          <a:solidFill>
            <a:srgbClr val="E0A80B"/>
          </a:solidFill>
          <a:ln w="9525">
            <a:solidFill>
              <a:srgbClr val="E0A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880360"/>
            <a:ext cx="3017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Bedingt tragfähig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" y="3794760"/>
            <a:ext cx="11567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" y="3794760"/>
            <a:ext cx="685800" cy="1097280"/>
          </a:xfrm>
          <a:prstGeom prst="rect">
            <a:avLst/>
          </a:prstGeom>
          <a:solidFill>
            <a:srgbClr val="F07F12"/>
          </a:solidFill>
          <a:ln w="9525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3794760"/>
            <a:ext cx="685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SZ 2  — SNOW + PW für gesamte E&amp;P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7406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Wirtschaftlich nur tragbar, wenn PEP-Fach-Nutzen den Zusatzaufwand rechtfertigt — aktuell nicht belegt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4069080"/>
            <a:ext cx="3017520" cy="548640"/>
          </a:xfrm>
          <a:prstGeom prst="roundRect">
            <a:avLst>
              <a:gd name="adj" fmla="val 20000"/>
            </a:avLst>
          </a:prstGeom>
          <a:solidFill>
            <a:srgbClr val="F07F12"/>
          </a:solidFill>
          <a:ln w="9525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69080"/>
            <a:ext cx="3017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Nicht empfohlen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983480"/>
            <a:ext cx="11567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4983480"/>
            <a:ext cx="685800" cy="109728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4983480"/>
            <a:ext cx="685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SZ 3  — SNOW + PW weltweit alle FB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86400"/>
            <a:ext cx="7406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TCO und Change-Aufwand nicht durch Fach-Nutzen begründet; ignoriert nachgewiesene SNOW-Eignung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5257800"/>
            <a:ext cx="3017520" cy="54864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5257800"/>
            <a:ext cx="3017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Nicht empfohlen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" y="6446520"/>
            <a:ext cx="115671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Diese Einschätzung ist Startpunkt — die verbindliche Reihenfolge ergibt sich aus der Team-Scorecard (Excel, beigefügt).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274320"/>
            <a:ext cx="11612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Vorgehen zur Team-Bewertung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777240"/>
            <a:ext cx="685800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8"/>
            <a:ext cx="11612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Wie die Scorecard ausgefüllt und ausgewertet wird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41732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4632" y="160020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645920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Individuell scoren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Jeder Teilnehmer bewertet alle 4 Szenarien in allen Kriterien (1–5) — ohne vorherige Absprache.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41732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160020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645920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Gewichte diskutieren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33172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Team-Diskussion: Sind die vorgeschlagenen Gewichte je Dimension passend? Anpassung im Excel möglich.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41732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1" y="160020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645920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Deltas identifizieren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33172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Wo weichen die Einzelbewertungen stark ab? Diese Kriterien im Team klären (Faktencheck, ggf. Nachbewertung).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3749039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" y="393192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77639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Konsens-Score bilden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466344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Team einigt sich auf einen konsolidierten Score je Zelle. Ergebnis ist die Team-Empfehlung.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2" y="3749039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6552" y="393192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977639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Sensitivität testen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66344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Was ändert sich, wenn Gewichte ±10% variieren? Robuste Empfehlung überlebt Sensitivität.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5592" y="3749039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48471" y="3931920"/>
            <a:ext cx="640080" cy="640080"/>
          </a:xfrm>
          <a:prstGeom prst="ellipse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3977639"/>
            <a:ext cx="2834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Vorstands-Vorlage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4663440"/>
            <a:ext cx="352044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Ergebnis der Scorecard als objektive Basis für die Entscheidungsvorlage an den Vorstand.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6492240"/>
            <a:ext cx="11567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Calibri"/>
              </a:rPr>
              <a:t>→ Beilage: Excel-Scorecard   ·   Zeitrahmen Vorschlag: 2 Wochen individuelle Bewertung, 1 Konsens-Workshop (½ Tag), 1 Woche Vorstands-Aufbereitung.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200" b="1" i="0">
                <a:solidFill>
                  <a:srgbClr val="1F2937"/>
                </a:solidFill>
                <a:latin typeface="Calibri"/>
              </a:rPr>
              <a:t>Vielen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F07F12"/>
                </a:solidFill>
                <a:latin typeface="Calibri"/>
              </a:rPr>
              <a:t>Diskussion, Ergänzung der Filterkriterien und Start Individual-Scoring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Alex Passaro · Torsten Zahn  ·  20.10.2026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