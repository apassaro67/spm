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ommentAuthors.xml" ContentType="application/vnd.openxmlformats-officedocument.presentationml.commentAuthors+xml"/>
  <Override PartName="/ppt/comments/modernComment_117_2A9E6AB6.xml" ContentType="application/vnd.ms-powerpoint.comments+xml"/>
  <Override PartName="/ppt/comments/modernComment_234_104226BA.xml" ContentType="application/vnd.ms-powerpoint.comments+xml"/>
  <Override PartName="/ppt/embeddings/Microsoft_Excel_Binary_23B_D398B549.xlsb" ContentType="application/vnd.ms-excel.sheet.binary.macroEnabled.12"/>
  <Override PartName="/ppt/embeddings/Microsoft_Excel_Binary_23B_D398B5491.xlsb" ContentType="application/vnd.ms-excel.sheet.binary.macroEnabled.12"/>
  <Override PartName="/ppt/embeddings/Microsoft_Excel_Binary_23B_D398B5492.xlsb" ContentType="application/vnd.ms-excel.sheet.binary.macroEnabled.12"/>
  <Override PartName="/ppt/embeddings/Microsoft_Excel_Binary_23B_D398B5493.xlsb" ContentType="application/vnd.ms-excel.sheet.binary.macroEnabled.12"/>
  <Override PartName="/ppt/embeddings/Microsoft_Excel_Binary_23B_D398B5494.xlsb" ContentType="application/vnd.ms-excel.sheet.binary.macroEnabled.12"/>
  <Override PartName="/ppt/embeddings/Microsoft_Excel_Binary_23B_D398B5495.xlsb" ContentType="application/vnd.ms-excel.sheet.binary.macroEnabled.12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ppt/embeddings/oleObject18.bin" ContentType="application/vnd.openxmlformats-officedocument.oleObject"/>
  <Override PartName="/ppt/embeddings/oleObject19.bin" ContentType="application/vnd.openxmlformats-officedocument.oleObject"/>
  <Override PartName="/ppt/embeddings/oleObject2.bin" ContentType="application/vnd.openxmlformats-officedocument.oleObject"/>
  <Override PartName="/ppt/embeddings/oleObject20.bin" ContentType="application/vnd.openxmlformats-officedocument.oleObject"/>
  <Override PartName="/ppt/embeddings/oleObject21.bin" ContentType="application/vnd.openxmlformats-officedocument.oleObject"/>
  <Override PartName="/ppt/embeddings/oleObject22.bin" ContentType="application/vnd.openxmlformats-officedocument.oleObject"/>
  <Override PartName="/ppt/embeddings/oleObject23.bin" ContentType="application/vnd.openxmlformats-officedocument.oleObject"/>
  <Override PartName="/ppt/embeddings/oleObject24.bin" ContentType="application/vnd.openxmlformats-officedocument.oleObject"/>
  <Override PartName="/ppt/embeddings/oleObject25.bin" ContentType="application/vnd.openxmlformats-officedocument.oleObject"/>
  <Override PartName="/ppt/embeddings/oleObject26.bin" ContentType="application/vnd.openxmlformats-officedocument.oleObject"/>
  <Override PartName="/ppt/embeddings/oleObject27.bin" ContentType="application/vnd.openxmlformats-officedocument.oleObject"/>
  <Override PartName="/ppt/embeddings/oleObject28.bin" ContentType="application/vnd.openxmlformats-officedocument.oleObject"/>
  <Override PartName="/ppt/embeddings/oleObject29.bin" ContentType="application/vnd.openxmlformats-officedocument.oleObject"/>
  <Override PartName="/ppt/embeddings/oleObject3.bin" ContentType="application/vnd.openxmlformats-officedocument.oleObject"/>
  <Override PartName="/ppt/embeddings/oleObject30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media/image20.svg" ContentType="image/svg+xml"/>
  <Override PartName="/ppt/media/image28.svg" ContentType="image/svg+xml"/>
  <Override PartName="/ppt/media/image29.svg" ContentType="image/svg+xml"/>
  <Override PartName="/ppt/media/image3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29"/>
  </p:notesMasterIdLst>
  <p:sldIdLst>
    <p:sldId id="285" r:id="rId5"/>
    <p:sldId id="279" r:id="rId6"/>
    <p:sldId id="564" r:id="rId7"/>
    <p:sldId id="575" r:id="rId8"/>
    <p:sldId id="565" r:id="rId9"/>
    <p:sldId id="566" r:id="rId10"/>
    <p:sldId id="567" r:id="rId11"/>
    <p:sldId id="573" r:id="rId12"/>
    <p:sldId id="571" r:id="rId13"/>
    <p:sldId id="572" r:id="rId14"/>
    <p:sldId id="569" r:id="rId15"/>
    <p:sldId id="570" r:id="rId16"/>
    <p:sldId id="2147483631" r:id="rId17"/>
    <p:sldId id="258" r:id="rId18"/>
    <p:sldId id="260" r:id="rId19"/>
    <p:sldId id="288" r:id="rId20"/>
    <p:sldId id="286" r:id="rId21"/>
    <p:sldId id="287" r:id="rId22"/>
    <p:sldId id="563" r:id="rId23"/>
    <p:sldId id="282" r:id="rId24"/>
    <p:sldId id="283" r:id="rId25"/>
    <p:sldId id="278" r:id="rId26"/>
    <p:sldId id="284" r:id="rId27"/>
    <p:sldId id="574" r:id="rId28"/>
  </p:sldIdLst>
  <p:sldSz cx="12192000" cy="6858000"/>
  <p:notesSz cx="6858000" cy="9144000"/>
  <p:custDataLst>
    <p:tags r:id="rId30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78703C2-CE7A-A6E6-F672-41AF8EBE77F5}" name="D1/SP1 Voss, Julia" initials="DJ" userId="S::julia.voss@stihl.de::f87d376c-395b-4d21-8036-37e0fcfef90f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1/MCD Brenner, Damaris" initials="DB" lastIdx="12" clrIdx="0">
    <p:extLst>
      <p:ext uri="{19B8F6BF-5375-455C-9EA6-DF929625EA0E}">
        <p15:presenceInfo xmlns:p15="http://schemas.microsoft.com/office/powerpoint/2012/main" userId="S::damaris.brenner@stihl.de::c0224df7-585a-493d-840a-5fc0188c5fc4" providerId="AD"/>
      </p:ext>
    </p:extLst>
  </p:cmAuthor>
  <p:cmAuthor id="2" name="D1/MCG-sr Schramm, Benedikt" initials="DB" lastIdx="2" clrIdx="1">
    <p:extLst>
      <p:ext uri="{19B8F6BF-5375-455C-9EA6-DF929625EA0E}">
        <p15:presenceInfo xmlns:p15="http://schemas.microsoft.com/office/powerpoint/2012/main" userId="S::benedikt.schramm@stihl.de::b9b01b33-59af-4d45-91d2-53f551bfe4e7" providerId="AD"/>
      </p:ext>
    </p:extLst>
  </p:cmAuthor>
  <p:cmAuthor id="3" name="D1/MC2 Ecke, Oliver" initials="OE" lastIdx="1" clrIdx="2">
    <p:extLst>
      <p:ext uri="{19B8F6BF-5375-455C-9EA6-DF929625EA0E}">
        <p15:presenceInfo xmlns:p15="http://schemas.microsoft.com/office/powerpoint/2012/main" userId="S::oliver.ecke@stihl.de::ec09961d-ee56-4f4a-96cf-13a7f9ec3e5e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2CB713-3EAF-176B-B9EC-D0F7BD9631A2}" v="74" dt="2026-05-06T12:29:34.745"/>
    <p1510:client id="{F35E99A9-E9DF-281A-FFBC-4F918C780A55}" v="8" dt="2026-05-07T07:38:15.6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notesMaster" Target="notesMasters/notesMaster1.xml"/><Relationship Id="rId30" Type="http://schemas.openxmlformats.org/officeDocument/2006/relationships/tags" Target="tags/tag1.xml"/><Relationship Id="rId31" Type="http://schemas.openxmlformats.org/officeDocument/2006/relationships/commentAuthors" Target="commentAuthors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Relationship Id="rId36" Type="http://schemas.microsoft.com/office/2015/10/relationships/revisionInfo" Target="revisionInfo.xml"/><Relationship Id="rId37" Type="http://schemas.microsoft.com/office/2018/10/relationships/authors" Target="author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23B_D398B549.xlsb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23B_D398B5491.xlsb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23B_D398B5492.xlsb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23B_D398B5493.xlsb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23B_D398B5494.xlsb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23B_D398B5495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889A-4434-9EEB-67451F575BCF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889A-4434-9EEB-67451F575BCF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89A-4434-9EEB-67451F575B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9809-4115-AD2F-F541BE653E52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9809-4115-AD2F-F541BE653E52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809-4115-AD2F-F541BE653E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7830-401D-B8F5-5A5D214A63DE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7830-401D-B8F5-5A5D214A63DE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830-401D-B8F5-5A5D214A63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EDC3-40C3-901C-473FA1573DEE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EDC3-40C3-901C-473FA1573DEE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DC3-40C3-901C-473FA1573D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9B67-40A2-AFE8-4EF52C6FE8CD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9B67-40A2-AFE8-4EF52C6FE8CD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B67-40A2-AFE8-4EF52C6FE8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B8C9-499C-9060-4FB9E5E4AB64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B8C9-499C-9060-4FB9E5E4AB64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8C9-499C-9060-4FB9E5E4AB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omments/modernComment_117_2A9E6AB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9592CA8-3EAA-4F20-9192-47ACEF90495E}" authorId="{178703C2-CE7A-A6E6-F672-41AF8EBE77F5}" created="2026-04-29T06:34:12.59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715025078" sldId="279"/>
      <ac:graphicFrameMk id="5" creationId="{00000000-0000-0000-0000-000000000000}"/>
      <ac:tblMk/>
      <ac:tcMk rowId="2944717367" colId="2029461099"/>
      <ac:txMk cp="82" len="64">
        <ac:context len="147" hash="1908071303"/>
      </ac:txMk>
    </ac:txMkLst>
    <p188:pos x="10240710" y="1082467"/>
    <p188:txBody>
      <a:bodyPr/>
      <a:lstStyle/>
      <a:p>
        <a:r>
          <a:rPr lang="en-US"/>
          <a:t>weiter fassen ... Produktroadmap, Multi- und Einzelprojektmanagement</a:t>
        </a:r>
      </a:p>
    </p188:txBody>
  </p188:cm>
</p188:cmLst>
</file>

<file path=ppt/comments/modernComment_234_104226B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1425782-5129-4A59-9338-D3554D12CBFF}" authorId="{178703C2-CE7A-A6E6-F672-41AF8EBE77F5}" created="2026-04-29T06:40:29.993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72770746" sldId="564"/>
      <ac:spMk id="37" creationId="{22C2A15A-8976-64F3-CE10-BB090D55C659}"/>
      <ac:txMk cp="0" len="13">
        <ac:context len="23" hash="3772339426"/>
      </ac:txMk>
    </ac:txMkLst>
    <p188:pos x="1825112" y="116758"/>
    <p188:txBody>
      <a:bodyPr/>
      <a:lstStyle/>
      <a:p>
        <a:r>
          <a:rPr lang="en-US"/>
          <a:t>Operations-Projekte</a:t>
        </a:r>
      </a:p>
    </p188:txBody>
  </p188:cm>
</p188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39CC96-28B7-4EB5-AF28-4751D63D6205}" type="datetimeFigureOut">
              <a:rPr lang="de-DE" smtClean="0"/>
              <a:t>07.05.2026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3E65A7-789D-47E6-985F-DF61FF0CF57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86041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AF83F4-A8C1-4355-AA0F-472393D0FD69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27690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E65A7-789D-47E6-985F-DF61FF0CF576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4758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83D4D-46BB-46D5-153A-F8068B5AE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C077E62-85F0-314F-2E87-F665719BAD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C7B9C08-5CD0-F71F-4140-3561EFDE94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EE6CAE7-7374-68C2-D937-C0734F0738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3E65A7-789D-47E6-985F-DF61FF0CF576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37773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AC16B-7AAB-FDAA-30F4-CB2ED7271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85E91200-C058-D632-7C08-45DB7D18E1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C3F2DAC-6C10-16B9-E149-9B3D5B8BA7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74FEB33-2714-06BC-031E-11E2698DAB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3E65A7-789D-47E6-985F-DF61FF0CF576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83401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EC0D7-1D21-5EDA-732D-7C39AA15D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B656C38-471A-A1CA-E81B-3C14455CF9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B407153A-AAD6-14D1-2FED-DB0FB08BEE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878C1F0-20CC-F2DE-5026-24432EBBE7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3E65A7-789D-47E6-985F-DF61FF0CF576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7197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AF83F4-A8C1-4355-AA0F-472393D0FD69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249584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E65A7-789D-47E6-985F-DF61FF0CF576}" type="slidenum">
              <a:rPr lang="de-DE" smtClean="0"/>
              <a:t>20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4798311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tags" Target="../tags/tag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3.emf"/><Relationship Id="rId6" Type="http://schemas.openxmlformats.org/officeDocument/2006/relationships/image" Target="../media/image4.png"/><Relationship Id="rId7" Type="http://schemas.openxmlformats.org/officeDocument/2006/relationships/hyperlink" Target="https://dam.stihl.com/" TargetMode="Externa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tags" Target="../tags/tag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3.bin"/><Relationship Id="rId5" Type="http://schemas.openxmlformats.org/officeDocument/2006/relationships/image" Target="../media/image3.emf"/><Relationship Id="rId6" Type="http://schemas.openxmlformats.org/officeDocument/2006/relationships/image" Target="../media/image4.png"/><Relationship Id="rId7" Type="http://schemas.openxmlformats.org/officeDocument/2006/relationships/hyperlink" Target="https://dam.stihl.com/" TargetMode="Externa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tags" Target="../tags/tag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3.emf"/><Relationship Id="rId6" Type="http://schemas.openxmlformats.org/officeDocument/2006/relationships/image" Target="../media/image2.png"/><Relationship Id="rId7" Type="http://schemas.openxmlformats.org/officeDocument/2006/relationships/hyperlink" Target="https://dam.stihl.com/" TargetMode="Externa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tags" Target="../tags/tag1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1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12.xml"/><Relationship Id="rId2" Type="http://schemas.openxmlformats.org/officeDocument/2006/relationships/tags" Target="../tags/tag1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6.bin"/><Relationship Id="rId5" Type="http://schemas.openxmlformats.org/officeDocument/2006/relationships/image" Target="../media/image1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14.xml"/><Relationship Id="rId2" Type="http://schemas.openxmlformats.org/officeDocument/2006/relationships/tags" Target="../tags/tag1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1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tags" Target="../tags/tag1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8.bin"/><Relationship Id="rId5" Type="http://schemas.openxmlformats.org/officeDocument/2006/relationships/image" Target="../media/image1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tags" Target="../tags/tag1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3.bin"/><Relationship Id="rId5" Type="http://schemas.openxmlformats.org/officeDocument/2006/relationships/image" Target="../media/image3.emf"/><Relationship Id="rId6" Type="http://schemas.openxmlformats.org/officeDocument/2006/relationships/image" Target="../media/image4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tags" Target="../tags/tag2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9.bin"/><Relationship Id="rId5" Type="http://schemas.openxmlformats.org/officeDocument/2006/relationships/image" Target="../media/image1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tags" Target="../tags/tag2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0.bin"/><Relationship Id="rId5" Type="http://schemas.openxmlformats.org/officeDocument/2006/relationships/image" Target="../media/image1.emf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2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2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26.xml"/><Relationship Id="rId2" Type="http://schemas.openxmlformats.org/officeDocument/2006/relationships/tags" Target="../tags/tag2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2.bin"/><Relationship Id="rId5" Type="http://schemas.openxmlformats.org/officeDocument/2006/relationships/image" Target="../media/image1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2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2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3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31.xml"/><Relationship Id="rId2" Type="http://schemas.openxmlformats.org/officeDocument/2006/relationships/tags" Target="../tags/tag32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2.bin"/><Relationship Id="rId5" Type="http://schemas.openxmlformats.org/officeDocument/2006/relationships/image" Target="../media/image1.emf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33.xml"/><Relationship Id="rId2" Type="http://schemas.openxmlformats.org/officeDocument/2006/relationships/tags" Target="../tags/tag34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3.bin"/><Relationship Id="rId5" Type="http://schemas.openxmlformats.org/officeDocument/2006/relationships/image" Target="../media/image3.emf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3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Relationship Id="rId5" Type="http://schemas.openxmlformats.org/officeDocument/2006/relationships/image" Target="../media/image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3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Relationship Id="rId5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3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Relationship Id="rId5" Type="http://schemas.openxmlformats.org/officeDocument/2006/relationships/image" Target="../media/image4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tags" Target="../tags/tag3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Relationship Id="rId5" Type="http://schemas.openxmlformats.org/officeDocument/2006/relationships/image" Target="../media/image4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tags" Target="../tags/tag3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4.bin"/><Relationship Id="rId4" Type="http://schemas.openxmlformats.org/officeDocument/2006/relationships/image" Target="../media/image3.emf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tags" Target="../tags/tag40.xml"/><Relationship Id="rId2" Type="http://schemas.openxmlformats.org/officeDocument/2006/relationships/tags" Target="../tags/tag4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5.bin"/><Relationship Id="rId5" Type="http://schemas.openxmlformats.org/officeDocument/2006/relationships/image" Target="../media/image3.emf"/><Relationship Id="rId6" Type="http://schemas.openxmlformats.org/officeDocument/2006/relationships/image" Target="../media/image4.png"/><Relationship Id="rId7" Type="http://schemas.openxmlformats.org/officeDocument/2006/relationships/hyperlink" Target="https://dam.stihl.com/" TargetMode="External"/><Relationship Id="rId8" Type="http://schemas.openxmlformats.org/officeDocument/2006/relationships/image" Target="../media/image5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tags" Target="../tags/tag42.xml"/><Relationship Id="rId2" Type="http://schemas.openxmlformats.org/officeDocument/2006/relationships/tags" Target="../tags/tag4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6.bin"/><Relationship Id="rId5" Type="http://schemas.openxmlformats.org/officeDocument/2006/relationships/image" Target="../media/image3.emf"/><Relationship Id="rId6" Type="http://schemas.openxmlformats.org/officeDocument/2006/relationships/image" Target="../media/image2.png"/><Relationship Id="rId7" Type="http://schemas.openxmlformats.org/officeDocument/2006/relationships/hyperlink" Target="https://dam.stihl.com/" TargetMode="External"/><Relationship Id="rId8" Type="http://schemas.openxmlformats.org/officeDocument/2006/relationships/image" Target="../media/image6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tags" Target="../tags/tag4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7.bin"/><Relationship Id="rId4" Type="http://schemas.openxmlformats.org/officeDocument/2006/relationships/image" Target="../media/image3.emf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tags" Target="../tags/tag45.xml"/><Relationship Id="rId2" Type="http://schemas.openxmlformats.org/officeDocument/2006/relationships/tags" Target="../tags/tag46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8.bin"/><Relationship Id="rId5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backgrou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32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pic>
        <p:nvPicPr>
          <p:cNvPr id="12" name="Grafik 1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F81A1AFD-D231-4C55-9AAB-DA10BA8E7D1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3950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5994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0775 w 12192000"/>
              <a:gd name="connsiteY9" fmla="*/ 2599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5994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6490 w 12192000"/>
              <a:gd name="connsiteY9" fmla="*/ 2599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077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077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6490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047430 w 12192000"/>
              <a:gd name="connsiteY5" fmla="*/ 19708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047430 w 12192000"/>
              <a:gd name="connsiteY9" fmla="*/ 19708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207450 w 12192000"/>
              <a:gd name="connsiteY5" fmla="*/ 33805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207450 w 12192000"/>
              <a:gd name="connsiteY9" fmla="*/ 33805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0219 w 12192000"/>
              <a:gd name="connsiteY8" fmla="*/ 26756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858309 w 12192000"/>
              <a:gd name="connsiteY7" fmla="*/ 994921 h 6858000"/>
              <a:gd name="connsiteX8" fmla="*/ 11900219 w 12192000"/>
              <a:gd name="connsiteY8" fmla="*/ 26756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3315 w 12192000"/>
              <a:gd name="connsiteY6" fmla="*/ 1031751 h 6858000"/>
              <a:gd name="connsiteX7" fmla="*/ 11858309 w 12192000"/>
              <a:gd name="connsiteY7" fmla="*/ 99492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3315 w 12192000"/>
              <a:gd name="connsiteY6" fmla="*/ 1031751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603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9030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593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709719 w 12192000"/>
              <a:gd name="connsiteY8" fmla="*/ 45235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398585 w 12192000"/>
              <a:gd name="connsiteY6" fmla="*/ 778386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325750 w 12192000"/>
              <a:gd name="connsiteY2" fmla="*/ 6595767 h 6858000"/>
              <a:gd name="connsiteX3" fmla="*/ 5401950 w 12192000"/>
              <a:gd name="connsiteY3" fmla="*/ 275108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325750 w 12192000"/>
              <a:gd name="connsiteY2" fmla="*/ 6595767 h 6858000"/>
              <a:gd name="connsiteX3" fmla="*/ 5325750 w 12192000"/>
              <a:gd name="connsiteY3" fmla="*/ 281712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325750 w 12192000"/>
              <a:gd name="connsiteY2" fmla="*/ 6595767 h 6858000"/>
              <a:gd name="connsiteX3" fmla="*/ 5320670 w 12192000"/>
              <a:gd name="connsiteY3" fmla="*/ 281712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325750 w 12192000"/>
              <a:gd name="connsiteY2" fmla="*/ 6595767 h 6858000"/>
              <a:gd name="connsiteX3" fmla="*/ 5315590 w 12192000"/>
              <a:gd name="connsiteY3" fmla="*/ 282220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285750" y="2822204"/>
                </a:moveTo>
                <a:lnTo>
                  <a:pt x="285750" y="6600847"/>
                </a:lnTo>
                <a:lnTo>
                  <a:pt x="5325750" y="6595767"/>
                </a:lnTo>
                <a:cubicBezTo>
                  <a:pt x="5324057" y="5336219"/>
                  <a:pt x="5317283" y="4081752"/>
                  <a:pt x="5315590" y="2822204"/>
                </a:cubicBezTo>
                <a:lnTo>
                  <a:pt x="285750" y="2822204"/>
                </a:lnTo>
                <a:close/>
                <a:moveTo>
                  <a:pt x="10146490" y="265661"/>
                </a:moveTo>
                <a:cubicBezTo>
                  <a:pt x="10144797" y="524199"/>
                  <a:pt x="10146913" y="769403"/>
                  <a:pt x="10145220" y="1027941"/>
                </a:cubicBezTo>
                <a:lnTo>
                  <a:pt x="11904029" y="1025401"/>
                </a:lnTo>
                <a:lnTo>
                  <a:pt x="11902124" y="267566"/>
                </a:lnTo>
                <a:lnTo>
                  <a:pt x="10146490" y="26566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8" name="Subline">
            <a:extLst>
              <a:ext uri="{FF2B5EF4-FFF2-40B4-BE49-F238E27FC236}">
                <a16:creationId xmlns:a16="http://schemas.microsoft.com/office/drawing/2014/main" id="{F64F20BE-9490-4534-8D22-D527DF582B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3003" y="5507050"/>
            <a:ext cx="5040000" cy="360000"/>
          </a:xfrm>
          <a:prstGeom prst="rect">
            <a:avLst/>
          </a:prstGeom>
        </p:spPr>
        <p:txBody>
          <a:bodyPr lIns="324000" rIns="288000" anchor="b" anchorCtr="0">
            <a:noAutofit/>
          </a:bodyPr>
          <a:lstStyle>
            <a:lvl1pPr marL="0" indent="0">
              <a:buNone/>
              <a:defRPr sz="1600" b="1" cap="none" baseline="0">
                <a:latin typeface="+mj-lt"/>
              </a:defRPr>
            </a:lvl1pPr>
          </a:lstStyle>
          <a:p>
            <a:pPr lvl="0"/>
            <a:r>
              <a:rPr lang="en-GB"/>
              <a:t>Subline</a:t>
            </a:r>
          </a:p>
        </p:txBody>
      </p:sp>
      <p:sp>
        <p:nvSpPr>
          <p:cNvPr id="9" name="Textplatzhalter 4">
            <a:extLst>
              <a:ext uri="{FF2B5EF4-FFF2-40B4-BE49-F238E27FC236}">
                <a16:creationId xmlns:a16="http://schemas.microsoft.com/office/drawing/2014/main" id="{DCF84473-59A5-4A28-B312-2557D7CFAF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3003" y="5882290"/>
            <a:ext cx="5040000" cy="189474"/>
          </a:xfrm>
          <a:prstGeom prst="rect">
            <a:avLst/>
          </a:prstGeom>
        </p:spPr>
        <p:txBody>
          <a:bodyPr lIns="324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en-GB"/>
              <a:t>First name last name</a:t>
            </a:r>
          </a:p>
        </p:txBody>
      </p:sp>
      <p:sp>
        <p:nvSpPr>
          <p:cNvPr id="10" name="Textplatzhalter 4">
            <a:extLst>
              <a:ext uri="{FF2B5EF4-FFF2-40B4-BE49-F238E27FC236}">
                <a16:creationId xmlns:a16="http://schemas.microsoft.com/office/drawing/2014/main" id="{57D522EB-93F7-49B3-9164-076263457E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3003" y="6088030"/>
            <a:ext cx="5040000" cy="189474"/>
          </a:xfrm>
          <a:prstGeom prst="rect">
            <a:avLst/>
          </a:prstGeom>
        </p:spPr>
        <p:txBody>
          <a:bodyPr lIns="324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en-GB"/>
              <a:t>Date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6C95D28-A98E-4740-A955-E3F7D2C2C7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3003" y="2817195"/>
            <a:ext cx="5040000" cy="2627144"/>
          </a:xfrm>
        </p:spPr>
        <p:txBody>
          <a:bodyPr vert="horz" lIns="288000" tIns="288000" rIns="288000" bIns="288000" rtlCol="0">
            <a:noAutofit/>
          </a:bodyPr>
          <a:lstStyle>
            <a:lvl1pPr>
              <a:defRPr lang="de-DE" sz="3200" cap="none" baseline="0" dirty="0">
                <a:latin typeface="STIHL Contraface Display Title" panose="02000600040000020004" pitchFamily="2" charset="0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GB"/>
              <a:t>Edit master title format</a:t>
            </a:r>
            <a:br>
              <a:rPr lang="en-GB"/>
            </a:br>
            <a:r>
              <a:rPr lang="en-GB"/>
              <a:t>ƒ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94BC4FC7-E1E4-9FAD-A3D9-49BF44B67F3F}"/>
              </a:ext>
            </a:extLst>
          </p:cNvPr>
          <p:cNvSpPr>
            <a:spLocks/>
          </p:cNvSpPr>
          <p:nvPr userDrawn="1"/>
        </p:nvSpPr>
        <p:spPr>
          <a:xfrm>
            <a:off x="-3139178" y="1477622"/>
            <a:ext cx="2845436" cy="4134191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You can find more templates in the Template Library. They are stored in the template folders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Images can be found on your local drive under </a:t>
            </a:r>
            <a:r>
              <a:rPr lang="en-US" sz="1600" b="1">
                <a:solidFill>
                  <a:schemeClr val="tx1"/>
                </a:solidFill>
              </a:rPr>
              <a:t>C:\Program Files (x86)\STIHL\PPT Images </a:t>
            </a:r>
            <a:r>
              <a:rPr lang="en-US" sz="1600">
                <a:solidFill>
                  <a:schemeClr val="tx1"/>
                </a:solidFill>
              </a:rPr>
              <a:t>or in the STIHL DAM </a:t>
            </a:r>
            <a:r>
              <a:rPr lang="en-US" sz="1600">
                <a:solidFill>
                  <a:schemeClr val="tx1"/>
                </a:solidFill>
                <a:hlinkClick r:id="rId7"/>
              </a:rPr>
              <a:t>https://dam.stihl.com/</a:t>
            </a:r>
            <a:endParaRPr lang="en-US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Please do not print slides with full </a:t>
            </a:r>
            <a:r>
              <a:rPr lang="en-US" sz="1600" b="0" err="1">
                <a:solidFill>
                  <a:schemeClr val="tx1"/>
                </a:solidFill>
              </a:rPr>
              <a:t>colour</a:t>
            </a:r>
            <a:r>
              <a:rPr lang="en-US" sz="1600" b="0">
                <a:solidFill>
                  <a:schemeClr val="tx1"/>
                </a:solidFill>
              </a:rPr>
              <a:t> or images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The stand line can be inserted via the "Insert" tab through the "Symbol" field</a:t>
            </a:r>
          </a:p>
        </p:txBody>
      </p:sp>
    </p:spTree>
    <p:extLst>
      <p:ext uri="{BB962C8B-B14F-4D97-AF65-F5344CB8AC3E}">
        <p14:creationId xmlns:p14="http://schemas.microsoft.com/office/powerpoint/2010/main" val="2796349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ng title backgrou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847461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32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pic>
        <p:nvPicPr>
          <p:cNvPr id="11" name="Grafik 1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17" name="Hintergrundbild">
            <a:extLst>
              <a:ext uri="{FF2B5EF4-FFF2-40B4-BE49-F238E27FC236}">
                <a16:creationId xmlns:a16="http://schemas.microsoft.com/office/drawing/2014/main" id="{91303CF3-1A7E-4149-A9A1-BC9B75037D6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02759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23714 w 12192000"/>
              <a:gd name="connsiteY7" fmla="*/ 1048261 h 6858000"/>
              <a:gd name="connsiteX8" fmla="*/ 11902759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42680 w 12192000"/>
              <a:gd name="connsiteY6" fmla="*/ 1025401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295080 w 12192000"/>
              <a:gd name="connsiteY5" fmla="*/ 361546 h 6858000"/>
              <a:gd name="connsiteX6" fmla="*/ 10142680 w 12192000"/>
              <a:gd name="connsiteY6" fmla="*/ 1025401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295080 w 12192000"/>
              <a:gd name="connsiteY9" fmla="*/ 3615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830369 w 12192000"/>
              <a:gd name="connsiteY7" fmla="*/ 96444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757979 w 12192000"/>
              <a:gd name="connsiteY8" fmla="*/ 39774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262695 w 12192000"/>
              <a:gd name="connsiteY5" fmla="*/ 35202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262695 w 12192000"/>
              <a:gd name="connsiteY9" fmla="*/ 3520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328798 w 12192000"/>
              <a:gd name="connsiteY2" fmla="*/ 6597362 h 6858000"/>
              <a:gd name="connsiteX3" fmla="*/ 5401950 w 12192000"/>
              <a:gd name="connsiteY3" fmla="*/ 34440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328798 w 12192000"/>
              <a:gd name="connsiteY2" fmla="*/ 6597362 h 6858000"/>
              <a:gd name="connsiteX3" fmla="*/ 5328798 w 12192000"/>
              <a:gd name="connsiteY3" fmla="*/ 259058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328798 w 12192000"/>
              <a:gd name="connsiteY2" fmla="*/ 6597362 h 6858000"/>
              <a:gd name="connsiteX3" fmla="*/ 4877694 w 12192000"/>
              <a:gd name="connsiteY3" fmla="*/ 899138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328798 w 12192000"/>
              <a:gd name="connsiteY2" fmla="*/ 6597362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1002030 w 12192000"/>
              <a:gd name="connsiteY1" fmla="*/ 6140162 h 6858000"/>
              <a:gd name="connsiteX2" fmla="*/ 5328798 w 12192000"/>
              <a:gd name="connsiteY2" fmla="*/ 6597362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5328798 w 12192000"/>
              <a:gd name="connsiteY2" fmla="*/ 6597362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4481454 w 12192000"/>
              <a:gd name="connsiteY2" fmla="*/ 5591522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5328798 w 12192000"/>
              <a:gd name="connsiteY2" fmla="*/ 6603458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5147823 w 12192000"/>
              <a:gd name="connsiteY2" fmla="*/ 6481538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547116 w 12192000"/>
              <a:gd name="connsiteY1" fmla="*/ 629103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4226 w 12192000"/>
              <a:gd name="connsiteY1" fmla="*/ 660726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93776 w 12192000"/>
              <a:gd name="connsiteY0" fmla="*/ 430127 h 6858000"/>
              <a:gd name="connsiteX1" fmla="*/ 284226 w 12192000"/>
              <a:gd name="connsiteY1" fmla="*/ 660726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493776 w 12192000"/>
              <a:gd name="connsiteY4" fmla="*/ 430127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2321 w 12192000"/>
              <a:gd name="connsiteY0" fmla="*/ 258677 h 6858000"/>
              <a:gd name="connsiteX1" fmla="*/ 284226 w 12192000"/>
              <a:gd name="connsiteY1" fmla="*/ 660726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282321 w 12192000"/>
              <a:gd name="connsiteY4" fmla="*/ 258677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2321 w 12192000"/>
              <a:gd name="connsiteY0" fmla="*/ 258677 h 6858000"/>
              <a:gd name="connsiteX1" fmla="*/ 284226 w 12192000"/>
              <a:gd name="connsiteY1" fmla="*/ 6607268 h 6858000"/>
              <a:gd name="connsiteX2" fmla="*/ 5321178 w 12192000"/>
              <a:gd name="connsiteY2" fmla="*/ 6605363 h 6858000"/>
              <a:gd name="connsiteX3" fmla="*/ 5323083 w 12192000"/>
              <a:gd name="connsiteY3" fmla="*/ 258677 h 6858000"/>
              <a:gd name="connsiteX4" fmla="*/ 282321 w 12192000"/>
              <a:gd name="connsiteY4" fmla="*/ 258677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282321" y="258677"/>
                </a:moveTo>
                <a:lnTo>
                  <a:pt x="284226" y="6607268"/>
                </a:lnTo>
                <a:lnTo>
                  <a:pt x="5321178" y="6605363"/>
                </a:lnTo>
                <a:lnTo>
                  <a:pt x="5323083" y="258677"/>
                </a:lnTo>
                <a:lnTo>
                  <a:pt x="282321" y="258677"/>
                </a:lnTo>
                <a:close/>
                <a:moveTo>
                  <a:pt x="10146490" y="268201"/>
                </a:moveTo>
                <a:lnTo>
                  <a:pt x="10142680" y="1025401"/>
                </a:lnTo>
                <a:lnTo>
                  <a:pt x="11904664" y="1025401"/>
                </a:lnTo>
                <a:lnTo>
                  <a:pt x="11904664" y="268201"/>
                </a:lnTo>
                <a:lnTo>
                  <a:pt x="10146490" y="26820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6D20123-1501-4CA7-AA2F-3112A03319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3003" y="258750"/>
            <a:ext cx="5040000" cy="5040000"/>
          </a:xfrm>
        </p:spPr>
        <p:txBody>
          <a:bodyPr vert="horz" lIns="288000" tIns="288000" rIns="288000" bIns="288000" rtlCol="0">
            <a:noAutofit/>
          </a:bodyPr>
          <a:lstStyle>
            <a:lvl1pPr>
              <a:defRPr lang="de-DE" sz="3200" cap="none" baseline="0" dirty="0">
                <a:latin typeface="STIHL Contraface Display Title" panose="02000600040000020004" pitchFamily="50" charset="0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GB"/>
              <a:t>Add a title by clicking on it</a:t>
            </a:r>
            <a:br>
              <a:rPr lang="en-GB"/>
            </a:br>
            <a:r>
              <a:rPr lang="en-GB"/>
              <a:t>ƒ</a:t>
            </a:r>
          </a:p>
        </p:txBody>
      </p:sp>
      <p:sp>
        <p:nvSpPr>
          <p:cNvPr id="15" name="Subline">
            <a:extLst>
              <a:ext uri="{FF2B5EF4-FFF2-40B4-BE49-F238E27FC236}">
                <a16:creationId xmlns:a16="http://schemas.microsoft.com/office/drawing/2014/main" id="{F64F20BE-9490-4534-8D22-D527DF582B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3003" y="5507050"/>
            <a:ext cx="5040000" cy="360000"/>
          </a:xfrm>
          <a:prstGeom prst="rect">
            <a:avLst/>
          </a:prstGeom>
        </p:spPr>
        <p:txBody>
          <a:bodyPr lIns="324000" rIns="288000" anchor="b" anchorCtr="0">
            <a:noAutofit/>
          </a:bodyPr>
          <a:lstStyle>
            <a:lvl1pPr marL="0" indent="0">
              <a:buNone/>
              <a:defRPr sz="1600" b="1" cap="none" baseline="0">
                <a:latin typeface="+mj-lt"/>
              </a:defRPr>
            </a:lvl1pPr>
          </a:lstStyle>
          <a:p>
            <a:pPr lvl="0"/>
            <a:r>
              <a:rPr lang="en-GB"/>
              <a:t>Subline</a:t>
            </a:r>
          </a:p>
        </p:txBody>
      </p:sp>
      <p:sp>
        <p:nvSpPr>
          <p:cNvPr id="16" name="Textplatzhalter 4">
            <a:extLst>
              <a:ext uri="{FF2B5EF4-FFF2-40B4-BE49-F238E27FC236}">
                <a16:creationId xmlns:a16="http://schemas.microsoft.com/office/drawing/2014/main" id="{DCF84473-59A5-4A28-B312-2557D7CFAF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3003" y="5882290"/>
            <a:ext cx="5040000" cy="189474"/>
          </a:xfrm>
          <a:prstGeom prst="rect">
            <a:avLst/>
          </a:prstGeom>
        </p:spPr>
        <p:txBody>
          <a:bodyPr lIns="324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en-GB"/>
              <a:t>First name last name</a:t>
            </a:r>
          </a:p>
        </p:txBody>
      </p:sp>
      <p:sp>
        <p:nvSpPr>
          <p:cNvPr id="19" name="Textplatzhalter 4">
            <a:extLst>
              <a:ext uri="{FF2B5EF4-FFF2-40B4-BE49-F238E27FC236}">
                <a16:creationId xmlns:a16="http://schemas.microsoft.com/office/drawing/2014/main" id="{57D522EB-93F7-49B3-9164-076263457E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3003" y="6088030"/>
            <a:ext cx="5040000" cy="189474"/>
          </a:xfrm>
          <a:prstGeom prst="rect">
            <a:avLst/>
          </a:prstGeom>
        </p:spPr>
        <p:txBody>
          <a:bodyPr lIns="324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en-GB"/>
              <a:t>Date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7F9C6E9C-7482-8BA6-FA8A-F9B75621B89B}"/>
              </a:ext>
            </a:extLst>
          </p:cNvPr>
          <p:cNvSpPr>
            <a:spLocks/>
          </p:cNvSpPr>
          <p:nvPr userDrawn="1"/>
        </p:nvSpPr>
        <p:spPr>
          <a:xfrm>
            <a:off x="-3139178" y="1477622"/>
            <a:ext cx="2845436" cy="4134191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You can find more templates in the Template Library. They are stored in the template folders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Images can be found on your local drive under </a:t>
            </a:r>
            <a:r>
              <a:rPr lang="en-US" sz="1600" b="1">
                <a:solidFill>
                  <a:schemeClr val="tx1"/>
                </a:solidFill>
              </a:rPr>
              <a:t>C:\Program Files (x86)\STIHL\PPT Images </a:t>
            </a:r>
            <a:r>
              <a:rPr lang="en-US" sz="1600">
                <a:solidFill>
                  <a:schemeClr val="tx1"/>
                </a:solidFill>
              </a:rPr>
              <a:t>or in the STIHL DAM </a:t>
            </a:r>
            <a:r>
              <a:rPr lang="en-US" sz="1600">
                <a:solidFill>
                  <a:schemeClr val="tx1"/>
                </a:solidFill>
                <a:hlinkClick r:id="rId7"/>
              </a:rPr>
              <a:t>https://dam.stihl.com/</a:t>
            </a:r>
            <a:endParaRPr lang="en-US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Please do not print slides with full </a:t>
            </a:r>
            <a:r>
              <a:rPr lang="en-US" sz="1600" b="0" err="1">
                <a:solidFill>
                  <a:schemeClr val="tx1"/>
                </a:solidFill>
              </a:rPr>
              <a:t>colour</a:t>
            </a:r>
            <a:r>
              <a:rPr lang="en-US" sz="1600" b="0">
                <a:solidFill>
                  <a:schemeClr val="tx1"/>
                </a:solidFill>
              </a:rPr>
              <a:t> or images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The stand line can be inserted via the "Insert" tab through the "Symbol" field</a:t>
            </a:r>
          </a:p>
        </p:txBody>
      </p:sp>
    </p:spTree>
    <p:extLst>
      <p:ext uri="{BB962C8B-B14F-4D97-AF65-F5344CB8AC3E}">
        <p14:creationId xmlns:p14="http://schemas.microsoft.com/office/powerpoint/2010/main" val="3853677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48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sp>
        <p:nvSpPr>
          <p:cNvPr id="11" name="Subline">
            <a:extLst>
              <a:ext uri="{FF2B5EF4-FFF2-40B4-BE49-F238E27FC236}">
                <a16:creationId xmlns:a16="http://schemas.microsoft.com/office/drawing/2014/main" id="{93378434-A597-4F7F-B029-ECD35EA41B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1500" y="5706830"/>
            <a:ext cx="8640000" cy="216000"/>
          </a:xfrm>
          <a:prstGeom prst="rect">
            <a:avLst/>
          </a:prstGeom>
        </p:spPr>
        <p:txBody>
          <a:bodyPr lIns="0" rIns="0" anchor="b" anchorCtr="0">
            <a:noAutofit/>
          </a:bodyPr>
          <a:lstStyle>
            <a:lvl1pPr marL="0" indent="0">
              <a:buNone/>
              <a:defRPr sz="1800" b="1" cap="none" baseline="0">
                <a:latin typeface="+mj-lt"/>
              </a:defRPr>
            </a:lvl1pPr>
          </a:lstStyle>
          <a:p>
            <a:pPr lvl="0"/>
            <a:r>
              <a:rPr lang="en-GB"/>
              <a:t>Subline</a:t>
            </a:r>
          </a:p>
        </p:txBody>
      </p:sp>
      <p:sp>
        <p:nvSpPr>
          <p:cNvPr id="12" name="Name">
            <a:extLst>
              <a:ext uri="{FF2B5EF4-FFF2-40B4-BE49-F238E27FC236}">
                <a16:creationId xmlns:a16="http://schemas.microsoft.com/office/drawing/2014/main" id="{78096696-CF0D-4E90-AD93-F265006F555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1500" y="6049289"/>
            <a:ext cx="8640000" cy="216000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0" indent="0">
              <a:buNone/>
              <a:defRPr sz="1800" cap="none" baseline="0">
                <a:latin typeface="+mn-lt"/>
              </a:defRPr>
            </a:lvl1pPr>
          </a:lstStyle>
          <a:p>
            <a:pPr lvl="0"/>
            <a:r>
              <a:rPr lang="en-GB"/>
              <a:t>First name last name</a:t>
            </a:r>
          </a:p>
        </p:txBody>
      </p:sp>
      <p:sp>
        <p:nvSpPr>
          <p:cNvPr id="9" name="Datum">
            <a:extLst>
              <a:ext uri="{FF2B5EF4-FFF2-40B4-BE49-F238E27FC236}">
                <a16:creationId xmlns:a16="http://schemas.microsoft.com/office/drawing/2014/main" id="{93CE0D43-2D94-4A12-94F6-C940A9EBB10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1500" y="6283748"/>
            <a:ext cx="8640000" cy="216000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0" indent="0">
              <a:buNone/>
              <a:defRPr sz="1800" cap="none" baseline="0">
                <a:latin typeface="+mn-lt"/>
              </a:defRPr>
            </a:lvl1pPr>
          </a:lstStyle>
          <a:p>
            <a:pPr lvl="0"/>
            <a:r>
              <a:rPr lang="en-GB"/>
              <a:t>Date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D970E17-5A52-472F-AD9C-2A0296A449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" y="2113200"/>
            <a:ext cx="8640000" cy="3240000"/>
          </a:xfrm>
        </p:spPr>
        <p:txBody>
          <a:bodyPr vert="horz" lIns="0" tIns="0" rIns="0" bIns="0" rtlCol="0">
            <a:noAutofit/>
          </a:bodyPr>
          <a:lstStyle>
            <a:lvl1pPr>
              <a:defRPr lang="de-DE" sz="4800" cap="none" baseline="0">
                <a:latin typeface="STIHL Contraface Display Title" panose="02000600040000020004" pitchFamily="50" charset="0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GB"/>
              <a:t>Edit master title format</a:t>
            </a:r>
            <a:br>
              <a:rPr lang="en-GB"/>
            </a:br>
            <a:r>
              <a:rPr lang="en-GB"/>
              <a:t>ƒ</a:t>
            </a:r>
          </a:p>
        </p:txBody>
      </p:sp>
      <p:pic>
        <p:nvPicPr>
          <p:cNvPr id="10" name="Grafik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1" y="502821"/>
            <a:ext cx="1385810" cy="287488"/>
          </a:xfrm>
          <a:prstGeom prst="rect">
            <a:avLst/>
          </a:prstGeom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EDFE4EF3-E694-84AE-1AE6-1C292CC7C560}"/>
              </a:ext>
            </a:extLst>
          </p:cNvPr>
          <p:cNvSpPr>
            <a:spLocks/>
          </p:cNvSpPr>
          <p:nvPr userDrawn="1"/>
        </p:nvSpPr>
        <p:spPr>
          <a:xfrm>
            <a:off x="-3139178" y="1477622"/>
            <a:ext cx="2845436" cy="4134191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You can find more templates in the Template Library. They are stored in the template folders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Images can be found on your local drive under </a:t>
            </a:r>
            <a:r>
              <a:rPr lang="en-US" sz="1600" b="1">
                <a:solidFill>
                  <a:schemeClr val="tx1"/>
                </a:solidFill>
              </a:rPr>
              <a:t>C:\Program Files (x86)\STIHL\PPT Images </a:t>
            </a:r>
            <a:r>
              <a:rPr lang="en-US" sz="1600">
                <a:solidFill>
                  <a:schemeClr val="tx1"/>
                </a:solidFill>
              </a:rPr>
              <a:t>or in the STIHL DAM </a:t>
            </a:r>
            <a:r>
              <a:rPr lang="en-US" sz="1600">
                <a:solidFill>
                  <a:schemeClr val="tx1"/>
                </a:solidFill>
                <a:hlinkClick r:id="rId7"/>
              </a:rPr>
              <a:t>https://dam.stihl.com/</a:t>
            </a:r>
            <a:endParaRPr lang="en-US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Please do not print slides with full </a:t>
            </a:r>
            <a:r>
              <a:rPr lang="en-US" sz="1600" b="0" err="1">
                <a:solidFill>
                  <a:schemeClr val="tx1"/>
                </a:solidFill>
              </a:rPr>
              <a:t>colour</a:t>
            </a:r>
            <a:r>
              <a:rPr lang="en-US" sz="1600" b="0">
                <a:solidFill>
                  <a:schemeClr val="tx1"/>
                </a:solidFill>
              </a:rPr>
              <a:t> or images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The stand line can be inserted via the "Insert" tab through the "Symbol" field</a:t>
            </a:r>
          </a:p>
        </p:txBody>
      </p:sp>
    </p:spTree>
    <p:extLst>
      <p:ext uri="{BB962C8B-B14F-4D97-AF65-F5344CB8AC3E}">
        <p14:creationId xmlns:p14="http://schemas.microsoft.com/office/powerpoint/2010/main" val="797199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kt 9" hidden="1">
            <a:extLst>
              <a:ext uri="{FF2B5EF4-FFF2-40B4-BE49-F238E27FC236}">
                <a16:creationId xmlns:a16="http://schemas.microsoft.com/office/drawing/2014/main" id="{25DBC705-8149-459E-9D73-71848E406B1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10" name="Objekt 9" hidden="1">
                        <a:extLst>
                          <a:ext uri="{FF2B5EF4-FFF2-40B4-BE49-F238E27FC236}">
                            <a16:creationId xmlns:a16="http://schemas.microsoft.com/office/drawing/2014/main" id="{25DBC705-8149-459E-9D73-71848E406B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hteck 7" hidden="1">
            <a:extLst>
              <a:ext uri="{FF2B5EF4-FFF2-40B4-BE49-F238E27FC236}">
                <a16:creationId xmlns:a16="http://schemas.microsoft.com/office/drawing/2014/main" id="{39010A7A-64D4-40B1-96E7-BCEEBB7E8A3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DE73F636-8F03-4538-831F-37B264F004C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6" y="1128730"/>
            <a:ext cx="11244913" cy="2492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753CF0BC-3DA6-4688-820F-374B0CB9CA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anchor="t" anchorCtr="0">
            <a:noAutofit/>
          </a:bodyPr>
          <a:lstStyle>
            <a:lvl1pPr>
              <a:lnSpc>
                <a:spcPct val="90000"/>
              </a:lnSpc>
              <a:defRPr sz="2200"/>
            </a:lvl1pPr>
          </a:lstStyle>
          <a:p>
            <a:r>
              <a:rPr lang="en-GB"/>
              <a:t>Edit master title format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14" hasCustomPrompt="1"/>
          </p:nvPr>
        </p:nvSpPr>
        <p:spPr>
          <a:xfrm>
            <a:off x="479425" y="1605307"/>
            <a:ext cx="11233149" cy="4855818"/>
          </a:xfrm>
        </p:spPr>
        <p:txBody>
          <a:bodyPr/>
          <a:lstStyle>
            <a:lvl1pPr>
              <a:defRPr baseline="0"/>
            </a:lvl1pPr>
            <a:lvl2pPr>
              <a:defRPr/>
            </a:lvl2pPr>
            <a:lvl3pPr>
              <a:defRPr/>
            </a:lvl3pPr>
            <a:lvl4pPr>
              <a:defRPr baseline="0"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3598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F0605A64-2B63-413A-A26B-43B30D77127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F0605A64-2B63-413A-A26B-43B30D77127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00416A2A-8426-4273-BB96-478B63147052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F490E706-F8A4-4052-9AE3-BC93A228C9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9C20E754-BBFE-4A95-AA44-67ACDA85C7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</p:spTree>
    <p:extLst>
      <p:ext uri="{BB962C8B-B14F-4D97-AF65-F5344CB8AC3E}">
        <p14:creationId xmlns:p14="http://schemas.microsoft.com/office/powerpoint/2010/main" val="114405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08ED5069-7E91-48C5-95E3-99F57E17659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08ED5069-7E91-48C5-95E3-99F57E1765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B2A3BD8A-6CFF-48E0-A155-11F4B2BBD55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A26E03A4-095B-410D-BCF8-3F189668F8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2EA80287-A2C9-4521-95F7-BFAC821FCA0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5" hasCustomPrompt="1"/>
          </p:nvPr>
        </p:nvSpPr>
        <p:spPr>
          <a:xfrm>
            <a:off x="479427" y="1605435"/>
            <a:ext cx="11233147" cy="4849340"/>
          </a:xfrm>
        </p:spPr>
        <p:txBody>
          <a:bodyPr/>
          <a:lstStyle>
            <a:lvl1pPr>
              <a:defRPr/>
            </a:lvl1pPr>
            <a:lvl2pPr>
              <a:defRPr baseline="0"/>
            </a:lvl2pPr>
            <a:lvl3pPr>
              <a:defRPr/>
            </a:lvl3pPr>
            <a:lvl4pPr>
              <a:defRPr baseline="0"/>
            </a:lvl4pPr>
            <a:lvl5pPr>
              <a:defRPr baseline="0"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48248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D653AC16-B8BF-4F06-9847-410FBD66114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D653AC16-B8BF-4F06-9847-410FBD6611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D21E1F63-0E73-4BE0-AB62-ECF4E2E15BF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A26E03A4-095B-410D-BCF8-3F189668F8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3" name="Textplatzhalter 8">
            <a:extLst>
              <a:ext uri="{FF2B5EF4-FFF2-40B4-BE49-F238E27FC236}">
                <a16:creationId xmlns:a16="http://schemas.microsoft.com/office/drawing/2014/main" id="{6DBC4AB2-2C37-4DD5-89D1-6E82832F27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21" hasCustomPrompt="1"/>
          </p:nvPr>
        </p:nvSpPr>
        <p:spPr>
          <a:xfrm>
            <a:off x="479427" y="1605435"/>
            <a:ext cx="5384331" cy="484934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5" name="Inhaltsplatzhalter 4"/>
          <p:cNvSpPr>
            <a:spLocks noGrp="1"/>
          </p:cNvSpPr>
          <p:nvPr>
            <p:ph sz="quarter" idx="22" hasCustomPrompt="1"/>
          </p:nvPr>
        </p:nvSpPr>
        <p:spPr>
          <a:xfrm>
            <a:off x="6328243" y="1605435"/>
            <a:ext cx="5384331" cy="484934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13369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ackground imag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n-ea"/>
              <a:cs typeface="+mn-cs"/>
              <a:sym typeface="STIHL Contraface Text"/>
            </a:endParaRPr>
          </a:p>
        </p:txBody>
      </p:sp>
      <p:pic>
        <p:nvPicPr>
          <p:cNvPr id="10" name="Grafik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17" name="Hintergrundbild">
            <a:extLst>
              <a:ext uri="{FF2B5EF4-FFF2-40B4-BE49-F238E27FC236}">
                <a16:creationId xmlns:a16="http://schemas.microsoft.com/office/drawing/2014/main" id="{91303CF3-1A7E-4149-A9A1-BC9B75037D6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4587758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68969 w 12192000"/>
              <a:gd name="connsiteY2" fmla="*/ 6536402 h 6858000"/>
              <a:gd name="connsiteX3" fmla="*/ 4587758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68969 w 12192000"/>
              <a:gd name="connsiteY2" fmla="*/ 6536402 h 6858000"/>
              <a:gd name="connsiteX3" fmla="*/ 4575232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68969 w 12192000"/>
              <a:gd name="connsiteY2" fmla="*/ 6536402 h 6858000"/>
              <a:gd name="connsiteX3" fmla="*/ 4581495 w 12192000"/>
              <a:gd name="connsiteY3" fmla="*/ 338139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81495 w 12192000"/>
              <a:gd name="connsiteY3" fmla="*/ 338139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600284 w 12192000"/>
              <a:gd name="connsiteY3" fmla="*/ 338139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04664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04664 w 12192000"/>
              <a:gd name="connsiteY7" fmla="*/ 1027306 h 6858000"/>
              <a:gd name="connsiteX8" fmla="*/ 11904664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38870 w 12192000"/>
              <a:gd name="connsiteY6" fmla="*/ 1034926 h 6858000"/>
              <a:gd name="connsiteX7" fmla="*/ 11904664 w 12192000"/>
              <a:gd name="connsiteY7" fmla="*/ 1027306 h 6858000"/>
              <a:gd name="connsiteX8" fmla="*/ 11904664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4664 w 12192000"/>
              <a:gd name="connsiteY7" fmla="*/ 1027306 h 6858000"/>
              <a:gd name="connsiteX8" fmla="*/ 11904664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4664 w 12192000"/>
              <a:gd name="connsiteY7" fmla="*/ 1027306 h 6858000"/>
              <a:gd name="connsiteX8" fmla="*/ 11721784 w 12192000"/>
              <a:gd name="connsiteY8" fmla="*/ 39012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466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649394 w 12192000"/>
              <a:gd name="connsiteY7" fmla="*/ 87109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466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756074 w 12192000"/>
              <a:gd name="connsiteY7" fmla="*/ 95301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2759 w 12192000"/>
              <a:gd name="connsiteY7" fmla="*/ 102921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735119 w 12192000"/>
              <a:gd name="connsiteY7" fmla="*/ 89967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921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3111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20869 w 12192000"/>
              <a:gd name="connsiteY3" fmla="*/ 25296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20869 w 12192000"/>
              <a:gd name="connsiteY3" fmla="*/ 252962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87758 w 12192000"/>
              <a:gd name="connsiteY2" fmla="*/ 6536402 h 6858000"/>
              <a:gd name="connsiteX3" fmla="*/ 4520869 w 12192000"/>
              <a:gd name="connsiteY3" fmla="*/ 252962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08510 w 12192000"/>
              <a:gd name="connsiteY2" fmla="*/ 6603458 h 6858000"/>
              <a:gd name="connsiteX3" fmla="*/ 4520869 w 12192000"/>
              <a:gd name="connsiteY3" fmla="*/ 252962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520869 w 12192000"/>
              <a:gd name="connsiteY3" fmla="*/ 252962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233214 w 12192000"/>
              <a:gd name="connsiteY3" fmla="*/ 468227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503724 w 12192000"/>
              <a:gd name="connsiteY3" fmla="*/ 258677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549021 w 12192000"/>
              <a:gd name="connsiteY0" fmla="*/ 47241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503724 w 12192000"/>
              <a:gd name="connsiteY3" fmla="*/ 258677 h 6858000"/>
              <a:gd name="connsiteX4" fmla="*/ 549021 w 12192000"/>
              <a:gd name="connsiteY4" fmla="*/ 47241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4226 w 12192000"/>
              <a:gd name="connsiteY0" fmla="*/ 25905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503724 w 12192000"/>
              <a:gd name="connsiteY3" fmla="*/ 258677 h 6858000"/>
              <a:gd name="connsiteX4" fmla="*/ 28422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284226" y="259058"/>
                </a:moveTo>
                <a:lnTo>
                  <a:pt x="282702" y="6597362"/>
                </a:lnTo>
                <a:lnTo>
                  <a:pt x="4502795" y="6599648"/>
                </a:lnTo>
                <a:cubicBezTo>
                  <a:pt x="4504883" y="4535648"/>
                  <a:pt x="4501636" y="2322677"/>
                  <a:pt x="4503724" y="258677"/>
                </a:cubicBezTo>
                <a:lnTo>
                  <a:pt x="284226" y="259058"/>
                </a:lnTo>
                <a:close/>
                <a:moveTo>
                  <a:pt x="10144585" y="266296"/>
                </a:moveTo>
                <a:lnTo>
                  <a:pt x="10144585" y="1025401"/>
                </a:lnTo>
                <a:lnTo>
                  <a:pt x="11900854" y="1027306"/>
                </a:lnTo>
                <a:lnTo>
                  <a:pt x="11902759" y="268201"/>
                </a:lnTo>
                <a:lnTo>
                  <a:pt x="10144585" y="26629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8" name="Subline">
            <a:extLst>
              <a:ext uri="{FF2B5EF4-FFF2-40B4-BE49-F238E27FC236}">
                <a16:creationId xmlns:a16="http://schemas.microsoft.com/office/drawing/2014/main" id="{27895B51-0BE5-4A27-BF19-DDD42ED326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3316" y="5443855"/>
            <a:ext cx="4219882" cy="166199"/>
          </a:xfrm>
          <a:prstGeom prst="rect">
            <a:avLst/>
          </a:prstGeom>
        </p:spPr>
        <p:txBody>
          <a:bodyPr lIns="288000" rIns="288000" anchor="t" anchorCtr="0">
            <a:spAutoFit/>
          </a:bodyPr>
          <a:lstStyle>
            <a:lvl1pPr marL="0" indent="0">
              <a:spcBef>
                <a:spcPts val="0"/>
              </a:spcBef>
              <a:buNone/>
              <a:defRPr sz="1200" b="1" cap="none" baseline="0">
                <a:latin typeface="+mj-lt"/>
              </a:defRPr>
            </a:lvl1pPr>
          </a:lstStyle>
          <a:p>
            <a:pPr lvl="0"/>
            <a:r>
              <a:rPr lang="en-GB"/>
              <a:t>Subline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6D20123-1501-4CA7-AA2F-3112A03319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3316" y="258750"/>
            <a:ext cx="4219882" cy="1191023"/>
          </a:xfrm>
        </p:spPr>
        <p:txBody>
          <a:bodyPr vert="horz" lIns="288000" tIns="288000" rIns="288000" bIns="288000" rtlCol="0">
            <a:noAutofit/>
          </a:bodyPr>
          <a:lstStyle>
            <a:lvl1pPr>
              <a:spcBef>
                <a:spcPts val="0"/>
              </a:spcBef>
              <a:defRPr lang="de-DE" sz="2200" cap="none" baseline="0" dirty="0">
                <a:latin typeface="+mj-lt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GB"/>
              <a:t>Edit master title format</a:t>
            </a: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16" hasCustomPrompt="1"/>
          </p:nvPr>
        </p:nvSpPr>
        <p:spPr>
          <a:xfrm>
            <a:off x="283316" y="1533024"/>
            <a:ext cx="4219882" cy="3910831"/>
          </a:xfrm>
        </p:spPr>
        <p:txBody>
          <a:bodyPr lIns="288000" rIns="288000"/>
          <a:lstStyle>
            <a:lvl1pPr>
              <a:defRPr/>
            </a:lvl1pPr>
            <a:lvl2pPr>
              <a:defRPr baseline="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8388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content left /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7533893B-821E-4ADE-9220-F4BFD56A94D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7533893B-821E-4ADE-9220-F4BFD56A94D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459E3539-5FD6-406C-97C0-23B63907A3AF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3645C76C-2B5D-4ED3-8A37-4C9BFA9F1D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5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6910D21-640F-4D2A-A173-3AEDAE01B9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340007" y="1605435"/>
            <a:ext cx="5372567" cy="484934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lnSpc>
                <a:spcPct val="90000"/>
              </a:lnSpc>
              <a:defRPr lang="de-DE" dirty="0"/>
            </a:lvl1pPr>
          </a:lstStyle>
          <a:p>
            <a:pPr lvl="0"/>
            <a:r>
              <a:rPr lang="en-US"/>
              <a:t>Add image by clicking on icon</a:t>
            </a:r>
          </a:p>
        </p:txBody>
      </p:sp>
      <p:sp>
        <p:nvSpPr>
          <p:cNvPr id="13" name="Textplatzhalter 8">
            <a:extLst>
              <a:ext uri="{FF2B5EF4-FFF2-40B4-BE49-F238E27FC236}">
                <a16:creationId xmlns:a16="http://schemas.microsoft.com/office/drawing/2014/main" id="{3F74B75A-3F3E-4E2B-84F3-277B54EBC3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15" hasCustomPrompt="1"/>
          </p:nvPr>
        </p:nvSpPr>
        <p:spPr>
          <a:xfrm>
            <a:off x="479427" y="1605435"/>
            <a:ext cx="5384332" cy="484934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 baseline="0"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26373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left / text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6C37FF3E-A92A-4E10-BE06-1BAF6DBEE3A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6C37FF3E-A92A-4E10-BE06-1BAF6DBEE3A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D59466C3-9696-446B-A506-2764C30C524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3645C76C-2B5D-4ED3-8A37-4C9BFA9F1D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6910D21-640F-4D2A-A173-3AEDAE01B9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9427" y="1605435"/>
            <a:ext cx="5384332" cy="48493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5E1810CB-B3A3-4F48-882E-1806957C5A9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</a:t>
            </a:r>
            <a:r>
              <a:rPr lang="en-GB" noProof="0"/>
              <a:t>headline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16" hasCustomPrompt="1"/>
          </p:nvPr>
        </p:nvSpPr>
        <p:spPr>
          <a:xfrm>
            <a:off x="6328242" y="1605435"/>
            <a:ext cx="5384332" cy="4849340"/>
          </a:xfrm>
        </p:spPr>
        <p:txBody>
          <a:bodyPr/>
          <a:lstStyle>
            <a:lvl1pPr>
              <a:defRPr baseline="0"/>
            </a:lvl1pPr>
            <a:lvl2pPr>
              <a:defRPr/>
            </a:lvl2pPr>
            <a:lvl3pPr>
              <a:defRPr/>
            </a:lvl3pPr>
            <a:lvl4pPr>
              <a:defRPr baseline="0"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45134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title background image / text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6910D21-640F-4D2A-A173-3AEDAE01B9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068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7" name="Inhaltsplatzhalter 6"/>
          <p:cNvSpPr>
            <a:spLocks noGrp="1"/>
          </p:cNvSpPr>
          <p:nvPr>
            <p:ph sz="quarter" idx="14" hasCustomPrompt="1"/>
          </p:nvPr>
        </p:nvSpPr>
        <p:spPr>
          <a:xfrm>
            <a:off x="4547426" y="1605435"/>
            <a:ext cx="5488114" cy="4849340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997437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large left / text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6910D21-640F-4D2A-A173-3AEDAE01B9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731876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8" name="Inhaltsplatzhalter 7"/>
          <p:cNvSpPr>
            <a:spLocks noGrp="1"/>
          </p:cNvSpPr>
          <p:nvPr>
            <p:ph sz="quarter" idx="14" hasCustomPrompt="1"/>
          </p:nvPr>
        </p:nvSpPr>
        <p:spPr>
          <a:xfrm>
            <a:off x="7209713" y="1605435"/>
            <a:ext cx="4502861" cy="4849340"/>
          </a:xfrm>
        </p:spPr>
        <p:txBody>
          <a:bodyPr/>
          <a:lstStyle>
            <a:lvl1pPr>
              <a:defRPr/>
            </a:lvl1pPr>
            <a:lvl2pPr>
              <a:defRPr baseline="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984517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kt 9" hidden="1">
            <a:extLst>
              <a:ext uri="{FF2B5EF4-FFF2-40B4-BE49-F238E27FC236}">
                <a16:creationId xmlns:a16="http://schemas.microsoft.com/office/drawing/2014/main" id="{435B4EBB-2F7A-4AE4-BD00-67C8C0B62C2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10" name="Objekt 9" hidden="1">
                        <a:extLst>
                          <a:ext uri="{FF2B5EF4-FFF2-40B4-BE49-F238E27FC236}">
                            <a16:creationId xmlns:a16="http://schemas.microsoft.com/office/drawing/2014/main" id="{435B4EBB-2F7A-4AE4-BD00-67C8C0B62C2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A7CB53B2-ECA4-444A-AB4E-723BCED04A1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4A3FDA9-3CE6-48AD-AE14-9F756B6E73F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79427" y="4810219"/>
            <a:ext cx="5384333" cy="1644556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Edit master text format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D7E1FB2-B072-4C41-88FD-F720EB877288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328241" y="4810219"/>
            <a:ext cx="5384333" cy="1644556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Edit master text format</a:t>
            </a: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1D6E84FA-FD4E-4697-91A3-11CC718B6B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4" name="Textplatzhalter 8">
            <a:extLst>
              <a:ext uri="{FF2B5EF4-FFF2-40B4-BE49-F238E27FC236}">
                <a16:creationId xmlns:a16="http://schemas.microsoft.com/office/drawing/2014/main" id="{6584C2F4-58E3-486D-88D2-9F6D570B6C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8" name="Inhaltsplatzhalter 7"/>
          <p:cNvSpPr>
            <a:spLocks noGrp="1"/>
          </p:cNvSpPr>
          <p:nvPr>
            <p:ph sz="quarter" idx="14" hasCustomPrompt="1"/>
          </p:nvPr>
        </p:nvSpPr>
        <p:spPr>
          <a:xfrm>
            <a:off x="6328241" y="1605435"/>
            <a:ext cx="5384333" cy="3075921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/>
            </a:lvl4pPr>
            <a:lvl5pPr>
              <a:defRPr baseline="0"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 </a:t>
            </a:r>
          </a:p>
        </p:txBody>
      </p:sp>
      <p:sp>
        <p:nvSpPr>
          <p:cNvPr id="15" name="Inhaltsplatzhalter 7"/>
          <p:cNvSpPr>
            <a:spLocks noGrp="1"/>
          </p:cNvSpPr>
          <p:nvPr>
            <p:ph sz="quarter" idx="15" hasCustomPrompt="1"/>
          </p:nvPr>
        </p:nvSpPr>
        <p:spPr>
          <a:xfrm>
            <a:off x="479427" y="1605435"/>
            <a:ext cx="5384333" cy="3075921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/>
            </a:lvl4pPr>
            <a:lvl5pPr>
              <a:defRPr baseline="0"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 </a:t>
            </a:r>
          </a:p>
        </p:txBody>
      </p:sp>
    </p:spTree>
    <p:extLst>
      <p:ext uri="{BB962C8B-B14F-4D97-AF65-F5344CB8AC3E}">
        <p14:creationId xmlns:p14="http://schemas.microsoft.com/office/powerpoint/2010/main" val="20562469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ictur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Bildplatzhalter 7">
            <a:extLst>
              <a:ext uri="{FF2B5EF4-FFF2-40B4-BE49-F238E27FC236}">
                <a16:creationId xmlns:a16="http://schemas.microsoft.com/office/drawing/2014/main" id="{ED7967F9-E942-4760-BBB0-7377F089841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1058241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ive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Bildplatzhalter 7">
            <a:extLst>
              <a:ext uri="{FF2B5EF4-FFF2-40B4-BE49-F238E27FC236}">
                <a16:creationId xmlns:a16="http://schemas.microsoft.com/office/drawing/2014/main" id="{ED7967F9-E942-4760-BBB0-7377F089841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9427" y="503236"/>
            <a:ext cx="7434865" cy="28766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4" name="Bildplatzhalter 7">
            <a:extLst>
              <a:ext uri="{FF2B5EF4-FFF2-40B4-BE49-F238E27FC236}">
                <a16:creationId xmlns:a16="http://schemas.microsoft.com/office/drawing/2014/main" id="{3874E60C-732A-46D4-A0D2-7308833B35F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112574" y="503236"/>
            <a:ext cx="3600000" cy="28766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5" name="Bildplatzhalter 7">
            <a:extLst>
              <a:ext uri="{FF2B5EF4-FFF2-40B4-BE49-F238E27FC236}">
                <a16:creationId xmlns:a16="http://schemas.microsoft.com/office/drawing/2014/main" id="{39157FFC-465D-4202-AA4E-49F8E951F1B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112574" y="3578149"/>
            <a:ext cx="3600000" cy="28766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6" name="Bildplatzhalter 7">
            <a:extLst>
              <a:ext uri="{FF2B5EF4-FFF2-40B4-BE49-F238E27FC236}">
                <a16:creationId xmlns:a16="http://schemas.microsoft.com/office/drawing/2014/main" id="{398ADFCC-9F73-4FCE-B41A-76494D790BA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326525" y="3578149"/>
            <a:ext cx="4587765" cy="28766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7" name="Bildplatzhalter 7">
            <a:extLst>
              <a:ext uri="{FF2B5EF4-FFF2-40B4-BE49-F238E27FC236}">
                <a16:creationId xmlns:a16="http://schemas.microsoft.com/office/drawing/2014/main" id="{9C2AE974-6668-41BF-9CA5-FBFDB292E2F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79427" y="3578149"/>
            <a:ext cx="2648814" cy="28766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35567295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ree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Bildplatzhalter 7">
            <a:extLst>
              <a:ext uri="{FF2B5EF4-FFF2-40B4-BE49-F238E27FC236}">
                <a16:creationId xmlns:a16="http://schemas.microsoft.com/office/drawing/2014/main" id="{ED7967F9-E942-4760-BBB0-7377F089841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9427" y="503236"/>
            <a:ext cx="6912000" cy="59515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4" name="Bildplatzhalter 7">
            <a:extLst>
              <a:ext uri="{FF2B5EF4-FFF2-40B4-BE49-F238E27FC236}">
                <a16:creationId xmlns:a16="http://schemas.microsoft.com/office/drawing/2014/main" id="{3874E60C-732A-46D4-A0D2-7308833B35F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587672" y="503236"/>
            <a:ext cx="4124902" cy="28766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9" name="Bildplatzhalter 7">
            <a:extLst>
              <a:ext uri="{FF2B5EF4-FFF2-40B4-BE49-F238E27FC236}">
                <a16:creationId xmlns:a16="http://schemas.microsoft.com/office/drawing/2014/main" id="{77162A5A-203D-4041-B750-63013653294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587672" y="3578151"/>
            <a:ext cx="4124902" cy="28766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33639881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kt 9" hidden="1">
            <a:extLst>
              <a:ext uri="{FF2B5EF4-FFF2-40B4-BE49-F238E27FC236}">
                <a16:creationId xmlns:a16="http://schemas.microsoft.com/office/drawing/2014/main" id="{435B4EBB-2F7A-4AE4-BD00-67C8C0B62C2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10" name="Objekt 9" hidden="1">
                        <a:extLst>
                          <a:ext uri="{FF2B5EF4-FFF2-40B4-BE49-F238E27FC236}">
                            <a16:creationId xmlns:a16="http://schemas.microsoft.com/office/drawing/2014/main" id="{435B4EBB-2F7A-4AE4-BD00-67C8C0B62C2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A7CB53B2-ECA4-444A-AB4E-723BCED04A1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1D6E84FA-FD4E-4697-91A3-11CC718B6B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4" name="Textplatzhalter 8">
            <a:extLst>
              <a:ext uri="{FF2B5EF4-FFF2-40B4-BE49-F238E27FC236}">
                <a16:creationId xmlns:a16="http://schemas.microsoft.com/office/drawing/2014/main" id="{6584C2F4-58E3-486D-88D2-9F6D570B6C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 err="1"/>
              <a:t>Subheadline</a:t>
            </a:r>
            <a:endParaRPr lang="en-GB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4" hasCustomPrompt="1"/>
          </p:nvPr>
        </p:nvSpPr>
        <p:spPr>
          <a:xfrm>
            <a:off x="479427" y="4253457"/>
            <a:ext cx="2700000" cy="2201318"/>
          </a:xfrm>
        </p:spPr>
        <p:txBody>
          <a:bodyPr/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6" name="Textplatzhalter 5"/>
          <p:cNvSpPr>
            <a:spLocks noGrp="1"/>
          </p:cNvSpPr>
          <p:nvPr>
            <p:ph type="body" sz="quarter" idx="15" hasCustomPrompt="1"/>
          </p:nvPr>
        </p:nvSpPr>
        <p:spPr>
          <a:xfrm>
            <a:off x="3323809" y="4253457"/>
            <a:ext cx="2700000" cy="2201318"/>
          </a:xfrm>
        </p:spPr>
        <p:txBody>
          <a:bodyPr/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7" name="Textplatzhalter 5"/>
          <p:cNvSpPr>
            <a:spLocks noGrp="1"/>
          </p:cNvSpPr>
          <p:nvPr>
            <p:ph type="body" sz="quarter" idx="16" hasCustomPrompt="1"/>
          </p:nvPr>
        </p:nvSpPr>
        <p:spPr>
          <a:xfrm>
            <a:off x="6168191" y="4253457"/>
            <a:ext cx="2700000" cy="2201318"/>
          </a:xfrm>
        </p:spPr>
        <p:txBody>
          <a:bodyPr/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8" name="Textplatzhalter 5"/>
          <p:cNvSpPr>
            <a:spLocks noGrp="1"/>
          </p:cNvSpPr>
          <p:nvPr>
            <p:ph type="body" sz="quarter" idx="17" hasCustomPrompt="1"/>
          </p:nvPr>
        </p:nvSpPr>
        <p:spPr>
          <a:xfrm>
            <a:off x="9012574" y="4253457"/>
            <a:ext cx="2700000" cy="2201318"/>
          </a:xfrm>
        </p:spPr>
        <p:txBody>
          <a:bodyPr/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8" hasCustomPrompt="1"/>
          </p:nvPr>
        </p:nvSpPr>
        <p:spPr>
          <a:xfrm>
            <a:off x="479427" y="1605435"/>
            <a:ext cx="1836000" cy="24480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19" name="Bildplatzhalter 8"/>
          <p:cNvSpPr>
            <a:spLocks noGrp="1"/>
          </p:cNvSpPr>
          <p:nvPr>
            <p:ph type="pic" sz="quarter" idx="19" hasCustomPrompt="1"/>
          </p:nvPr>
        </p:nvSpPr>
        <p:spPr>
          <a:xfrm>
            <a:off x="3323809" y="1605435"/>
            <a:ext cx="1836000" cy="24480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20" name="Bildplatzhalter 8"/>
          <p:cNvSpPr>
            <a:spLocks noGrp="1"/>
          </p:cNvSpPr>
          <p:nvPr>
            <p:ph type="pic" sz="quarter" idx="20" hasCustomPrompt="1"/>
          </p:nvPr>
        </p:nvSpPr>
        <p:spPr>
          <a:xfrm>
            <a:off x="6168191" y="1605435"/>
            <a:ext cx="1836000" cy="24480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21" name="Bildplatzhalter 8"/>
          <p:cNvSpPr>
            <a:spLocks noGrp="1"/>
          </p:cNvSpPr>
          <p:nvPr>
            <p:ph type="pic" sz="quarter" idx="21" hasCustomPrompt="1"/>
          </p:nvPr>
        </p:nvSpPr>
        <p:spPr>
          <a:xfrm>
            <a:off x="9012574" y="1605435"/>
            <a:ext cx="1836000" cy="24480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Add image by clicking on icon</a:t>
            </a:r>
          </a:p>
        </p:txBody>
      </p:sp>
    </p:spTree>
    <p:extLst>
      <p:ext uri="{BB962C8B-B14F-4D97-AF65-F5344CB8AC3E}">
        <p14:creationId xmlns:p14="http://schemas.microsoft.com/office/powerpoint/2010/main" val="2681845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message">
    <p:bg>
      <p:bgPr>
        <a:solidFill>
          <a:srgbClr val="F37A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4400" b="1" i="0" baseline="0">
              <a:solidFill>
                <a:schemeClr val="tx1"/>
              </a:solidFill>
              <a:latin typeface="STIHL Contraface Display Title" panose="02000600040000020004" pitchFamily="50" charset="0"/>
              <a:ea typeface="+mj-ea"/>
              <a:cs typeface="+mj-cs"/>
              <a:sym typeface="STIHL Contraface Display Title" panose="02000600040000020004" pitchFamily="50" charset="0"/>
            </a:endParaRPr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0" hasCustomPrompt="1"/>
          </p:nvPr>
        </p:nvSpPr>
        <p:spPr>
          <a:xfrm>
            <a:off x="568237" y="1186049"/>
            <a:ext cx="450670" cy="609398"/>
          </a:xfrm>
        </p:spPr>
        <p:txBody>
          <a:bodyPr wrap="square">
            <a:noAutofit/>
          </a:bodyPr>
          <a:lstStyle>
            <a:lvl1pPr>
              <a:tabLst>
                <a:tab pos="449263" algn="l"/>
              </a:tabLst>
              <a:defRPr sz="4400">
                <a:solidFill>
                  <a:schemeClr val="bg1"/>
                </a:solidFill>
                <a:latin typeface="STIHL Contraface Display Title" pitchFamily="50" charset="0"/>
              </a:defRPr>
            </a:lvl1pPr>
            <a:lvl2pPr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GB"/>
              <a:t>»	</a:t>
            </a:r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1" hasCustomPrompt="1"/>
          </p:nvPr>
        </p:nvSpPr>
        <p:spPr>
          <a:xfrm>
            <a:off x="1018907" y="3806696"/>
            <a:ext cx="10695256" cy="249299"/>
          </a:xfrm>
        </p:spPr>
        <p:txBody>
          <a:bodyPr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Edit master text format</a:t>
            </a:r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12D84E73-3E59-4631-ADBE-BD568242641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18907" y="1186049"/>
            <a:ext cx="10695256" cy="609398"/>
          </a:xfrm>
        </p:spPr>
        <p:txBody>
          <a:bodyPr wrap="square">
            <a:spAutoFit/>
          </a:bodyPr>
          <a:lstStyle>
            <a:lvl1pPr>
              <a:tabLst>
                <a:tab pos="449263" algn="l"/>
              </a:tabLst>
              <a:defRPr sz="4400">
                <a:solidFill>
                  <a:schemeClr val="bg1"/>
                </a:solidFill>
                <a:latin typeface="STIHL Contraface Display Title" pitchFamily="50" charset="0"/>
              </a:defRPr>
            </a:lvl1pPr>
            <a:lvl2pPr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GB"/>
              <a:t>quote «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images 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4117246"/>
            <a:ext cx="1772284" cy="1253402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72000" rIns="72000" bIns="72000" rtlCol="0" anchor="t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1600" b="0">
                <a:solidFill>
                  <a:schemeClr val="tx1"/>
                </a:solidFill>
              </a:rPr>
              <a:t>The Guillemets </a:t>
            </a:r>
            <a:br>
              <a:rPr lang="en-US" sz="1600" b="0">
                <a:solidFill>
                  <a:schemeClr val="tx1"/>
                </a:solidFill>
              </a:rPr>
            </a:br>
            <a:r>
              <a:rPr lang="en-US" sz="1600" b="0">
                <a:solidFill>
                  <a:schemeClr val="tx1"/>
                </a:solidFill>
              </a:rPr>
              <a:t>can be inserted </a:t>
            </a:r>
            <a:br>
              <a:rPr lang="en-US" sz="1600" b="0">
                <a:solidFill>
                  <a:schemeClr val="tx1"/>
                </a:solidFill>
              </a:rPr>
            </a:br>
            <a:r>
              <a:rPr lang="en-US" sz="1600" b="0">
                <a:solidFill>
                  <a:schemeClr val="tx1"/>
                </a:solidFill>
              </a:rPr>
              <a:t>via the "Insert" tab through the "Symbol" field</a:t>
            </a:r>
          </a:p>
        </p:txBody>
      </p:sp>
    </p:spTree>
    <p:extLst>
      <p:ext uri="{BB962C8B-B14F-4D97-AF65-F5344CB8AC3E}">
        <p14:creationId xmlns:p14="http://schemas.microsoft.com/office/powerpoint/2010/main" val="33917225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hteck 6">
            <a:extLst>
              <a:ext uri="{FF2B5EF4-FFF2-40B4-BE49-F238E27FC236}">
                <a16:creationId xmlns:a16="http://schemas.microsoft.com/office/drawing/2014/main" id="{16762DA5-7BF5-44ED-A0E7-1C1B1049A63C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684D222-F168-4BDD-AE60-92B32E63659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5499656"/>
            <a:ext cx="7812088" cy="671274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lnSpc>
                <a:spcPct val="90000"/>
              </a:lnSpc>
              <a:buNone/>
              <a:defRPr lang="de-DE" sz="4800" b="1" cap="all" baseline="0" smtClean="0"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en-GB"/>
              <a:t>Edit Conclusion</a:t>
            </a:r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1" y="502821"/>
            <a:ext cx="1385810" cy="287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9558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hapter separator without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684D222-F168-4BDD-AE60-92B32E63659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4834859"/>
            <a:ext cx="7812088" cy="133607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buNone/>
              <a:tabLst>
                <a:tab pos="1074738" algn="l"/>
              </a:tabLst>
              <a:defRPr lang="de-DE" sz="4800" b="1" cap="all" baseline="0" smtClean="0"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en-GB"/>
              <a:t>Edit chapter separators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5228CAB1-2EA1-4F8A-B1D7-C5BA22E44783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GB"/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1" y="502821"/>
            <a:ext cx="1385810" cy="287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8541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hapter separator with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Grafik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7" name="Bildplatzhalter 14">
            <a:extLst>
              <a:ext uri="{FF2B5EF4-FFF2-40B4-BE49-F238E27FC236}">
                <a16:creationId xmlns:a16="http://schemas.microsoft.com/office/drawing/2014/main" id="{12A2E7EC-D35A-4A4A-BBD2-6097A2AF781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268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2887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7137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751629 w 12192000"/>
              <a:gd name="connsiteY8" fmla="*/ 4199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09355 w 12192000"/>
              <a:gd name="connsiteY5" fmla="*/ 31900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209355 w 12192000"/>
              <a:gd name="connsiteY9" fmla="*/ 3190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15705 w 12192000"/>
              <a:gd name="connsiteY6" fmla="*/ 98222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803064 w 12192000"/>
              <a:gd name="connsiteY7" fmla="*/ 9549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673524 w 12192000"/>
              <a:gd name="connsiteY7" fmla="*/ 907291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474785 w 12192000"/>
              <a:gd name="connsiteY6" fmla="*/ 90411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510345 w 12192000"/>
              <a:gd name="connsiteY5" fmla="*/ 581891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510345 w 12192000"/>
              <a:gd name="connsiteY9" fmla="*/ 58189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5661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26500 w 12192000"/>
              <a:gd name="connsiteY5" fmla="*/ 339956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226500 w 12192000"/>
              <a:gd name="connsiteY9" fmla="*/ 3399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489966" y="6280287"/>
                </a:moveTo>
                <a:lnTo>
                  <a:pt x="488061" y="6386217"/>
                </a:lnTo>
                <a:lnTo>
                  <a:pt x="951870" y="6386217"/>
                </a:lnTo>
                <a:lnTo>
                  <a:pt x="951870" y="6280287"/>
                </a:lnTo>
                <a:lnTo>
                  <a:pt x="489966" y="6280287"/>
                </a:lnTo>
                <a:close/>
                <a:moveTo>
                  <a:pt x="10146490" y="267566"/>
                </a:moveTo>
                <a:cubicBezTo>
                  <a:pt x="10144797" y="526104"/>
                  <a:pt x="10146913" y="767498"/>
                  <a:pt x="10145220" y="1026036"/>
                </a:cubicBezTo>
                <a:lnTo>
                  <a:pt x="11902124" y="1027306"/>
                </a:lnTo>
                <a:lnTo>
                  <a:pt x="11902124" y="267566"/>
                </a:lnTo>
                <a:lnTo>
                  <a:pt x="10146490" y="26756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B2BCC63D-764D-453B-B95D-B53E771DF1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4834859"/>
            <a:ext cx="7812088" cy="133607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buNone/>
              <a:tabLst>
                <a:tab pos="1074738" algn="l"/>
              </a:tabLst>
              <a:defRPr lang="de-DE" sz="4800" b="1" cap="all" baseline="0" smtClean="0">
                <a:solidFill>
                  <a:schemeClr val="bg1"/>
                </a:solidFill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en-GB"/>
              <a:t>Edit chapter separators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2C6085ED-8EF3-4C74-9B9D-7804FC5FAEA1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GB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129519993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Grafik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27" name="Bildplatzhalter 14">
            <a:extLst>
              <a:ext uri="{FF2B5EF4-FFF2-40B4-BE49-F238E27FC236}">
                <a16:creationId xmlns:a16="http://schemas.microsoft.com/office/drawing/2014/main" id="{12A2E7EC-D35A-4A4A-BBD2-6097A2AF781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268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2887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7137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751629 w 12192000"/>
              <a:gd name="connsiteY8" fmla="*/ 4199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09355 w 12192000"/>
              <a:gd name="connsiteY5" fmla="*/ 31900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209355 w 12192000"/>
              <a:gd name="connsiteY9" fmla="*/ 3190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15705 w 12192000"/>
              <a:gd name="connsiteY6" fmla="*/ 98222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803064 w 12192000"/>
              <a:gd name="connsiteY7" fmla="*/ 9549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316035 w 12192000"/>
              <a:gd name="connsiteY5" fmla="*/ 36472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316035 w 12192000"/>
              <a:gd name="connsiteY9" fmla="*/ 3647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829734 w 12192000"/>
              <a:gd name="connsiteY8" fmla="*/ 35138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623994 w 12192000"/>
              <a:gd name="connsiteY7" fmla="*/ 924436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206180 w 12192000"/>
              <a:gd name="connsiteY6" fmla="*/ 95555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3315 w 12192000"/>
              <a:gd name="connsiteY6" fmla="*/ 102794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1410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60790 w 12192000"/>
              <a:gd name="connsiteY5" fmla="*/ 3856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260790 w 12192000"/>
              <a:gd name="connsiteY9" fmla="*/ 385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782109 w 12192000"/>
              <a:gd name="connsiteY8" fmla="*/ 360911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669714 w 12192000"/>
              <a:gd name="connsiteY7" fmla="*/ 95682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217610 w 12192000"/>
              <a:gd name="connsiteY6" fmla="*/ 963171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4029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7125 w 12192000"/>
              <a:gd name="connsiteY6" fmla="*/ 102603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97620 w 12192000"/>
              <a:gd name="connsiteY6" fmla="*/ 88506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7125 w 12192000"/>
              <a:gd name="connsiteY6" fmla="*/ 102984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349055 w 12192000"/>
              <a:gd name="connsiteY6" fmla="*/ 8755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625899 w 12192000"/>
              <a:gd name="connsiteY8" fmla="*/ 41234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376995 w 12192000"/>
              <a:gd name="connsiteY5" fmla="*/ 44092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376995 w 12192000"/>
              <a:gd name="connsiteY9" fmla="*/ 4409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9030 w 12192000"/>
              <a:gd name="connsiteY6" fmla="*/ 1026036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5220 w 12192000"/>
              <a:gd name="connsiteY6" fmla="*/ 1026036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489966" y="6280287"/>
                </a:moveTo>
                <a:lnTo>
                  <a:pt x="488061" y="6386217"/>
                </a:lnTo>
                <a:lnTo>
                  <a:pt x="951870" y="6386217"/>
                </a:lnTo>
                <a:lnTo>
                  <a:pt x="951870" y="6280287"/>
                </a:lnTo>
                <a:lnTo>
                  <a:pt x="489966" y="6280287"/>
                </a:lnTo>
                <a:close/>
                <a:moveTo>
                  <a:pt x="10146490" y="267566"/>
                </a:moveTo>
                <a:cubicBezTo>
                  <a:pt x="10144797" y="526104"/>
                  <a:pt x="10146913" y="767498"/>
                  <a:pt x="10145220" y="1026036"/>
                </a:cubicBezTo>
                <a:lnTo>
                  <a:pt x="11902124" y="1025401"/>
                </a:lnTo>
                <a:lnTo>
                  <a:pt x="11904029" y="267566"/>
                </a:lnTo>
                <a:lnTo>
                  <a:pt x="10146490" y="26756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24" name="Textplatzhalter 2">
            <a:extLst>
              <a:ext uri="{FF2B5EF4-FFF2-40B4-BE49-F238E27FC236}">
                <a16:creationId xmlns:a16="http://schemas.microsoft.com/office/drawing/2014/main" id="{B2BCC63D-764D-453B-B95D-B53E771DF1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4834859"/>
            <a:ext cx="7812088" cy="133607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buNone/>
              <a:tabLst>
                <a:tab pos="1074738" algn="l"/>
              </a:tabLst>
              <a:defRPr lang="de-DE" sz="4800" b="1" cap="all" baseline="0" smtClean="0">
                <a:solidFill>
                  <a:schemeClr val="bg1"/>
                </a:solidFill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en-GB"/>
              <a:t>Final words </a:t>
            </a:r>
            <a:br>
              <a:rPr lang="en-GB"/>
            </a:br>
            <a:r>
              <a:rPr lang="en-GB"/>
              <a:t>(many thanks)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2C6085ED-8EF3-4C74-9B9D-7804FC5FAEA1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GB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91237618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622127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itel 10">
            <a:extLst>
              <a:ext uri="{FF2B5EF4-FFF2-40B4-BE49-F238E27FC236}">
                <a16:creationId xmlns:a16="http://schemas.microsoft.com/office/drawing/2014/main" id="{1D6E84FA-FD4E-4697-91A3-11CC718B6B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Agenda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137502"/>
            <a:ext cx="1772284" cy="2582997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1600">
                <a:solidFill>
                  <a:schemeClr val="tx1"/>
                </a:solidFill>
              </a:rPr>
              <a:t>The suggested font sizes are not binding and can be adjusted individually depending on the content density and type of presentation. Please ensure good readability.</a:t>
            </a:r>
          </a:p>
        </p:txBody>
      </p:sp>
    </p:spTree>
    <p:extLst>
      <p:ext uri="{BB962C8B-B14F-4D97-AF65-F5344CB8AC3E}">
        <p14:creationId xmlns:p14="http://schemas.microsoft.com/office/powerpoint/2010/main" val="296657735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elfolie Hintergrund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7813639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de-DE" sz="32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pic>
        <p:nvPicPr>
          <p:cNvPr id="12" name="Grafik 1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1" y="258750"/>
            <a:ext cx="1774212" cy="775631"/>
          </a:xfrm>
          <a:prstGeom prst="rect">
            <a:avLst/>
          </a:prstGeom>
        </p:spPr>
      </p:pic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F81A1AFD-D231-4C55-9AAB-DA10BA8E7D1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3950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5994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0775 w 12192000"/>
              <a:gd name="connsiteY9" fmla="*/ 2599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5994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6490 w 12192000"/>
              <a:gd name="connsiteY9" fmla="*/ 2599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077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077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6490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047430 w 12192000"/>
              <a:gd name="connsiteY5" fmla="*/ 19708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047430 w 12192000"/>
              <a:gd name="connsiteY9" fmla="*/ 19708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207450 w 12192000"/>
              <a:gd name="connsiteY5" fmla="*/ 33805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207450 w 12192000"/>
              <a:gd name="connsiteY9" fmla="*/ 33805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0219 w 12192000"/>
              <a:gd name="connsiteY8" fmla="*/ 26756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858309 w 12192000"/>
              <a:gd name="connsiteY7" fmla="*/ 994921 h 6858000"/>
              <a:gd name="connsiteX8" fmla="*/ 11900219 w 12192000"/>
              <a:gd name="connsiteY8" fmla="*/ 26756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3315 w 12192000"/>
              <a:gd name="connsiteY6" fmla="*/ 1031751 h 6858000"/>
              <a:gd name="connsiteX7" fmla="*/ 11858309 w 12192000"/>
              <a:gd name="connsiteY7" fmla="*/ 99492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3315 w 12192000"/>
              <a:gd name="connsiteY6" fmla="*/ 1031751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603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9030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593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709719 w 12192000"/>
              <a:gd name="connsiteY8" fmla="*/ 45235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398585 w 12192000"/>
              <a:gd name="connsiteY6" fmla="*/ 778386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285750 w 12192000"/>
              <a:gd name="connsiteY1" fmla="*/ 659576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59576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595767 h 6858000"/>
              <a:gd name="connsiteX2" fmla="*/ 5401950 w 12192000"/>
              <a:gd name="connsiteY2" fmla="*/ 6534807 h 6858000"/>
              <a:gd name="connsiteX3" fmla="*/ 5330830 w 12192000"/>
              <a:gd name="connsiteY3" fmla="*/ 282220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595767 h 6858000"/>
              <a:gd name="connsiteX2" fmla="*/ 5325750 w 12192000"/>
              <a:gd name="connsiteY2" fmla="*/ 6595767 h 6858000"/>
              <a:gd name="connsiteX3" fmla="*/ 5330830 w 12192000"/>
              <a:gd name="connsiteY3" fmla="*/ 282220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285750" y="2822204"/>
                </a:moveTo>
                <a:lnTo>
                  <a:pt x="285750" y="6595767"/>
                </a:lnTo>
                <a:lnTo>
                  <a:pt x="5325750" y="6595767"/>
                </a:lnTo>
                <a:cubicBezTo>
                  <a:pt x="5327443" y="5337913"/>
                  <a:pt x="5329137" y="4080058"/>
                  <a:pt x="5330830" y="2822204"/>
                </a:cubicBezTo>
                <a:lnTo>
                  <a:pt x="285750" y="2822204"/>
                </a:lnTo>
                <a:close/>
                <a:moveTo>
                  <a:pt x="10146490" y="265661"/>
                </a:moveTo>
                <a:cubicBezTo>
                  <a:pt x="10144797" y="524199"/>
                  <a:pt x="10146913" y="769403"/>
                  <a:pt x="10145220" y="1027941"/>
                </a:cubicBezTo>
                <a:lnTo>
                  <a:pt x="11904029" y="1025401"/>
                </a:lnTo>
                <a:lnTo>
                  <a:pt x="11902124" y="267566"/>
                </a:lnTo>
                <a:lnTo>
                  <a:pt x="10146490" y="26566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8" name="Subline">
            <a:extLst>
              <a:ext uri="{FF2B5EF4-FFF2-40B4-BE49-F238E27FC236}">
                <a16:creationId xmlns:a16="http://schemas.microsoft.com/office/drawing/2014/main" id="{F64F20BE-9490-4534-8D22-D527DF582B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4904" y="5510860"/>
            <a:ext cx="5040313" cy="360000"/>
          </a:xfrm>
          <a:prstGeom prst="rect">
            <a:avLst/>
          </a:prstGeom>
        </p:spPr>
        <p:txBody>
          <a:bodyPr lIns="288000" rIns="288000" anchor="b" anchorCtr="0">
            <a:noAutofit/>
          </a:bodyPr>
          <a:lstStyle>
            <a:lvl1pPr marL="0" indent="0">
              <a:buNone/>
              <a:defRPr sz="1600" b="1" cap="none" baseline="0">
                <a:latin typeface="+mj-lt"/>
              </a:defRPr>
            </a:lvl1pPr>
          </a:lstStyle>
          <a:p>
            <a:pPr lvl="0"/>
            <a:r>
              <a:rPr lang="de-DE" err="1"/>
              <a:t>Subline</a:t>
            </a:r>
            <a:endParaRPr lang="de-DE"/>
          </a:p>
        </p:txBody>
      </p:sp>
      <p:sp>
        <p:nvSpPr>
          <p:cNvPr id="9" name="Textplatzhalter 4">
            <a:extLst>
              <a:ext uri="{FF2B5EF4-FFF2-40B4-BE49-F238E27FC236}">
                <a16:creationId xmlns:a16="http://schemas.microsoft.com/office/drawing/2014/main" id="{DCF84473-59A5-4A28-B312-2557D7CFAF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4904" y="5886100"/>
            <a:ext cx="5040313" cy="189474"/>
          </a:xfrm>
          <a:prstGeom prst="rect">
            <a:avLst/>
          </a:prstGeom>
        </p:spPr>
        <p:txBody>
          <a:bodyPr lIns="288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de-DE"/>
              <a:t>Vorname Nachname</a:t>
            </a:r>
          </a:p>
        </p:txBody>
      </p:sp>
      <p:sp>
        <p:nvSpPr>
          <p:cNvPr id="10" name="Textplatzhalter 4">
            <a:extLst>
              <a:ext uri="{FF2B5EF4-FFF2-40B4-BE49-F238E27FC236}">
                <a16:creationId xmlns:a16="http://schemas.microsoft.com/office/drawing/2014/main" id="{57D522EB-93F7-49B3-9164-076263457E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4904" y="6091840"/>
            <a:ext cx="5040313" cy="189474"/>
          </a:xfrm>
          <a:prstGeom prst="rect">
            <a:avLst/>
          </a:prstGeom>
        </p:spPr>
        <p:txBody>
          <a:bodyPr lIns="288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de-DE"/>
              <a:t>Datum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84400" y="2822400"/>
            <a:ext cx="5040000" cy="2664000"/>
          </a:xfrm>
        </p:spPr>
        <p:txBody>
          <a:bodyPr vert="horz" lIns="288000" tIns="288000" rIns="288000" bIns="288000" rtlCol="0">
            <a:noAutofit/>
          </a:bodyPr>
          <a:lstStyle>
            <a:lvl1pPr>
              <a:defRPr lang="de-DE" sz="3200" dirty="0">
                <a:latin typeface="STIHL Contraface Display Title" pitchFamily="50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Mastertitel-format bearbeiten</a:t>
            </a:r>
            <a:br>
              <a:rPr lang="de-DE"/>
            </a:br>
            <a:r>
              <a:rPr lang="de-DE"/>
              <a:t>ƒ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5D0F5813-BF0E-7EA3-7885-1C045487E8CF}"/>
              </a:ext>
            </a:extLst>
          </p:cNvPr>
          <p:cNvSpPr>
            <a:spLocks/>
          </p:cNvSpPr>
          <p:nvPr userDrawn="1"/>
        </p:nvSpPr>
        <p:spPr>
          <a:xfrm>
            <a:off x="-3139178" y="1034423"/>
            <a:ext cx="2845436" cy="4577389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Weitere Vorlagen finden Sie in der Template Library. Diese ist in den Template Ordnern gespeichert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Bildmaterial finden Sie auf Ihrem lokalen Laufwerk unter </a:t>
            </a:r>
            <a:r>
              <a:rPr lang="de-DE" sz="1600" b="1">
                <a:solidFill>
                  <a:schemeClr val="tx1"/>
                </a:solidFill>
              </a:rPr>
              <a:t>C:\Program Files (x86)\STIHL\PPT Images </a:t>
            </a:r>
            <a:br>
              <a:rPr lang="de-DE" sz="1600">
                <a:solidFill>
                  <a:schemeClr val="tx1"/>
                </a:solidFill>
              </a:rPr>
            </a:br>
            <a:r>
              <a:rPr lang="de-DE" sz="1600">
                <a:solidFill>
                  <a:schemeClr val="tx1"/>
                </a:solidFill>
              </a:rPr>
              <a:t>oder im STIHL DAM </a:t>
            </a:r>
            <a:r>
              <a:rPr lang="de-DE" sz="1600">
                <a:hlinkClick r:id="rId7"/>
              </a:rPr>
              <a:t>https://dam.stihl.com/</a:t>
            </a: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Bitte keine Folien mit vollflächigen Farben oder Motiven drucken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Die Standlinie kann über den Reiter "Einfügen" durch das Feld "Symbol" eingefügt werden</a:t>
            </a:r>
          </a:p>
        </p:txBody>
      </p:sp>
      <p:pic>
        <p:nvPicPr>
          <p:cNvPr id="17" name="Grafik 16" descr="Ein Bild, das Entwurf, Kreis, Schwarzweiß, Grafiken enthält.&#10;&#10;Automatisch generierte Beschreibung">
            <a:extLst>
              <a:ext uri="{FF2B5EF4-FFF2-40B4-BE49-F238E27FC236}">
                <a16:creationId xmlns:a16="http://schemas.microsoft.com/office/drawing/2014/main" id="{8D249AA5-8627-DE9F-73EE-593603AC0787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680" y="378086"/>
            <a:ext cx="1303300" cy="53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5064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elfolie 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632919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de-DE" sz="48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sp>
        <p:nvSpPr>
          <p:cNvPr id="11" name="Subline">
            <a:extLst>
              <a:ext uri="{FF2B5EF4-FFF2-40B4-BE49-F238E27FC236}">
                <a16:creationId xmlns:a16="http://schemas.microsoft.com/office/drawing/2014/main" id="{93378434-A597-4F7F-B029-ECD35EA41B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1500" y="5706830"/>
            <a:ext cx="8640000" cy="216000"/>
          </a:xfrm>
          <a:prstGeom prst="rect">
            <a:avLst/>
          </a:prstGeom>
        </p:spPr>
        <p:txBody>
          <a:bodyPr lIns="0" rIns="0" anchor="b" anchorCtr="0">
            <a:noAutofit/>
          </a:bodyPr>
          <a:lstStyle>
            <a:lvl1pPr marL="0" indent="0">
              <a:buNone/>
              <a:defRPr sz="1800" b="1" cap="none" baseline="0">
                <a:latin typeface="+mj-lt"/>
              </a:defRPr>
            </a:lvl1pPr>
          </a:lstStyle>
          <a:p>
            <a:pPr lvl="0"/>
            <a:r>
              <a:rPr lang="de-DE" err="1"/>
              <a:t>Subline</a:t>
            </a:r>
            <a:endParaRPr lang="de-DE"/>
          </a:p>
        </p:txBody>
      </p:sp>
      <p:sp>
        <p:nvSpPr>
          <p:cNvPr id="12" name="Name">
            <a:extLst>
              <a:ext uri="{FF2B5EF4-FFF2-40B4-BE49-F238E27FC236}">
                <a16:creationId xmlns:a16="http://schemas.microsoft.com/office/drawing/2014/main" id="{78096696-CF0D-4E90-AD93-F265006F555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1500" y="6049289"/>
            <a:ext cx="8640000" cy="216000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0" indent="0">
              <a:buNone/>
              <a:defRPr sz="1800" cap="none" baseline="0">
                <a:latin typeface="+mn-lt"/>
              </a:defRPr>
            </a:lvl1pPr>
          </a:lstStyle>
          <a:p>
            <a:pPr lvl="0"/>
            <a:r>
              <a:rPr lang="de-DE"/>
              <a:t>Vorname Nachname</a:t>
            </a:r>
          </a:p>
        </p:txBody>
      </p:sp>
      <p:sp>
        <p:nvSpPr>
          <p:cNvPr id="9" name="Datum">
            <a:extLst>
              <a:ext uri="{FF2B5EF4-FFF2-40B4-BE49-F238E27FC236}">
                <a16:creationId xmlns:a16="http://schemas.microsoft.com/office/drawing/2014/main" id="{93CE0D43-2D94-4A12-94F6-C940A9EBB10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1500" y="6283748"/>
            <a:ext cx="8640000" cy="216000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0" indent="0">
              <a:buNone/>
              <a:defRPr sz="1800" cap="none" baseline="0">
                <a:latin typeface="+mn-lt"/>
              </a:defRPr>
            </a:lvl1pPr>
          </a:lstStyle>
          <a:p>
            <a:pPr lvl="0"/>
            <a:r>
              <a:rPr lang="de-DE"/>
              <a:t>Datum</a:t>
            </a:r>
          </a:p>
        </p:txBody>
      </p:sp>
      <p:pic>
        <p:nvPicPr>
          <p:cNvPr id="10" name="Grafik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2" y="502821"/>
            <a:ext cx="1385810" cy="287488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72400" y="2113200"/>
            <a:ext cx="8640000" cy="3240000"/>
          </a:xfrm>
        </p:spPr>
        <p:txBody>
          <a:bodyPr vert="horz" lIns="288000" tIns="288000" rIns="288000" bIns="288000" rtlCol="0">
            <a:noAutofit/>
          </a:bodyPr>
          <a:lstStyle>
            <a:lvl1pPr>
              <a:defRPr lang="de-DE" sz="4800" dirty="0">
                <a:latin typeface="STIHL Contraface Display Title" pitchFamily="50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Mastertitelformat bearbeiten</a:t>
            </a:r>
            <a:br>
              <a:rPr lang="de-DE"/>
            </a:br>
            <a:r>
              <a:rPr lang="de-DE"/>
              <a:t>ƒ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FDB70F68-AAEF-6EC4-A4BD-F3AAFC20BE10}"/>
              </a:ext>
            </a:extLst>
          </p:cNvPr>
          <p:cNvSpPr>
            <a:spLocks/>
          </p:cNvSpPr>
          <p:nvPr userDrawn="1"/>
        </p:nvSpPr>
        <p:spPr>
          <a:xfrm>
            <a:off x="-3139178" y="1034423"/>
            <a:ext cx="2845436" cy="4577389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Weitere Vorlagen finden Sie in der Template Library. Diese ist in den Template Ordnern gespeichert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Bildmaterial finden Sie auf Ihrem lokalen Laufwerk unter </a:t>
            </a:r>
            <a:r>
              <a:rPr lang="de-DE" sz="1600" b="1">
                <a:solidFill>
                  <a:schemeClr val="tx1"/>
                </a:solidFill>
              </a:rPr>
              <a:t>C:\Program Files (x86)\STIHL\PPT Images </a:t>
            </a:r>
            <a:br>
              <a:rPr lang="de-DE" sz="1600">
                <a:solidFill>
                  <a:schemeClr val="tx1"/>
                </a:solidFill>
              </a:rPr>
            </a:br>
            <a:r>
              <a:rPr lang="de-DE" sz="1600">
                <a:solidFill>
                  <a:schemeClr val="tx1"/>
                </a:solidFill>
              </a:rPr>
              <a:t>oder im STIHL DAM </a:t>
            </a:r>
            <a:r>
              <a:rPr lang="de-DE" sz="1600">
                <a:hlinkClick r:id="rId7"/>
              </a:rPr>
              <a:t>https://dam.stihl.com/</a:t>
            </a: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Bitte keine Folien mit vollflächigen Farben oder Motiven drucken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Die Standlinie kann über den Reiter "Einfügen" durch das Feld "Symbol" eingefügt werden</a:t>
            </a:r>
          </a:p>
        </p:txBody>
      </p:sp>
      <p:pic>
        <p:nvPicPr>
          <p:cNvPr id="5" name="Grafik 4" descr="Ein Bild, das Kunst, Kreis, Grafiken, Bernstein enthält.&#10;&#10;Automatisch generierte Beschreibung">
            <a:extLst>
              <a:ext uri="{FF2B5EF4-FFF2-40B4-BE49-F238E27FC236}">
                <a16:creationId xmlns:a16="http://schemas.microsoft.com/office/drawing/2014/main" id="{F6843835-CB15-66DE-11FE-87078B37653C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4332" y="503545"/>
            <a:ext cx="715973" cy="294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66143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Schlussfolie Hintergrund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Bildplatzhalter 14">
            <a:extLst>
              <a:ext uri="{FF2B5EF4-FFF2-40B4-BE49-F238E27FC236}">
                <a16:creationId xmlns:a16="http://schemas.microsoft.com/office/drawing/2014/main" id="{12A2E7EC-D35A-4A4A-BBD2-6097A2AF781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268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2887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7137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751629 w 12192000"/>
              <a:gd name="connsiteY8" fmla="*/ 4199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09355 w 12192000"/>
              <a:gd name="connsiteY5" fmla="*/ 31900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209355 w 12192000"/>
              <a:gd name="connsiteY9" fmla="*/ 3190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15705 w 12192000"/>
              <a:gd name="connsiteY6" fmla="*/ 98222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803064 w 12192000"/>
              <a:gd name="connsiteY7" fmla="*/ 9549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316035 w 12192000"/>
              <a:gd name="connsiteY5" fmla="*/ 36472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316035 w 12192000"/>
              <a:gd name="connsiteY9" fmla="*/ 3647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829734 w 12192000"/>
              <a:gd name="connsiteY8" fmla="*/ 35138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623994 w 12192000"/>
              <a:gd name="connsiteY7" fmla="*/ 924436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206180 w 12192000"/>
              <a:gd name="connsiteY6" fmla="*/ 95555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3315 w 12192000"/>
              <a:gd name="connsiteY6" fmla="*/ 102794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1410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60790 w 12192000"/>
              <a:gd name="connsiteY5" fmla="*/ 3856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260790 w 12192000"/>
              <a:gd name="connsiteY9" fmla="*/ 385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782109 w 12192000"/>
              <a:gd name="connsiteY8" fmla="*/ 360911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669714 w 12192000"/>
              <a:gd name="connsiteY7" fmla="*/ 95682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217610 w 12192000"/>
              <a:gd name="connsiteY6" fmla="*/ 963171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4029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7125 w 12192000"/>
              <a:gd name="connsiteY6" fmla="*/ 102603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97620 w 12192000"/>
              <a:gd name="connsiteY6" fmla="*/ 88506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7125 w 12192000"/>
              <a:gd name="connsiteY6" fmla="*/ 102984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349055 w 12192000"/>
              <a:gd name="connsiteY6" fmla="*/ 8755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625899 w 12192000"/>
              <a:gd name="connsiteY8" fmla="*/ 41234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376995 w 12192000"/>
              <a:gd name="connsiteY5" fmla="*/ 44092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376995 w 12192000"/>
              <a:gd name="connsiteY9" fmla="*/ 4409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9030 w 12192000"/>
              <a:gd name="connsiteY6" fmla="*/ 1026036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5220 w 12192000"/>
              <a:gd name="connsiteY6" fmla="*/ 1026036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489966" y="6280287"/>
                </a:moveTo>
                <a:lnTo>
                  <a:pt x="488061" y="6386217"/>
                </a:lnTo>
                <a:lnTo>
                  <a:pt x="951870" y="6386217"/>
                </a:lnTo>
                <a:lnTo>
                  <a:pt x="951870" y="6280287"/>
                </a:lnTo>
                <a:lnTo>
                  <a:pt x="489966" y="6280287"/>
                </a:lnTo>
                <a:close/>
                <a:moveTo>
                  <a:pt x="10146490" y="267566"/>
                </a:moveTo>
                <a:cubicBezTo>
                  <a:pt x="10144797" y="526104"/>
                  <a:pt x="10146913" y="767498"/>
                  <a:pt x="10145220" y="1026036"/>
                </a:cubicBezTo>
                <a:lnTo>
                  <a:pt x="11902124" y="1025401"/>
                </a:lnTo>
                <a:lnTo>
                  <a:pt x="11904029" y="267566"/>
                </a:lnTo>
                <a:lnTo>
                  <a:pt x="10146490" y="26756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4" name="Textplatzhalter 2">
            <a:extLst>
              <a:ext uri="{FF2B5EF4-FFF2-40B4-BE49-F238E27FC236}">
                <a16:creationId xmlns:a16="http://schemas.microsoft.com/office/drawing/2014/main" id="{B2BCC63D-764D-453B-B95D-B53E771DF1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4834859"/>
            <a:ext cx="7812088" cy="133607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buNone/>
              <a:tabLst>
                <a:tab pos="1074738" algn="l"/>
              </a:tabLst>
              <a:defRPr lang="de-DE" sz="4800" b="1" cap="all" baseline="0" smtClean="0">
                <a:solidFill>
                  <a:schemeClr val="bg1"/>
                </a:solidFill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de-DE"/>
              <a:t>Abschlussworte (vielen Dank)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2C6085ED-8EF3-4C74-9B9D-7804FC5FAEA1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39923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de-DE" sz="1600" b="0">
                <a:solidFill>
                  <a:schemeClr val="tx1"/>
                </a:solidFill>
              </a:rPr>
              <a:t>Bitte keine Folien mit vollflächigen Farben oder Motiven drucken </a:t>
            </a:r>
          </a:p>
        </p:txBody>
      </p:sp>
      <p:pic>
        <p:nvPicPr>
          <p:cNvPr id="9" name="Grafik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1" y="258750"/>
            <a:ext cx="1774212" cy="775631"/>
          </a:xfrm>
          <a:prstGeom prst="rect">
            <a:avLst/>
          </a:prstGeom>
        </p:spPr>
      </p:pic>
      <p:pic>
        <p:nvPicPr>
          <p:cNvPr id="3" name="Grafik 2" descr="Ein Bild, das Entwurf, Kreis, Schwarzweiß, Grafiken enthält.&#10;&#10;Automatisch generierte Beschreibung">
            <a:extLst>
              <a:ext uri="{FF2B5EF4-FFF2-40B4-BE49-F238E27FC236}">
                <a16:creationId xmlns:a16="http://schemas.microsoft.com/office/drawing/2014/main" id="{4CCAB04F-9C20-1FC6-8252-4035346818F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680" y="378086"/>
            <a:ext cx="1303300" cy="53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87792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el 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D653AC16-B8BF-4F06-9847-410FBD66114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D653AC16-B8BF-4F06-9847-410FBD6611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D21E1F63-0E73-4BE0-AB62-ECF4E2E15BF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de-DE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A26E03A4-095B-410D-BCF8-3F189668F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13" name="Textplatzhalter 8">
            <a:extLst>
              <a:ext uri="{FF2B5EF4-FFF2-40B4-BE49-F238E27FC236}">
                <a16:creationId xmlns:a16="http://schemas.microsoft.com/office/drawing/2014/main" id="{6DBC4AB2-2C37-4DD5-89D1-6E82832F27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de-DE"/>
              <a:t>Subheadline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21" hasCustomPrompt="1"/>
          </p:nvPr>
        </p:nvSpPr>
        <p:spPr>
          <a:xfrm>
            <a:off x="479426" y="1605307"/>
            <a:ext cx="5384330" cy="4849340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2" name="Inhaltsplatzhalter 4"/>
          <p:cNvSpPr>
            <a:spLocks noGrp="1"/>
          </p:cNvSpPr>
          <p:nvPr>
            <p:ph sz="quarter" idx="22" hasCustomPrompt="1"/>
          </p:nvPr>
        </p:nvSpPr>
        <p:spPr>
          <a:xfrm>
            <a:off x="6328244" y="1605307"/>
            <a:ext cx="5384330" cy="4849340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46692567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theme" Target="../theme/theme1.xml"/><Relationship Id="rId29" Type="http://schemas.openxmlformats.org/officeDocument/2006/relationships/tags" Target="../tags/tag2.xml"/><Relationship Id="rId30" Type="http://schemas.openxmlformats.org/officeDocument/2006/relationships/tags" Target="../tags/tag3.xml"/><Relationship Id="rId31" Type="http://schemas.openxmlformats.org/officeDocument/2006/relationships/oleObject" Target="../embeddings/oleObject1.bin"/><Relationship Id="rId32" Type="http://schemas.openxmlformats.org/officeDocument/2006/relationships/image" Target="../media/image1.emf"/><Relationship Id="rId33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D9C97816-FB06-4E95-856C-7D63D0431A47}"/>
              </a:ext>
            </a:extLst>
          </p:cNvPr>
          <p:cNvGraphicFramePr>
            <a:graphicFrameLocks/>
          </p:cNvGraphicFramePr>
          <p:nvPr>
            <p:custDataLst>
              <p:tags r:id="rId29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1" imgW="408" imgH="408" progId="TCLayout.ActiveDocument.1">
                  <p:embed/>
                </p:oleObj>
              </mc:Choice>
              <mc:Fallback>
                <p:oleObj name="think-cell Slide" r:id="rId31" imgW="408" imgH="408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D9C97816-FB06-4E95-856C-7D63D0431A4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hteck 6" hidden="1">
            <a:extLst>
              <a:ext uri="{FF2B5EF4-FFF2-40B4-BE49-F238E27FC236}">
                <a16:creationId xmlns:a16="http://schemas.microsoft.com/office/drawing/2014/main" id="{5931360F-217C-4503-B09B-C80FE49E58A8}"/>
              </a:ext>
            </a:extLst>
          </p:cNvPr>
          <p:cNvSpPr/>
          <p:nvPr>
            <p:custDataLst>
              <p:tags r:id="rId30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7881EEE-4F13-4DC9-B8A4-B54C0C3C0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6" y="503546"/>
            <a:ext cx="9579925" cy="25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/>
              <a:t>Edit master title format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22C7C99F-364C-426F-8FE4-3FD5F0CADA8A}"/>
              </a:ext>
            </a:extLst>
          </p:cNvPr>
          <p:cNvSpPr txBox="1"/>
          <p:nvPr/>
        </p:nvSpPr>
        <p:spPr>
          <a:xfrm>
            <a:off x="479425" y="6592970"/>
            <a:ext cx="1453924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GB" sz="800">
                <a:solidFill>
                  <a:schemeClr val="tx2"/>
                </a:solidFill>
              </a:rPr>
              <a:t>© ANDREAS STIHL AG &amp; Co. KG</a:t>
            </a:r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B120AD0C-5E57-45D6-8C62-2EFE6678CD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28228" y="6592970"/>
            <a:ext cx="184346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>
              <a:defRPr sz="800">
                <a:solidFill>
                  <a:schemeClr val="tx2"/>
                </a:solidFill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9pPr>
          </a:lstStyle>
          <a:p>
            <a:pPr lvl="0" algn="r"/>
            <a:fld id="{7AA7B471-74A3-4F5F-8955-6C99E2375CAC}" type="slidenum">
              <a:rPr lang="en-GB" noProof="1" smtClean="0">
                <a:sym typeface="+mn-lt"/>
              </a:rPr>
              <a:pPr lvl="0" algn="r"/>
              <a:t>‹#›</a:t>
            </a:fld>
            <a:endParaRPr lang="en-GB" noProof="1">
              <a:sym typeface="+mn-lt"/>
            </a:endParaRPr>
          </a:p>
        </p:txBody>
      </p:sp>
      <p:cxnSp>
        <p:nvCxnSpPr>
          <p:cNvPr id="23" name="Gerade Verbindung 7">
            <a:extLst>
              <a:ext uri="{FF2B5EF4-FFF2-40B4-BE49-F238E27FC236}">
                <a16:creationId xmlns:a16="http://schemas.microsoft.com/office/drawing/2014/main" id="{28D584E0-5EF6-4DC5-B2D7-FFDA778CFAC1}"/>
              </a:ext>
            </a:extLst>
          </p:cNvPr>
          <p:cNvCxnSpPr>
            <a:cxnSpLocks/>
          </p:cNvCxnSpPr>
          <p:nvPr/>
        </p:nvCxnSpPr>
        <p:spPr>
          <a:xfrm>
            <a:off x="10059360" y="-190500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E531305B-43CE-446C-88D1-BBDB274572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9426" y="1130298"/>
            <a:ext cx="11233147" cy="532274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cxnSp>
        <p:nvCxnSpPr>
          <p:cNvPr id="18" name="Gerade Verbindung 7">
            <a:extLst>
              <a:ext uri="{FF2B5EF4-FFF2-40B4-BE49-F238E27FC236}">
                <a16:creationId xmlns:a16="http://schemas.microsoft.com/office/drawing/2014/main" id="{EFB36787-F98E-4B12-B104-EEBBD9EECC10}"/>
              </a:ext>
            </a:extLst>
          </p:cNvPr>
          <p:cNvCxnSpPr>
            <a:cxnSpLocks/>
          </p:cNvCxnSpPr>
          <p:nvPr/>
        </p:nvCxnSpPr>
        <p:spPr>
          <a:xfrm>
            <a:off x="902806" y="-190500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 Verbindung 7">
            <a:extLst>
              <a:ext uri="{FF2B5EF4-FFF2-40B4-BE49-F238E27FC236}">
                <a16:creationId xmlns:a16="http://schemas.microsoft.com/office/drawing/2014/main" id="{465918F8-CA5D-4293-89DC-F10E8B1C5462}"/>
              </a:ext>
            </a:extLst>
          </p:cNvPr>
          <p:cNvCxnSpPr>
            <a:cxnSpLocks/>
          </p:cNvCxnSpPr>
          <p:nvPr/>
        </p:nvCxnSpPr>
        <p:spPr>
          <a:xfrm>
            <a:off x="691116" y="-190500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 Verbindung 7">
            <a:extLst>
              <a:ext uri="{FF2B5EF4-FFF2-40B4-BE49-F238E27FC236}">
                <a16:creationId xmlns:a16="http://schemas.microsoft.com/office/drawing/2014/main" id="{160AE795-C735-4204-9FF6-8CD4C42875B3}"/>
              </a:ext>
            </a:extLst>
          </p:cNvPr>
          <p:cNvCxnSpPr>
            <a:cxnSpLocks/>
          </p:cNvCxnSpPr>
          <p:nvPr/>
        </p:nvCxnSpPr>
        <p:spPr>
          <a:xfrm>
            <a:off x="479426" y="-190500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7">
            <a:extLst>
              <a:ext uri="{FF2B5EF4-FFF2-40B4-BE49-F238E27FC236}">
                <a16:creationId xmlns:a16="http://schemas.microsoft.com/office/drawing/2014/main" id="{0F42B521-F5CC-46CF-86E8-5B383F9E4C65}"/>
              </a:ext>
            </a:extLst>
          </p:cNvPr>
          <p:cNvCxnSpPr>
            <a:cxnSpLocks/>
          </p:cNvCxnSpPr>
          <p:nvPr/>
        </p:nvCxnSpPr>
        <p:spPr>
          <a:xfrm rot="5400000">
            <a:off x="-160655" y="196071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Grafik 13"/>
          <p:cNvPicPr>
            <a:picLocks noChangeAspect="1"/>
          </p:cNvPicPr>
          <p:nvPr/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1" y="502821"/>
            <a:ext cx="1385810" cy="287488"/>
          </a:xfrm>
          <a:prstGeom prst="rect">
            <a:avLst/>
          </a:prstGeom>
        </p:spPr>
      </p:pic>
      <p:sp>
        <p:nvSpPr>
          <p:cNvPr id="4" name="MSIPCMContentMarking" descr="{&quot;HashCode&quot;:-1642666559,&quot;Placement&quot;:&quot;Header&quot;,&quot;Top&quot;:0.0,&quot;Left&quot;:435.1923,&quot;SlideWidth&quot;:960,&quot;SlideHeight&quot;:540}"/>
          <p:cNvSpPr txBox="1"/>
          <p:nvPr userDrawn="1"/>
        </p:nvSpPr>
        <p:spPr>
          <a:xfrm>
            <a:off x="5526942" y="0"/>
            <a:ext cx="1138115" cy="24919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000">
                <a:solidFill>
                  <a:srgbClr val="B1B1B1"/>
                </a:solidFill>
                <a:latin typeface="Arial" panose="020B0604020202020204" pitchFamily="34" charset="0"/>
              </a:rPr>
              <a:t>Intern | Internal</a:t>
            </a:r>
            <a:endParaRPr lang="de-DE" sz="1000" err="1">
              <a:solidFill>
                <a:srgbClr val="B1B1B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3465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9" r:id="rId17"/>
    <p:sldLayoutId id="2147483703" r:id="rId18"/>
    <p:sldLayoutId id="2147483704" r:id="rId19"/>
    <p:sldLayoutId id="2147483705" r:id="rId20"/>
    <p:sldLayoutId id="2147483706" r:id="rId21"/>
    <p:sldLayoutId id="2147483707" r:id="rId22"/>
    <p:sldLayoutId id="2147483701" r:id="rId23"/>
    <p:sldLayoutId id="2147483710" r:id="rId24"/>
    <p:sldLayoutId id="2147483711" r:id="rId25"/>
    <p:sldLayoutId id="2147483712" r:id="rId26"/>
    <p:sldLayoutId id="2147483713" r:id="rId2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200" b="1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lang="de-DE" sz="18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lang="de-DE" sz="1800" kern="1200" baseline="0" dirty="0">
          <a:solidFill>
            <a:schemeClr val="tx1"/>
          </a:solidFill>
          <a:latin typeface="+mn-lt"/>
          <a:ea typeface="+mn-ea"/>
          <a:cs typeface="+mn-cs"/>
        </a:defRPr>
      </a:lvl2pPr>
      <a:lvl3pPr marL="358775" indent="-182563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lang="de-DE" sz="16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534988" indent="-176213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lang="de-DE" sz="14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719138" indent="-18415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lang="de-DE" sz="12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3155950" indent="-26225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 dirty="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301">
          <p15:clr>
            <a:srgbClr val="F26B43"/>
          </p15:clr>
        </p15:guide>
        <p15:guide id="4" pos="7379">
          <p15:clr>
            <a:srgbClr val="F26B43"/>
          </p15:clr>
        </p15:guide>
        <p15:guide id="5" orient="horz" pos="317">
          <p15:clr>
            <a:srgbClr val="F26B43"/>
          </p15:clr>
        </p15:guide>
        <p15:guide id="10" orient="horz" pos="4066">
          <p15:clr>
            <a:srgbClr val="F26B43"/>
          </p15:clr>
        </p15:guide>
        <p15:guide id="11" orient="horz" pos="1010">
          <p15:clr>
            <a:srgbClr val="F26B43"/>
          </p15:clr>
        </p15:guide>
        <p15:guide id="13" orient="horz" pos="712">
          <p15:clr>
            <a:srgbClr val="F26B43"/>
          </p15:clr>
        </p15:guide>
        <p15:guide id="14" orient="horz" pos="163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47.xml"/><Relationship Id="rId2" Type="http://schemas.openxmlformats.org/officeDocument/2006/relationships/slideLayout" Target="../slideLayouts/slideLayout24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7.jpeg"/><Relationship Id="rId5" Type="http://schemas.openxmlformats.org/officeDocument/2006/relationships/image" Target="../media/image5.png"/><Relationship Id="rId6" Type="http://schemas.openxmlformats.org/officeDocument/2006/relationships/oleObject" Target="../embeddings/oleObject19.bin"/><Relationship Id="rId7" Type="http://schemas.openxmlformats.org/officeDocument/2006/relationships/image" Target="../media/image3.emf"/><Relationship Id="rId8" Type="http://schemas.openxmlformats.org/officeDocument/2006/relationships/hyperlink" Target="file:///C:\Program%20Files%20(x86)\STIHL\PPT%20Images" TargetMode="External"/><Relationship Id="rId9" Type="http://schemas.openxmlformats.org/officeDocument/2006/relationships/hyperlink" Target="https://dam.stihl.com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48.xml"/><Relationship Id="rId2" Type="http://schemas.openxmlformats.org/officeDocument/2006/relationships/slideLayout" Target="../slideLayouts/slideLayout4.xml"/><Relationship Id="rId3" Type="http://schemas.microsoft.com/office/2018/10/relationships/comments" Target="../comments/modernComment_117_2A9E6AB6.xml"/><Relationship Id="rId4" Type="http://schemas.openxmlformats.org/officeDocument/2006/relationships/oleObject" Target="../embeddings/oleObject20.bin"/><Relationship Id="rId5" Type="http://schemas.openxmlformats.org/officeDocument/2006/relationships/image" Target="../media/image8.em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49.xml"/><Relationship Id="rId2" Type="http://schemas.openxmlformats.org/officeDocument/2006/relationships/slideLayout" Target="../slideLayouts/slideLayout5.xml"/><Relationship Id="rId3" Type="http://schemas.microsoft.com/office/2018/10/relationships/comments" Target="../comments/modernComment_234_104226BA.xml"/><Relationship Id="rId4" Type="http://schemas.openxmlformats.org/officeDocument/2006/relationships/oleObject" Target="../embeddings/oleObject21.bin"/><Relationship Id="rId5" Type="http://schemas.openxmlformats.org/officeDocument/2006/relationships/image" Target="../media/image1.emf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jpeg"/><Relationship Id="rId10" Type="http://schemas.openxmlformats.org/officeDocument/2006/relationships/image" Target="../media/image13.png"/><Relationship Id="rId11" Type="http://schemas.openxmlformats.org/officeDocument/2006/relationships/image" Target="../media/image1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50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2.bin"/><Relationship Id="rId4" Type="http://schemas.openxmlformats.org/officeDocument/2006/relationships/image" Target="../media/image15.emf"/><Relationship Id="rId5" Type="http://schemas.openxmlformats.org/officeDocument/2006/relationships/image" Target="../media/image1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51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3.bin"/><Relationship Id="rId4" Type="http://schemas.openxmlformats.org/officeDocument/2006/relationships/image" Target="../media/image1.emf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ags" Target="../tags/tag52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4.bin"/><Relationship Id="rId4" Type="http://schemas.openxmlformats.org/officeDocument/2006/relationships/image" Target="../media/image1.emf"/><Relationship Id="rId5" Type="http://schemas.openxmlformats.org/officeDocument/2006/relationships/image" Target="../media/image20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ags" Target="../tags/tag53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.xml"/><Relationship Id="rId4" Type="http://schemas.openxmlformats.org/officeDocument/2006/relationships/oleObject" Target="../embeddings/oleObject25.bin"/><Relationship Id="rId5" Type="http://schemas.openxmlformats.org/officeDocument/2006/relationships/image" Target="../media/image1.emf"/><Relationship Id="rId6" Type="http://schemas.openxmlformats.org/officeDocument/2006/relationships/image" Target="../media/image9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ags" Target="../tags/tag54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4.bin"/><Relationship Id="rId4" Type="http://schemas.openxmlformats.org/officeDocument/2006/relationships/image" Target="../media/image1.em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tags" Target="../tags/tag55.xml"/><Relationship Id="rId2" Type="http://schemas.openxmlformats.org/officeDocument/2006/relationships/tags" Target="../tags/tag56.xml"/><Relationship Id="rId3" Type="http://schemas.openxmlformats.org/officeDocument/2006/relationships/tags" Target="../tags/tag57.xml"/><Relationship Id="rId4" Type="http://schemas.openxmlformats.org/officeDocument/2006/relationships/tags" Target="../tags/tag58.xml"/><Relationship Id="rId5" Type="http://schemas.openxmlformats.org/officeDocument/2006/relationships/tags" Target="../tags/tag59.xml"/><Relationship Id="rId6" Type="http://schemas.openxmlformats.org/officeDocument/2006/relationships/tags" Target="../tags/tag60.xml"/><Relationship Id="rId7" Type="http://schemas.openxmlformats.org/officeDocument/2006/relationships/tags" Target="../tags/tag61.xml"/><Relationship Id="rId8" Type="http://schemas.openxmlformats.org/officeDocument/2006/relationships/tags" Target="../tags/tag62.xml"/><Relationship Id="rId9" Type="http://schemas.openxmlformats.org/officeDocument/2006/relationships/tags" Target="../tags/tag63.xml"/><Relationship Id="rId10" Type="http://schemas.openxmlformats.org/officeDocument/2006/relationships/tags" Target="../tags/tag64.xml"/><Relationship Id="rId11" Type="http://schemas.openxmlformats.org/officeDocument/2006/relationships/tags" Target="../tags/tag65.xml"/><Relationship Id="rId12" Type="http://schemas.openxmlformats.org/officeDocument/2006/relationships/tags" Target="../tags/tag66.xml"/><Relationship Id="rId13" Type="http://schemas.openxmlformats.org/officeDocument/2006/relationships/tags" Target="../tags/tag67.xml"/><Relationship Id="rId14" Type="http://schemas.openxmlformats.org/officeDocument/2006/relationships/slideLayout" Target="../slideLayouts/slideLayout5.xml"/><Relationship Id="rId15" Type="http://schemas.openxmlformats.org/officeDocument/2006/relationships/oleObject" Target="../embeddings/oleObject26.bin"/><Relationship Id="rId16" Type="http://schemas.openxmlformats.org/officeDocument/2006/relationships/image" Target="../media/image1.emf"/><Relationship Id="rId17" Type="http://schemas.openxmlformats.org/officeDocument/2006/relationships/chart" Target="../charts/chart1.xml"/><Relationship Id="rId18" Type="http://schemas.openxmlformats.org/officeDocument/2006/relationships/chart" Target="../charts/chart2.xml"/><Relationship Id="rId19" Type="http://schemas.openxmlformats.org/officeDocument/2006/relationships/chart" Target="../charts/chart3.xml"/><Relationship Id="rId20" Type="http://schemas.openxmlformats.org/officeDocument/2006/relationships/chart" Target="../charts/chart4.xml"/><Relationship Id="rId21" Type="http://schemas.openxmlformats.org/officeDocument/2006/relationships/chart" Target="../charts/chart5.xml"/><Relationship Id="rId22" Type="http://schemas.openxmlformats.org/officeDocument/2006/relationships/chart" Target="../charts/char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tags" Target="../tags/tag68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7.bin"/><Relationship Id="rId4" Type="http://schemas.openxmlformats.org/officeDocument/2006/relationships/image" Target="../media/image1.emf"/><Relationship Id="rId5" Type="http://schemas.openxmlformats.org/officeDocument/2006/relationships/image" Target="../media/image16.png"/><Relationship Id="rId6" Type="http://schemas.openxmlformats.org/officeDocument/2006/relationships/image" Target="../media/image25.em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tags" Target="../tags/tag69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4.bin"/><Relationship Id="rId4" Type="http://schemas.openxmlformats.org/officeDocument/2006/relationships/image" Target="../media/image1.em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tags" Target="../tags/tag70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4.bin"/><Relationship Id="rId4" Type="http://schemas.openxmlformats.org/officeDocument/2006/relationships/image" Target="../media/image1.emf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tags" Target="../tags/tag71.xml"/><Relationship Id="rId2" Type="http://schemas.openxmlformats.org/officeDocument/2006/relationships/slideLayout" Target="../slideLayouts/slideLayout26.xml"/><Relationship Id="rId3" Type="http://schemas.openxmlformats.org/officeDocument/2006/relationships/notesSlide" Target="../notesSlides/notesSlide6.xml"/><Relationship Id="rId4" Type="http://schemas.openxmlformats.org/officeDocument/2006/relationships/image" Target="../media/image7.jpeg"/><Relationship Id="rId5" Type="http://schemas.openxmlformats.org/officeDocument/2006/relationships/oleObject" Target="../embeddings/oleObject28.bin"/><Relationship Id="rId6" Type="http://schemas.openxmlformats.org/officeDocument/2006/relationships/image" Target="../media/image3.emf"/><Relationship Id="rId7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2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tags" Target="../tags/tag72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9.bin"/><Relationship Id="rId4" Type="http://schemas.openxmlformats.org/officeDocument/2006/relationships/image" Target="../media/image3.emf"/><Relationship Id="rId5" Type="http://schemas.openxmlformats.org/officeDocument/2006/relationships/image" Target="../media/image27.png"/><Relationship Id="rId6" Type="http://schemas.microsoft.com/office/2007/relationships/hdphoto" Target="../media/hdphoto1.wdp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8.svg"/><Relationship Id="rId4" Type="http://schemas.openxmlformats.org/officeDocument/2006/relationships/image" Target="../media/image29.svg"/><Relationship Id="rId5" Type="http://schemas.openxmlformats.org/officeDocument/2006/relationships/image" Target="../media/image30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3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2.svg"/><Relationship Id="rId3" Type="http://schemas.openxmlformats.org/officeDocument/2006/relationships/image" Target="../media/image9.png"/><Relationship Id="rId4" Type="http://schemas.openxmlformats.org/officeDocument/2006/relationships/image" Target="../media/image30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tags" Target="../tags/tag73.xml"/><Relationship Id="rId2" Type="http://schemas.openxmlformats.org/officeDocument/2006/relationships/tags" Target="../tags/tag74.xml"/><Relationship Id="rId3" Type="http://schemas.openxmlformats.org/officeDocument/2006/relationships/tags" Target="../tags/tag75.xml"/><Relationship Id="rId4" Type="http://schemas.openxmlformats.org/officeDocument/2006/relationships/tags" Target="../tags/tag76.xml"/><Relationship Id="rId5" Type="http://schemas.openxmlformats.org/officeDocument/2006/relationships/tags" Target="../tags/tag77.xml"/><Relationship Id="rId6" Type="http://schemas.openxmlformats.org/officeDocument/2006/relationships/slideLayout" Target="../slideLayouts/slideLayout6.xml"/><Relationship Id="rId7" Type="http://schemas.openxmlformats.org/officeDocument/2006/relationships/oleObject" Target="../embeddings/oleObject30.bin"/><Relationship Id="rId8" Type="http://schemas.openxmlformats.org/officeDocument/2006/relationships/image" Target="../media/image1.emf"/><Relationship Id="rId9" Type="http://schemas.openxmlformats.org/officeDocument/2006/relationships/image" Target="../media/image33.png"/><Relationship Id="rId10" Type="http://schemas.openxmlformats.org/officeDocument/2006/relationships/image" Target="../media/image3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dplatzhalter 7" descr="Ein Bild, das draußen, Berg, Landschaft, Natur enthält.&#10;&#10;Automatisch generierte Beschreibung">
            <a:extLst>
              <a:ext uri="{FF2B5EF4-FFF2-40B4-BE49-F238E27FC236}">
                <a16:creationId xmlns:a16="http://schemas.microsoft.com/office/drawing/2014/main" id="{67ADED95-A341-88FA-93D5-04C24922C409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00" b="12500"/>
          <a:stretch>
            <a:fillRect/>
          </a:stretch>
        </p:blipFill>
        <p:spPr/>
      </p:pic>
      <p:pic>
        <p:nvPicPr>
          <p:cNvPr id="41" name="Grafik 40" descr="Ein Bild, das Entwurf, Kreis, Schwarzweiß, Grafiken enthält.&#10;&#10;Automatisch generierte Beschreibung">
            <a:extLst>
              <a:ext uri="{FF2B5EF4-FFF2-40B4-BE49-F238E27FC236}">
                <a16:creationId xmlns:a16="http://schemas.microsoft.com/office/drawing/2014/main" id="{D4CC56FD-D5B5-DDAF-F190-6DD59F631FC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680" y="378086"/>
            <a:ext cx="1303300" cy="536960"/>
          </a:xfrm>
          <a:prstGeom prst="rect">
            <a:avLst/>
          </a:prstGeom>
        </p:spPr>
      </p:pic>
      <p:graphicFrame>
        <p:nvGraphicFramePr>
          <p:cNvPr id="2" name="Objekt 1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370" imgH="371" progId="TCLayout.ActiveDocument.1">
                  <p:embed/>
                </p:oleObj>
              </mc:Choice>
              <mc:Fallback>
                <p:oleObj name="think-cell Slide" r:id="rId6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platzhalter 10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/>
              <a:t>Subline</a:t>
            </a:r>
          </a:p>
        </p:txBody>
      </p:sp>
      <p:sp>
        <p:nvSpPr>
          <p:cNvPr id="22" name="Textplatzhalter 2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de-DE"/>
              <a:t>IPS, EWW, SCD</a:t>
            </a:r>
          </a:p>
        </p:txBody>
      </p:sp>
      <p:sp>
        <p:nvSpPr>
          <p:cNvPr id="23" name="Textplatzhalter 22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de-DE"/>
              <a:t>18.05.2026</a:t>
            </a:r>
          </a:p>
        </p:txBody>
      </p:sp>
      <p:sp>
        <p:nvSpPr>
          <p:cNvPr id="21" name="Titel 20"/>
          <p:cNvSpPr>
            <a:spLocks noGrp="1"/>
          </p:cNvSpPr>
          <p:nvPr>
            <p:ph type="title"/>
          </p:nvPr>
        </p:nvSpPr>
        <p:spPr/>
        <p:txBody>
          <a:bodyPr vert="horz" rIns="288000"/>
          <a:lstStyle/>
          <a:p>
            <a:r>
              <a:rPr lang="de-DE"/>
              <a:t>Überblick PPM@STIHL und </a:t>
            </a:r>
            <a:r>
              <a:rPr lang="de-DE" err="1"/>
              <a:t>zwischenstand</a:t>
            </a:r>
            <a:r>
              <a:rPr lang="de-DE"/>
              <a:t> </a:t>
            </a:r>
            <a:r>
              <a:rPr lang="de-DE" err="1"/>
              <a:t>servicenow</a:t>
            </a:r>
            <a:r>
              <a:rPr lang="de-DE"/>
              <a:t> </a:t>
            </a:r>
            <a:r>
              <a:rPr lang="de-DE" err="1"/>
              <a:t>plattform</a:t>
            </a:r>
            <a:r>
              <a:rPr lang="de-DE"/>
              <a:t> </a:t>
            </a:r>
            <a:br>
              <a:rPr lang="de-DE"/>
            </a:br>
            <a:r>
              <a:rPr lang="de-DE"/>
              <a:t>ƒ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F27AC647-7874-08CC-25F1-E75A6D61D8A7}"/>
              </a:ext>
            </a:extLst>
          </p:cNvPr>
          <p:cNvSpPr>
            <a:spLocks/>
          </p:cNvSpPr>
          <p:nvPr/>
        </p:nvSpPr>
        <p:spPr>
          <a:xfrm>
            <a:off x="-3139178" y="1034423"/>
            <a:ext cx="2845436" cy="4577389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Weitere Vorlagen finden Sie in der Template Library. Diese ist in den Template Ordnern gespeichert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Bildmaterial finden Sie auf Ihrem lokalen Laufwerk unter </a:t>
            </a:r>
            <a:r>
              <a:rPr lang="de-DE" sz="1600" b="1">
                <a:solidFill>
                  <a:schemeClr val="tx1"/>
                </a:solidFill>
                <a:hlinkClick r:id="rId8" action="ppaction://hlinkfile"/>
              </a:rPr>
              <a:t>C:\Program Files (x86)\STIHL\PPT Images </a:t>
            </a:r>
            <a:br>
              <a:rPr lang="de-DE" sz="1600">
                <a:solidFill>
                  <a:schemeClr val="tx1"/>
                </a:solidFill>
              </a:rPr>
            </a:br>
            <a:r>
              <a:rPr lang="de-DE" sz="1600">
                <a:solidFill>
                  <a:schemeClr val="tx1"/>
                </a:solidFill>
              </a:rPr>
              <a:t>oder im STIHL DAM </a:t>
            </a:r>
            <a:r>
              <a:rPr lang="de-DE" sz="1600">
                <a:hlinkClick r:id="rId9"/>
              </a:rPr>
              <a:t>https://dam.stihl.com/</a:t>
            </a: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Bitte keine Folien mit vollflächigen Farben oder Motiven drucken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Die Standlinie kann über den Reiter "Einfügen" durch das Feld "Symbol" eingefügt werden</a:t>
            </a:r>
          </a:p>
        </p:txBody>
      </p:sp>
    </p:spTree>
    <p:extLst>
      <p:ext uri="{BB962C8B-B14F-4D97-AF65-F5344CB8AC3E}">
        <p14:creationId xmlns:p14="http://schemas.microsoft.com/office/powerpoint/2010/main" val="4011149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5025191A-2DCE-0CE2-A929-F222DCAFF795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424761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025191A-2DCE-0CE2-A929-F222DCAFF7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DE"/>
              <a:t>Informationen zur Vorstandsvorlage</a:t>
            </a:r>
            <a:br>
              <a:rPr lang="de-DE"/>
            </a:br>
            <a:endParaRPr lang="de-DE"/>
          </a:p>
        </p:txBody>
      </p:sp>
      <p:graphicFrame>
        <p:nvGraphicFramePr>
          <p:cNvPr id="5" name="Inhaltsplatzhalter 4"/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1734578780"/>
              </p:ext>
            </p:extLst>
          </p:nvPr>
        </p:nvGraphicFramePr>
        <p:xfrm>
          <a:off x="479425" y="1603375"/>
          <a:ext cx="11233150" cy="4463654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3278759">
                  <a:extLst>
                    <a:ext uri="{9D8B030D-6E8A-4147-A177-3AD203B41FA5}">
                      <a16:colId xmlns:a16="http://schemas.microsoft.com/office/drawing/2014/main" val="1912416164"/>
                    </a:ext>
                  </a:extLst>
                </a:gridCol>
                <a:gridCol w="7954391">
                  <a:extLst>
                    <a:ext uri="{9D8B030D-6E8A-4147-A177-3AD203B41FA5}">
                      <a16:colId xmlns:a16="http://schemas.microsoft.com/office/drawing/2014/main" val="2029461099"/>
                    </a:ext>
                  </a:extLst>
                </a:gridCol>
              </a:tblGrid>
              <a:tr h="5559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Vorstandsbereich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i="0">
                          <a:solidFill>
                            <a:schemeClr val="tx1"/>
                          </a:solidFill>
                          <a:latin typeface="+mn-lt"/>
                        </a:rPr>
                        <a:t>VFI, VVM, VEW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2475265"/>
                  </a:ext>
                </a:extLst>
              </a:tr>
              <a:tr h="555969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Thema/ TOP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r>
                        <a:rPr lang="de-DE" sz="1800" b="0" i="0">
                          <a:latin typeface="+mn-lt"/>
                        </a:rPr>
                        <a:t>Herausforderungen im Projektportfoliomanagement bei STIHL sowie Zwischenstand zur </a:t>
                      </a:r>
                      <a:r>
                        <a:rPr lang="de-DE" sz="1800" b="0" i="0" u="none" strike="noStrike" noProof="0"/>
                        <a:t>Ausarbeitung und Prüfung einer Plattformstrategie mit ServiceNow</a:t>
                      </a:r>
                      <a:endParaRPr lang="de-DE" sz="1800" b="0" i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4717367"/>
                  </a:ext>
                </a:extLst>
              </a:tr>
              <a:tr h="555969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Ziel</a:t>
                      </a:r>
                    </a:p>
                  </a:txBody>
                  <a:tcPr marL="0" anchor="ctr"/>
                </a:tc>
                <a:tc>
                  <a:txBody>
                    <a:bodyPr/>
                    <a:lstStyle/>
                    <a:p>
                      <a:r>
                        <a:rPr lang="de-DE" sz="1800" b="0" i="0">
                          <a:latin typeface="+mn-lt"/>
                        </a:rPr>
                        <a:t>      Beschlussvorlage (B)           </a:t>
                      </a:r>
                      <a:r>
                        <a:rPr lang="de-DE" sz="1800" b="0" i="0" baseline="0">
                          <a:latin typeface="+mn-lt"/>
                        </a:rPr>
                        <a:t>Information (I)</a:t>
                      </a:r>
                      <a:endParaRPr lang="de-DE" sz="1800" b="0" i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2409132"/>
                  </a:ext>
                </a:extLst>
              </a:tr>
              <a:tr h="555969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TOP Verantwortlicher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r>
                        <a:rPr lang="de-DE" sz="1800" b="0" i="0" baseline="0">
                          <a:latin typeface="+mn-lt"/>
                        </a:rPr>
                        <a:t>8/ODS – Alexander </a:t>
                      </a:r>
                      <a:r>
                        <a:rPr lang="de-DE" sz="1800" b="0" i="0" baseline="0" err="1">
                          <a:latin typeface="+mn-lt"/>
                        </a:rPr>
                        <a:t>Passaro</a:t>
                      </a:r>
                    </a:p>
                    <a:p>
                      <a:r>
                        <a:rPr lang="de-DE" sz="1800" b="0" i="0" baseline="0">
                          <a:latin typeface="+mn-lt"/>
                        </a:rPr>
                        <a:t>1/SEH – Torsten Zahn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7071747"/>
                  </a:ext>
                </a:extLst>
              </a:tr>
              <a:tr h="555969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Zusätzliche Teilnehmer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r>
                        <a:rPr lang="de-DE" sz="1800" b="0" i="0">
                          <a:latin typeface="+mn-lt"/>
                        </a:rPr>
                        <a:t>Dirk Hauke, Jonas Schimanek, Dr. Dennis Rödel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0466670"/>
                  </a:ext>
                </a:extLst>
              </a:tr>
              <a:tr h="555969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Status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r>
                        <a:rPr lang="de-DE" sz="1800" b="0" i="0">
                          <a:latin typeface="+mn-lt"/>
                        </a:rPr>
                        <a:t>[In Bearbeitung/ Final]</a:t>
                      </a:r>
                      <a:r>
                        <a:rPr lang="de-DE" sz="1800" b="0" i="0" baseline="0">
                          <a:latin typeface="+mn-lt"/>
                        </a:rPr>
                        <a:t> – Präsentation in der Sitzung vom 18.05.2026</a:t>
                      </a:r>
                      <a:endParaRPr lang="de-DE" sz="1800" b="0" i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1932111"/>
                  </a:ext>
                </a:extLst>
              </a:tr>
              <a:tr h="959618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Mitwirkung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r>
                        <a:rPr lang="de-DE" sz="1800" b="0" i="0">
                          <a:latin typeface="+mn-lt"/>
                        </a:rPr>
                        <a:t>[Aufzählung der mitwirkenden Fachabteilungen und/ oder der mitwirkenden Personen]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4857357"/>
                  </a:ext>
                </a:extLst>
              </a:tr>
            </a:tbl>
          </a:graphicData>
        </a:graphic>
      </p:graphicFrame>
      <p:sp>
        <p:nvSpPr>
          <p:cNvPr id="6" name="Rechteck 5"/>
          <p:cNvSpPr/>
          <p:nvPr/>
        </p:nvSpPr>
        <p:spPr>
          <a:xfrm>
            <a:off x="3866896" y="3258454"/>
            <a:ext cx="216000" cy="216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de-DE" sz="1600" b="1">
                <a:solidFill>
                  <a:schemeClr val="tx1"/>
                </a:solidFill>
              </a:rPr>
              <a:t>X</a:t>
            </a:r>
          </a:p>
        </p:txBody>
      </p:sp>
      <p:sp>
        <p:nvSpPr>
          <p:cNvPr id="7" name="Rechteck 6"/>
          <p:cNvSpPr/>
          <p:nvPr/>
        </p:nvSpPr>
        <p:spPr>
          <a:xfrm>
            <a:off x="6518656" y="3245484"/>
            <a:ext cx="216000" cy="216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de-DE" sz="1600" b="1">
                <a:solidFill>
                  <a:schemeClr val="tx1"/>
                </a:solidFill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71502507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8665C-FD0F-78B2-11F8-67404EC7A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D3A3FE1F-5C9F-1625-A892-4AE047025E9A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0151985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3A3FE1F-5C9F-1625-A892-4AE047025E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FFAE0050-0FEB-5C7C-E04E-A16AB83CF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6" y="503546"/>
            <a:ext cx="9579925" cy="304699"/>
          </a:xfrm>
        </p:spPr>
        <p:txBody>
          <a:bodyPr vert="horz" rIns="0"/>
          <a:lstStyle/>
          <a:p>
            <a:r>
              <a:rPr lang="de-DE" sz="2400"/>
              <a:t>Projekte und Projektportfoliomanagement bei STIHL</a:t>
            </a:r>
            <a:endParaRPr lang="de-DE" b="0"/>
          </a:p>
        </p:txBody>
      </p:sp>
      <p:sp>
        <p:nvSpPr>
          <p:cNvPr id="4" name="Title1515">
            <a:extLst>
              <a:ext uri="{FF2B5EF4-FFF2-40B4-BE49-F238E27FC236}">
                <a16:creationId xmlns:a16="http://schemas.microsoft.com/office/drawing/2014/main" id="{B2F0EA75-7603-F609-780C-C6D8B8F81996}"/>
              </a:ext>
            </a:extLst>
          </p:cNvPr>
          <p:cNvSpPr txBox="1"/>
          <p:nvPr/>
        </p:nvSpPr>
        <p:spPr>
          <a:xfrm>
            <a:off x="2483535" y="1612974"/>
            <a:ext cx="1833990" cy="528794"/>
          </a:xfrm>
          <a:prstGeom prst="rect">
            <a:avLst/>
          </a:prstGeom>
          <a:noFill/>
        </p:spPr>
        <p:txBody>
          <a:bodyPr vert="horz" wrap="square" lIns="0" tIns="0" rIns="0" bIns="3600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IHL Contraface Display Title" panose="02000600040000020004" pitchFamily="2" charset="0"/>
              </a:rPr>
              <a:t>Produkt-</a:t>
            </a: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IHL Contraface Display Medium" panose="02000603040000020004" pitchFamily="2" charset="0"/>
              </a:rPr>
              <a:t>projekte</a:t>
            </a:r>
            <a:endParaRPr kumimoji="0" lang="de-DE" sz="1600" b="1" i="0" u="none" strike="noStrike" kern="120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IHL Contraface Display Medium" panose="02000603040000020004" pitchFamily="2" charset="0"/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B4C03F64-E5E3-2E71-8F1F-383FD9801083}"/>
              </a:ext>
            </a:extLst>
          </p:cNvPr>
          <p:cNvSpPr/>
          <p:nvPr/>
        </p:nvSpPr>
        <p:spPr>
          <a:xfrm>
            <a:off x="2163481" y="1612974"/>
            <a:ext cx="200963" cy="493639"/>
          </a:xfrm>
          <a:prstGeom prst="rect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37" name="Title1515">
            <a:extLst>
              <a:ext uri="{FF2B5EF4-FFF2-40B4-BE49-F238E27FC236}">
                <a16:creationId xmlns:a16="http://schemas.microsoft.com/office/drawing/2014/main" id="{22C2A15A-8976-64F3-CE10-BB090D55C659}"/>
              </a:ext>
            </a:extLst>
          </p:cNvPr>
          <p:cNvSpPr txBox="1"/>
          <p:nvPr/>
        </p:nvSpPr>
        <p:spPr>
          <a:xfrm>
            <a:off x="4949080" y="1612974"/>
            <a:ext cx="1893679" cy="528794"/>
          </a:xfrm>
          <a:prstGeom prst="rect">
            <a:avLst/>
          </a:prstGeom>
          <a:noFill/>
        </p:spPr>
        <p:txBody>
          <a:bodyPr vert="horz" wrap="square" lIns="0" tIns="0" rIns="0" bIns="3600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IHL Contraface Display Title" panose="02000600040000020004" pitchFamily="2" charset="0"/>
              </a:rPr>
              <a:t>Infrastruktur-</a:t>
            </a: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IHL Contraface Display Medium" panose="02000603040000020004" pitchFamily="2" charset="0"/>
              </a:rPr>
              <a:t>projekte</a:t>
            </a:r>
            <a:endParaRPr kumimoji="0" lang="de-DE" sz="1600" b="1" i="0" u="none" strike="noStrike" kern="120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IHL Contraface Display Medium" panose="02000603040000020004" pitchFamily="2" charset="0"/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D2EF0262-C5DE-4F25-18CC-8CD263A031E1}"/>
              </a:ext>
            </a:extLst>
          </p:cNvPr>
          <p:cNvSpPr/>
          <p:nvPr/>
        </p:nvSpPr>
        <p:spPr>
          <a:xfrm>
            <a:off x="4629027" y="1612974"/>
            <a:ext cx="200963" cy="493639"/>
          </a:xfrm>
          <a:prstGeom prst="rect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46" name="Title1515">
            <a:extLst>
              <a:ext uri="{FF2B5EF4-FFF2-40B4-BE49-F238E27FC236}">
                <a16:creationId xmlns:a16="http://schemas.microsoft.com/office/drawing/2014/main" id="{F4A32356-2E21-8858-6A37-F9FD59CD2A8D}"/>
              </a:ext>
            </a:extLst>
          </p:cNvPr>
          <p:cNvSpPr txBox="1"/>
          <p:nvPr/>
        </p:nvSpPr>
        <p:spPr>
          <a:xfrm>
            <a:off x="7414627" y="1612974"/>
            <a:ext cx="1833990" cy="528794"/>
          </a:xfrm>
          <a:prstGeom prst="rect">
            <a:avLst/>
          </a:prstGeom>
          <a:noFill/>
        </p:spPr>
        <p:txBody>
          <a:bodyPr vert="horz" wrap="square" lIns="0" tIns="0" rIns="0" bIns="3600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600" b="1">
                <a:solidFill>
                  <a:srgbClr val="000000"/>
                </a:solidFill>
                <a:latin typeface="STIHL Contraface Display Title"/>
              </a:rPr>
              <a:t>Operations-</a:t>
            </a:r>
            <a:r>
              <a:rPr lang="de-DE" sz="1600" b="1">
                <a:solidFill>
                  <a:srgbClr val="000000"/>
                </a:solidFill>
                <a:latin typeface="STIHL Contraface Display Medium"/>
              </a:rPr>
              <a:t>projekte</a:t>
            </a:r>
            <a:endParaRPr kumimoji="0" lang="de-DE" sz="1600" b="1" i="0" u="none" strike="noStrike" kern="120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IHL Contraface Display Medium" panose="02000603040000020004" pitchFamily="2" charset="0"/>
            </a:endParaRPr>
          </a:p>
        </p:txBody>
      </p:sp>
      <p:sp>
        <p:nvSpPr>
          <p:cNvPr id="45" name="Rechteck 44">
            <a:extLst>
              <a:ext uri="{FF2B5EF4-FFF2-40B4-BE49-F238E27FC236}">
                <a16:creationId xmlns:a16="http://schemas.microsoft.com/office/drawing/2014/main" id="{703C092C-A272-2B3C-D710-82CD3B12AB96}"/>
              </a:ext>
            </a:extLst>
          </p:cNvPr>
          <p:cNvSpPr/>
          <p:nvPr/>
        </p:nvSpPr>
        <p:spPr>
          <a:xfrm>
            <a:off x="7094573" y="1612974"/>
            <a:ext cx="200963" cy="493639"/>
          </a:xfrm>
          <a:prstGeom prst="rect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51" name="Title1515">
            <a:extLst>
              <a:ext uri="{FF2B5EF4-FFF2-40B4-BE49-F238E27FC236}">
                <a16:creationId xmlns:a16="http://schemas.microsoft.com/office/drawing/2014/main" id="{F64918E5-9C98-4A19-2957-E205A8F487A8}"/>
              </a:ext>
            </a:extLst>
          </p:cNvPr>
          <p:cNvSpPr txBox="1"/>
          <p:nvPr/>
        </p:nvSpPr>
        <p:spPr>
          <a:xfrm>
            <a:off x="9880173" y="1428308"/>
            <a:ext cx="1833990" cy="713460"/>
          </a:xfrm>
          <a:prstGeom prst="rect">
            <a:avLst/>
          </a:prstGeom>
          <a:noFill/>
        </p:spPr>
        <p:txBody>
          <a:bodyPr vert="horz" wrap="square" lIns="0" tIns="0" rIns="0" bIns="36000" rtlCol="0" anchor="b">
            <a:spAutoFit/>
          </a:bodyPr>
          <a:lstStyle/>
          <a:p>
            <a:pPr>
              <a:defRPr/>
            </a:pPr>
            <a:r>
              <a:rPr lang="de-DE" sz="1600" b="1">
                <a:solidFill>
                  <a:srgbClr val="000000"/>
                </a:solidFill>
                <a:latin typeface="STIHL Contraface Display Title"/>
              </a:rPr>
              <a:t>Sonder-</a:t>
            </a:r>
            <a:r>
              <a:rPr lang="de-DE" sz="1600" b="1">
                <a:solidFill>
                  <a:srgbClr val="000000"/>
                </a:solidFill>
                <a:latin typeface="stihl contraface display medium"/>
              </a:rPr>
              <a:t>projekte </a:t>
            </a:r>
            <a:endParaRPr lang="de-DE" sz="1600" b="1" baseline="30000">
              <a:solidFill>
                <a:srgbClr val="000000"/>
              </a:solidFill>
              <a:latin typeface="STIHL Contraface Display Medium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de-DE" sz="1200">
                <a:solidFill>
                  <a:srgbClr val="000000"/>
                </a:solidFill>
                <a:latin typeface="STIHL Contraface Display Title"/>
              </a:rPr>
              <a:t>(</a:t>
            </a:r>
            <a:r>
              <a:rPr lang="de-DE" sz="1200" b="1">
                <a:solidFill>
                  <a:srgbClr val="000000"/>
                </a:solidFill>
                <a:latin typeface="STIHL Contraface Display Title"/>
              </a:rPr>
              <a:t>IT-</a:t>
            </a:r>
            <a:r>
              <a:rPr lang="de-DE" sz="1200" b="1">
                <a:solidFill>
                  <a:srgbClr val="000000"/>
                </a:solidFill>
                <a:latin typeface="STIHL Contraface Display Medium"/>
              </a:rPr>
              <a:t>projekte)</a:t>
            </a:r>
            <a:endParaRPr lang="de-DE" sz="1200" b="1" i="0" u="none" strike="noStrike" kern="120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IHL Contraface Display Medium"/>
            </a:endParaRPr>
          </a:p>
        </p:txBody>
      </p:sp>
      <p:grpSp>
        <p:nvGrpSpPr>
          <p:cNvPr id="60" name="Gruppieren 59">
            <a:extLst>
              <a:ext uri="{FF2B5EF4-FFF2-40B4-BE49-F238E27FC236}">
                <a16:creationId xmlns:a16="http://schemas.microsoft.com/office/drawing/2014/main" id="{D187EA57-F9AB-2A34-2190-A011D814B44E}"/>
              </a:ext>
            </a:extLst>
          </p:cNvPr>
          <p:cNvGrpSpPr/>
          <p:nvPr/>
        </p:nvGrpSpPr>
        <p:grpSpPr>
          <a:xfrm>
            <a:off x="2157525" y="2160328"/>
            <a:ext cx="9552842" cy="0"/>
            <a:chOff x="2157525" y="1912678"/>
            <a:chExt cx="9552842" cy="0"/>
          </a:xfrm>
        </p:grpSpPr>
        <p:cxnSp>
          <p:nvCxnSpPr>
            <p:cNvPr id="6" name="Gerader Verbinder 5">
              <a:extLst>
                <a:ext uri="{FF2B5EF4-FFF2-40B4-BE49-F238E27FC236}">
                  <a16:creationId xmlns:a16="http://schemas.microsoft.com/office/drawing/2014/main" id="{7E02909E-4326-3DBA-1F0F-1183FD93A8F4}"/>
                </a:ext>
              </a:extLst>
            </p:cNvPr>
            <p:cNvCxnSpPr/>
            <p:nvPr/>
          </p:nvCxnSpPr>
          <p:spPr>
            <a:xfrm>
              <a:off x="2157525" y="1912678"/>
              <a:ext cx="2156204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Gerader Verbinder 37">
              <a:extLst>
                <a:ext uri="{FF2B5EF4-FFF2-40B4-BE49-F238E27FC236}">
                  <a16:creationId xmlns:a16="http://schemas.microsoft.com/office/drawing/2014/main" id="{D19BB763-74A8-22A2-82BF-70A3F96B82D2}"/>
                </a:ext>
              </a:extLst>
            </p:cNvPr>
            <p:cNvCxnSpPr/>
            <p:nvPr/>
          </p:nvCxnSpPr>
          <p:spPr>
            <a:xfrm>
              <a:off x="4623071" y="1912678"/>
              <a:ext cx="2156204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Gerader Verbinder 46">
              <a:extLst>
                <a:ext uri="{FF2B5EF4-FFF2-40B4-BE49-F238E27FC236}">
                  <a16:creationId xmlns:a16="http://schemas.microsoft.com/office/drawing/2014/main" id="{79C211DD-CC97-A1AA-728E-DCAF2940FC7F}"/>
                </a:ext>
              </a:extLst>
            </p:cNvPr>
            <p:cNvCxnSpPr/>
            <p:nvPr/>
          </p:nvCxnSpPr>
          <p:spPr>
            <a:xfrm>
              <a:off x="7088617" y="1912678"/>
              <a:ext cx="2156204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Gerader Verbinder 51">
              <a:extLst>
                <a:ext uri="{FF2B5EF4-FFF2-40B4-BE49-F238E27FC236}">
                  <a16:creationId xmlns:a16="http://schemas.microsoft.com/office/drawing/2014/main" id="{F22D9913-5DBC-779A-AFF2-04DBD2268D80}"/>
                </a:ext>
              </a:extLst>
            </p:cNvPr>
            <p:cNvCxnSpPr/>
            <p:nvPr/>
          </p:nvCxnSpPr>
          <p:spPr>
            <a:xfrm>
              <a:off x="9554163" y="1912678"/>
              <a:ext cx="2156204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Rechteck 49">
            <a:extLst>
              <a:ext uri="{FF2B5EF4-FFF2-40B4-BE49-F238E27FC236}">
                <a16:creationId xmlns:a16="http://schemas.microsoft.com/office/drawing/2014/main" id="{76846720-55AB-2308-5C68-23CBBDFF870B}"/>
              </a:ext>
            </a:extLst>
          </p:cNvPr>
          <p:cNvSpPr/>
          <p:nvPr/>
        </p:nvSpPr>
        <p:spPr>
          <a:xfrm>
            <a:off x="9560119" y="1612974"/>
            <a:ext cx="200963" cy="493639"/>
          </a:xfrm>
          <a:prstGeom prst="rect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4</a:t>
            </a:r>
          </a:p>
        </p:txBody>
      </p:sp>
      <p:grpSp>
        <p:nvGrpSpPr>
          <p:cNvPr id="59" name="Gruppieren 58">
            <a:extLst>
              <a:ext uri="{FF2B5EF4-FFF2-40B4-BE49-F238E27FC236}">
                <a16:creationId xmlns:a16="http://schemas.microsoft.com/office/drawing/2014/main" id="{33319214-934F-086B-3C15-1771710860B1}"/>
              </a:ext>
            </a:extLst>
          </p:cNvPr>
          <p:cNvGrpSpPr/>
          <p:nvPr/>
        </p:nvGrpSpPr>
        <p:grpSpPr>
          <a:xfrm>
            <a:off x="479427" y="2477248"/>
            <a:ext cx="11234736" cy="221599"/>
            <a:chOff x="479427" y="2229598"/>
            <a:chExt cx="11234736" cy="221599"/>
          </a:xfrm>
        </p:grpSpPr>
        <p:sp>
          <p:nvSpPr>
            <p:cNvPr id="53" name="Textfeld 52">
              <a:extLst>
                <a:ext uri="{FF2B5EF4-FFF2-40B4-BE49-F238E27FC236}">
                  <a16:creationId xmlns:a16="http://schemas.microsoft.com/office/drawing/2014/main" id="{8B899059-0697-40B7-9F4C-02F1D915C48D}"/>
                </a:ext>
              </a:extLst>
            </p:cNvPr>
            <p:cNvSpPr txBox="1"/>
            <p:nvPr/>
          </p:nvSpPr>
          <p:spPr>
            <a:xfrm>
              <a:off x="479427" y="2229598"/>
              <a:ext cx="1393824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# Projekte p.a.</a:t>
              </a:r>
            </a:p>
          </p:txBody>
        </p:sp>
        <p:sp>
          <p:nvSpPr>
            <p:cNvPr id="54" name="Textfeld 53">
              <a:extLst>
                <a:ext uri="{FF2B5EF4-FFF2-40B4-BE49-F238E27FC236}">
                  <a16:creationId xmlns:a16="http://schemas.microsoft.com/office/drawing/2014/main" id="{7310000E-4287-4E04-7485-A34C12DEB2D9}"/>
                </a:ext>
              </a:extLst>
            </p:cNvPr>
            <p:cNvSpPr txBox="1"/>
            <p:nvPr/>
          </p:nvSpPr>
          <p:spPr>
            <a:xfrm>
              <a:off x="2157525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Text</a:t>
              </a:r>
            </a:p>
          </p:txBody>
        </p:sp>
        <p:sp>
          <p:nvSpPr>
            <p:cNvPr id="55" name="Textfeld 54">
              <a:extLst>
                <a:ext uri="{FF2B5EF4-FFF2-40B4-BE49-F238E27FC236}">
                  <a16:creationId xmlns:a16="http://schemas.microsoft.com/office/drawing/2014/main" id="{26FF86DD-665D-8F69-4EA6-4DCA0035F5A0}"/>
                </a:ext>
              </a:extLst>
            </p:cNvPr>
            <p:cNvSpPr txBox="1"/>
            <p:nvPr/>
          </p:nvSpPr>
          <p:spPr>
            <a:xfrm>
              <a:off x="4623071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Text</a:t>
              </a:r>
            </a:p>
          </p:txBody>
        </p:sp>
        <p:sp>
          <p:nvSpPr>
            <p:cNvPr id="56" name="Textfeld 55">
              <a:extLst>
                <a:ext uri="{FF2B5EF4-FFF2-40B4-BE49-F238E27FC236}">
                  <a16:creationId xmlns:a16="http://schemas.microsoft.com/office/drawing/2014/main" id="{A60BC78C-3C3B-4F81-F56E-EC627527E7AB}"/>
                </a:ext>
              </a:extLst>
            </p:cNvPr>
            <p:cNvSpPr txBox="1"/>
            <p:nvPr/>
          </p:nvSpPr>
          <p:spPr>
            <a:xfrm>
              <a:off x="7088617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Text</a:t>
              </a:r>
            </a:p>
          </p:txBody>
        </p:sp>
        <p:sp>
          <p:nvSpPr>
            <p:cNvPr id="57" name="Textfeld 56">
              <a:extLst>
                <a:ext uri="{FF2B5EF4-FFF2-40B4-BE49-F238E27FC236}">
                  <a16:creationId xmlns:a16="http://schemas.microsoft.com/office/drawing/2014/main" id="{E6D5EFB4-70D3-47B6-06E9-DDA878A3083B}"/>
                </a:ext>
              </a:extLst>
            </p:cNvPr>
            <p:cNvSpPr txBox="1"/>
            <p:nvPr/>
          </p:nvSpPr>
          <p:spPr>
            <a:xfrm>
              <a:off x="9554163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95 (21)</a:t>
              </a:r>
            </a:p>
          </p:txBody>
        </p:sp>
      </p:grpSp>
      <p:grpSp>
        <p:nvGrpSpPr>
          <p:cNvPr id="61" name="Gruppieren 60">
            <a:extLst>
              <a:ext uri="{FF2B5EF4-FFF2-40B4-BE49-F238E27FC236}">
                <a16:creationId xmlns:a16="http://schemas.microsoft.com/office/drawing/2014/main" id="{B3B5E22A-F20E-CC26-88DE-75D5689F60C1}"/>
              </a:ext>
            </a:extLst>
          </p:cNvPr>
          <p:cNvGrpSpPr/>
          <p:nvPr/>
        </p:nvGrpSpPr>
        <p:grpSpPr>
          <a:xfrm>
            <a:off x="479426" y="2924772"/>
            <a:ext cx="11230941" cy="0"/>
            <a:chOff x="479426" y="1912678"/>
            <a:chExt cx="11230941" cy="0"/>
          </a:xfrm>
        </p:grpSpPr>
        <p:cxnSp>
          <p:nvCxnSpPr>
            <p:cNvPr id="62" name="Gerader Verbinder 61">
              <a:extLst>
                <a:ext uri="{FF2B5EF4-FFF2-40B4-BE49-F238E27FC236}">
                  <a16:creationId xmlns:a16="http://schemas.microsoft.com/office/drawing/2014/main" id="{74E7BB17-21C1-C77F-F7B6-666F619DF77D}"/>
                </a:ext>
              </a:extLst>
            </p:cNvPr>
            <p:cNvCxnSpPr/>
            <p:nvPr/>
          </p:nvCxnSpPr>
          <p:spPr>
            <a:xfrm>
              <a:off x="2157525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Gerader Verbinder 62">
              <a:extLst>
                <a:ext uri="{FF2B5EF4-FFF2-40B4-BE49-F238E27FC236}">
                  <a16:creationId xmlns:a16="http://schemas.microsoft.com/office/drawing/2014/main" id="{11448DC4-02D3-298B-3D10-B4CCBDB7E5CB}"/>
                </a:ext>
              </a:extLst>
            </p:cNvPr>
            <p:cNvCxnSpPr/>
            <p:nvPr/>
          </p:nvCxnSpPr>
          <p:spPr>
            <a:xfrm>
              <a:off x="4623071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Gerader Verbinder 63">
              <a:extLst>
                <a:ext uri="{FF2B5EF4-FFF2-40B4-BE49-F238E27FC236}">
                  <a16:creationId xmlns:a16="http://schemas.microsoft.com/office/drawing/2014/main" id="{513F20EB-F9EE-7CD9-70DD-AC983C19F5B9}"/>
                </a:ext>
              </a:extLst>
            </p:cNvPr>
            <p:cNvCxnSpPr/>
            <p:nvPr/>
          </p:nvCxnSpPr>
          <p:spPr>
            <a:xfrm>
              <a:off x="7088617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Gerader Verbinder 64">
              <a:extLst>
                <a:ext uri="{FF2B5EF4-FFF2-40B4-BE49-F238E27FC236}">
                  <a16:creationId xmlns:a16="http://schemas.microsoft.com/office/drawing/2014/main" id="{2DB2F38C-AF99-482A-89C4-8EB821E0FBD5}"/>
                </a:ext>
              </a:extLst>
            </p:cNvPr>
            <p:cNvCxnSpPr/>
            <p:nvPr/>
          </p:nvCxnSpPr>
          <p:spPr>
            <a:xfrm>
              <a:off x="9554163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Gerader Verbinder 68">
              <a:extLst>
                <a:ext uri="{FF2B5EF4-FFF2-40B4-BE49-F238E27FC236}">
                  <a16:creationId xmlns:a16="http://schemas.microsoft.com/office/drawing/2014/main" id="{958C9290-4F90-96B0-C902-4DDC3B7F761C}"/>
                </a:ext>
              </a:extLst>
            </p:cNvPr>
            <p:cNvCxnSpPr/>
            <p:nvPr/>
          </p:nvCxnSpPr>
          <p:spPr>
            <a:xfrm>
              <a:off x="479426" y="1912678"/>
              <a:ext cx="1393200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1" name="Gruppieren 70">
            <a:extLst>
              <a:ext uri="{FF2B5EF4-FFF2-40B4-BE49-F238E27FC236}">
                <a16:creationId xmlns:a16="http://schemas.microsoft.com/office/drawing/2014/main" id="{0A563D7D-E13E-7723-C177-2DB145CADF1C}"/>
              </a:ext>
            </a:extLst>
          </p:cNvPr>
          <p:cNvGrpSpPr/>
          <p:nvPr/>
        </p:nvGrpSpPr>
        <p:grpSpPr>
          <a:xfrm>
            <a:off x="479427" y="3039898"/>
            <a:ext cx="11525328" cy="443198"/>
            <a:chOff x="479427" y="2118799"/>
            <a:chExt cx="11525328" cy="443198"/>
          </a:xfrm>
        </p:grpSpPr>
        <p:sp>
          <p:nvSpPr>
            <p:cNvPr id="72" name="Textfeld 71">
              <a:extLst>
                <a:ext uri="{FF2B5EF4-FFF2-40B4-BE49-F238E27FC236}">
                  <a16:creationId xmlns:a16="http://schemas.microsoft.com/office/drawing/2014/main" id="{47F6C3E1-2DB6-DF6C-FFC5-E903F8414027}"/>
                </a:ext>
              </a:extLst>
            </p:cNvPr>
            <p:cNvSpPr txBox="1"/>
            <p:nvPr/>
          </p:nvSpPr>
          <p:spPr>
            <a:xfrm>
              <a:off x="479427" y="2229598"/>
              <a:ext cx="1393824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err="1"/>
                <a:t>Aufwand</a:t>
              </a:r>
              <a:r>
                <a:rPr lang="en-US" sz="1600"/>
                <a:t> p.a.</a:t>
              </a:r>
            </a:p>
          </p:txBody>
        </p:sp>
        <p:sp>
          <p:nvSpPr>
            <p:cNvPr id="73" name="Textfeld 72">
              <a:extLst>
                <a:ext uri="{FF2B5EF4-FFF2-40B4-BE49-F238E27FC236}">
                  <a16:creationId xmlns:a16="http://schemas.microsoft.com/office/drawing/2014/main" id="{FDD62BA9-127B-257C-5F1C-871C9C070CBC}"/>
                </a:ext>
              </a:extLst>
            </p:cNvPr>
            <p:cNvSpPr txBox="1"/>
            <p:nvPr/>
          </p:nvSpPr>
          <p:spPr>
            <a:xfrm>
              <a:off x="2157525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Text</a:t>
              </a:r>
            </a:p>
          </p:txBody>
        </p:sp>
        <p:sp>
          <p:nvSpPr>
            <p:cNvPr id="74" name="Textfeld 73">
              <a:extLst>
                <a:ext uri="{FF2B5EF4-FFF2-40B4-BE49-F238E27FC236}">
                  <a16:creationId xmlns:a16="http://schemas.microsoft.com/office/drawing/2014/main" id="{DC419B7E-6D07-599A-69A4-3C9DF3D42B39}"/>
                </a:ext>
              </a:extLst>
            </p:cNvPr>
            <p:cNvSpPr txBox="1"/>
            <p:nvPr/>
          </p:nvSpPr>
          <p:spPr>
            <a:xfrm>
              <a:off x="4623071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Text</a:t>
              </a:r>
            </a:p>
          </p:txBody>
        </p:sp>
        <p:sp>
          <p:nvSpPr>
            <p:cNvPr id="75" name="Textfeld 74">
              <a:extLst>
                <a:ext uri="{FF2B5EF4-FFF2-40B4-BE49-F238E27FC236}">
                  <a16:creationId xmlns:a16="http://schemas.microsoft.com/office/drawing/2014/main" id="{E46D7D0E-B7D3-D20E-A564-09D25C896B7E}"/>
                </a:ext>
              </a:extLst>
            </p:cNvPr>
            <p:cNvSpPr txBox="1"/>
            <p:nvPr/>
          </p:nvSpPr>
          <p:spPr>
            <a:xfrm>
              <a:off x="7088617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Text</a:t>
              </a:r>
            </a:p>
          </p:txBody>
        </p:sp>
        <p:sp>
          <p:nvSpPr>
            <p:cNvPr id="76" name="Textfeld 75">
              <a:extLst>
                <a:ext uri="{FF2B5EF4-FFF2-40B4-BE49-F238E27FC236}">
                  <a16:creationId xmlns:a16="http://schemas.microsoft.com/office/drawing/2014/main" id="{E57CC22B-DE01-A986-4398-644F7F7ECA68}"/>
                </a:ext>
              </a:extLst>
            </p:cNvPr>
            <p:cNvSpPr txBox="1"/>
            <p:nvPr/>
          </p:nvSpPr>
          <p:spPr>
            <a:xfrm>
              <a:off x="9560620" y="2118799"/>
              <a:ext cx="2444135" cy="44319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err="1"/>
                <a:t>SaKo</a:t>
              </a:r>
              <a:r>
                <a:rPr lang="en-US" sz="1600"/>
                <a:t> 2026 </a:t>
              </a:r>
              <a:br>
                <a:rPr lang="en-US" sz="1600"/>
              </a:br>
              <a:r>
                <a:rPr lang="en-US" sz="1600"/>
                <a:t>ca. 28.8 MEUR</a:t>
              </a:r>
            </a:p>
          </p:txBody>
        </p:sp>
      </p:grpSp>
      <p:grpSp>
        <p:nvGrpSpPr>
          <p:cNvPr id="77" name="Gruppieren 76">
            <a:extLst>
              <a:ext uri="{FF2B5EF4-FFF2-40B4-BE49-F238E27FC236}">
                <a16:creationId xmlns:a16="http://schemas.microsoft.com/office/drawing/2014/main" id="{E1E95F99-5FF2-1143-378C-7398F08F04AF}"/>
              </a:ext>
            </a:extLst>
          </p:cNvPr>
          <p:cNvGrpSpPr/>
          <p:nvPr/>
        </p:nvGrpSpPr>
        <p:grpSpPr>
          <a:xfrm>
            <a:off x="479426" y="3598221"/>
            <a:ext cx="11230941" cy="0"/>
            <a:chOff x="479426" y="1912678"/>
            <a:chExt cx="11230941" cy="0"/>
          </a:xfrm>
        </p:grpSpPr>
        <p:cxnSp>
          <p:nvCxnSpPr>
            <p:cNvPr id="78" name="Gerader Verbinder 77">
              <a:extLst>
                <a:ext uri="{FF2B5EF4-FFF2-40B4-BE49-F238E27FC236}">
                  <a16:creationId xmlns:a16="http://schemas.microsoft.com/office/drawing/2014/main" id="{E28D3D2B-1F15-B5EF-7A06-E0F87263D6EB}"/>
                </a:ext>
              </a:extLst>
            </p:cNvPr>
            <p:cNvCxnSpPr/>
            <p:nvPr/>
          </p:nvCxnSpPr>
          <p:spPr>
            <a:xfrm>
              <a:off x="2157525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Gerader Verbinder 78">
              <a:extLst>
                <a:ext uri="{FF2B5EF4-FFF2-40B4-BE49-F238E27FC236}">
                  <a16:creationId xmlns:a16="http://schemas.microsoft.com/office/drawing/2014/main" id="{C28E5327-8836-B260-9920-EBA23214CBF9}"/>
                </a:ext>
              </a:extLst>
            </p:cNvPr>
            <p:cNvCxnSpPr/>
            <p:nvPr/>
          </p:nvCxnSpPr>
          <p:spPr>
            <a:xfrm>
              <a:off x="4623071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Gerader Verbinder 79">
              <a:extLst>
                <a:ext uri="{FF2B5EF4-FFF2-40B4-BE49-F238E27FC236}">
                  <a16:creationId xmlns:a16="http://schemas.microsoft.com/office/drawing/2014/main" id="{A194BC98-4B01-B3DB-A760-13CB4F6797D6}"/>
                </a:ext>
              </a:extLst>
            </p:cNvPr>
            <p:cNvCxnSpPr/>
            <p:nvPr/>
          </p:nvCxnSpPr>
          <p:spPr>
            <a:xfrm>
              <a:off x="7088617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Gerader Verbinder 80">
              <a:extLst>
                <a:ext uri="{FF2B5EF4-FFF2-40B4-BE49-F238E27FC236}">
                  <a16:creationId xmlns:a16="http://schemas.microsoft.com/office/drawing/2014/main" id="{A49C8C19-9C85-2610-06B9-B3273E8F51B9}"/>
                </a:ext>
              </a:extLst>
            </p:cNvPr>
            <p:cNvCxnSpPr/>
            <p:nvPr/>
          </p:nvCxnSpPr>
          <p:spPr>
            <a:xfrm>
              <a:off x="9554163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Gerader Verbinder 81">
              <a:extLst>
                <a:ext uri="{FF2B5EF4-FFF2-40B4-BE49-F238E27FC236}">
                  <a16:creationId xmlns:a16="http://schemas.microsoft.com/office/drawing/2014/main" id="{E06CCB89-C240-9BE3-0CD1-D240556C6635}"/>
                </a:ext>
              </a:extLst>
            </p:cNvPr>
            <p:cNvCxnSpPr/>
            <p:nvPr/>
          </p:nvCxnSpPr>
          <p:spPr>
            <a:xfrm>
              <a:off x="479426" y="1912678"/>
              <a:ext cx="1393200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4" name="Textfeld 83">
            <a:extLst>
              <a:ext uri="{FF2B5EF4-FFF2-40B4-BE49-F238E27FC236}">
                <a16:creationId xmlns:a16="http://schemas.microsoft.com/office/drawing/2014/main" id="{4F8D12B0-EDEE-EEA5-8B82-D2368CF7431F}"/>
              </a:ext>
            </a:extLst>
          </p:cNvPr>
          <p:cNvSpPr txBox="1"/>
          <p:nvPr/>
        </p:nvSpPr>
        <p:spPr>
          <a:xfrm>
            <a:off x="479427" y="3824146"/>
            <a:ext cx="1393824" cy="2215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/>
              <a:t>Software</a:t>
            </a:r>
          </a:p>
        </p:txBody>
      </p:sp>
      <p:sp>
        <p:nvSpPr>
          <p:cNvPr id="88" name="Textfeld 87">
            <a:extLst>
              <a:ext uri="{FF2B5EF4-FFF2-40B4-BE49-F238E27FC236}">
                <a16:creationId xmlns:a16="http://schemas.microsoft.com/office/drawing/2014/main" id="{59CAB9DF-CCC8-9464-42A6-43267AD7BBB1}"/>
              </a:ext>
            </a:extLst>
          </p:cNvPr>
          <p:cNvSpPr txBox="1"/>
          <p:nvPr/>
        </p:nvSpPr>
        <p:spPr>
          <a:xfrm>
            <a:off x="9554163" y="3824146"/>
            <a:ext cx="2160000" cy="2215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/>
              <a:t>Text</a:t>
            </a:r>
          </a:p>
        </p:txBody>
      </p:sp>
      <p:grpSp>
        <p:nvGrpSpPr>
          <p:cNvPr id="92" name="Gruppieren 91">
            <a:extLst>
              <a:ext uri="{FF2B5EF4-FFF2-40B4-BE49-F238E27FC236}">
                <a16:creationId xmlns:a16="http://schemas.microsoft.com/office/drawing/2014/main" id="{FAB03DE3-B3A0-7076-B507-179F79B7F73D}"/>
              </a:ext>
            </a:extLst>
          </p:cNvPr>
          <p:cNvGrpSpPr/>
          <p:nvPr/>
        </p:nvGrpSpPr>
        <p:grpSpPr>
          <a:xfrm>
            <a:off x="477838" y="4578350"/>
            <a:ext cx="11232529" cy="763588"/>
            <a:chOff x="477838" y="4191000"/>
            <a:chExt cx="11232529" cy="763588"/>
          </a:xfrm>
        </p:grpSpPr>
        <p:sp>
          <p:nvSpPr>
            <p:cNvPr id="89" name="Rechteck 88">
              <a:extLst>
                <a:ext uri="{FF2B5EF4-FFF2-40B4-BE49-F238E27FC236}">
                  <a16:creationId xmlns:a16="http://schemas.microsoft.com/office/drawing/2014/main" id="{FF7E29F0-E4FF-38BC-524D-018A173E4907}"/>
                </a:ext>
              </a:extLst>
            </p:cNvPr>
            <p:cNvSpPr/>
            <p:nvPr/>
          </p:nvSpPr>
          <p:spPr>
            <a:xfrm>
              <a:off x="477838" y="4191000"/>
              <a:ext cx="11232529" cy="76358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lnSpc>
                  <a:spcPct val="90000"/>
                </a:lnSpc>
              </a:pPr>
              <a:endParaRPr lang="en-US" sz="1600" b="1">
                <a:solidFill>
                  <a:schemeClr val="tx1"/>
                </a:solidFill>
              </a:endParaRPr>
            </a:p>
          </p:txBody>
        </p:sp>
        <p:sp>
          <p:nvSpPr>
            <p:cNvPr id="90" name="Title1515">
              <a:extLst>
                <a:ext uri="{FF2B5EF4-FFF2-40B4-BE49-F238E27FC236}">
                  <a16:creationId xmlns:a16="http://schemas.microsoft.com/office/drawing/2014/main" id="{CF21D1A9-1DF6-611C-2E66-1943859F6AD7}"/>
                </a:ext>
              </a:extLst>
            </p:cNvPr>
            <p:cNvSpPr txBox="1"/>
            <p:nvPr/>
          </p:nvSpPr>
          <p:spPr>
            <a:xfrm>
              <a:off x="857935" y="4308397"/>
              <a:ext cx="1833990" cy="528794"/>
            </a:xfrm>
            <a:prstGeom prst="rect">
              <a:avLst/>
            </a:prstGeom>
            <a:noFill/>
          </p:spPr>
          <p:txBody>
            <a:bodyPr vert="horz" wrap="square" lIns="0" tIns="0" rIns="0" bIns="36000" rtlCol="0" anchor="b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600" b="1">
                  <a:solidFill>
                    <a:srgbClr val="000000"/>
                  </a:solidFill>
                  <a:latin typeface="STIHL Contraface Display Title" panose="02000600040000020004" pitchFamily="2" charset="0"/>
                </a:rPr>
                <a:t>IT-Demand</a:t>
              </a:r>
              <a:r>
                <a:rPr kumimoji="0" lang="de-DE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TIHL Contraface Display Title" panose="02000600040000020004" pitchFamily="2" charset="0"/>
                </a:rPr>
                <a:t>-</a:t>
              </a:r>
              <a:r>
                <a:rPr kumimoji="0" lang="de-DE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TIHL Contraface Display Medium" panose="02000603040000020004" pitchFamily="2" charset="0"/>
                </a:rPr>
                <a:t>Management</a:t>
              </a:r>
              <a:endParaRPr kumimoji="0" lang="de-DE" sz="1600" b="1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IHL Contraface Display Medium" panose="02000603040000020004" pitchFamily="2" charset="0"/>
              </a:endParaRPr>
            </a:p>
          </p:txBody>
        </p:sp>
        <p:sp>
          <p:nvSpPr>
            <p:cNvPr id="91" name="Rechteck 90">
              <a:extLst>
                <a:ext uri="{FF2B5EF4-FFF2-40B4-BE49-F238E27FC236}">
                  <a16:creationId xmlns:a16="http://schemas.microsoft.com/office/drawing/2014/main" id="{4EE8BE49-CA1E-FFCE-FB23-3AD3C2845133}"/>
                </a:ext>
              </a:extLst>
            </p:cNvPr>
            <p:cNvSpPr/>
            <p:nvPr/>
          </p:nvSpPr>
          <p:spPr>
            <a:xfrm>
              <a:off x="537881" y="4325975"/>
              <a:ext cx="200963" cy="493639"/>
            </a:xfrm>
            <a:prstGeom prst="rect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400" b="1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97" name="Gruppieren 96">
            <a:extLst>
              <a:ext uri="{FF2B5EF4-FFF2-40B4-BE49-F238E27FC236}">
                <a16:creationId xmlns:a16="http://schemas.microsoft.com/office/drawing/2014/main" id="{AB2E3073-95D1-36A2-8625-F6AD93A35915}"/>
              </a:ext>
            </a:extLst>
          </p:cNvPr>
          <p:cNvGrpSpPr/>
          <p:nvPr/>
        </p:nvGrpSpPr>
        <p:grpSpPr>
          <a:xfrm>
            <a:off x="477838" y="5498232"/>
            <a:ext cx="11232529" cy="763588"/>
            <a:chOff x="477838" y="5110882"/>
            <a:chExt cx="11232529" cy="763588"/>
          </a:xfrm>
        </p:grpSpPr>
        <p:sp>
          <p:nvSpPr>
            <p:cNvPr id="94" name="Rechteck 93">
              <a:extLst>
                <a:ext uri="{FF2B5EF4-FFF2-40B4-BE49-F238E27FC236}">
                  <a16:creationId xmlns:a16="http://schemas.microsoft.com/office/drawing/2014/main" id="{2424E087-444F-6123-1274-DFF9FFEA7545}"/>
                </a:ext>
              </a:extLst>
            </p:cNvPr>
            <p:cNvSpPr/>
            <p:nvPr/>
          </p:nvSpPr>
          <p:spPr>
            <a:xfrm>
              <a:off x="477838" y="5110882"/>
              <a:ext cx="11232529" cy="76358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lnSpc>
                  <a:spcPct val="90000"/>
                </a:lnSpc>
              </a:pPr>
              <a:endParaRPr lang="en-US" sz="1600" b="1">
                <a:solidFill>
                  <a:schemeClr val="tx1"/>
                </a:solidFill>
              </a:endParaRPr>
            </a:p>
          </p:txBody>
        </p:sp>
        <p:sp>
          <p:nvSpPr>
            <p:cNvPr id="95" name="Title1515">
              <a:extLst>
                <a:ext uri="{FF2B5EF4-FFF2-40B4-BE49-F238E27FC236}">
                  <a16:creationId xmlns:a16="http://schemas.microsoft.com/office/drawing/2014/main" id="{B55ADC19-02C7-165C-6F5E-28A38DB90901}"/>
                </a:ext>
              </a:extLst>
            </p:cNvPr>
            <p:cNvSpPr txBox="1"/>
            <p:nvPr/>
          </p:nvSpPr>
          <p:spPr>
            <a:xfrm>
              <a:off x="857935" y="5351390"/>
              <a:ext cx="1833990" cy="282573"/>
            </a:xfrm>
            <a:prstGeom prst="rect">
              <a:avLst/>
            </a:prstGeom>
            <a:noFill/>
          </p:spPr>
          <p:txBody>
            <a:bodyPr vert="horz" wrap="square" lIns="0" tIns="0" rIns="0" bIns="36000" rtlCol="0" anchor="b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600" b="1">
                  <a:solidFill>
                    <a:srgbClr val="000000"/>
                  </a:solidFill>
                  <a:latin typeface="STIHL Contraface Display Title" panose="02000600040000020004" pitchFamily="2" charset="0"/>
                </a:rPr>
                <a:t>EV</a:t>
              </a:r>
              <a:r>
                <a:rPr kumimoji="0" lang="de-DE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TIHL Contraface Display Title" panose="02000600040000020004" pitchFamily="2" charset="0"/>
                </a:rPr>
                <a:t>-</a:t>
              </a:r>
              <a:r>
                <a:rPr kumimoji="0" lang="de-DE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TIHL Contraface Display Medium" panose="02000603040000020004" pitchFamily="2" charset="0"/>
                </a:rPr>
                <a:t>Prozess</a:t>
              </a:r>
              <a:endParaRPr kumimoji="0" lang="de-DE" sz="1600" b="1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IHL Contraface Display Medium" panose="02000603040000020004" pitchFamily="2" charset="0"/>
              </a:endParaRPr>
            </a:p>
          </p:txBody>
        </p:sp>
        <p:sp>
          <p:nvSpPr>
            <p:cNvPr id="96" name="Rechteck 95">
              <a:extLst>
                <a:ext uri="{FF2B5EF4-FFF2-40B4-BE49-F238E27FC236}">
                  <a16:creationId xmlns:a16="http://schemas.microsoft.com/office/drawing/2014/main" id="{37A168F3-F8A1-E6E7-CA1B-11D9DF0EE8CB}"/>
                </a:ext>
              </a:extLst>
            </p:cNvPr>
            <p:cNvSpPr/>
            <p:nvPr/>
          </p:nvSpPr>
          <p:spPr>
            <a:xfrm>
              <a:off x="537881" y="5245857"/>
              <a:ext cx="200963" cy="493639"/>
            </a:xfrm>
            <a:prstGeom prst="rect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400" b="1">
                  <a:solidFill>
                    <a:schemeClr val="bg1"/>
                  </a:solidFill>
                </a:rPr>
                <a:t>6</a:t>
              </a:r>
            </a:p>
          </p:txBody>
        </p:sp>
      </p:grpSp>
      <p:pic>
        <p:nvPicPr>
          <p:cNvPr id="98" name="Grafik 97">
            <a:extLst>
              <a:ext uri="{FF2B5EF4-FFF2-40B4-BE49-F238E27FC236}">
                <a16:creationId xmlns:a16="http://schemas.microsoft.com/office/drawing/2014/main" id="{E95D7DF7-D2A1-9422-1CA6-F54D752DB2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35861" y="4845050"/>
            <a:ext cx="1277833" cy="242242"/>
          </a:xfrm>
          <a:prstGeom prst="rect">
            <a:avLst/>
          </a:prstGeom>
        </p:spPr>
      </p:pic>
      <p:pic>
        <p:nvPicPr>
          <p:cNvPr id="105" name="Grafik 104">
            <a:extLst>
              <a:ext uri="{FF2B5EF4-FFF2-40B4-BE49-F238E27FC236}">
                <a16:creationId xmlns:a16="http://schemas.microsoft.com/office/drawing/2014/main" id="{2A9FF052-C809-EF3D-2098-D454FE9F956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63178" y="3760290"/>
            <a:ext cx="1251210" cy="405367"/>
          </a:xfrm>
          <a:prstGeom prst="rect">
            <a:avLst/>
          </a:prstGeom>
        </p:spPr>
      </p:pic>
      <p:pic>
        <p:nvPicPr>
          <p:cNvPr id="106" name="Grafik 105">
            <a:extLst>
              <a:ext uri="{FF2B5EF4-FFF2-40B4-BE49-F238E27FC236}">
                <a16:creationId xmlns:a16="http://schemas.microsoft.com/office/drawing/2014/main" id="{051E9107-62F5-DC91-4AAB-B7713B68473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63177" y="4114014"/>
            <a:ext cx="1191923" cy="342412"/>
          </a:xfrm>
          <a:prstGeom prst="rect">
            <a:avLst/>
          </a:prstGeom>
        </p:spPr>
      </p:pic>
      <p:pic>
        <p:nvPicPr>
          <p:cNvPr id="107" name="Grafik 106" descr="Lucom GmbH | LinkedIn">
            <a:extLst>
              <a:ext uri="{FF2B5EF4-FFF2-40B4-BE49-F238E27FC236}">
                <a16:creationId xmlns:a16="http://schemas.microsoft.com/office/drawing/2014/main" id="{4061ABA9-11AF-4C48-A082-9BCE50B414A7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32405" b="32405"/>
          <a:stretch>
            <a:fillRect/>
          </a:stretch>
        </p:blipFill>
        <p:spPr>
          <a:xfrm>
            <a:off x="10215358" y="5631498"/>
            <a:ext cx="1298336" cy="45688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63F4850-6080-D449-EE47-AE70F87D13E0}"/>
              </a:ext>
            </a:extLst>
          </p:cNvPr>
          <p:cNvSpPr txBox="1"/>
          <p:nvPr/>
        </p:nvSpPr>
        <p:spPr>
          <a:xfrm>
            <a:off x="2178797" y="2980331"/>
            <a:ext cx="2153543" cy="479550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Angefragt</a:t>
            </a:r>
            <a:r>
              <a:rPr lang="en-US" sz="1600"/>
              <a:t> </a:t>
            </a:r>
            <a:r>
              <a:rPr lang="en-US" sz="1600" err="1"/>
              <a:t>bei</a:t>
            </a:r>
            <a:r>
              <a:rPr lang="en-US" sz="1600"/>
              <a:t> Christian Zimmermann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87A7CC-CDBE-8762-628B-30F457A1A248}"/>
              </a:ext>
            </a:extLst>
          </p:cNvPr>
          <p:cNvSpPr txBox="1"/>
          <p:nvPr/>
        </p:nvSpPr>
        <p:spPr>
          <a:xfrm>
            <a:off x="4644343" y="3073967"/>
            <a:ext cx="4436615" cy="257951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/>
              <a:t>Angefragt </a:t>
            </a:r>
            <a:r>
              <a:rPr lang="en-US" sz="1600" err="1"/>
              <a:t>bei</a:t>
            </a:r>
            <a:r>
              <a:rPr lang="en-US" sz="1600"/>
              <a:t> Thomas Erb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158E8E1-8BF7-ACA1-8572-0612F25A14B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78797" y="3725395"/>
            <a:ext cx="1238250" cy="419100"/>
          </a:xfrm>
          <a:prstGeom prst="rect">
            <a:avLst/>
          </a:prstGeom>
        </p:spPr>
      </p:pic>
      <p:sp>
        <p:nvSpPr>
          <p:cNvPr id="85" name="Textfeld 84">
            <a:extLst>
              <a:ext uri="{FF2B5EF4-FFF2-40B4-BE49-F238E27FC236}">
                <a16:creationId xmlns:a16="http://schemas.microsoft.com/office/drawing/2014/main" id="{CF4028A1-5DEE-E253-8CCB-640AC538E90E}"/>
              </a:ext>
            </a:extLst>
          </p:cNvPr>
          <p:cNvSpPr txBox="1"/>
          <p:nvPr/>
        </p:nvSpPr>
        <p:spPr>
          <a:xfrm>
            <a:off x="2483535" y="4084142"/>
            <a:ext cx="1350238" cy="1384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000"/>
              <a:t>PIT </a:t>
            </a:r>
            <a:r>
              <a:rPr lang="en-US" sz="1000" err="1"/>
              <a:t>Produktivsystem</a:t>
            </a:r>
            <a:endParaRPr lang="en-US" sz="100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196715C-6693-BFB3-6778-C3383F243F4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32390" y="3722880"/>
            <a:ext cx="1238250" cy="419100"/>
          </a:xfrm>
          <a:prstGeom prst="rect">
            <a:avLst/>
          </a:prstGeom>
        </p:spPr>
      </p:pic>
      <p:sp>
        <p:nvSpPr>
          <p:cNvPr id="12" name="Textfeld 84">
            <a:extLst>
              <a:ext uri="{FF2B5EF4-FFF2-40B4-BE49-F238E27FC236}">
                <a16:creationId xmlns:a16="http://schemas.microsoft.com/office/drawing/2014/main" id="{D8D3912D-3278-9D69-AA49-5F9CB6F48077}"/>
              </a:ext>
            </a:extLst>
          </p:cNvPr>
          <p:cNvSpPr txBox="1"/>
          <p:nvPr/>
        </p:nvSpPr>
        <p:spPr>
          <a:xfrm>
            <a:off x="4937128" y="4081627"/>
            <a:ext cx="1350238" cy="1384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000"/>
              <a:t>PIT </a:t>
            </a:r>
            <a:r>
              <a:rPr lang="en-US" sz="1000" err="1"/>
              <a:t>Produktivsystem</a:t>
            </a:r>
            <a:endParaRPr lang="en-US" sz="100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EEB7164-4932-C0D0-85F4-801502CBFDD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00570" y="3722880"/>
            <a:ext cx="1238250" cy="419100"/>
          </a:xfrm>
          <a:prstGeom prst="rect">
            <a:avLst/>
          </a:prstGeom>
        </p:spPr>
      </p:pic>
      <p:sp>
        <p:nvSpPr>
          <p:cNvPr id="14" name="Textfeld 84">
            <a:extLst>
              <a:ext uri="{FF2B5EF4-FFF2-40B4-BE49-F238E27FC236}">
                <a16:creationId xmlns:a16="http://schemas.microsoft.com/office/drawing/2014/main" id="{C6B0692E-6204-A916-ACEB-7D9385F2898F}"/>
              </a:ext>
            </a:extLst>
          </p:cNvPr>
          <p:cNvSpPr txBox="1"/>
          <p:nvPr/>
        </p:nvSpPr>
        <p:spPr>
          <a:xfrm>
            <a:off x="7405308" y="4081627"/>
            <a:ext cx="1350238" cy="1384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000"/>
              <a:t>PIT </a:t>
            </a:r>
            <a:r>
              <a:rPr lang="en-US" sz="1000" err="1"/>
              <a:t>Produktivsystem</a:t>
            </a:r>
            <a:endParaRPr lang="en-US" sz="100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DED2547-1825-647D-D3E7-7A451AB918A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33520" y="3660321"/>
            <a:ext cx="1238250" cy="419100"/>
          </a:xfrm>
          <a:prstGeom prst="rect">
            <a:avLst/>
          </a:prstGeom>
        </p:spPr>
      </p:pic>
      <p:sp>
        <p:nvSpPr>
          <p:cNvPr id="16" name="Textfeld 84">
            <a:extLst>
              <a:ext uri="{FF2B5EF4-FFF2-40B4-BE49-F238E27FC236}">
                <a16:creationId xmlns:a16="http://schemas.microsoft.com/office/drawing/2014/main" id="{CFE73DC9-29C2-5D8D-5401-C06507B864B9}"/>
              </a:ext>
            </a:extLst>
          </p:cNvPr>
          <p:cNvSpPr txBox="1"/>
          <p:nvPr/>
        </p:nvSpPr>
        <p:spPr>
          <a:xfrm>
            <a:off x="10913677" y="4117391"/>
            <a:ext cx="1350238" cy="1384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000"/>
              <a:t>PIT </a:t>
            </a:r>
            <a:r>
              <a:rPr lang="en-US" sz="1000" err="1"/>
              <a:t>Produktivsystem</a:t>
            </a:r>
            <a:endParaRPr lang="en-US" sz="10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9E8709D-70FA-36D3-56C2-B2B077F6B07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68000" y="3760838"/>
            <a:ext cx="1339646" cy="136422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62682FE-AA5B-9160-DC83-2D7C97355BD2}"/>
              </a:ext>
            </a:extLst>
          </p:cNvPr>
          <p:cNvSpPr txBox="1"/>
          <p:nvPr/>
        </p:nvSpPr>
        <p:spPr>
          <a:xfrm>
            <a:off x="9360151" y="463830"/>
            <a:ext cx="2153543" cy="922748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Sonderprojekte</a:t>
            </a:r>
            <a:r>
              <a:rPr lang="en-US" sz="1600"/>
              <a:t> in </a:t>
            </a:r>
            <a:r>
              <a:rPr lang="en-US" sz="1600" err="1"/>
              <a:t>Planung</a:t>
            </a:r>
            <a:r>
              <a:rPr lang="en-US" sz="1600"/>
              <a:t> </a:t>
            </a:r>
            <a:r>
              <a:rPr lang="en-US" sz="1600" err="1"/>
              <a:t>oder</a:t>
            </a:r>
            <a:r>
              <a:rPr lang="en-US" sz="1600"/>
              <a:t> in </a:t>
            </a:r>
            <a:r>
              <a:rPr lang="en-US" sz="1600" err="1"/>
              <a:t>Umsetzung</a:t>
            </a:r>
            <a:r>
              <a:rPr lang="en-US" sz="1600"/>
              <a:t> (</a:t>
            </a:r>
            <a:r>
              <a:rPr lang="en-US" sz="1600" err="1"/>
              <a:t>basierend</a:t>
            </a:r>
            <a:r>
              <a:rPr lang="en-US" sz="1600"/>
              <a:t> auf SAP und EV)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E19A4E3-A7AB-8A93-0D00-ED5DF7319E1F}"/>
              </a:ext>
            </a:extLst>
          </p:cNvPr>
          <p:cNvSpPr txBox="1"/>
          <p:nvPr/>
        </p:nvSpPr>
        <p:spPr>
          <a:xfrm>
            <a:off x="110419" y="4248252"/>
            <a:ext cx="2153543" cy="257951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Zusatzzeile</a:t>
            </a:r>
            <a:r>
              <a:rPr lang="en-US" sz="1600"/>
              <a:t>: </a:t>
            </a:r>
            <a:r>
              <a:rPr lang="en-US" sz="1600" err="1"/>
              <a:t>Anzahl</a:t>
            </a:r>
            <a:r>
              <a:rPr lang="en-US" sz="1600"/>
              <a:t> User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CD62EE4-C89A-1174-E226-C33DECCB904F}"/>
              </a:ext>
            </a:extLst>
          </p:cNvPr>
          <p:cNvSpPr txBox="1"/>
          <p:nvPr/>
        </p:nvSpPr>
        <p:spPr>
          <a:xfrm>
            <a:off x="3007615" y="4285220"/>
            <a:ext cx="2153543" cy="1246939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è"/>
            </a:pPr>
            <a:r>
              <a:rPr lang="en-US" sz="1600">
                <a:sym typeface="Wingdings" panose="05000000000000000000" pitchFamily="2" charset="2"/>
              </a:rPr>
              <a:t>4.400 PIT </a:t>
            </a:r>
            <a:r>
              <a:rPr lang="en-US" sz="1600" err="1">
                <a:sym typeface="Wingdings" panose="05000000000000000000" pitchFamily="2" charset="2"/>
              </a:rPr>
              <a:t>davon</a:t>
            </a:r>
            <a:r>
              <a:rPr lang="en-US" sz="1600">
                <a:sym typeface="Wingdings" panose="05000000000000000000" pitchFamily="2" charset="2"/>
              </a:rPr>
              <a:t> 200 IT</a:t>
            </a:r>
          </a:p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è"/>
            </a:pPr>
            <a:r>
              <a:rPr lang="en-US" sz="1600">
                <a:sym typeface="Wingdings" panose="05000000000000000000" pitchFamily="2" charset="2"/>
              </a:rPr>
              <a:t>600 MSPO (IT und BR)</a:t>
            </a:r>
          </a:p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è"/>
            </a:pPr>
            <a:r>
              <a:rPr lang="en-US" sz="1600">
                <a:sym typeface="Wingdings" panose="05000000000000000000" pitchFamily="2" charset="2"/>
              </a:rPr>
              <a:t>300 </a:t>
            </a:r>
            <a:r>
              <a:rPr lang="en-US" sz="1600" err="1">
                <a:sym typeface="Wingdings" panose="05000000000000000000" pitchFamily="2" charset="2"/>
              </a:rPr>
              <a:t>PowerApp</a:t>
            </a:r>
            <a:endParaRPr lang="en-US" sz="16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F2D8241-226C-DA03-0C55-CE720CE37234}"/>
              </a:ext>
            </a:extLst>
          </p:cNvPr>
          <p:cNvSpPr txBox="1"/>
          <p:nvPr/>
        </p:nvSpPr>
        <p:spPr>
          <a:xfrm>
            <a:off x="500667" y="795393"/>
            <a:ext cx="2153543" cy="922748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Differenzierung</a:t>
            </a:r>
            <a:r>
              <a:rPr lang="en-US" sz="1600"/>
              <a:t> </a:t>
            </a:r>
            <a:r>
              <a:rPr lang="en-US" sz="1600" err="1"/>
              <a:t>Projektmanagement</a:t>
            </a:r>
            <a:r>
              <a:rPr lang="en-US" sz="1600"/>
              <a:t> und </a:t>
            </a:r>
            <a:r>
              <a:rPr lang="en-US" sz="1600" err="1"/>
              <a:t>Portfoliomanagement</a:t>
            </a:r>
            <a:r>
              <a:rPr lang="en-US" sz="1600"/>
              <a:t>!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F7D551-149E-89DE-D995-52B322254399}"/>
              </a:ext>
            </a:extLst>
          </p:cNvPr>
          <p:cNvSpPr txBox="1"/>
          <p:nvPr/>
        </p:nvSpPr>
        <p:spPr>
          <a:xfrm>
            <a:off x="6040680" y="4831168"/>
            <a:ext cx="3040278" cy="257951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Aufgliederung</a:t>
            </a:r>
            <a:r>
              <a:rPr lang="en-US" sz="1600"/>
              <a:t> </a:t>
            </a:r>
            <a:r>
              <a:rPr lang="en-US" sz="1600" err="1"/>
              <a:t>nach</a:t>
            </a:r>
            <a:r>
              <a:rPr lang="en-US" sz="1600"/>
              <a:t> </a:t>
            </a:r>
            <a:r>
              <a:rPr lang="en-US" sz="1600" err="1"/>
              <a:t>Ressorts</a:t>
            </a:r>
            <a:endParaRPr lang="en-US" sz="16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6637E41-398D-A976-A167-48CF31585CAE}"/>
              </a:ext>
            </a:extLst>
          </p:cNvPr>
          <p:cNvSpPr txBox="1"/>
          <p:nvPr/>
        </p:nvSpPr>
        <p:spPr>
          <a:xfrm>
            <a:off x="6094102" y="5770505"/>
            <a:ext cx="3040278" cy="479550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Aufgliederung</a:t>
            </a:r>
            <a:r>
              <a:rPr lang="en-US" sz="1600"/>
              <a:t> </a:t>
            </a:r>
            <a:r>
              <a:rPr lang="en-US" sz="1600" err="1"/>
              <a:t>nach</a:t>
            </a:r>
            <a:r>
              <a:rPr lang="en-US" sz="1600"/>
              <a:t> </a:t>
            </a:r>
            <a:r>
              <a:rPr lang="en-US" sz="1600" err="1"/>
              <a:t>Ressorts</a:t>
            </a:r>
            <a:r>
              <a:rPr lang="en-US" sz="1600"/>
              <a:t> – Projekt EV- </a:t>
            </a:r>
            <a:r>
              <a:rPr lang="en-US" sz="1600" err="1"/>
              <a:t>liefert</a:t>
            </a:r>
            <a:r>
              <a:rPr lang="en-US" sz="1600"/>
              <a:t> Sandra Keca </a:t>
            </a:r>
            <a:r>
              <a:rPr lang="en-US" sz="1600" err="1"/>
              <a:t>zu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27277074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138B683B-21DD-C0DE-3F0B-2D0D05E2576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323776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06" imgH="608" progId="TCLayout.ActiveDocument.1">
                  <p:embed/>
                </p:oleObj>
              </mc:Choice>
              <mc:Fallback>
                <p:oleObj name="think-cell Slide" r:id="rId3" imgW="606" imgH="608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38B683B-21DD-C0DE-3F0B-2D0D05E2576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4DB4122F-455F-4C06-E4F6-B22B5C90A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en-US"/>
              <a:t>Von der </a:t>
            </a:r>
            <a:r>
              <a:rPr lang="en-US" err="1"/>
              <a:t>Strategie</a:t>
            </a:r>
            <a:r>
              <a:rPr lang="en-US"/>
              <a:t> </a:t>
            </a:r>
            <a:r>
              <a:rPr lang="en-US" err="1"/>
              <a:t>zur</a:t>
            </a:r>
            <a:r>
              <a:rPr lang="en-US"/>
              <a:t> </a:t>
            </a:r>
            <a:r>
              <a:rPr lang="en-US" err="1"/>
              <a:t>Umsetzung</a:t>
            </a:r>
            <a:r>
              <a:rPr lang="en-US"/>
              <a:t> – Alternative </a:t>
            </a:r>
            <a:r>
              <a:rPr lang="en-US" err="1"/>
              <a:t>zu</a:t>
            </a:r>
            <a:r>
              <a:rPr lang="en-US"/>
              <a:t> Folie 3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02E2C1-53B3-260C-AD0B-816F2A7A653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414663-DD2A-0A5B-4BDD-43F8D1DA1C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967" y="1545104"/>
            <a:ext cx="4875245" cy="259691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DBBEA9B-EA89-9BFF-F986-75D1EBE13580}"/>
              </a:ext>
            </a:extLst>
          </p:cNvPr>
          <p:cNvSpPr txBox="1"/>
          <p:nvPr/>
        </p:nvSpPr>
        <p:spPr>
          <a:xfrm>
            <a:off x="6096000" y="1545104"/>
            <a:ext cx="4875245" cy="479550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Darstellung</a:t>
            </a:r>
            <a:r>
              <a:rPr lang="en-US" sz="1600"/>
              <a:t> des </a:t>
            </a:r>
            <a:r>
              <a:rPr lang="en-US" sz="1600" err="1"/>
              <a:t>Prozesses</a:t>
            </a:r>
            <a:r>
              <a:rPr lang="en-US" sz="1600"/>
              <a:t> in der </a:t>
            </a:r>
            <a:r>
              <a:rPr lang="en-US" sz="1600" err="1"/>
              <a:t>Tabellenform</a:t>
            </a:r>
            <a:r>
              <a:rPr lang="en-US" sz="1600"/>
              <a:t> </a:t>
            </a:r>
            <a:r>
              <a:rPr lang="en-US" sz="1600" err="1"/>
              <a:t>mit</a:t>
            </a:r>
            <a:r>
              <a:rPr lang="en-US" sz="1600"/>
              <a:t> Software und </a:t>
            </a:r>
            <a:r>
              <a:rPr lang="en-US" sz="1600" err="1"/>
              <a:t>Mengenangaben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13586131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A11A9-E2CD-6C66-1269-5F5D941F0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EFFDBAF-85F0-6612-2D08-2A8099F98E0F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16623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8" imgH="408" progId="TCLayout.ActiveDocument.1">
                  <p:embed/>
                </p:oleObj>
              </mc:Choice>
              <mc:Fallback>
                <p:oleObj name="think-cell Slide" r:id="rId3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EFFDBAF-85F0-6612-2D08-2A8099F98E0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2F77F361-B21B-1A43-53ED-0F1D1AF5D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DE" sz="2400"/>
              <a:t>Herausforderungen im Status Quo</a:t>
            </a:r>
            <a:endParaRPr lang="de-DE" b="0"/>
          </a:p>
        </p:txBody>
      </p: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108BC5A2-1D99-A6C2-8F54-DF1038A989A6}"/>
              </a:ext>
            </a:extLst>
          </p:cNvPr>
          <p:cNvGrpSpPr/>
          <p:nvPr/>
        </p:nvGrpSpPr>
        <p:grpSpPr>
          <a:xfrm>
            <a:off x="535528" y="1296926"/>
            <a:ext cx="3878565" cy="2539437"/>
            <a:chOff x="400276" y="1423040"/>
            <a:chExt cx="6815864" cy="4520560"/>
          </a:xfrm>
        </p:grpSpPr>
        <p:pic>
          <p:nvPicPr>
            <p:cNvPr id="6" name="Picture 2" descr="Ipad PNGs zum kostenlosen Download">
              <a:extLst>
                <a:ext uri="{FF2B5EF4-FFF2-40B4-BE49-F238E27FC236}">
                  <a16:creationId xmlns:a16="http://schemas.microsoft.com/office/drawing/2014/main" id="{88601911-0384-C0B0-3F65-AFD6067FE95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961" t="1884" r="13961" b="1884"/>
            <a:stretch>
              <a:fillRect/>
            </a:stretch>
          </p:blipFill>
          <p:spPr bwMode="auto">
            <a:xfrm rot="16200000">
              <a:off x="1547928" y="275388"/>
              <a:ext cx="4520560" cy="68158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Grafik 4">
              <a:extLst>
                <a:ext uri="{FF2B5EF4-FFF2-40B4-BE49-F238E27FC236}">
                  <a16:creationId xmlns:a16="http://schemas.microsoft.com/office/drawing/2014/main" id="{70F22F91-45E0-C55F-8F04-2F70DBC455E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69745" y="1761817"/>
              <a:ext cx="6095875" cy="3863672"/>
            </a:xfrm>
            <a:prstGeom prst="rect">
              <a:avLst/>
            </a:prstGeom>
          </p:spPr>
        </p:pic>
      </p:grp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EBA77F6A-22B9-0C75-B9FB-6B212B459230}"/>
              </a:ext>
            </a:extLst>
          </p:cNvPr>
          <p:cNvGrpSpPr/>
          <p:nvPr/>
        </p:nvGrpSpPr>
        <p:grpSpPr>
          <a:xfrm>
            <a:off x="7768082" y="1772469"/>
            <a:ext cx="3940843" cy="747897"/>
            <a:chOff x="7768082" y="1772469"/>
            <a:chExt cx="3940843" cy="747897"/>
          </a:xfrm>
        </p:grpSpPr>
        <p:grpSp>
          <p:nvGrpSpPr>
            <p:cNvPr id="14" name="Gruppieren 13">
              <a:extLst>
                <a:ext uri="{FF2B5EF4-FFF2-40B4-BE49-F238E27FC236}">
                  <a16:creationId xmlns:a16="http://schemas.microsoft.com/office/drawing/2014/main" id="{0521DDB4-BC15-9C32-6FF4-37D1B35AAC18}"/>
                </a:ext>
              </a:extLst>
            </p:cNvPr>
            <p:cNvGrpSpPr/>
            <p:nvPr/>
          </p:nvGrpSpPr>
          <p:grpSpPr>
            <a:xfrm>
              <a:off x="7768082" y="1954397"/>
              <a:ext cx="384037" cy="384037"/>
              <a:chOff x="9742942" y="3484588"/>
              <a:chExt cx="384037" cy="384037"/>
            </a:xfrm>
          </p:grpSpPr>
          <p:sp>
            <p:nvSpPr>
              <p:cNvPr id="13" name="HarveyBase">
                <a:extLst>
                  <a:ext uri="{FF2B5EF4-FFF2-40B4-BE49-F238E27FC236}">
                    <a16:creationId xmlns:a16="http://schemas.microsoft.com/office/drawing/2014/main" id="{AD5486F1-FB88-A03E-0A40-6F7203D5AB9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742942" y="3484588"/>
                <a:ext cx="384037" cy="384037"/>
              </a:xfrm>
              <a:prstGeom prst="ellipse">
                <a:avLst/>
              </a:prstGeom>
              <a:solidFill>
                <a:srgbClr val="C00000"/>
              </a:solidFill>
              <a:ln w="12700" cmpd="sng">
                <a:solidFill>
                  <a:srgbClr val="C00000"/>
                </a:solidFill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:endParaRPr lang="de-DE" b="0">
                  <a:latin typeface="+mn-lt"/>
                  <a:cs typeface="Arial" pitchFamily="34" charset="0"/>
                </a:endParaRPr>
              </a:p>
            </p:txBody>
          </p:sp>
          <p:sp>
            <p:nvSpPr>
              <p:cNvPr id="9" name="Freeform 236">
                <a:extLst>
                  <a:ext uri="{FF2B5EF4-FFF2-40B4-BE49-F238E27FC236}">
                    <a16:creationId xmlns:a16="http://schemas.microsoft.com/office/drawing/2014/main" id="{DE79A149-C1BB-7240-EBFE-9D231B158918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9853725" y="3535458"/>
                <a:ext cx="162470" cy="282297"/>
              </a:xfrm>
              <a:custGeom>
                <a:avLst/>
                <a:gdLst>
                  <a:gd name="T0" fmla="*/ 1915 w 4131"/>
                  <a:gd name="T1" fmla="*/ 0 h 7179"/>
                  <a:gd name="T2" fmla="*/ 4131 w 4131"/>
                  <a:gd name="T3" fmla="*/ 0 h 7179"/>
                  <a:gd name="T4" fmla="*/ 2194 w 4131"/>
                  <a:gd name="T5" fmla="*/ 2771 h 7179"/>
                  <a:gd name="T6" fmla="*/ 4107 w 4131"/>
                  <a:gd name="T7" fmla="*/ 2771 h 7179"/>
                  <a:gd name="T8" fmla="*/ 623 w 4131"/>
                  <a:gd name="T9" fmla="*/ 7179 h 7179"/>
                  <a:gd name="T10" fmla="*/ 2099 w 4131"/>
                  <a:gd name="T11" fmla="*/ 4155 h 7179"/>
                  <a:gd name="T12" fmla="*/ 0 w 4131"/>
                  <a:gd name="T13" fmla="*/ 4155 h 7179"/>
                  <a:gd name="T14" fmla="*/ 1915 w 4131"/>
                  <a:gd name="T15" fmla="*/ 0 h 7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131" h="7179">
                    <a:moveTo>
                      <a:pt x="1915" y="0"/>
                    </a:moveTo>
                    <a:lnTo>
                      <a:pt x="4131" y="0"/>
                    </a:lnTo>
                    <a:lnTo>
                      <a:pt x="2194" y="2771"/>
                    </a:lnTo>
                    <a:lnTo>
                      <a:pt x="4107" y="2771"/>
                    </a:lnTo>
                    <a:lnTo>
                      <a:pt x="623" y="7179"/>
                    </a:lnTo>
                    <a:lnTo>
                      <a:pt x="2099" y="4155"/>
                    </a:lnTo>
                    <a:lnTo>
                      <a:pt x="0" y="4155"/>
                    </a:lnTo>
                    <a:lnTo>
                      <a:pt x="1915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15" name="Textfeld 14">
              <a:extLst>
                <a:ext uri="{FF2B5EF4-FFF2-40B4-BE49-F238E27FC236}">
                  <a16:creationId xmlns:a16="http://schemas.microsoft.com/office/drawing/2014/main" id="{6D33BE0E-A9A9-66D8-9839-3746F80A9670}"/>
                </a:ext>
              </a:extLst>
            </p:cNvPr>
            <p:cNvSpPr txBox="1"/>
            <p:nvPr/>
          </p:nvSpPr>
          <p:spPr>
            <a:xfrm>
              <a:off x="8339102" y="1772469"/>
              <a:ext cx="3369823" cy="7478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lvl="2">
                <a:lnSpc>
                  <a:spcPct val="90000"/>
                </a:lnSpc>
                <a:spcBef>
                  <a:spcPts val="1200"/>
                </a:spcBef>
              </a:pPr>
              <a:r>
                <a:rPr lang="en-US" err="1"/>
                <a:t>Zeitlich</a:t>
              </a:r>
              <a:r>
                <a:rPr lang="en-US"/>
                <a:t> und </a:t>
              </a:r>
              <a:r>
                <a:rPr lang="en-US" err="1"/>
                <a:t>inhaltlich</a:t>
              </a:r>
              <a:r>
                <a:rPr lang="en-US"/>
                <a:t> </a:t>
              </a:r>
              <a:r>
                <a:rPr lang="en-US" b="1" err="1"/>
                <a:t>unabgestimmte</a:t>
              </a:r>
              <a:r>
                <a:rPr lang="en-US" b="1"/>
                <a:t>, </a:t>
              </a:r>
              <a:r>
                <a:rPr lang="en-US" b="1" err="1"/>
                <a:t>manuelle</a:t>
              </a:r>
              <a:r>
                <a:rPr lang="en-US" b="1"/>
                <a:t> Parallel-</a:t>
              </a:r>
              <a:r>
                <a:rPr lang="en-US" b="1" err="1"/>
                <a:t>Prozesse</a:t>
              </a:r>
              <a:r>
                <a:rPr lang="en-US" b="1"/>
                <a:t> </a:t>
              </a:r>
            </a:p>
          </p:txBody>
        </p:sp>
      </p:grp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71211042-7491-40F4-A0DD-8D6711624249}"/>
              </a:ext>
            </a:extLst>
          </p:cNvPr>
          <p:cNvGrpSpPr/>
          <p:nvPr/>
        </p:nvGrpSpPr>
        <p:grpSpPr>
          <a:xfrm>
            <a:off x="7768082" y="2657016"/>
            <a:ext cx="3940843" cy="664797"/>
            <a:chOff x="7768082" y="1814019"/>
            <a:chExt cx="3940843" cy="664797"/>
          </a:xfrm>
        </p:grpSpPr>
        <p:grpSp>
          <p:nvGrpSpPr>
            <p:cNvPr id="18" name="Gruppieren 17">
              <a:extLst>
                <a:ext uri="{FF2B5EF4-FFF2-40B4-BE49-F238E27FC236}">
                  <a16:creationId xmlns:a16="http://schemas.microsoft.com/office/drawing/2014/main" id="{32384FA7-6226-3E22-12F1-5FAED82F17A3}"/>
                </a:ext>
              </a:extLst>
            </p:cNvPr>
            <p:cNvGrpSpPr/>
            <p:nvPr/>
          </p:nvGrpSpPr>
          <p:grpSpPr>
            <a:xfrm>
              <a:off x="7768082" y="1954397"/>
              <a:ext cx="384037" cy="384037"/>
              <a:chOff x="9742942" y="3484588"/>
              <a:chExt cx="384037" cy="384037"/>
            </a:xfrm>
          </p:grpSpPr>
          <p:sp>
            <p:nvSpPr>
              <p:cNvPr id="20" name="HarveyBase">
                <a:extLst>
                  <a:ext uri="{FF2B5EF4-FFF2-40B4-BE49-F238E27FC236}">
                    <a16:creationId xmlns:a16="http://schemas.microsoft.com/office/drawing/2014/main" id="{C51BCB12-BCA2-4213-7B39-C9BAB1EAEF2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742942" y="3484588"/>
                <a:ext cx="384037" cy="384037"/>
              </a:xfrm>
              <a:prstGeom prst="ellipse">
                <a:avLst/>
              </a:prstGeom>
              <a:solidFill>
                <a:srgbClr val="C00000"/>
              </a:solidFill>
              <a:ln w="12700" cmpd="sng">
                <a:solidFill>
                  <a:srgbClr val="C00000"/>
                </a:solidFill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:endParaRPr lang="de-DE" b="0">
                  <a:latin typeface="+mn-lt"/>
                  <a:cs typeface="Arial" pitchFamily="34" charset="0"/>
                </a:endParaRPr>
              </a:p>
            </p:txBody>
          </p:sp>
          <p:sp>
            <p:nvSpPr>
              <p:cNvPr id="21" name="Freeform 236">
                <a:extLst>
                  <a:ext uri="{FF2B5EF4-FFF2-40B4-BE49-F238E27FC236}">
                    <a16:creationId xmlns:a16="http://schemas.microsoft.com/office/drawing/2014/main" id="{CBA23343-9E1A-383E-71EA-3BD560602A4F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9853725" y="3535458"/>
                <a:ext cx="162470" cy="282297"/>
              </a:xfrm>
              <a:custGeom>
                <a:avLst/>
                <a:gdLst>
                  <a:gd name="T0" fmla="*/ 1915 w 4131"/>
                  <a:gd name="T1" fmla="*/ 0 h 7179"/>
                  <a:gd name="T2" fmla="*/ 4131 w 4131"/>
                  <a:gd name="T3" fmla="*/ 0 h 7179"/>
                  <a:gd name="T4" fmla="*/ 2194 w 4131"/>
                  <a:gd name="T5" fmla="*/ 2771 h 7179"/>
                  <a:gd name="T6" fmla="*/ 4107 w 4131"/>
                  <a:gd name="T7" fmla="*/ 2771 h 7179"/>
                  <a:gd name="T8" fmla="*/ 623 w 4131"/>
                  <a:gd name="T9" fmla="*/ 7179 h 7179"/>
                  <a:gd name="T10" fmla="*/ 2099 w 4131"/>
                  <a:gd name="T11" fmla="*/ 4155 h 7179"/>
                  <a:gd name="T12" fmla="*/ 0 w 4131"/>
                  <a:gd name="T13" fmla="*/ 4155 h 7179"/>
                  <a:gd name="T14" fmla="*/ 1915 w 4131"/>
                  <a:gd name="T15" fmla="*/ 0 h 7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131" h="7179">
                    <a:moveTo>
                      <a:pt x="1915" y="0"/>
                    </a:moveTo>
                    <a:lnTo>
                      <a:pt x="4131" y="0"/>
                    </a:lnTo>
                    <a:lnTo>
                      <a:pt x="2194" y="2771"/>
                    </a:lnTo>
                    <a:lnTo>
                      <a:pt x="4107" y="2771"/>
                    </a:lnTo>
                    <a:lnTo>
                      <a:pt x="623" y="7179"/>
                    </a:lnTo>
                    <a:lnTo>
                      <a:pt x="2099" y="4155"/>
                    </a:lnTo>
                    <a:lnTo>
                      <a:pt x="0" y="4155"/>
                    </a:lnTo>
                    <a:lnTo>
                      <a:pt x="1915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F074E0E5-ACEB-9516-058B-9F6A5957CD57}"/>
                </a:ext>
              </a:extLst>
            </p:cNvPr>
            <p:cNvSpPr txBox="1"/>
            <p:nvPr/>
          </p:nvSpPr>
          <p:spPr>
            <a:xfrm>
              <a:off x="8339102" y="1814019"/>
              <a:ext cx="3369823" cy="6647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b="1"/>
                <a:t>Medien- und </a:t>
              </a:r>
              <a:r>
                <a:rPr lang="en-US" sz="1600" b="1" err="1"/>
                <a:t>Systembrüche</a:t>
              </a:r>
              <a:r>
                <a:rPr lang="en-US" sz="1600" b="1"/>
                <a:t> </a:t>
              </a:r>
              <a:r>
                <a:rPr lang="en-US" sz="1600" err="1"/>
                <a:t>verursachen</a:t>
              </a:r>
              <a:r>
                <a:rPr lang="en-US" sz="1600"/>
                <a:t> </a:t>
              </a:r>
              <a:r>
                <a:rPr lang="en-US" sz="1600" b="1" err="1"/>
                <a:t>aufwendige</a:t>
              </a:r>
              <a:r>
                <a:rPr lang="en-US" sz="1600"/>
                <a:t> </a:t>
              </a:r>
              <a:r>
                <a:rPr lang="en-US" sz="1600" err="1"/>
                <a:t>Datenhaltung</a:t>
              </a:r>
              <a:endParaRPr lang="en-US" sz="1600"/>
            </a:p>
          </p:txBody>
        </p:sp>
      </p:grp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DE870064-9541-22E4-CE66-D37E0F4784CA}"/>
              </a:ext>
            </a:extLst>
          </p:cNvPr>
          <p:cNvGrpSpPr/>
          <p:nvPr/>
        </p:nvGrpSpPr>
        <p:grpSpPr>
          <a:xfrm>
            <a:off x="7768082" y="3610812"/>
            <a:ext cx="3940843" cy="443198"/>
            <a:chOff x="7768082" y="1924818"/>
            <a:chExt cx="3940843" cy="443198"/>
          </a:xfrm>
        </p:grpSpPr>
        <p:grpSp>
          <p:nvGrpSpPr>
            <p:cNvPr id="23" name="Gruppieren 22">
              <a:extLst>
                <a:ext uri="{FF2B5EF4-FFF2-40B4-BE49-F238E27FC236}">
                  <a16:creationId xmlns:a16="http://schemas.microsoft.com/office/drawing/2014/main" id="{CE9B2FE7-013C-9022-9398-D5F248384C7E}"/>
                </a:ext>
              </a:extLst>
            </p:cNvPr>
            <p:cNvGrpSpPr/>
            <p:nvPr/>
          </p:nvGrpSpPr>
          <p:grpSpPr>
            <a:xfrm>
              <a:off x="7768082" y="1954397"/>
              <a:ext cx="384037" cy="384037"/>
              <a:chOff x="9742942" y="3484588"/>
              <a:chExt cx="384037" cy="384037"/>
            </a:xfrm>
          </p:grpSpPr>
          <p:sp>
            <p:nvSpPr>
              <p:cNvPr id="25" name="HarveyBase">
                <a:extLst>
                  <a:ext uri="{FF2B5EF4-FFF2-40B4-BE49-F238E27FC236}">
                    <a16:creationId xmlns:a16="http://schemas.microsoft.com/office/drawing/2014/main" id="{927C19DC-F047-545F-0512-A0E4BA0716C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742942" y="3484588"/>
                <a:ext cx="384037" cy="384037"/>
              </a:xfrm>
              <a:prstGeom prst="ellipse">
                <a:avLst/>
              </a:prstGeom>
              <a:solidFill>
                <a:srgbClr val="C00000"/>
              </a:solidFill>
              <a:ln w="12700" cmpd="sng">
                <a:solidFill>
                  <a:srgbClr val="C00000"/>
                </a:solidFill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:endParaRPr lang="de-DE" b="0">
                  <a:latin typeface="+mn-lt"/>
                  <a:cs typeface="Arial" pitchFamily="34" charset="0"/>
                </a:endParaRPr>
              </a:p>
            </p:txBody>
          </p:sp>
          <p:sp>
            <p:nvSpPr>
              <p:cNvPr id="26" name="Freeform 236">
                <a:extLst>
                  <a:ext uri="{FF2B5EF4-FFF2-40B4-BE49-F238E27FC236}">
                    <a16:creationId xmlns:a16="http://schemas.microsoft.com/office/drawing/2014/main" id="{C6E7F9E6-7EB1-DF98-86E5-CB1EB8510171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9853725" y="3535458"/>
                <a:ext cx="162470" cy="282297"/>
              </a:xfrm>
              <a:custGeom>
                <a:avLst/>
                <a:gdLst>
                  <a:gd name="T0" fmla="*/ 1915 w 4131"/>
                  <a:gd name="T1" fmla="*/ 0 h 7179"/>
                  <a:gd name="T2" fmla="*/ 4131 w 4131"/>
                  <a:gd name="T3" fmla="*/ 0 h 7179"/>
                  <a:gd name="T4" fmla="*/ 2194 w 4131"/>
                  <a:gd name="T5" fmla="*/ 2771 h 7179"/>
                  <a:gd name="T6" fmla="*/ 4107 w 4131"/>
                  <a:gd name="T7" fmla="*/ 2771 h 7179"/>
                  <a:gd name="T8" fmla="*/ 623 w 4131"/>
                  <a:gd name="T9" fmla="*/ 7179 h 7179"/>
                  <a:gd name="T10" fmla="*/ 2099 w 4131"/>
                  <a:gd name="T11" fmla="*/ 4155 h 7179"/>
                  <a:gd name="T12" fmla="*/ 0 w 4131"/>
                  <a:gd name="T13" fmla="*/ 4155 h 7179"/>
                  <a:gd name="T14" fmla="*/ 1915 w 4131"/>
                  <a:gd name="T15" fmla="*/ 0 h 7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131" h="7179">
                    <a:moveTo>
                      <a:pt x="1915" y="0"/>
                    </a:moveTo>
                    <a:lnTo>
                      <a:pt x="4131" y="0"/>
                    </a:lnTo>
                    <a:lnTo>
                      <a:pt x="2194" y="2771"/>
                    </a:lnTo>
                    <a:lnTo>
                      <a:pt x="4107" y="2771"/>
                    </a:lnTo>
                    <a:lnTo>
                      <a:pt x="623" y="7179"/>
                    </a:lnTo>
                    <a:lnTo>
                      <a:pt x="2099" y="4155"/>
                    </a:lnTo>
                    <a:lnTo>
                      <a:pt x="0" y="4155"/>
                    </a:lnTo>
                    <a:lnTo>
                      <a:pt x="1915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24" name="Textfeld 23">
              <a:extLst>
                <a:ext uri="{FF2B5EF4-FFF2-40B4-BE49-F238E27FC236}">
                  <a16:creationId xmlns:a16="http://schemas.microsoft.com/office/drawing/2014/main" id="{3AAF7598-0007-D687-C1F8-92A8B14B353D}"/>
                </a:ext>
              </a:extLst>
            </p:cNvPr>
            <p:cNvSpPr txBox="1"/>
            <p:nvPr/>
          </p:nvSpPr>
          <p:spPr>
            <a:xfrm>
              <a:off x="8339102" y="1924818"/>
              <a:ext cx="3369823" cy="44319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err="1"/>
                <a:t>Unheitliche</a:t>
              </a:r>
              <a:r>
                <a:rPr lang="en-US" sz="1600"/>
                <a:t> </a:t>
              </a:r>
              <a:r>
                <a:rPr lang="en-US" sz="1600" b="1" err="1"/>
                <a:t>Datenstrukturen</a:t>
              </a:r>
              <a:r>
                <a:rPr lang="en-US" sz="1600"/>
                <a:t> / </a:t>
              </a:r>
              <a:r>
                <a:rPr lang="en-US" sz="1600" err="1"/>
                <a:t>fehlende</a:t>
              </a:r>
              <a:r>
                <a:rPr lang="en-US" sz="1600"/>
                <a:t> </a:t>
              </a:r>
              <a:r>
                <a:rPr lang="en-US" sz="1600" b="1" err="1"/>
                <a:t>Datenbanken</a:t>
              </a:r>
              <a:endParaRPr lang="en-US" sz="1600" b="1"/>
            </a:p>
          </p:txBody>
        </p: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4103521E-039C-E6EF-44F6-AD3AEF004AB1}"/>
              </a:ext>
            </a:extLst>
          </p:cNvPr>
          <p:cNvGrpSpPr/>
          <p:nvPr/>
        </p:nvGrpSpPr>
        <p:grpSpPr>
          <a:xfrm>
            <a:off x="7768082" y="4343010"/>
            <a:ext cx="3940843" cy="664797"/>
            <a:chOff x="7768082" y="1814019"/>
            <a:chExt cx="3940843" cy="664797"/>
          </a:xfrm>
        </p:grpSpPr>
        <p:grpSp>
          <p:nvGrpSpPr>
            <p:cNvPr id="28" name="Gruppieren 27">
              <a:extLst>
                <a:ext uri="{FF2B5EF4-FFF2-40B4-BE49-F238E27FC236}">
                  <a16:creationId xmlns:a16="http://schemas.microsoft.com/office/drawing/2014/main" id="{45A51C00-5511-C807-14FF-6E5EF99942F7}"/>
                </a:ext>
              </a:extLst>
            </p:cNvPr>
            <p:cNvGrpSpPr/>
            <p:nvPr/>
          </p:nvGrpSpPr>
          <p:grpSpPr>
            <a:xfrm>
              <a:off x="7768082" y="1954397"/>
              <a:ext cx="384037" cy="384037"/>
              <a:chOff x="9742942" y="3484588"/>
              <a:chExt cx="384037" cy="384037"/>
            </a:xfrm>
          </p:grpSpPr>
          <p:sp>
            <p:nvSpPr>
              <p:cNvPr id="30" name="HarveyBase">
                <a:extLst>
                  <a:ext uri="{FF2B5EF4-FFF2-40B4-BE49-F238E27FC236}">
                    <a16:creationId xmlns:a16="http://schemas.microsoft.com/office/drawing/2014/main" id="{4AD7858C-C69E-0F6B-6FA6-8B8B27863A6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742942" y="3484588"/>
                <a:ext cx="384037" cy="384037"/>
              </a:xfrm>
              <a:prstGeom prst="ellipse">
                <a:avLst/>
              </a:prstGeom>
              <a:solidFill>
                <a:srgbClr val="C00000"/>
              </a:solidFill>
              <a:ln w="12700" cmpd="sng">
                <a:solidFill>
                  <a:srgbClr val="C00000"/>
                </a:solidFill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:endParaRPr lang="de-DE" b="0">
                  <a:latin typeface="+mn-lt"/>
                  <a:cs typeface="Arial" pitchFamily="34" charset="0"/>
                </a:endParaRPr>
              </a:p>
            </p:txBody>
          </p:sp>
          <p:sp>
            <p:nvSpPr>
              <p:cNvPr id="31" name="Freeform 236">
                <a:extLst>
                  <a:ext uri="{FF2B5EF4-FFF2-40B4-BE49-F238E27FC236}">
                    <a16:creationId xmlns:a16="http://schemas.microsoft.com/office/drawing/2014/main" id="{7BDBCB6D-32CF-49BB-EA6F-5F19076CA2FB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9853725" y="3535458"/>
                <a:ext cx="162470" cy="282297"/>
              </a:xfrm>
              <a:custGeom>
                <a:avLst/>
                <a:gdLst>
                  <a:gd name="T0" fmla="*/ 1915 w 4131"/>
                  <a:gd name="T1" fmla="*/ 0 h 7179"/>
                  <a:gd name="T2" fmla="*/ 4131 w 4131"/>
                  <a:gd name="T3" fmla="*/ 0 h 7179"/>
                  <a:gd name="T4" fmla="*/ 2194 w 4131"/>
                  <a:gd name="T5" fmla="*/ 2771 h 7179"/>
                  <a:gd name="T6" fmla="*/ 4107 w 4131"/>
                  <a:gd name="T7" fmla="*/ 2771 h 7179"/>
                  <a:gd name="T8" fmla="*/ 623 w 4131"/>
                  <a:gd name="T9" fmla="*/ 7179 h 7179"/>
                  <a:gd name="T10" fmla="*/ 2099 w 4131"/>
                  <a:gd name="T11" fmla="*/ 4155 h 7179"/>
                  <a:gd name="T12" fmla="*/ 0 w 4131"/>
                  <a:gd name="T13" fmla="*/ 4155 h 7179"/>
                  <a:gd name="T14" fmla="*/ 1915 w 4131"/>
                  <a:gd name="T15" fmla="*/ 0 h 7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131" h="7179">
                    <a:moveTo>
                      <a:pt x="1915" y="0"/>
                    </a:moveTo>
                    <a:lnTo>
                      <a:pt x="4131" y="0"/>
                    </a:lnTo>
                    <a:lnTo>
                      <a:pt x="2194" y="2771"/>
                    </a:lnTo>
                    <a:lnTo>
                      <a:pt x="4107" y="2771"/>
                    </a:lnTo>
                    <a:lnTo>
                      <a:pt x="623" y="7179"/>
                    </a:lnTo>
                    <a:lnTo>
                      <a:pt x="2099" y="4155"/>
                    </a:lnTo>
                    <a:lnTo>
                      <a:pt x="0" y="4155"/>
                    </a:lnTo>
                    <a:lnTo>
                      <a:pt x="1915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B32F8B86-DAF9-3145-BA53-4BF6AE70A16F}"/>
                </a:ext>
              </a:extLst>
            </p:cNvPr>
            <p:cNvSpPr txBox="1"/>
            <p:nvPr/>
          </p:nvSpPr>
          <p:spPr>
            <a:xfrm>
              <a:off x="8339102" y="1814019"/>
              <a:ext cx="3369823" cy="6647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b="1" err="1"/>
                <a:t>Intransparenz</a:t>
              </a:r>
              <a:r>
                <a:rPr lang="en-US" sz="1600"/>
                <a:t> in </a:t>
              </a:r>
              <a:r>
                <a:rPr lang="en-US" sz="1600" err="1"/>
                <a:t>bereichsübergreifenden</a:t>
              </a:r>
              <a:r>
                <a:rPr lang="en-US" sz="1600"/>
                <a:t> Status für </a:t>
              </a:r>
              <a:r>
                <a:rPr lang="en-US" sz="1600" err="1"/>
                <a:t>Ressourcen</a:t>
              </a:r>
              <a:r>
                <a:rPr lang="en-US" sz="1600"/>
                <a:t> und Kosten </a:t>
              </a:r>
            </a:p>
          </p:txBody>
        </p:sp>
      </p:grp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53CD1520-8390-210E-D97B-6D971B9271DE}"/>
              </a:ext>
            </a:extLst>
          </p:cNvPr>
          <p:cNvGrpSpPr/>
          <p:nvPr/>
        </p:nvGrpSpPr>
        <p:grpSpPr>
          <a:xfrm>
            <a:off x="7768082" y="5025964"/>
            <a:ext cx="3940843" cy="984885"/>
            <a:chOff x="7768082" y="1653975"/>
            <a:chExt cx="3940843" cy="984885"/>
          </a:xfrm>
        </p:grpSpPr>
        <p:grpSp>
          <p:nvGrpSpPr>
            <p:cNvPr id="33" name="Gruppieren 32">
              <a:extLst>
                <a:ext uri="{FF2B5EF4-FFF2-40B4-BE49-F238E27FC236}">
                  <a16:creationId xmlns:a16="http://schemas.microsoft.com/office/drawing/2014/main" id="{588A8BF0-4636-9503-60E3-72D2004C6737}"/>
                </a:ext>
              </a:extLst>
            </p:cNvPr>
            <p:cNvGrpSpPr/>
            <p:nvPr/>
          </p:nvGrpSpPr>
          <p:grpSpPr>
            <a:xfrm>
              <a:off x="7768082" y="1954397"/>
              <a:ext cx="384037" cy="384037"/>
              <a:chOff x="9742942" y="3484588"/>
              <a:chExt cx="384037" cy="384037"/>
            </a:xfrm>
          </p:grpSpPr>
          <p:sp>
            <p:nvSpPr>
              <p:cNvPr id="35" name="HarveyBase">
                <a:extLst>
                  <a:ext uri="{FF2B5EF4-FFF2-40B4-BE49-F238E27FC236}">
                    <a16:creationId xmlns:a16="http://schemas.microsoft.com/office/drawing/2014/main" id="{20EF357C-8B80-F33C-7599-3D9A8A86E55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742942" y="3484588"/>
                <a:ext cx="384037" cy="384037"/>
              </a:xfrm>
              <a:prstGeom prst="ellipse">
                <a:avLst/>
              </a:prstGeom>
              <a:solidFill>
                <a:srgbClr val="C00000"/>
              </a:solidFill>
              <a:ln w="12700" cmpd="sng">
                <a:solidFill>
                  <a:srgbClr val="C00000"/>
                </a:solidFill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:endParaRPr lang="de-DE" b="0">
                  <a:latin typeface="+mn-lt"/>
                  <a:cs typeface="Arial" pitchFamily="34" charset="0"/>
                </a:endParaRPr>
              </a:p>
            </p:txBody>
          </p:sp>
          <p:sp>
            <p:nvSpPr>
              <p:cNvPr id="36" name="Freeform 236">
                <a:extLst>
                  <a:ext uri="{FF2B5EF4-FFF2-40B4-BE49-F238E27FC236}">
                    <a16:creationId xmlns:a16="http://schemas.microsoft.com/office/drawing/2014/main" id="{8239D445-081F-1B09-F9A1-46396C8D954A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9853725" y="3535458"/>
                <a:ext cx="162470" cy="282297"/>
              </a:xfrm>
              <a:custGeom>
                <a:avLst/>
                <a:gdLst>
                  <a:gd name="T0" fmla="*/ 1915 w 4131"/>
                  <a:gd name="T1" fmla="*/ 0 h 7179"/>
                  <a:gd name="T2" fmla="*/ 4131 w 4131"/>
                  <a:gd name="T3" fmla="*/ 0 h 7179"/>
                  <a:gd name="T4" fmla="*/ 2194 w 4131"/>
                  <a:gd name="T5" fmla="*/ 2771 h 7179"/>
                  <a:gd name="T6" fmla="*/ 4107 w 4131"/>
                  <a:gd name="T7" fmla="*/ 2771 h 7179"/>
                  <a:gd name="T8" fmla="*/ 623 w 4131"/>
                  <a:gd name="T9" fmla="*/ 7179 h 7179"/>
                  <a:gd name="T10" fmla="*/ 2099 w 4131"/>
                  <a:gd name="T11" fmla="*/ 4155 h 7179"/>
                  <a:gd name="T12" fmla="*/ 0 w 4131"/>
                  <a:gd name="T13" fmla="*/ 4155 h 7179"/>
                  <a:gd name="T14" fmla="*/ 1915 w 4131"/>
                  <a:gd name="T15" fmla="*/ 0 h 7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131" h="7179">
                    <a:moveTo>
                      <a:pt x="1915" y="0"/>
                    </a:moveTo>
                    <a:lnTo>
                      <a:pt x="4131" y="0"/>
                    </a:lnTo>
                    <a:lnTo>
                      <a:pt x="2194" y="2771"/>
                    </a:lnTo>
                    <a:lnTo>
                      <a:pt x="4107" y="2771"/>
                    </a:lnTo>
                    <a:lnTo>
                      <a:pt x="623" y="7179"/>
                    </a:lnTo>
                    <a:lnTo>
                      <a:pt x="2099" y="4155"/>
                    </a:lnTo>
                    <a:lnTo>
                      <a:pt x="0" y="4155"/>
                    </a:lnTo>
                    <a:lnTo>
                      <a:pt x="1915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34" name="Textfeld 33">
              <a:extLst>
                <a:ext uri="{FF2B5EF4-FFF2-40B4-BE49-F238E27FC236}">
                  <a16:creationId xmlns:a16="http://schemas.microsoft.com/office/drawing/2014/main" id="{A0AC76CF-8518-2E43-E31B-F1D36AC597D5}"/>
                </a:ext>
              </a:extLst>
            </p:cNvPr>
            <p:cNvSpPr txBox="1"/>
            <p:nvPr/>
          </p:nvSpPr>
          <p:spPr>
            <a:xfrm>
              <a:off x="8339102" y="1653975"/>
              <a:ext cx="3369823" cy="9848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88900" lvl="1">
                <a:buClr>
                  <a:schemeClr val="accent2"/>
                </a:buClr>
              </a:pPr>
              <a:r>
                <a:rPr lang="de-DE" sz="1600" b="1"/>
                <a:t>Abgekündigte</a:t>
              </a:r>
              <a:r>
                <a:rPr lang="de-DE" sz="1600"/>
                <a:t> / </a:t>
              </a:r>
              <a:r>
                <a:rPr lang="de-DE" sz="1600" b="1"/>
                <a:t>nicht mehr supportete Tools</a:t>
              </a:r>
              <a:br>
                <a:rPr lang="de-DE" sz="1600"/>
              </a:br>
              <a:r>
                <a:rPr lang="de-DE" sz="1600"/>
                <a:t>(PIT xx/xx </a:t>
              </a:r>
              <a:br>
                <a:rPr lang="de-DE" sz="1600"/>
              </a:br>
              <a:r>
                <a:rPr lang="de-DE" sz="1600"/>
                <a:t>Microsoft Project Online 10/26)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D2C59000-6939-A396-92B4-91D77D31DB88}"/>
              </a:ext>
            </a:extLst>
          </p:cNvPr>
          <p:cNvGrpSpPr/>
          <p:nvPr/>
        </p:nvGrpSpPr>
        <p:grpSpPr>
          <a:xfrm>
            <a:off x="2950980" y="3324496"/>
            <a:ext cx="4234746" cy="2856167"/>
            <a:chOff x="438376" y="1423040"/>
            <a:chExt cx="6815864" cy="4520560"/>
          </a:xfrm>
        </p:grpSpPr>
        <p:pic>
          <p:nvPicPr>
            <p:cNvPr id="11" name="Picture 2" descr="Ipad PNGs zum kostenlosen Download">
              <a:extLst>
                <a:ext uri="{FF2B5EF4-FFF2-40B4-BE49-F238E27FC236}">
                  <a16:creationId xmlns:a16="http://schemas.microsoft.com/office/drawing/2014/main" id="{2137FC22-B623-38FC-1174-6F2EB60EF81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961" t="1884" r="13961" b="1884"/>
            <a:stretch>
              <a:fillRect/>
            </a:stretch>
          </p:blipFill>
          <p:spPr bwMode="auto">
            <a:xfrm rot="16200000">
              <a:off x="1586028" y="275388"/>
              <a:ext cx="4520560" cy="68158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Grafik 4">
              <a:extLst>
                <a:ext uri="{FF2B5EF4-FFF2-40B4-BE49-F238E27FC236}">
                  <a16:creationId xmlns:a16="http://schemas.microsoft.com/office/drawing/2014/main" id="{D151F65E-DB6D-E8CE-492F-B2EF59516AA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46"/>
            <a:stretch>
              <a:fillRect/>
            </a:stretch>
          </p:blipFill>
          <p:spPr>
            <a:xfrm>
              <a:off x="789411" y="2177501"/>
              <a:ext cx="6142399" cy="3116336"/>
            </a:xfrm>
            <a:prstGeom prst="rect">
              <a:avLst/>
            </a:prstGeom>
          </p:spPr>
        </p:pic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A83AA403-60D4-2F89-09FD-9F0D5A939CB2}"/>
              </a:ext>
            </a:extLst>
          </p:cNvPr>
          <p:cNvSpPr txBox="1"/>
          <p:nvPr/>
        </p:nvSpPr>
        <p:spPr>
          <a:xfrm>
            <a:off x="590146" y="3836363"/>
            <a:ext cx="1952017" cy="174851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000" i="1"/>
              <a:t>(</a:t>
            </a:r>
            <a:r>
              <a:rPr lang="en-US" sz="1000" i="1" err="1"/>
              <a:t>vereinfachtes</a:t>
            </a:r>
            <a:r>
              <a:rPr lang="en-US" sz="1000" i="1"/>
              <a:t> </a:t>
            </a:r>
            <a:r>
              <a:rPr lang="en-US" sz="1000" i="1" err="1"/>
              <a:t>Prozessschaubild</a:t>
            </a:r>
            <a:r>
              <a:rPr lang="en-US" sz="1000" i="1"/>
              <a:t>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5F0961F-AB5F-BD75-A71E-19B1C72BD1C0}"/>
              </a:ext>
            </a:extLst>
          </p:cNvPr>
          <p:cNvSpPr txBox="1"/>
          <p:nvPr/>
        </p:nvSpPr>
        <p:spPr>
          <a:xfrm>
            <a:off x="3022315" y="6173914"/>
            <a:ext cx="1952017" cy="174851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000" i="1"/>
              <a:t>(</a:t>
            </a:r>
            <a:r>
              <a:rPr lang="en-US" sz="1000" i="1" err="1"/>
              <a:t>vereinfachtes</a:t>
            </a:r>
            <a:r>
              <a:rPr lang="en-US" sz="1000" i="1"/>
              <a:t> </a:t>
            </a:r>
            <a:r>
              <a:rPr lang="en-US" sz="1000" i="1" err="1"/>
              <a:t>Systemschaubild</a:t>
            </a:r>
            <a:r>
              <a:rPr lang="en-US" sz="1000" i="1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502829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744A7-AC92-C849-8475-06101177D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5E850B5B-13A0-62DD-2688-3C7C07F29939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8" imgH="408" progId="TCLayout.ActiveDocument.1">
                  <p:embed/>
                </p:oleObj>
              </mc:Choice>
              <mc:Fallback>
                <p:oleObj name="think-cell Slide" r:id="rId3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E850B5B-13A0-62DD-2688-3C7C07F2993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332CF36E-C444-BE16-78C1-050016AD3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6" y="503546"/>
            <a:ext cx="9579925" cy="304699"/>
          </a:xfrm>
        </p:spPr>
        <p:txBody>
          <a:bodyPr vert="horz" rIns="0"/>
          <a:lstStyle/>
          <a:p>
            <a:r>
              <a:rPr lang="de-DE" sz="2400"/>
              <a:t>Vorgehen / Ansatz / Prämissen</a:t>
            </a:r>
            <a:endParaRPr lang="de-DE" b="0"/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6C4B8393-D82C-6643-9125-25C55F2B30AA}"/>
              </a:ext>
            </a:extLst>
          </p:cNvPr>
          <p:cNvGrpSpPr/>
          <p:nvPr/>
        </p:nvGrpSpPr>
        <p:grpSpPr>
          <a:xfrm>
            <a:off x="479426" y="2739732"/>
            <a:ext cx="5092699" cy="313200"/>
            <a:chOff x="479426" y="1653882"/>
            <a:chExt cx="5092699" cy="313200"/>
          </a:xfrm>
        </p:grpSpPr>
        <p:sp>
          <p:nvSpPr>
            <p:cNvPr id="7" name="Rechteck 6">
              <a:extLst>
                <a:ext uri="{FF2B5EF4-FFF2-40B4-BE49-F238E27FC236}">
                  <a16:creationId xmlns:a16="http://schemas.microsoft.com/office/drawing/2014/main" id="{18D6BF3E-7811-0A07-5736-1431D25F2AB8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Standardisierte, </a:t>
              </a:r>
              <a:r>
                <a:rPr lang="de-DE" err="1"/>
                <a:t>releasefähige</a:t>
              </a:r>
              <a:r>
                <a:rPr lang="de-DE"/>
                <a:t> Software</a:t>
              </a:r>
            </a:p>
          </p:txBody>
        </p:sp>
        <p:grpSp>
          <p:nvGrpSpPr>
            <p:cNvPr id="8" name="Group 182">
              <a:extLst>
                <a:ext uri="{FF2B5EF4-FFF2-40B4-BE49-F238E27FC236}">
                  <a16:creationId xmlns:a16="http://schemas.microsoft.com/office/drawing/2014/main" id="{5DF3F981-DF43-B70B-AA48-4A25C9EA63CB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9" name="Oval 183">
                <a:extLst>
                  <a:ext uri="{FF2B5EF4-FFF2-40B4-BE49-F238E27FC236}">
                    <a16:creationId xmlns:a16="http://schemas.microsoft.com/office/drawing/2014/main" id="{DCF6E96C-6FEE-6ECF-7AAF-AB9D407728A1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10" name="Graphic 148">
                <a:extLst>
                  <a:ext uri="{FF2B5EF4-FFF2-40B4-BE49-F238E27FC236}">
                    <a16:creationId xmlns:a16="http://schemas.microsoft.com/office/drawing/2014/main" id="{0F1F7EB4-7BDE-1ADF-68E7-4182FBC13F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C042300F-97B7-04E5-701D-CE384AD25B1E}"/>
              </a:ext>
            </a:extLst>
          </p:cNvPr>
          <p:cNvGrpSpPr/>
          <p:nvPr/>
        </p:nvGrpSpPr>
        <p:grpSpPr>
          <a:xfrm>
            <a:off x="479426" y="3353118"/>
            <a:ext cx="5092699" cy="313200"/>
            <a:chOff x="479426" y="1653882"/>
            <a:chExt cx="5092699" cy="313200"/>
          </a:xfrm>
        </p:grpSpPr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F68531C1-E204-CEB3-8BA0-695BD9720867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Keine Eigenentwicklung</a:t>
              </a:r>
            </a:p>
          </p:txBody>
        </p:sp>
        <p:grpSp>
          <p:nvGrpSpPr>
            <p:cNvPr id="13" name="Group 182">
              <a:extLst>
                <a:ext uri="{FF2B5EF4-FFF2-40B4-BE49-F238E27FC236}">
                  <a16:creationId xmlns:a16="http://schemas.microsoft.com/office/drawing/2014/main" id="{C474BEA1-FFDD-54F3-5723-3A3D8234D1B0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14" name="Oval 183">
                <a:extLst>
                  <a:ext uri="{FF2B5EF4-FFF2-40B4-BE49-F238E27FC236}">
                    <a16:creationId xmlns:a16="http://schemas.microsoft.com/office/drawing/2014/main" id="{4856CE53-55CE-2F1F-196F-3B97787E1347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15" name="Graphic 148">
                <a:extLst>
                  <a:ext uri="{FF2B5EF4-FFF2-40B4-BE49-F238E27FC236}">
                    <a16:creationId xmlns:a16="http://schemas.microsoft.com/office/drawing/2014/main" id="{50577C30-61D8-4AC2-5E4D-D237D3A5A9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AF7D10F2-6013-E328-725B-90383206A76B}"/>
              </a:ext>
            </a:extLst>
          </p:cNvPr>
          <p:cNvGrpSpPr/>
          <p:nvPr/>
        </p:nvGrpSpPr>
        <p:grpSpPr>
          <a:xfrm>
            <a:off x="479426" y="3966504"/>
            <a:ext cx="5092699" cy="313200"/>
            <a:chOff x="479426" y="1653882"/>
            <a:chExt cx="5092699" cy="313200"/>
          </a:xfrm>
        </p:grpSpPr>
        <p:sp>
          <p:nvSpPr>
            <p:cNvPr id="17" name="Rechteck 16">
              <a:extLst>
                <a:ext uri="{FF2B5EF4-FFF2-40B4-BE49-F238E27FC236}">
                  <a16:creationId xmlns:a16="http://schemas.microsoft.com/office/drawing/2014/main" id="{CC48C9BD-4FBE-24E5-794C-DAC84DFC8D10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Lorem </a:t>
              </a:r>
              <a:r>
                <a:rPr lang="de-DE" err="1"/>
                <a:t>ipsum</a:t>
              </a:r>
              <a:r>
                <a:rPr lang="de-DE"/>
                <a:t> </a:t>
              </a:r>
              <a:r>
                <a:rPr lang="de-DE" err="1"/>
                <a:t>dolor</a:t>
              </a:r>
              <a:endParaRPr lang="de-DE"/>
            </a:p>
          </p:txBody>
        </p:sp>
        <p:grpSp>
          <p:nvGrpSpPr>
            <p:cNvPr id="18" name="Group 182">
              <a:extLst>
                <a:ext uri="{FF2B5EF4-FFF2-40B4-BE49-F238E27FC236}">
                  <a16:creationId xmlns:a16="http://schemas.microsoft.com/office/drawing/2014/main" id="{82B53572-85AB-D8C8-D4CE-174B9577D01C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19" name="Oval 183">
                <a:extLst>
                  <a:ext uri="{FF2B5EF4-FFF2-40B4-BE49-F238E27FC236}">
                    <a16:creationId xmlns:a16="http://schemas.microsoft.com/office/drawing/2014/main" id="{7E7FB989-AAE1-5506-9B2B-9A6053366654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20" name="Graphic 148">
                <a:extLst>
                  <a:ext uri="{FF2B5EF4-FFF2-40B4-BE49-F238E27FC236}">
                    <a16:creationId xmlns:a16="http://schemas.microsoft.com/office/drawing/2014/main" id="{608D1611-E4DE-2D76-4850-A7D44505DF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52F263DD-E83D-5215-ED67-6FA28A7B73C5}"/>
              </a:ext>
            </a:extLst>
          </p:cNvPr>
          <p:cNvGrpSpPr/>
          <p:nvPr/>
        </p:nvGrpSpPr>
        <p:grpSpPr>
          <a:xfrm>
            <a:off x="479426" y="4579890"/>
            <a:ext cx="5092699" cy="313200"/>
            <a:chOff x="479426" y="1653882"/>
            <a:chExt cx="5092699" cy="313200"/>
          </a:xfrm>
        </p:grpSpPr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0DA184FD-8CAA-4B07-97DA-44F8F70E3C2C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Lorem </a:t>
              </a:r>
              <a:r>
                <a:rPr lang="de-DE" err="1"/>
                <a:t>ipsum</a:t>
              </a:r>
              <a:r>
                <a:rPr lang="de-DE"/>
                <a:t> </a:t>
              </a:r>
              <a:r>
                <a:rPr lang="de-DE" err="1"/>
                <a:t>dolor</a:t>
              </a:r>
              <a:endParaRPr lang="de-DE"/>
            </a:p>
          </p:txBody>
        </p:sp>
        <p:grpSp>
          <p:nvGrpSpPr>
            <p:cNvPr id="23" name="Group 182">
              <a:extLst>
                <a:ext uri="{FF2B5EF4-FFF2-40B4-BE49-F238E27FC236}">
                  <a16:creationId xmlns:a16="http://schemas.microsoft.com/office/drawing/2014/main" id="{E3E60E8A-6E28-46F0-7170-647673BD26A2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24" name="Oval 183">
                <a:extLst>
                  <a:ext uri="{FF2B5EF4-FFF2-40B4-BE49-F238E27FC236}">
                    <a16:creationId xmlns:a16="http://schemas.microsoft.com/office/drawing/2014/main" id="{0A267940-E870-0F34-DCA9-559E9BC6ADF5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25" name="Graphic 148">
                <a:extLst>
                  <a:ext uri="{FF2B5EF4-FFF2-40B4-BE49-F238E27FC236}">
                    <a16:creationId xmlns:a16="http://schemas.microsoft.com/office/drawing/2014/main" id="{60C9101C-559E-7703-9E98-BDA8A105FD7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41DC73BB-C5A8-F8CF-6962-CDE01E6E5691}"/>
              </a:ext>
            </a:extLst>
          </p:cNvPr>
          <p:cNvGrpSpPr/>
          <p:nvPr/>
        </p:nvGrpSpPr>
        <p:grpSpPr>
          <a:xfrm>
            <a:off x="479426" y="5193275"/>
            <a:ext cx="5092699" cy="313200"/>
            <a:chOff x="479426" y="1653882"/>
            <a:chExt cx="5092699" cy="313200"/>
          </a:xfrm>
        </p:grpSpPr>
        <p:sp>
          <p:nvSpPr>
            <p:cNvPr id="27" name="Rechteck 26">
              <a:extLst>
                <a:ext uri="{FF2B5EF4-FFF2-40B4-BE49-F238E27FC236}">
                  <a16:creationId xmlns:a16="http://schemas.microsoft.com/office/drawing/2014/main" id="{38CCF0E1-13BA-1697-E581-B8527C9ACBC4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Lorem </a:t>
              </a:r>
              <a:r>
                <a:rPr lang="de-DE" err="1"/>
                <a:t>ipsum</a:t>
              </a:r>
              <a:r>
                <a:rPr lang="de-DE"/>
                <a:t> </a:t>
              </a:r>
              <a:r>
                <a:rPr lang="de-DE" err="1"/>
                <a:t>dolor</a:t>
              </a:r>
              <a:endParaRPr lang="de-DE"/>
            </a:p>
          </p:txBody>
        </p:sp>
        <p:grpSp>
          <p:nvGrpSpPr>
            <p:cNvPr id="28" name="Group 182">
              <a:extLst>
                <a:ext uri="{FF2B5EF4-FFF2-40B4-BE49-F238E27FC236}">
                  <a16:creationId xmlns:a16="http://schemas.microsoft.com/office/drawing/2014/main" id="{C22305B8-F063-B2DF-4043-57ABCDD174F9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29" name="Oval 183">
                <a:extLst>
                  <a:ext uri="{FF2B5EF4-FFF2-40B4-BE49-F238E27FC236}">
                    <a16:creationId xmlns:a16="http://schemas.microsoft.com/office/drawing/2014/main" id="{EC2968FB-4466-3B39-54C7-E0251C01EA44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30" name="Graphic 148">
                <a:extLst>
                  <a:ext uri="{FF2B5EF4-FFF2-40B4-BE49-F238E27FC236}">
                    <a16:creationId xmlns:a16="http://schemas.microsoft.com/office/drawing/2014/main" id="{6F1C5C3A-6141-FC6E-8057-D225FD80C1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31" name="Gruppieren 30">
            <a:extLst>
              <a:ext uri="{FF2B5EF4-FFF2-40B4-BE49-F238E27FC236}">
                <a16:creationId xmlns:a16="http://schemas.microsoft.com/office/drawing/2014/main" id="{1D0E389E-122B-D5E9-EC0E-0C79825B65E4}"/>
              </a:ext>
            </a:extLst>
          </p:cNvPr>
          <p:cNvGrpSpPr/>
          <p:nvPr/>
        </p:nvGrpSpPr>
        <p:grpSpPr>
          <a:xfrm>
            <a:off x="6621464" y="2739732"/>
            <a:ext cx="5092699" cy="313200"/>
            <a:chOff x="479426" y="1653882"/>
            <a:chExt cx="5092699" cy="313200"/>
          </a:xfrm>
        </p:grpSpPr>
        <p:sp>
          <p:nvSpPr>
            <p:cNvPr id="32" name="Rechteck 31">
              <a:extLst>
                <a:ext uri="{FF2B5EF4-FFF2-40B4-BE49-F238E27FC236}">
                  <a16:creationId xmlns:a16="http://schemas.microsoft.com/office/drawing/2014/main" id="{A69E1696-194E-F36E-5AED-05CF287D26C9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Keine aufwendige Überverwaltung</a:t>
              </a:r>
            </a:p>
          </p:txBody>
        </p:sp>
        <p:grpSp>
          <p:nvGrpSpPr>
            <p:cNvPr id="33" name="Group 182">
              <a:extLst>
                <a:ext uri="{FF2B5EF4-FFF2-40B4-BE49-F238E27FC236}">
                  <a16:creationId xmlns:a16="http://schemas.microsoft.com/office/drawing/2014/main" id="{7A7AE393-7DE6-3AE5-4E70-46884275FE51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34" name="Oval 183">
                <a:extLst>
                  <a:ext uri="{FF2B5EF4-FFF2-40B4-BE49-F238E27FC236}">
                    <a16:creationId xmlns:a16="http://schemas.microsoft.com/office/drawing/2014/main" id="{873F7B97-0C5C-554C-81A4-C76AF16838BB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35" name="Graphic 148">
                <a:extLst>
                  <a:ext uri="{FF2B5EF4-FFF2-40B4-BE49-F238E27FC236}">
                    <a16:creationId xmlns:a16="http://schemas.microsoft.com/office/drawing/2014/main" id="{5DC811ED-7EC1-4401-1B5B-5CB598621B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36" name="Gruppieren 35">
            <a:extLst>
              <a:ext uri="{FF2B5EF4-FFF2-40B4-BE49-F238E27FC236}">
                <a16:creationId xmlns:a16="http://schemas.microsoft.com/office/drawing/2014/main" id="{5F0C707A-14BB-0A33-7B94-CC10BDC805B7}"/>
              </a:ext>
            </a:extLst>
          </p:cNvPr>
          <p:cNvGrpSpPr/>
          <p:nvPr/>
        </p:nvGrpSpPr>
        <p:grpSpPr>
          <a:xfrm>
            <a:off x="6621464" y="3353118"/>
            <a:ext cx="5092699" cy="553998"/>
            <a:chOff x="479426" y="1653882"/>
            <a:chExt cx="5092699" cy="553998"/>
          </a:xfrm>
        </p:grpSpPr>
        <p:sp>
          <p:nvSpPr>
            <p:cNvPr id="37" name="Rechteck 36">
              <a:extLst>
                <a:ext uri="{FF2B5EF4-FFF2-40B4-BE49-F238E27FC236}">
                  <a16:creationId xmlns:a16="http://schemas.microsoft.com/office/drawing/2014/main" id="{D8F26AA0-B20F-83DE-4EB1-CE430AB2FA6A}"/>
                </a:ext>
              </a:extLst>
            </p:cNvPr>
            <p:cNvSpPr/>
            <p:nvPr/>
          </p:nvSpPr>
          <p:spPr>
            <a:xfrm>
              <a:off x="910770" y="1653882"/>
              <a:ext cx="4661355" cy="553998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Orientierung am Industriestandard /  Best Practice</a:t>
              </a:r>
            </a:p>
          </p:txBody>
        </p:sp>
        <p:grpSp>
          <p:nvGrpSpPr>
            <p:cNvPr id="38" name="Group 182">
              <a:extLst>
                <a:ext uri="{FF2B5EF4-FFF2-40B4-BE49-F238E27FC236}">
                  <a16:creationId xmlns:a16="http://schemas.microsoft.com/office/drawing/2014/main" id="{E3C97295-65BF-5525-0B70-4208F83E1FD4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39" name="Oval 183">
                <a:extLst>
                  <a:ext uri="{FF2B5EF4-FFF2-40B4-BE49-F238E27FC236}">
                    <a16:creationId xmlns:a16="http://schemas.microsoft.com/office/drawing/2014/main" id="{5359FF2B-65BA-6938-A0E2-7C5E24C3EFAE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40" name="Graphic 148">
                <a:extLst>
                  <a:ext uri="{FF2B5EF4-FFF2-40B4-BE49-F238E27FC236}">
                    <a16:creationId xmlns:a16="http://schemas.microsoft.com/office/drawing/2014/main" id="{BDE6F54A-A06B-228F-C309-DCB3789BECA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41" name="Gruppieren 40">
            <a:extLst>
              <a:ext uri="{FF2B5EF4-FFF2-40B4-BE49-F238E27FC236}">
                <a16:creationId xmlns:a16="http://schemas.microsoft.com/office/drawing/2014/main" id="{749E0D28-D99A-3695-2522-59D621E44ED4}"/>
              </a:ext>
            </a:extLst>
          </p:cNvPr>
          <p:cNvGrpSpPr/>
          <p:nvPr/>
        </p:nvGrpSpPr>
        <p:grpSpPr>
          <a:xfrm>
            <a:off x="6621464" y="3966504"/>
            <a:ext cx="5092699" cy="313200"/>
            <a:chOff x="479426" y="1653882"/>
            <a:chExt cx="5092699" cy="313200"/>
          </a:xfrm>
        </p:grpSpPr>
        <p:sp>
          <p:nvSpPr>
            <p:cNvPr id="42" name="Rechteck 41">
              <a:extLst>
                <a:ext uri="{FF2B5EF4-FFF2-40B4-BE49-F238E27FC236}">
                  <a16:creationId xmlns:a16="http://schemas.microsoft.com/office/drawing/2014/main" id="{87594237-35E6-9AAA-EBE8-F0C5B657A54B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Klare Verantwortlichkeiten</a:t>
              </a:r>
            </a:p>
          </p:txBody>
        </p:sp>
        <p:grpSp>
          <p:nvGrpSpPr>
            <p:cNvPr id="43" name="Group 182">
              <a:extLst>
                <a:ext uri="{FF2B5EF4-FFF2-40B4-BE49-F238E27FC236}">
                  <a16:creationId xmlns:a16="http://schemas.microsoft.com/office/drawing/2014/main" id="{7CDD8E08-03DB-1C29-C2B6-8070146A0541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44" name="Oval 183">
                <a:extLst>
                  <a:ext uri="{FF2B5EF4-FFF2-40B4-BE49-F238E27FC236}">
                    <a16:creationId xmlns:a16="http://schemas.microsoft.com/office/drawing/2014/main" id="{2AAA9C23-20E2-CA56-E1ED-21351DA0976B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45" name="Graphic 148">
                <a:extLst>
                  <a:ext uri="{FF2B5EF4-FFF2-40B4-BE49-F238E27FC236}">
                    <a16:creationId xmlns:a16="http://schemas.microsoft.com/office/drawing/2014/main" id="{6BA91677-F2D6-C061-F8E3-541DD17C2D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46" name="Gruppieren 45">
            <a:extLst>
              <a:ext uri="{FF2B5EF4-FFF2-40B4-BE49-F238E27FC236}">
                <a16:creationId xmlns:a16="http://schemas.microsoft.com/office/drawing/2014/main" id="{B9AB0A57-66E9-B9CE-8FB3-AE5CD2872C61}"/>
              </a:ext>
            </a:extLst>
          </p:cNvPr>
          <p:cNvGrpSpPr/>
          <p:nvPr/>
        </p:nvGrpSpPr>
        <p:grpSpPr>
          <a:xfrm>
            <a:off x="6621464" y="4579890"/>
            <a:ext cx="5092699" cy="313200"/>
            <a:chOff x="479426" y="1653882"/>
            <a:chExt cx="5092699" cy="313200"/>
          </a:xfrm>
        </p:grpSpPr>
        <p:sp>
          <p:nvSpPr>
            <p:cNvPr id="47" name="Rechteck 46">
              <a:extLst>
                <a:ext uri="{FF2B5EF4-FFF2-40B4-BE49-F238E27FC236}">
                  <a16:creationId xmlns:a16="http://schemas.microsoft.com/office/drawing/2014/main" id="{4EC37065-ABD0-0C22-E9E8-779F8FE5CE88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Etablierte und gelebte Kultur</a:t>
              </a:r>
            </a:p>
          </p:txBody>
        </p:sp>
        <p:grpSp>
          <p:nvGrpSpPr>
            <p:cNvPr id="48" name="Group 182">
              <a:extLst>
                <a:ext uri="{FF2B5EF4-FFF2-40B4-BE49-F238E27FC236}">
                  <a16:creationId xmlns:a16="http://schemas.microsoft.com/office/drawing/2014/main" id="{501D94E2-8D62-0ED8-A149-D6143C7A10B5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49" name="Oval 183">
                <a:extLst>
                  <a:ext uri="{FF2B5EF4-FFF2-40B4-BE49-F238E27FC236}">
                    <a16:creationId xmlns:a16="http://schemas.microsoft.com/office/drawing/2014/main" id="{D3BFA291-66E2-9436-9995-51A89572C01C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50" name="Graphic 148">
                <a:extLst>
                  <a:ext uri="{FF2B5EF4-FFF2-40B4-BE49-F238E27FC236}">
                    <a16:creationId xmlns:a16="http://schemas.microsoft.com/office/drawing/2014/main" id="{06F8194C-69FC-00F9-F03D-1FB238B293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51" name="Gruppieren 50">
            <a:extLst>
              <a:ext uri="{FF2B5EF4-FFF2-40B4-BE49-F238E27FC236}">
                <a16:creationId xmlns:a16="http://schemas.microsoft.com/office/drawing/2014/main" id="{7EBA4D88-890B-B591-AA83-E8F8B8DF7FD5}"/>
              </a:ext>
            </a:extLst>
          </p:cNvPr>
          <p:cNvGrpSpPr/>
          <p:nvPr/>
        </p:nvGrpSpPr>
        <p:grpSpPr>
          <a:xfrm>
            <a:off x="6621464" y="5193275"/>
            <a:ext cx="5092699" cy="313200"/>
            <a:chOff x="479426" y="1653882"/>
            <a:chExt cx="5092699" cy="313200"/>
          </a:xfrm>
        </p:grpSpPr>
        <p:sp>
          <p:nvSpPr>
            <p:cNvPr id="52" name="Rechteck 51">
              <a:extLst>
                <a:ext uri="{FF2B5EF4-FFF2-40B4-BE49-F238E27FC236}">
                  <a16:creationId xmlns:a16="http://schemas.microsoft.com/office/drawing/2014/main" id="{D3B2A1C2-D2F7-88A7-414D-97C964B50FF9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Lorem </a:t>
              </a:r>
              <a:r>
                <a:rPr lang="de-DE" err="1"/>
                <a:t>ipsum</a:t>
              </a:r>
              <a:r>
                <a:rPr lang="de-DE"/>
                <a:t> </a:t>
              </a:r>
              <a:r>
                <a:rPr lang="de-DE" err="1"/>
                <a:t>dolor</a:t>
              </a:r>
              <a:endParaRPr lang="de-DE"/>
            </a:p>
          </p:txBody>
        </p:sp>
        <p:grpSp>
          <p:nvGrpSpPr>
            <p:cNvPr id="53" name="Group 182">
              <a:extLst>
                <a:ext uri="{FF2B5EF4-FFF2-40B4-BE49-F238E27FC236}">
                  <a16:creationId xmlns:a16="http://schemas.microsoft.com/office/drawing/2014/main" id="{11531A35-7860-FFE1-161E-71E77936F258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54" name="Oval 183">
                <a:extLst>
                  <a:ext uri="{FF2B5EF4-FFF2-40B4-BE49-F238E27FC236}">
                    <a16:creationId xmlns:a16="http://schemas.microsoft.com/office/drawing/2014/main" id="{8F149A27-11F0-AFD9-1DCC-E5436AAC89DA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55" name="Graphic 148">
                <a:extLst>
                  <a:ext uri="{FF2B5EF4-FFF2-40B4-BE49-F238E27FC236}">
                    <a16:creationId xmlns:a16="http://schemas.microsoft.com/office/drawing/2014/main" id="{FD370D0B-8C34-91A5-6EBC-D48C0BF5605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sp>
        <p:nvSpPr>
          <p:cNvPr id="56" name="RbLeanShape Right U-Shape 17">
            <a:extLst>
              <a:ext uri="{FF2B5EF4-FFF2-40B4-BE49-F238E27FC236}">
                <a16:creationId xmlns:a16="http://schemas.microsoft.com/office/drawing/2014/main" id="{9E661E89-1AC8-1B3C-BFFA-9B5790A8C41E}"/>
              </a:ext>
            </a:extLst>
          </p:cNvPr>
          <p:cNvSpPr>
            <a:spLocks/>
          </p:cNvSpPr>
          <p:nvPr/>
        </p:nvSpPr>
        <p:spPr>
          <a:xfrm>
            <a:off x="6216650" y="1603375"/>
            <a:ext cx="5497513" cy="4847271"/>
          </a:xfrm>
          <a:custGeom>
            <a:avLst/>
            <a:gdLst>
              <a:gd name="connsiteX0" fmla="*/ 1270000 w 1270000"/>
              <a:gd name="connsiteY0" fmla="*/ 0 h 3175000"/>
              <a:gd name="connsiteX1" fmla="*/ 0 w 1270000"/>
              <a:gd name="connsiteY1" fmla="*/ 0 h 3175000"/>
              <a:gd name="connsiteX2" fmla="*/ 0 w 1270000"/>
              <a:gd name="connsiteY2" fmla="*/ 3175000 h 3175000"/>
              <a:gd name="connsiteX3" fmla="*/ 1270000 w 1270000"/>
              <a:gd name="connsiteY3" fmla="*/ 3175000 h 31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0000" h="3175000">
                <a:moveTo>
                  <a:pt x="1270000" y="0"/>
                </a:moveTo>
                <a:lnTo>
                  <a:pt x="0" y="0"/>
                </a:lnTo>
                <a:lnTo>
                  <a:pt x="0" y="3175000"/>
                </a:lnTo>
                <a:lnTo>
                  <a:pt x="1270000" y="3175000"/>
                </a:lnTo>
              </a:path>
            </a:pathLst>
          </a:cu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fontAlgn="base">
              <a:lnSpc>
                <a:spcPct val="90000"/>
              </a:lnSpc>
              <a:spcAft>
                <a:spcPct val="0"/>
              </a:spcAft>
            </a:pPr>
            <a:endParaRPr lang="de-DE"/>
          </a:p>
        </p:txBody>
      </p:sp>
      <p:sp>
        <p:nvSpPr>
          <p:cNvPr id="57" name="RbLeanShape Right U-Shape 17">
            <a:extLst>
              <a:ext uri="{FF2B5EF4-FFF2-40B4-BE49-F238E27FC236}">
                <a16:creationId xmlns:a16="http://schemas.microsoft.com/office/drawing/2014/main" id="{E00F47B4-DAD4-09E8-2BD6-82C2B06D3C63}"/>
              </a:ext>
            </a:extLst>
          </p:cNvPr>
          <p:cNvSpPr>
            <a:spLocks/>
          </p:cNvSpPr>
          <p:nvPr/>
        </p:nvSpPr>
        <p:spPr>
          <a:xfrm flipH="1">
            <a:off x="479426" y="1603375"/>
            <a:ext cx="5497513" cy="4847271"/>
          </a:xfrm>
          <a:custGeom>
            <a:avLst/>
            <a:gdLst>
              <a:gd name="connsiteX0" fmla="*/ 1270000 w 1270000"/>
              <a:gd name="connsiteY0" fmla="*/ 0 h 3175000"/>
              <a:gd name="connsiteX1" fmla="*/ 0 w 1270000"/>
              <a:gd name="connsiteY1" fmla="*/ 0 h 3175000"/>
              <a:gd name="connsiteX2" fmla="*/ 0 w 1270000"/>
              <a:gd name="connsiteY2" fmla="*/ 3175000 h 3175000"/>
              <a:gd name="connsiteX3" fmla="*/ 1270000 w 1270000"/>
              <a:gd name="connsiteY3" fmla="*/ 3175000 h 31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0000" h="3175000">
                <a:moveTo>
                  <a:pt x="1270000" y="0"/>
                </a:moveTo>
                <a:lnTo>
                  <a:pt x="0" y="0"/>
                </a:lnTo>
                <a:lnTo>
                  <a:pt x="0" y="3175000"/>
                </a:lnTo>
                <a:lnTo>
                  <a:pt x="1270000" y="3175000"/>
                </a:lnTo>
              </a:path>
            </a:pathLst>
          </a:cu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fontAlgn="base">
              <a:lnSpc>
                <a:spcPct val="90000"/>
              </a:lnSpc>
              <a:spcAft>
                <a:spcPct val="0"/>
              </a:spcAft>
            </a:pPr>
            <a:endParaRPr lang="de-DE"/>
          </a:p>
        </p:txBody>
      </p:sp>
      <p:sp>
        <p:nvSpPr>
          <p:cNvPr id="61" name="ListLeanHorizontalTextDetail2">
            <a:extLst>
              <a:ext uri="{FF2B5EF4-FFF2-40B4-BE49-F238E27FC236}">
                <a16:creationId xmlns:a16="http://schemas.microsoft.com/office/drawing/2014/main" id="{AEF86CE4-6D00-6407-4349-A11EC1C7F9A2}"/>
              </a:ext>
            </a:extLst>
          </p:cNvPr>
          <p:cNvSpPr txBox="1">
            <a:spLocks/>
          </p:cNvSpPr>
          <p:nvPr/>
        </p:nvSpPr>
        <p:spPr>
          <a:xfrm>
            <a:off x="7068607" y="1944602"/>
            <a:ext cx="4643967" cy="33560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lnSpc>
                <a:spcPct val="90000"/>
              </a:lnSpc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 err="1">
                <a:latin typeface="STIHL Contraface Display Title" panose="02000600040000020004" pitchFamily="50" charset="0"/>
              </a:rPr>
              <a:t>Prozess</a:t>
            </a:r>
            <a:r>
              <a:rPr lang="en-US" sz="2400" b="1">
                <a:latin typeface="STIHL Contraface Display Title" panose="02000600040000020004" pitchFamily="50" charset="0"/>
              </a:rPr>
              <a:t> &amp; governance</a:t>
            </a:r>
            <a:endParaRPr lang="en-US" sz="1400" b="1">
              <a:latin typeface="STIHL Contraface Display Title" panose="02000600040000020004" pitchFamily="50" charset="0"/>
            </a:endParaRPr>
          </a:p>
        </p:txBody>
      </p:sp>
      <p:sp>
        <p:nvSpPr>
          <p:cNvPr id="58" name="ListLeanHorizontalTextDetail2">
            <a:extLst>
              <a:ext uri="{FF2B5EF4-FFF2-40B4-BE49-F238E27FC236}">
                <a16:creationId xmlns:a16="http://schemas.microsoft.com/office/drawing/2014/main" id="{FF287C19-A269-C0AB-71CE-CD8FB4A8EAFF}"/>
              </a:ext>
            </a:extLst>
          </p:cNvPr>
          <p:cNvSpPr txBox="1">
            <a:spLocks/>
          </p:cNvSpPr>
          <p:nvPr/>
        </p:nvSpPr>
        <p:spPr>
          <a:xfrm>
            <a:off x="981145" y="1944602"/>
            <a:ext cx="3349495" cy="33560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lnSpc>
                <a:spcPct val="90000"/>
              </a:lnSpc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latin typeface="STIHL Contraface Display Title" panose="02000600040000020004" pitchFamily="50" charset="0"/>
              </a:rPr>
              <a:t>SOFTWARE</a:t>
            </a:r>
            <a:endParaRPr lang="en-US" sz="1400" b="1">
              <a:latin typeface="STIHL Contraface Display Title" panose="02000600040000020004" pitchFamily="50" charset="0"/>
            </a:endParaRPr>
          </a:p>
        </p:txBody>
      </p:sp>
      <p:sp>
        <p:nvSpPr>
          <p:cNvPr id="62" name="ListLeanHorizontalTextDetail2">
            <a:extLst>
              <a:ext uri="{FF2B5EF4-FFF2-40B4-BE49-F238E27FC236}">
                <a16:creationId xmlns:a16="http://schemas.microsoft.com/office/drawing/2014/main" id="{4EDDDF80-17A4-82CB-D4CC-0ED42098FE8E}"/>
              </a:ext>
            </a:extLst>
          </p:cNvPr>
          <p:cNvSpPr txBox="1">
            <a:spLocks/>
          </p:cNvSpPr>
          <p:nvPr/>
        </p:nvSpPr>
        <p:spPr>
          <a:xfrm>
            <a:off x="479426" y="1944602"/>
            <a:ext cx="334800" cy="33560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A</a:t>
            </a:r>
            <a:endParaRPr lang="en-US" sz="14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  <p:sp>
        <p:nvSpPr>
          <p:cNvPr id="63" name="ListLeanHorizontalTextDetail2">
            <a:extLst>
              <a:ext uri="{FF2B5EF4-FFF2-40B4-BE49-F238E27FC236}">
                <a16:creationId xmlns:a16="http://schemas.microsoft.com/office/drawing/2014/main" id="{CB2CDAE3-4F76-BEA6-7F2F-0F94BDB91A5C}"/>
              </a:ext>
            </a:extLst>
          </p:cNvPr>
          <p:cNvSpPr txBox="1">
            <a:spLocks/>
          </p:cNvSpPr>
          <p:nvPr/>
        </p:nvSpPr>
        <p:spPr>
          <a:xfrm>
            <a:off x="6621464" y="1944602"/>
            <a:ext cx="334800" cy="33560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B</a:t>
            </a:r>
            <a:endParaRPr lang="en-US" sz="14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65943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8E327-4776-E6CB-065D-FD93039E5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4AF0C6F4-554A-EBBB-3CC2-1100573FE72A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874712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AF0C6F4-554A-EBBB-3CC2-1100573FE7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FEEF5E8F-E7E6-6BFC-89D5-28456653C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503546"/>
            <a:ext cx="9063988" cy="304699"/>
          </a:xfrm>
        </p:spPr>
        <p:txBody>
          <a:bodyPr vert="horz" rIns="0"/>
          <a:lstStyle/>
          <a:p>
            <a:r>
              <a:rPr lang="en-US" sz="2400"/>
              <a:t>Vorprojekt SNOW – </a:t>
            </a:r>
            <a:r>
              <a:rPr lang="en-US" sz="2400">
                <a:solidFill>
                  <a:schemeClr val="accent2"/>
                </a:solidFill>
              </a:rPr>
              <a:t>Überblick</a:t>
            </a:r>
            <a:endParaRPr lang="en-US" b="0">
              <a:solidFill>
                <a:schemeClr val="accent2"/>
              </a:solidFill>
            </a:endParaRPr>
          </a:p>
        </p:txBody>
      </p:sp>
      <p:sp>
        <p:nvSpPr>
          <p:cNvPr id="4" name="ListLeanHorizontalTextDetail2">
            <a:extLst>
              <a:ext uri="{FF2B5EF4-FFF2-40B4-BE49-F238E27FC236}">
                <a16:creationId xmlns:a16="http://schemas.microsoft.com/office/drawing/2014/main" id="{10CEE9D7-C502-5404-46DB-E9C53CDE23A0}"/>
              </a:ext>
            </a:extLst>
          </p:cNvPr>
          <p:cNvSpPr txBox="1">
            <a:spLocks/>
          </p:cNvSpPr>
          <p:nvPr/>
        </p:nvSpPr>
        <p:spPr>
          <a:xfrm>
            <a:off x="479426" y="487817"/>
            <a:ext cx="334800" cy="33560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A</a:t>
            </a:r>
            <a:endParaRPr lang="en-US" sz="14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72D1F170-D581-C10C-237A-3BF1731414EE}"/>
              </a:ext>
            </a:extLst>
          </p:cNvPr>
          <p:cNvSpPr/>
          <p:nvPr/>
        </p:nvSpPr>
        <p:spPr>
          <a:xfrm>
            <a:off x="479426" y="1603375"/>
            <a:ext cx="3240000" cy="33115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635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035AD424-F22A-D9C3-9969-9F66DA02C828}"/>
              </a:ext>
            </a:extLst>
          </p:cNvPr>
          <p:cNvSpPr/>
          <p:nvPr/>
        </p:nvSpPr>
        <p:spPr>
          <a:xfrm>
            <a:off x="8472574" y="1603375"/>
            <a:ext cx="3240000" cy="4851400"/>
          </a:xfrm>
          <a:prstGeom prst="rect">
            <a:avLst/>
          </a:prstGeom>
          <a:solidFill>
            <a:schemeClr val="bg2"/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C3668B76-0FF5-2F76-F91B-BAD84739529B}"/>
              </a:ext>
            </a:extLst>
          </p:cNvPr>
          <p:cNvSpPr/>
          <p:nvPr/>
        </p:nvSpPr>
        <p:spPr>
          <a:xfrm>
            <a:off x="3954780" y="1603375"/>
            <a:ext cx="4294187" cy="48514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E8C94B4B-CF48-532F-CE3A-611563F07E08}"/>
              </a:ext>
            </a:extLst>
          </p:cNvPr>
          <p:cNvSpPr/>
          <p:nvPr/>
        </p:nvSpPr>
        <p:spPr>
          <a:xfrm>
            <a:off x="479426" y="5135880"/>
            <a:ext cx="3240000" cy="1318895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C1FD92FC-610E-8F71-E629-9A2544D5D0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32105" y="1737360"/>
            <a:ext cx="2436809" cy="461952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67F566D8-AF3E-2229-19FF-67C6C52E4327}"/>
              </a:ext>
            </a:extLst>
          </p:cNvPr>
          <p:cNvSpPr txBox="1"/>
          <p:nvPr/>
        </p:nvSpPr>
        <p:spPr>
          <a:xfrm>
            <a:off x="8709660" y="2956900"/>
            <a:ext cx="2804159" cy="104028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600"/>
              <a:t>…</a:t>
            </a:r>
          </a:p>
          <a:p>
            <a:pPr marL="182563" indent="-182563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600"/>
              <a:t>…</a:t>
            </a:r>
          </a:p>
          <a:p>
            <a:pPr marL="182563" indent="-182563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600"/>
              <a:t>…</a:t>
            </a:r>
          </a:p>
          <a:p>
            <a:pPr marL="182563" indent="-182563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600"/>
              <a:t>…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E8080061-DA54-0177-A3CF-F9C03FE03ABA}"/>
              </a:ext>
            </a:extLst>
          </p:cNvPr>
          <p:cNvSpPr/>
          <p:nvPr/>
        </p:nvSpPr>
        <p:spPr>
          <a:xfrm>
            <a:off x="606314" y="1716112"/>
            <a:ext cx="298622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b="1"/>
              <a:t>Zielsetzung: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E24DF227-CCA8-54FC-2822-E8E226818300}"/>
              </a:ext>
            </a:extLst>
          </p:cNvPr>
          <p:cNvSpPr/>
          <p:nvPr/>
        </p:nvSpPr>
        <p:spPr>
          <a:xfrm>
            <a:off x="606314" y="2119972"/>
            <a:ext cx="2986224" cy="9848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>
              <a:lnSpc>
                <a:spcPct val="100000"/>
              </a:lnSpc>
              <a:spcAft>
                <a:spcPts val="0"/>
              </a:spcAft>
              <a:defRPr/>
            </a:pPr>
            <a:r>
              <a:rPr lang="en-US" sz="1600" b="1" err="1"/>
              <a:t>Erarbeitung</a:t>
            </a:r>
            <a:r>
              <a:rPr lang="en-US" sz="1600" b="1"/>
              <a:t> </a:t>
            </a:r>
            <a:r>
              <a:rPr lang="en-US" sz="1600" err="1"/>
              <a:t>eines</a:t>
            </a:r>
            <a:r>
              <a:rPr lang="en-US" sz="1600" b="1"/>
              <a:t> Zielbildes „Strategy to Execution Portfolio/Project Management” </a:t>
            </a:r>
            <a:r>
              <a:rPr lang="en-US" sz="1600" err="1"/>
              <a:t>durch</a:t>
            </a:r>
            <a:r>
              <a:rPr lang="en-US" sz="1600"/>
              <a:t> Collaboration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4ABB571B-8FBA-58EF-D69E-D60CE804A82A}"/>
              </a:ext>
            </a:extLst>
          </p:cNvPr>
          <p:cNvSpPr/>
          <p:nvPr/>
        </p:nvSpPr>
        <p:spPr>
          <a:xfrm>
            <a:off x="606314" y="5251792"/>
            <a:ext cx="298622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b="1" err="1"/>
              <a:t>Zeitleiste</a:t>
            </a:r>
            <a:r>
              <a:rPr lang="en-US" b="1"/>
              <a:t>: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CAA5560B-1B52-0CF2-0CDF-7093E8C754C6}"/>
              </a:ext>
            </a:extLst>
          </p:cNvPr>
          <p:cNvSpPr/>
          <p:nvPr/>
        </p:nvSpPr>
        <p:spPr>
          <a:xfrm>
            <a:off x="606314" y="5749771"/>
            <a:ext cx="2986224" cy="24622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 sz="1600"/>
              <a:t>01 /2026 - 04 /2026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72132586-AB17-ABC5-147C-4CFCBA156520}"/>
              </a:ext>
            </a:extLst>
          </p:cNvPr>
          <p:cNvSpPr/>
          <p:nvPr/>
        </p:nvSpPr>
        <p:spPr>
          <a:xfrm>
            <a:off x="4111410" y="1716112"/>
            <a:ext cx="398092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b="1"/>
              <a:t>Umfang: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8BFCDF41-0112-321C-884C-8ADF2B4A3E5A}"/>
              </a:ext>
            </a:extLst>
          </p:cNvPr>
          <p:cNvSpPr/>
          <p:nvPr/>
        </p:nvSpPr>
        <p:spPr>
          <a:xfrm>
            <a:off x="4111410" y="2119972"/>
            <a:ext cx="3980926" cy="196977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 sz="1600"/>
              <a:t>Prüfung sämtlicher Perspektiven:</a:t>
            </a:r>
          </a:p>
          <a:p>
            <a:pPr marL="342900" indent="-342900">
              <a:buFont typeface="STIHL Contraface Text"/>
              <a:buAutoNum type="arabicPeriod"/>
            </a:pPr>
            <a:r>
              <a:rPr lang="en-US" sz="1600"/>
              <a:t>Strategische Produktplanung</a:t>
            </a:r>
          </a:p>
          <a:p>
            <a:pPr marL="342900" indent="-342900">
              <a:buAutoNum type="arabicPeriod"/>
            </a:pPr>
            <a:r>
              <a:rPr lang="en-US" sz="1600"/>
              <a:t>Produktprojekte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/>
              <a:t>Infrastruktur-Projekte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/>
              <a:t>Sonderprojekte</a:t>
            </a:r>
          </a:p>
          <a:p>
            <a:pPr marL="342900" indent="-342900">
              <a:buAutoNum type="arabicPeriod"/>
            </a:pPr>
            <a:r>
              <a:rPr lang="en-US" sz="1600"/>
              <a:t>Strategische Verzielung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/>
              <a:t>IT-Projekte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/>
              <a:t>EV-Prozess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926772F8-733D-DB31-84CA-9EC0171BF5B0}"/>
              </a:ext>
            </a:extLst>
          </p:cNvPr>
          <p:cNvSpPr txBox="1"/>
          <p:nvPr/>
        </p:nvSpPr>
        <p:spPr>
          <a:xfrm>
            <a:off x="8709660" y="4650021"/>
            <a:ext cx="2804159" cy="2492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b="1" err="1"/>
              <a:t>Referenzen</a:t>
            </a:r>
            <a:r>
              <a:rPr lang="en-US" b="1"/>
              <a:t>:</a:t>
            </a:r>
          </a:p>
        </p:txBody>
      </p:sp>
      <p:sp>
        <p:nvSpPr>
          <p:cNvPr id="23" name="Rechteck 11">
            <a:extLst>
              <a:ext uri="{FF2B5EF4-FFF2-40B4-BE49-F238E27FC236}">
                <a16:creationId xmlns:a16="http://schemas.microsoft.com/office/drawing/2014/main" id="{3BB50875-B87D-24B7-A618-B6373E449281}"/>
              </a:ext>
            </a:extLst>
          </p:cNvPr>
          <p:cNvSpPr/>
          <p:nvPr/>
        </p:nvSpPr>
        <p:spPr>
          <a:xfrm>
            <a:off x="606314" y="3220769"/>
            <a:ext cx="2986224" cy="123110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>
              <a:defRPr/>
            </a:pPr>
            <a:r>
              <a:rPr lang="en-US" sz="1600" err="1"/>
              <a:t>Umsetzung</a:t>
            </a:r>
            <a:r>
              <a:rPr lang="en-US" sz="1600"/>
              <a:t> </a:t>
            </a:r>
            <a:r>
              <a:rPr lang="en-US" sz="1600" err="1"/>
              <a:t>eines</a:t>
            </a:r>
            <a:r>
              <a:rPr lang="en-US" sz="1600"/>
              <a:t> </a:t>
            </a:r>
            <a:r>
              <a:rPr lang="en-US" sz="1600" b="1" err="1"/>
              <a:t>Prüfauftrages</a:t>
            </a:r>
            <a:r>
              <a:rPr lang="en-US" sz="1600" b="1"/>
              <a:t> </a:t>
            </a:r>
            <a:r>
              <a:rPr lang="en-US" sz="1600"/>
              <a:t>für die </a:t>
            </a:r>
            <a:r>
              <a:rPr lang="en-US" sz="1600" b="1" err="1"/>
              <a:t>Konsolidierung</a:t>
            </a:r>
            <a:r>
              <a:rPr lang="en-US" sz="1600" b="1"/>
              <a:t> von </a:t>
            </a:r>
            <a:r>
              <a:rPr lang="en-US" sz="1600" b="1" err="1"/>
              <a:t>Einzellösungen</a:t>
            </a:r>
            <a:r>
              <a:rPr lang="en-US" sz="1600"/>
              <a:t> in </a:t>
            </a:r>
            <a:r>
              <a:rPr lang="en-US" sz="1600" err="1"/>
              <a:t>eine</a:t>
            </a:r>
            <a:r>
              <a:rPr lang="en-US" sz="1600"/>
              <a:t> </a:t>
            </a:r>
          </a:p>
          <a:p>
            <a:pPr lvl="0">
              <a:defRPr/>
            </a:pPr>
            <a:r>
              <a:rPr lang="en-US" sz="1600" err="1"/>
              <a:t>strategische</a:t>
            </a:r>
            <a:r>
              <a:rPr lang="en-US" sz="1600"/>
              <a:t> </a:t>
            </a:r>
            <a:r>
              <a:rPr lang="en-US" sz="1600" err="1"/>
              <a:t>Plattform</a:t>
            </a:r>
            <a:r>
              <a:rPr lang="en-US" sz="1600"/>
              <a:t> </a:t>
            </a:r>
            <a:r>
              <a:rPr lang="en-US" sz="1600" err="1"/>
              <a:t>mit</a:t>
            </a:r>
            <a:r>
              <a:rPr lang="en-US" sz="1600"/>
              <a:t> </a:t>
            </a:r>
            <a:r>
              <a:rPr lang="en-US" sz="1600" b="1"/>
              <a:t>ServiceNow</a:t>
            </a:r>
          </a:p>
        </p:txBody>
      </p:sp>
      <p:pic>
        <p:nvPicPr>
          <p:cNvPr id="24" name="Grafik 9">
            <a:extLst>
              <a:ext uri="{FF2B5EF4-FFF2-40B4-BE49-F238E27FC236}">
                <a16:creationId xmlns:a16="http://schemas.microsoft.com/office/drawing/2014/main" id="{F7ED6A9B-2B20-82A1-B2A6-C0734415442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42338" y="2248068"/>
            <a:ext cx="2412000" cy="38413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CC2FB42-53A8-3B38-6B26-FE92FCFE8AC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40536" y="4994275"/>
            <a:ext cx="2721429" cy="52523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26954225-519D-353D-C5EB-B8784E445B8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39855" y="5682342"/>
            <a:ext cx="1552575" cy="6096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9CD86D7-2C82-B1E0-F948-F9D1B5399E5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49139" y="5684157"/>
            <a:ext cx="1363436" cy="234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036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9749B-B6E5-1C74-9F74-27B933C33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30480"/>
            <a:ext cx="1066800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ServiceNow SPM – Eine Plattform von der Strategie bis zur Umsetzung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243840"/>
            <a:ext cx="106680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300" b="0" i="1">
                <a:solidFill>
                  <a:srgbClr val="D1D5DB"/>
                </a:solidFill>
                <a:latin typeface="Calibri"/>
              </a:rPr>
              <a:t>Integrierter Leistungsumfang zur Ablösung fragmentierter Einzeltools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0"/>
            <a:ext cx="762000" cy="457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0"/>
            <a:ext cx="762000" cy="4572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Folie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5280" y="647700"/>
            <a:ext cx="2834640" cy="41910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4800" y="67818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4800" y="86106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Calibri"/>
              </a:rPr>
              <a:t>Ziele setzen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154680" y="803910"/>
            <a:ext cx="91440" cy="106680"/>
          </a:xfrm>
          <a:prstGeom prst="rightArrow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230880" y="647700"/>
            <a:ext cx="2834640" cy="419100"/>
          </a:xfrm>
          <a:prstGeom prst="roundRect">
            <a:avLst/>
          </a:prstGeom>
          <a:solidFill>
            <a:srgbClr val="E96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0" y="67818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86106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Calibri"/>
              </a:rPr>
              <a:t>Priorisieren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050280" y="803910"/>
            <a:ext cx="91440" cy="106680"/>
          </a:xfrm>
          <a:prstGeom prst="rightArrow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26480" y="647700"/>
            <a:ext cx="2834640" cy="419100"/>
          </a:xfrm>
          <a:prstGeom prst="roundRect">
            <a:avLst/>
          </a:prstGeom>
          <a:solidFill>
            <a:srgbClr val="C95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6000" y="67818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EXECUTE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0" y="86106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Calibri"/>
              </a:rPr>
              <a:t>Umsetzen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945880" y="803910"/>
            <a:ext cx="91440" cy="106680"/>
          </a:xfrm>
          <a:prstGeom prst="rightArrow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022080" y="647700"/>
            <a:ext cx="2834640" cy="419100"/>
          </a:xfrm>
          <a:prstGeom prst="roundRect">
            <a:avLst/>
          </a:prstGeom>
          <a:solidFill>
            <a:srgbClr val="9C3F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91600" y="67818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DELIVER &amp; RUN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91600" y="86106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Calibri"/>
              </a:rPr>
              <a:t>Wertbeitrag sichern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1000" y="11125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1000" y="11125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Strategic Planning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1000" y="15697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1000" y="15697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Goal Framework / OKR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1000" y="20269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1000" y="20269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Investment Funding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76600" y="11125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6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76600" y="11125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1F2937"/>
                </a:solidFill>
                <a:latin typeface="Calibri"/>
              </a:rPr>
              <a:t>Demand Management ★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76600" y="15697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6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76600" y="15697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Portfolio Management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76600" y="20269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6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76600" y="20269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Innovation / Idea Mgmt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72200" y="11125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5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200" y="11125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Project Management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15697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5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72200" y="15697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Resource Management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72200" y="20269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5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72200" y="20269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Agile / SAFe Workflows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067800" y="11125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C3F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67800" y="11125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Application Portfolio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67800" y="15697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C3F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67800" y="15697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Benefits / Outcomes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067800" y="20269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C3F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067800" y="20269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Reporting &amp; Dashboards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04800" y="2545080"/>
            <a:ext cx="115824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000" b="0" i="1">
                <a:solidFill>
                  <a:srgbClr val="F07F12"/>
                </a:solidFill>
                <a:latin typeface="Calibri"/>
              </a:rPr>
              <a:t>★ Demand = Connector zwischen Backlog und Portfolio  (vgl. Zielbild PPM, Folie 22)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04800" y="2743200"/>
            <a:ext cx="11582400" cy="41910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95300" y="2781300"/>
            <a:ext cx="30480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Plattform-Fundament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5300" y="2948940"/>
            <a:ext cx="112014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Eine Datenbasis  ·  Workflows  ·  Rollenmodell  ·  Dashboards  ·  KI / Now Assist  ·  Integrationen (SAP, PIT, EV)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04800" y="3276600"/>
            <a:ext cx="115824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Calibri"/>
              </a:rPr>
              <a:t>Was leistet ServiceNow SPM – und welchen STIHL-Pain-Point löst es?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04800" y="3474720"/>
            <a:ext cx="5715000" cy="56388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04800" y="3474720"/>
            <a:ext cx="68580" cy="56388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26720" y="3512820"/>
            <a:ext cx="55626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Strategy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6720" y="3657600"/>
            <a:ext cx="5562600" cy="2590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Strategische Ziele, OKRs und Investitionsrahmen direkt mit dem Portfolio verknüpft.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26720" y="3886200"/>
            <a:ext cx="5562600" cy="13716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00" b="0" i="1">
                <a:solidFill>
                  <a:srgbClr val="B91C1C"/>
                </a:solidFill>
                <a:latin typeface="Calibri"/>
              </a:rPr>
              <a:t>→ heute: keine durchgängige Priorisierungslogik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172200" y="3474720"/>
            <a:ext cx="5715000" cy="56388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172200" y="3474720"/>
            <a:ext cx="68580" cy="563880"/>
          </a:xfrm>
          <a:prstGeom prst="rect">
            <a:avLst/>
          </a:prstGeom>
          <a:solidFill>
            <a:srgbClr val="E96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294120" y="3512820"/>
            <a:ext cx="55626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Plan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94120" y="3657600"/>
            <a:ext cx="5562600" cy="2590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Demands, Ideen und Projekte zentral erfassen, bewerten und priorisieren.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94120" y="3886200"/>
            <a:ext cx="5562600" cy="13716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00" b="0" i="1">
                <a:solidFill>
                  <a:srgbClr val="B91C1C"/>
                </a:solidFill>
                <a:latin typeface="Calibri"/>
              </a:rPr>
              <a:t>→ heute: Parallel-Prozesse, intransparente Gremien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04800" y="4114800"/>
            <a:ext cx="5715000" cy="56388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04800" y="4114800"/>
            <a:ext cx="68580" cy="563880"/>
          </a:xfrm>
          <a:prstGeom prst="rect">
            <a:avLst/>
          </a:prstGeom>
          <a:solidFill>
            <a:srgbClr val="C95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26720" y="4152900"/>
            <a:ext cx="55626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Execute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26720" y="4297680"/>
            <a:ext cx="5562600" cy="2590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Klassisches, agiles und hybrides PM inkl. Ressourcen- und Finanzsteuerung in einem System.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26720" y="4526280"/>
            <a:ext cx="5562600" cy="13716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00" b="0" i="1">
                <a:solidFill>
                  <a:srgbClr val="B91C1C"/>
                </a:solidFill>
                <a:latin typeface="Calibri"/>
              </a:rPr>
              <a:t>→ heute: PIT / MSPO abgekündigt, manuelle Datenhaltung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172200" y="4114800"/>
            <a:ext cx="5715000" cy="56388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172200" y="4114800"/>
            <a:ext cx="68580" cy="563880"/>
          </a:xfrm>
          <a:prstGeom prst="rect">
            <a:avLst/>
          </a:prstGeom>
          <a:solidFill>
            <a:srgbClr val="9C3F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294120" y="4152900"/>
            <a:ext cx="55626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Deliver &amp; Run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294120" y="4297680"/>
            <a:ext cx="5562600" cy="2590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Nutzen-Tracking, Anwendungsportfolio und Live-Reporting für Vorstand und Bereiche.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294120" y="4526280"/>
            <a:ext cx="5562600" cy="13716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00" b="0" i="1">
                <a:solidFill>
                  <a:srgbClr val="B91C1C"/>
                </a:solidFill>
                <a:latin typeface="Calibri"/>
              </a:rPr>
              <a:t>→ heute: bereichsübergreifende Intransparenz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04800" y="4876800"/>
            <a:ext cx="11582400" cy="16764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Calibri"/>
              </a:rPr>
              <a:t>Kernbotschaften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304800" y="5044440"/>
            <a:ext cx="3784600" cy="655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65760" y="5105400"/>
            <a:ext cx="228600" cy="22860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20000" bIns="20000"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24840" y="5097780"/>
            <a:ext cx="344170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End-to-end statt Insellösung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24840" y="5273040"/>
            <a:ext cx="34417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Durchgängiger Prozess von Strategie bis Betrieb – ohne Medienbrüche.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203700" y="5044440"/>
            <a:ext cx="3784600" cy="655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4264660" y="5105400"/>
            <a:ext cx="228600" cy="22860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20000" bIns="20000"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3740" y="5097780"/>
            <a:ext cx="344170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Standard statt Eigenbau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523740" y="5273040"/>
            <a:ext cx="34417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Releasefähige Module, Best-Practice-Workflows; Phase 1: Demand, Strategy, MDM, Portfolio.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102600" y="5044440"/>
            <a:ext cx="3784600" cy="655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8163559" y="5105400"/>
            <a:ext cx="228600" cy="22860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20000" bIns="20000"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422640" y="5097780"/>
            <a:ext cx="344170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Plattform statt Tool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422640" y="5273040"/>
            <a:ext cx="34417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Gemeinsame Datenbasis mit ITSM, EV, Workflows – ausbaubar auf weitere Geschäftsthemen.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04800" y="6576060"/>
            <a:ext cx="11582400" cy="16764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Quelle: ServiceNow SPM Pro/Enterprise – Modul-Detail siehe Backup   |   Gartner Magic Quadrant SPM: Leader 2024 / 2025</a:t>
            </a:r>
          </a:p>
        </p:txBody>
      </p:sp>
      <p:sp>
        <p:nvSpPr>
          <p:cNvPr id="85" name="Rectangle 84"/>
          <p:cNvSpPr/>
          <p:nvPr/>
        </p:nvSpPr>
        <p:spPr>
          <a:xfrm>
            <a:off x="0" y="6804660"/>
            <a:ext cx="12192000" cy="533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207586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50BC8-C207-B875-E1CE-477F7CA9C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03B845D5-92C4-387E-924E-A9F1C185FD1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6142570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408" imgH="408" progId="TCLayout.ActiveDocument.1">
                  <p:embed/>
                </p:oleObj>
              </mc:Choice>
              <mc:Fallback>
                <p:oleObj name="think-cell Slide" r:id="rId15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3B845D5-92C4-387E-924E-A9F1C185FD1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A3A5BEF6-C762-0404-DD2D-0EEB3C379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503546"/>
            <a:ext cx="9063988" cy="304699"/>
          </a:xfrm>
        </p:spPr>
        <p:txBody>
          <a:bodyPr vert="horz" rIns="0"/>
          <a:lstStyle/>
          <a:p>
            <a:r>
              <a:rPr lang="de-DE" sz="2400"/>
              <a:t>Vorprojekt SNOW – </a:t>
            </a:r>
            <a:r>
              <a:rPr lang="de-DE" sz="2400">
                <a:solidFill>
                  <a:schemeClr val="accent2"/>
                </a:solidFill>
              </a:rPr>
              <a:t>Ergebnisse (1 von 2)</a:t>
            </a:r>
            <a:endParaRPr lang="de-DE" b="0">
              <a:solidFill>
                <a:schemeClr val="accent2"/>
              </a:solidFill>
            </a:endParaRPr>
          </a:p>
        </p:txBody>
      </p:sp>
      <p:sp>
        <p:nvSpPr>
          <p:cNvPr id="4" name="ListLeanHorizontalTextDetail2">
            <a:extLst>
              <a:ext uri="{FF2B5EF4-FFF2-40B4-BE49-F238E27FC236}">
                <a16:creationId xmlns:a16="http://schemas.microsoft.com/office/drawing/2014/main" id="{A3A3798C-EF78-A279-9C14-6790F0FF98DD}"/>
              </a:ext>
            </a:extLst>
          </p:cNvPr>
          <p:cNvSpPr txBox="1">
            <a:spLocks/>
          </p:cNvSpPr>
          <p:nvPr/>
        </p:nvSpPr>
        <p:spPr>
          <a:xfrm>
            <a:off x="479426" y="487817"/>
            <a:ext cx="334800" cy="33560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A</a:t>
            </a:r>
            <a:endParaRPr lang="en-US" sz="14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AC0E8782-61AB-06C4-D6E0-11DC652F628C}"/>
              </a:ext>
            </a:extLst>
          </p:cNvPr>
          <p:cNvSpPr/>
          <p:nvPr/>
        </p:nvSpPr>
        <p:spPr>
          <a:xfrm>
            <a:off x="477837" y="1603375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32F8B2E2-45B2-9FC3-366E-88A6C729283F}"/>
              </a:ext>
            </a:extLst>
          </p:cNvPr>
          <p:cNvSpPr/>
          <p:nvPr/>
        </p:nvSpPr>
        <p:spPr>
          <a:xfrm>
            <a:off x="618526" y="1745322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Entwicklung (EWW):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7B2F266B-7C93-5F6B-6C2E-D8B8F0BA8673}"/>
              </a:ext>
            </a:extLst>
          </p:cNvPr>
          <p:cNvSpPr/>
          <p:nvPr/>
        </p:nvSpPr>
        <p:spPr>
          <a:xfrm>
            <a:off x="4299801" y="1603375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2F2026F5-9182-CE36-D6F9-8ED45D473ECB}"/>
              </a:ext>
            </a:extLst>
          </p:cNvPr>
          <p:cNvSpPr/>
          <p:nvPr/>
        </p:nvSpPr>
        <p:spPr>
          <a:xfrm>
            <a:off x="4440490" y="1745322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Produktion (TGG):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0EC924BA-75D1-3D0C-8341-F8800B6DDF3D}"/>
              </a:ext>
            </a:extLst>
          </p:cNvPr>
          <p:cNvSpPr/>
          <p:nvPr/>
        </p:nvSpPr>
        <p:spPr>
          <a:xfrm>
            <a:off x="8121765" y="1603375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F769F664-AB94-63F4-A05E-F84253C69F19}"/>
              </a:ext>
            </a:extLst>
          </p:cNvPr>
          <p:cNvSpPr/>
          <p:nvPr/>
        </p:nvSpPr>
        <p:spPr>
          <a:xfrm>
            <a:off x="8262454" y="1745322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IT (VFI):</a:t>
            </a: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30C68599-2108-922D-2DE6-BEB8C582DACF}"/>
              </a:ext>
            </a:extLst>
          </p:cNvPr>
          <p:cNvSpPr/>
          <p:nvPr/>
        </p:nvSpPr>
        <p:spPr>
          <a:xfrm>
            <a:off x="477837" y="4146013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41133DD0-6457-B9E5-A408-4C914607CDAB}"/>
              </a:ext>
            </a:extLst>
          </p:cNvPr>
          <p:cNvSpPr/>
          <p:nvPr/>
        </p:nvSpPr>
        <p:spPr>
          <a:xfrm>
            <a:off x="618526" y="4287960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Strategie (SCD):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977BED71-9EF5-B3E7-EDD1-9AEC7AC81D05}"/>
              </a:ext>
            </a:extLst>
          </p:cNvPr>
          <p:cNvSpPr/>
          <p:nvPr/>
        </p:nvSpPr>
        <p:spPr>
          <a:xfrm>
            <a:off x="4299801" y="4146013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E8DE8B37-443D-D9C8-C52A-59B4C6F32DB2}"/>
              </a:ext>
            </a:extLst>
          </p:cNvPr>
          <p:cNvSpPr/>
          <p:nvPr/>
        </p:nvSpPr>
        <p:spPr>
          <a:xfrm>
            <a:off x="4440490" y="4287960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Produktmanagement (MPM):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B4E143F0-01F5-FC80-97BB-EFCBF2CFA8FB}"/>
              </a:ext>
            </a:extLst>
          </p:cNvPr>
          <p:cNvSpPr/>
          <p:nvPr/>
        </p:nvSpPr>
        <p:spPr>
          <a:xfrm>
            <a:off x="8121765" y="4146013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5BE85C31-DC0E-35E2-7957-0F81A2168E4A}"/>
              </a:ext>
            </a:extLst>
          </p:cNvPr>
          <p:cNvSpPr/>
          <p:nvPr/>
        </p:nvSpPr>
        <p:spPr>
          <a:xfrm>
            <a:off x="8262454" y="4287960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Finanzen (VFI):</a:t>
            </a: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8430C497-8CEE-C7D1-A5AB-ECBE9A286C5C}"/>
              </a:ext>
            </a:extLst>
          </p:cNvPr>
          <p:cNvSpPr/>
          <p:nvPr/>
        </p:nvSpPr>
        <p:spPr>
          <a:xfrm>
            <a:off x="618526" y="2124108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Produktprojekte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274E5CD0-1CD9-976E-2C22-01E897951BAE}"/>
              </a:ext>
            </a:extLst>
          </p:cNvPr>
          <p:cNvSpPr/>
          <p:nvPr/>
        </p:nvSpPr>
        <p:spPr>
          <a:xfrm>
            <a:off x="4440490" y="2124108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Infrastrukturprojekte</a:t>
            </a: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89C01173-2AB3-EA85-A77A-57B5EAADA04C}"/>
              </a:ext>
            </a:extLst>
          </p:cNvPr>
          <p:cNvSpPr/>
          <p:nvPr/>
        </p:nvSpPr>
        <p:spPr>
          <a:xfrm>
            <a:off x="8262454" y="2124108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IT-Projekte</a:t>
            </a: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E36AE2DC-A864-60FD-30F1-F929BFBB1612}"/>
              </a:ext>
            </a:extLst>
          </p:cNvPr>
          <p:cNvSpPr/>
          <p:nvPr/>
        </p:nvSpPr>
        <p:spPr>
          <a:xfrm>
            <a:off x="618526" y="4666746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Sonderprojekte</a:t>
            </a: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E83F7AB9-6956-5BC3-F580-BC1157E50332}"/>
              </a:ext>
            </a:extLst>
          </p:cNvPr>
          <p:cNvSpPr/>
          <p:nvPr/>
        </p:nvSpPr>
        <p:spPr>
          <a:xfrm>
            <a:off x="4440490" y="4666746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Strategische Produktplanung</a:t>
            </a: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82E11BF2-1401-90F8-CB3E-2EDCF30378C1}"/>
              </a:ext>
            </a:extLst>
          </p:cNvPr>
          <p:cNvSpPr/>
          <p:nvPr/>
        </p:nvSpPr>
        <p:spPr>
          <a:xfrm>
            <a:off x="8262454" y="4666746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EV-Prozess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E1160A0F-B740-C57F-144A-49BB9C4BA2C8}"/>
              </a:ext>
            </a:extLst>
          </p:cNvPr>
          <p:cNvSpPr/>
          <p:nvPr/>
        </p:nvSpPr>
        <p:spPr>
          <a:xfrm>
            <a:off x="618527" y="2507322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000">
                <a:solidFill>
                  <a:srgbClr val="1F2937"/>
                </a:solidFill>
                <a:latin typeface="Calibri"/>
              </a:rPr>
              <a:t>Szenario abbildbar (unter Umständen)</a:t>
            </a:r>
            <a:endParaRPr lang="de-DE" sz="1400"/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Schwerpunkt Ressourcen- &amp; Finanzplanung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Anbietervergleich notwendig</a:t>
            </a: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B1EA0921-E422-4C75-C91C-3ADBBFF9CF02}"/>
              </a:ext>
            </a:extLst>
          </p:cNvPr>
          <p:cNvSpPr/>
          <p:nvPr/>
        </p:nvSpPr>
        <p:spPr>
          <a:xfrm>
            <a:off x="4440491" y="2507322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000">
                <a:solidFill>
                  <a:srgbClr val="1F2937"/>
                </a:solidFill>
                <a:latin typeface="Calibri"/>
              </a:rPr>
              <a:t>Szenario abbildbar</a:t>
            </a:r>
            <a:endParaRPr lang="de-DE" sz="1400"/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Anforderungen weiter detaillieren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Starker Implementierungspartner nötig</a:t>
            </a: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4DE97D1D-1899-E96B-6EAB-11C527696EBD}"/>
              </a:ext>
            </a:extLst>
          </p:cNvPr>
          <p:cNvSpPr/>
          <p:nvPr/>
        </p:nvSpPr>
        <p:spPr>
          <a:xfrm>
            <a:off x="8262455" y="2507322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000">
                <a:solidFill>
                  <a:srgbClr val="1F2937"/>
                </a:solidFill>
                <a:latin typeface="Calibri"/>
              </a:rPr>
              <a:t>IT-Szenario abbildbar</a:t>
            </a:r>
            <a:endParaRPr lang="de-DE" sz="1400"/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Hohes Potenzial der SNOW-Plattform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Detail-Klärung zur Jahresplanung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F6F09F31-EBEC-6467-99F6-B6AD9A1B458C}"/>
              </a:ext>
            </a:extLst>
          </p:cNvPr>
          <p:cNvSpPr/>
          <p:nvPr/>
        </p:nvSpPr>
        <p:spPr>
          <a:xfrm>
            <a:off x="618527" y="5049960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000">
                <a:solidFill>
                  <a:srgbClr val="1F2937"/>
                </a:solidFill>
                <a:latin typeface="Calibri"/>
              </a:rPr>
              <a:t>SPM (Portfolio &amp; OKR) abbildbar</a:t>
            </a:r>
            <a:endParaRPr lang="de-DE" sz="1400"/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Sauberes Scope- &amp; Rollout-Mgmt nötig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Potenzial: zentrale Datenbasis</a:t>
            </a: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0D1207F8-8F29-184E-2086-1D86D5ADCE77}"/>
              </a:ext>
            </a:extLst>
          </p:cNvPr>
          <p:cNvSpPr/>
          <p:nvPr/>
        </p:nvSpPr>
        <p:spPr>
          <a:xfrm>
            <a:off x="4440491" y="5049960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000">
                <a:solidFill>
                  <a:srgbClr val="1F2937"/>
                </a:solidFill>
                <a:latin typeface="Calibri"/>
              </a:rPr>
              <a:t>SPP Gantt &amp; Bottom-up abbildbar</a:t>
            </a:r>
            <a:endParaRPr lang="de-DE" sz="1400"/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Integration LH/CRD → Steckbrief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Durchgängige Kette Strategie → Projekt</a:t>
            </a: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896EAE5B-FA08-1DC0-904C-36941BE5AA47}"/>
              </a:ext>
            </a:extLst>
          </p:cNvPr>
          <p:cNvSpPr/>
          <p:nvPr/>
        </p:nvSpPr>
        <p:spPr>
          <a:xfrm>
            <a:off x="8262455" y="5049960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000">
                <a:solidFill>
                  <a:srgbClr val="1F2937"/>
                </a:solidFill>
                <a:latin typeface="Calibri"/>
              </a:rPr>
              <a:t>Szenario abbildbar</a:t>
            </a:r>
            <a:endParaRPr lang="de-DE" sz="1400"/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Anforderungen weiter detaillieren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Folge-Workshops zur Schärfung</a:t>
            </a:r>
          </a:p>
        </p:txBody>
      </p:sp>
      <p:graphicFrame>
        <p:nvGraphicFramePr>
          <p:cNvPr id="79" name="Chart 3">
            <a:extLst>
              <a:ext uri="{FF2B5EF4-FFF2-40B4-BE49-F238E27FC236}">
                <a16:creationId xmlns:a16="http://schemas.microsoft.com/office/drawing/2014/main" id="{90813B86-2ABD-C3B0-E533-64F62D1F75E3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144053069"/>
              </p:ext>
            </p:extLst>
          </p:nvPr>
        </p:nvGraphicFramePr>
        <p:xfrm>
          <a:off x="2786063" y="2636838"/>
          <a:ext cx="1190625" cy="1190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7"/>
          </a:graphicData>
        </a:graphic>
      </p:graphicFrame>
      <p:sp>
        <p:nvSpPr>
          <p:cNvPr id="71" name="Textplatzhalter 5">
            <a:extLst>
              <a:ext uri="{FF2B5EF4-FFF2-40B4-BE49-F238E27FC236}">
                <a16:creationId xmlns:a16="http://schemas.microsoft.com/office/drawing/2014/main" id="{E531305B-43CE-446C-88D1-BBDB27457244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3106738" y="3081338"/>
            <a:ext cx="547688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588" tIns="41275" rIns="0" bIns="41275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lang="de-DE" sz="1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8256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4988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841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55950" indent="-2622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>
                <a:solidFill>
                  <a:schemeClr val="accent4"/>
                </a:solidFill>
                <a:effectLst/>
              </a:rPr>
              <a:t>80%</a:t>
            </a:r>
            <a:endParaRPr lang="en-US" sz="1600" b="1">
              <a:solidFill>
                <a:schemeClr val="accent4"/>
              </a:solidFill>
            </a:endParaRPr>
          </a:p>
        </p:txBody>
      </p:sp>
      <p:graphicFrame>
        <p:nvGraphicFramePr>
          <p:cNvPr id="82" name="Chart 3">
            <a:extLst>
              <a:ext uri="{FF2B5EF4-FFF2-40B4-BE49-F238E27FC236}">
                <a16:creationId xmlns:a16="http://schemas.microsoft.com/office/drawing/2014/main" id="{E0EC806A-0740-34B8-B983-C4781C26B94A}"/>
              </a:ext>
            </a:extLst>
          </p:cNvPr>
          <p:cNvGraphicFramePr/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4137267368"/>
              </p:ext>
            </p:extLst>
          </p:nvPr>
        </p:nvGraphicFramePr>
        <p:xfrm>
          <a:off x="6611938" y="2636838"/>
          <a:ext cx="1190625" cy="1190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8"/>
          </a:graphicData>
        </a:graphic>
      </p:graphicFrame>
      <p:sp>
        <p:nvSpPr>
          <p:cNvPr id="81" name="Textplatzhalter 5">
            <a:extLst>
              <a:ext uri="{FF2B5EF4-FFF2-40B4-BE49-F238E27FC236}">
                <a16:creationId xmlns:a16="http://schemas.microsoft.com/office/drawing/2014/main" id="{27EBA1D3-6048-486A-0B43-6FD37D8F143C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6932613" y="3081338"/>
            <a:ext cx="5492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41275" rIns="0" bIns="41275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lang="de-DE" sz="1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8256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4988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841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55950" indent="-2622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>
                <a:solidFill>
                  <a:schemeClr val="accent4"/>
                </a:solidFill>
                <a:effectLst/>
              </a:rPr>
              <a:t>80%</a:t>
            </a:r>
            <a:endParaRPr lang="en-US" sz="1600" b="1">
              <a:solidFill>
                <a:schemeClr val="accent4"/>
              </a:solidFill>
            </a:endParaRPr>
          </a:p>
        </p:txBody>
      </p:sp>
      <p:graphicFrame>
        <p:nvGraphicFramePr>
          <p:cNvPr id="85" name="Chart 3">
            <a:extLst>
              <a:ext uri="{FF2B5EF4-FFF2-40B4-BE49-F238E27FC236}">
                <a16:creationId xmlns:a16="http://schemas.microsoft.com/office/drawing/2014/main" id="{8D65FA2A-6DBB-4324-6DD2-04DD0332EE45}"/>
              </a:ext>
            </a:extLst>
          </p:cNvPr>
          <p:cNvGraphicFramePr/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2489157383"/>
              </p:ext>
            </p:extLst>
          </p:nvPr>
        </p:nvGraphicFramePr>
        <p:xfrm>
          <a:off x="10442575" y="2636838"/>
          <a:ext cx="1190625" cy="1190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9"/>
          </a:graphicData>
        </a:graphic>
      </p:graphicFrame>
      <p:sp>
        <p:nvSpPr>
          <p:cNvPr id="84" name="Textplatzhalter 5">
            <a:extLst>
              <a:ext uri="{FF2B5EF4-FFF2-40B4-BE49-F238E27FC236}">
                <a16:creationId xmlns:a16="http://schemas.microsoft.com/office/drawing/2014/main" id="{C90544E8-D92A-00A7-07B3-D0A46CAD206F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10764838" y="3081338"/>
            <a:ext cx="547688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41275" rIns="0" bIns="41275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lang="de-DE" sz="1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8256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4988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841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55950" indent="-2622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>
                <a:solidFill>
                  <a:schemeClr val="accent4"/>
                </a:solidFill>
                <a:effectLst/>
              </a:rPr>
              <a:t>80%</a:t>
            </a:r>
            <a:endParaRPr lang="en-US" sz="1600" b="1">
              <a:solidFill>
                <a:schemeClr val="accent4"/>
              </a:solidFill>
            </a:endParaRPr>
          </a:p>
        </p:txBody>
      </p:sp>
      <p:graphicFrame>
        <p:nvGraphicFramePr>
          <p:cNvPr id="92" name="Chart 3">
            <a:extLst>
              <a:ext uri="{FF2B5EF4-FFF2-40B4-BE49-F238E27FC236}">
                <a16:creationId xmlns:a16="http://schemas.microsoft.com/office/drawing/2014/main" id="{A77457C3-80DB-4D36-81AF-C992E31874A5}"/>
              </a:ext>
            </a:extLst>
          </p:cNvPr>
          <p:cNvGraphicFramePr/>
          <p:nvPr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951138949"/>
              </p:ext>
            </p:extLst>
          </p:nvPr>
        </p:nvGraphicFramePr>
        <p:xfrm>
          <a:off x="2786063" y="5189538"/>
          <a:ext cx="1190625" cy="1190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0"/>
          </a:graphicData>
        </a:graphic>
      </p:graphicFrame>
      <p:sp>
        <p:nvSpPr>
          <p:cNvPr id="87" name="Textplatzhalter 5">
            <a:extLst>
              <a:ext uri="{FF2B5EF4-FFF2-40B4-BE49-F238E27FC236}">
                <a16:creationId xmlns:a16="http://schemas.microsoft.com/office/drawing/2014/main" id="{2316FF2A-5F8F-2839-7445-11D21671999A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3106738" y="5634038"/>
            <a:ext cx="547688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588" tIns="41275" rIns="0" bIns="41275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lang="de-DE" sz="1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8256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4988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841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55950" indent="-2622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>
                <a:solidFill>
                  <a:schemeClr val="accent4"/>
                </a:solidFill>
                <a:effectLst/>
              </a:rPr>
              <a:t>80%</a:t>
            </a:r>
            <a:endParaRPr lang="en-US" sz="1600" b="1">
              <a:solidFill>
                <a:schemeClr val="accent4"/>
              </a:solidFill>
            </a:endParaRPr>
          </a:p>
        </p:txBody>
      </p:sp>
      <p:graphicFrame>
        <p:nvGraphicFramePr>
          <p:cNvPr id="93" name="Chart 3">
            <a:extLst>
              <a:ext uri="{FF2B5EF4-FFF2-40B4-BE49-F238E27FC236}">
                <a16:creationId xmlns:a16="http://schemas.microsoft.com/office/drawing/2014/main" id="{362AE09E-DF90-0BE0-C9E9-3BD671613469}"/>
              </a:ext>
            </a:extLst>
          </p:cNvPr>
          <p:cNvGraphicFramePr/>
          <p:nvPr>
            <p:custDataLst>
              <p:tags r:id="rId10"/>
            </p:custDataLst>
            <p:extLst>
              <p:ext uri="{D42A27DB-BD31-4B8C-83A1-F6EECF244321}">
                <p14:modId xmlns:p14="http://schemas.microsoft.com/office/powerpoint/2010/main" val="695982014"/>
              </p:ext>
            </p:extLst>
          </p:nvPr>
        </p:nvGraphicFramePr>
        <p:xfrm>
          <a:off x="6611938" y="5189538"/>
          <a:ext cx="1190625" cy="1190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1"/>
          </a:graphicData>
        </a:graphic>
      </p:graphicFrame>
      <p:sp>
        <p:nvSpPr>
          <p:cNvPr id="89" name="Textplatzhalter 5">
            <a:extLst>
              <a:ext uri="{FF2B5EF4-FFF2-40B4-BE49-F238E27FC236}">
                <a16:creationId xmlns:a16="http://schemas.microsoft.com/office/drawing/2014/main" id="{DEB2647E-B5F9-75DC-A6D7-E01E7E35E19A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auto">
          <a:xfrm>
            <a:off x="6932613" y="5634038"/>
            <a:ext cx="5492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41275" rIns="0" bIns="41275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lang="de-DE" sz="1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8256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4988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841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55950" indent="-2622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>
                <a:solidFill>
                  <a:schemeClr val="accent4"/>
                </a:solidFill>
                <a:effectLst/>
              </a:rPr>
              <a:t>80%</a:t>
            </a:r>
            <a:endParaRPr lang="en-US" sz="1600" b="1">
              <a:solidFill>
                <a:schemeClr val="accent4"/>
              </a:solidFill>
            </a:endParaRPr>
          </a:p>
        </p:txBody>
      </p:sp>
      <p:graphicFrame>
        <p:nvGraphicFramePr>
          <p:cNvPr id="94" name="Chart 3">
            <a:extLst>
              <a:ext uri="{FF2B5EF4-FFF2-40B4-BE49-F238E27FC236}">
                <a16:creationId xmlns:a16="http://schemas.microsoft.com/office/drawing/2014/main" id="{1BD0B514-4E03-3F28-74ED-EC2B620CED84}"/>
              </a:ext>
            </a:extLst>
          </p:cNvPr>
          <p:cNvGraphicFramePr/>
          <p:nvPr>
            <p:custDataLst>
              <p:tags r:id="rId12"/>
            </p:custDataLst>
            <p:extLst>
              <p:ext uri="{D42A27DB-BD31-4B8C-83A1-F6EECF244321}">
                <p14:modId xmlns:p14="http://schemas.microsoft.com/office/powerpoint/2010/main" val="3010025857"/>
              </p:ext>
            </p:extLst>
          </p:nvPr>
        </p:nvGraphicFramePr>
        <p:xfrm>
          <a:off x="10442575" y="5189538"/>
          <a:ext cx="1190625" cy="1190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2"/>
          </a:graphicData>
        </a:graphic>
      </p:graphicFrame>
      <p:sp>
        <p:nvSpPr>
          <p:cNvPr id="91" name="Textplatzhalter 5">
            <a:extLst>
              <a:ext uri="{FF2B5EF4-FFF2-40B4-BE49-F238E27FC236}">
                <a16:creationId xmlns:a16="http://schemas.microsoft.com/office/drawing/2014/main" id="{B0EBBBF1-DD16-CF51-61F0-8201CBB13DC8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auto">
          <a:xfrm>
            <a:off x="10764838" y="5634038"/>
            <a:ext cx="547688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41275" rIns="0" bIns="41275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lang="de-DE" sz="1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8256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4988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841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55950" indent="-2622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>
                <a:solidFill>
                  <a:schemeClr val="accent4"/>
                </a:solidFill>
                <a:effectLst/>
              </a:rPr>
              <a:t>60%</a:t>
            </a:r>
            <a:endParaRPr lang="en-US" sz="1600" b="1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00004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5E5E5-88EB-0C9D-28E4-A87FE0140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D9D9BFA4-DA9E-D1CA-AFA7-32989077D53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59767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8" imgH="408" progId="TCLayout.ActiveDocument.1">
                  <p:embed/>
                </p:oleObj>
              </mc:Choice>
              <mc:Fallback>
                <p:oleObj name="think-cell Slide" r:id="rId3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9D9BFA4-DA9E-D1CA-AFA7-32989077D53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0C17B2F0-BF16-C8D6-FA5A-68FB98071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503546"/>
            <a:ext cx="9063988" cy="304699"/>
          </a:xfrm>
        </p:spPr>
        <p:txBody>
          <a:bodyPr vert="horz" rIns="0"/>
          <a:lstStyle/>
          <a:p>
            <a:r>
              <a:rPr lang="de-DE" sz="2400"/>
              <a:t>Vorprojekt SNOW – </a:t>
            </a:r>
            <a:r>
              <a:rPr lang="de-DE" sz="2400">
                <a:solidFill>
                  <a:schemeClr val="accent2"/>
                </a:solidFill>
              </a:rPr>
              <a:t>Ergebnisse (2 von 2)</a:t>
            </a:r>
            <a:endParaRPr lang="de-DE" b="0">
              <a:solidFill>
                <a:schemeClr val="accent2"/>
              </a:solidFill>
            </a:endParaRPr>
          </a:p>
        </p:txBody>
      </p:sp>
      <p:sp>
        <p:nvSpPr>
          <p:cNvPr id="4" name="ListLeanHorizontalTextDetail2">
            <a:extLst>
              <a:ext uri="{FF2B5EF4-FFF2-40B4-BE49-F238E27FC236}">
                <a16:creationId xmlns:a16="http://schemas.microsoft.com/office/drawing/2014/main" id="{FA105433-185D-3B7E-7DCB-BDB742145204}"/>
              </a:ext>
            </a:extLst>
          </p:cNvPr>
          <p:cNvSpPr txBox="1">
            <a:spLocks/>
          </p:cNvSpPr>
          <p:nvPr/>
        </p:nvSpPr>
        <p:spPr>
          <a:xfrm>
            <a:off x="479426" y="487817"/>
            <a:ext cx="334800" cy="33560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A</a:t>
            </a:r>
            <a:endParaRPr lang="en-US" sz="14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474ED4-D8CF-5CC8-29B4-2D3C993CAB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545" y="3429000"/>
            <a:ext cx="4207416" cy="2241177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F744498F-074B-437E-414C-4E6ED92867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83105" y="2189453"/>
            <a:ext cx="6598920" cy="746760"/>
          </a:xfrm>
          <a:prstGeom prst="rect">
            <a:avLst/>
          </a:prstGeom>
        </p:spPr>
      </p:pic>
      <p:sp>
        <p:nvSpPr>
          <p:cNvPr id="9" name="Rechteck 8">
            <a:extLst>
              <a:ext uri="{FF2B5EF4-FFF2-40B4-BE49-F238E27FC236}">
                <a16:creationId xmlns:a16="http://schemas.microsoft.com/office/drawing/2014/main" id="{5C03FE41-1C56-1AAE-8205-C37138512625}"/>
              </a:ext>
            </a:extLst>
          </p:cNvPr>
          <p:cNvSpPr/>
          <p:nvPr/>
        </p:nvSpPr>
        <p:spPr>
          <a:xfrm>
            <a:off x="1805940" y="1503144"/>
            <a:ext cx="8580120" cy="387043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en-US" sz="1200" i="1" err="1">
                <a:solidFill>
                  <a:schemeClr val="tx1"/>
                </a:solidFill>
              </a:rPr>
              <a:t>Gegenüberstellung</a:t>
            </a:r>
            <a:r>
              <a:rPr lang="en-US" sz="1200" i="1">
                <a:solidFill>
                  <a:schemeClr val="tx1"/>
                </a:solidFill>
              </a:rPr>
              <a:t> SNOW vs B-o-B-Ansatz </a:t>
            </a:r>
            <a:r>
              <a:rPr lang="en-US" sz="1200" i="1" err="1">
                <a:solidFill>
                  <a:schemeClr val="tx1"/>
                </a:solidFill>
              </a:rPr>
              <a:t>inkl</a:t>
            </a:r>
            <a:r>
              <a:rPr lang="en-US" sz="1200" i="1">
                <a:solidFill>
                  <a:schemeClr val="tx1"/>
                </a:solidFill>
              </a:rPr>
              <a:t>. </a:t>
            </a:r>
            <a:r>
              <a:rPr lang="en-US" sz="1200" i="1" err="1">
                <a:solidFill>
                  <a:schemeClr val="tx1"/>
                </a:solidFill>
              </a:rPr>
              <a:t>Finanzielle</a:t>
            </a:r>
            <a:r>
              <a:rPr lang="en-US" sz="1200" i="1">
                <a:solidFill>
                  <a:schemeClr val="tx1"/>
                </a:solidFill>
              </a:rPr>
              <a:t> </a:t>
            </a:r>
            <a:r>
              <a:rPr lang="en-US" sz="1200" i="1" err="1">
                <a:solidFill>
                  <a:schemeClr val="tx1"/>
                </a:solidFill>
              </a:rPr>
              <a:t>Bewertung</a:t>
            </a:r>
            <a:endParaRPr lang="en-US" sz="1200" i="1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661715-41A3-0225-D6E4-834527716F0E}"/>
              </a:ext>
            </a:extLst>
          </p:cNvPr>
          <p:cNvSpPr txBox="1"/>
          <p:nvPr/>
        </p:nvSpPr>
        <p:spPr>
          <a:xfrm>
            <a:off x="6096000" y="3429000"/>
            <a:ext cx="3040278" cy="479550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Hinzubringen</a:t>
            </a:r>
            <a:r>
              <a:rPr lang="en-US" sz="1600"/>
              <a:t> der </a:t>
            </a:r>
            <a:r>
              <a:rPr lang="en-US" sz="1600" err="1"/>
              <a:t>externen</a:t>
            </a:r>
            <a:r>
              <a:rPr lang="en-US" sz="1600"/>
              <a:t> </a:t>
            </a:r>
            <a:r>
              <a:rPr lang="en-US" sz="1600" err="1"/>
              <a:t>Analystenmeinung</a:t>
            </a:r>
            <a:r>
              <a:rPr lang="en-US" sz="1600"/>
              <a:t> (Gartner)</a:t>
            </a:r>
          </a:p>
        </p:txBody>
      </p:sp>
    </p:spTree>
    <p:extLst>
      <p:ext uri="{BB962C8B-B14F-4D97-AF65-F5344CB8AC3E}">
        <p14:creationId xmlns:p14="http://schemas.microsoft.com/office/powerpoint/2010/main" val="1455869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9749B-B6E5-1C74-9F74-27B933C33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F8D0F9DC-0A29-E489-0679-7676DA063618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8" imgH="408" progId="TCLayout.ActiveDocument.1">
                  <p:embed/>
                </p:oleObj>
              </mc:Choice>
              <mc:Fallback>
                <p:oleObj name="think-cell Slide" r:id="rId3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8D0F9DC-0A29-E489-0679-7676DA06361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F4A9664E-4538-43A0-8D24-AF2F31424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DE" sz="2400" err="1"/>
              <a:t>Lessons</a:t>
            </a:r>
            <a:r>
              <a:rPr lang="de-DE" sz="2400"/>
              <a:t> Learned MSPO</a:t>
            </a:r>
            <a:endParaRPr lang="de-DE" b="0">
              <a:solidFill>
                <a:schemeClr val="accent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275EBB-BBF1-CB01-ED89-6DD953D6596D}"/>
              </a:ext>
            </a:extLst>
          </p:cNvPr>
          <p:cNvSpPr txBox="1"/>
          <p:nvPr/>
        </p:nvSpPr>
        <p:spPr>
          <a:xfrm>
            <a:off x="479426" y="1603375"/>
            <a:ext cx="6212732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/>
              <a:t>"Mit MS Project Online haben wir versucht, die Organisation und ihre historisch gewachsenen Prozesse mit einem </a:t>
            </a:r>
            <a:r>
              <a:rPr lang="de-DE" sz="1800" b="1"/>
              <a:t>starren Projekt Management Tool </a:t>
            </a:r>
            <a:r>
              <a:rPr lang="de-DE" sz="1800"/>
              <a:t>umzusetzen.</a:t>
            </a:r>
          </a:p>
          <a:p>
            <a:br>
              <a:rPr lang="de-DE" sz="1800"/>
            </a:br>
            <a:r>
              <a:rPr lang="de-DE" sz="1800"/>
              <a:t>Mit ServiceNow gehen wir mit einer</a:t>
            </a:r>
            <a:r>
              <a:rPr lang="de-DE" sz="1800" b="1"/>
              <a:t> flexiblen Plattform </a:t>
            </a:r>
            <a:r>
              <a:rPr lang="de-DE" sz="1800"/>
              <a:t>schrittweise nach </a:t>
            </a:r>
            <a:r>
              <a:rPr lang="de-DE" sz="1800" b="1"/>
              <a:t>Best-Practice Prozessen </a:t>
            </a:r>
            <a:r>
              <a:rPr lang="de-DE" sz="1800"/>
              <a:t>von der </a:t>
            </a:r>
            <a:r>
              <a:rPr lang="de-DE" sz="1800" b="1"/>
              <a:t>strategischen Planung über </a:t>
            </a:r>
            <a:r>
              <a:rPr lang="de-DE" sz="1800"/>
              <a:t>das </a:t>
            </a:r>
            <a:r>
              <a:rPr lang="de-DE" sz="1800" b="1"/>
              <a:t>Produkt / Projekt Portfolio Management </a:t>
            </a:r>
            <a:r>
              <a:rPr lang="de-DE" sz="1800"/>
              <a:t>zum </a:t>
            </a:r>
            <a:r>
              <a:rPr lang="de-DE" sz="1800" b="1"/>
              <a:t>Projekt Management </a:t>
            </a:r>
            <a:r>
              <a:rPr lang="de-DE" sz="1800"/>
              <a:t>. </a:t>
            </a:r>
            <a:br>
              <a:rPr lang="de-DE" sz="1800"/>
            </a:br>
            <a:endParaRPr lang="de-DE" sz="1800"/>
          </a:p>
          <a:p>
            <a:r>
              <a:rPr lang="de-DE" sz="1800"/>
              <a:t>Wir starten dort, wo der größte Mehrwert liegt </a:t>
            </a:r>
            <a:r>
              <a:rPr lang="de-DE" sz="1800" b="1"/>
              <a:t>(Transparenz &amp; Strategie)</a:t>
            </a:r>
            <a:r>
              <a:rPr lang="de-DE" sz="1800"/>
              <a:t>, und lösen das komplexe Projekt und Ressourcenthema prozessual auf dem Weg mit einer schrittweisen Ablöse der bisherigen Einzelsysteme"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5E47EC-2999-75CE-045A-0E41901B9646}"/>
              </a:ext>
            </a:extLst>
          </p:cNvPr>
          <p:cNvSpPr txBox="1"/>
          <p:nvPr/>
        </p:nvSpPr>
        <p:spPr>
          <a:xfrm>
            <a:off x="4143983" y="264607"/>
            <a:ext cx="3904034" cy="257951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Ausarbeitung</a:t>
            </a:r>
            <a:r>
              <a:rPr lang="en-US" sz="1600"/>
              <a:t> </a:t>
            </a:r>
            <a:r>
              <a:rPr lang="en-US" sz="1600" err="1"/>
              <a:t>im</a:t>
            </a:r>
            <a:r>
              <a:rPr lang="en-US" sz="1600"/>
              <a:t> Workshop am 04.05.2026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AEF780-F23F-C545-5801-859E005B07D1}"/>
              </a:ext>
            </a:extLst>
          </p:cNvPr>
          <p:cNvSpPr txBox="1"/>
          <p:nvPr/>
        </p:nvSpPr>
        <p:spPr>
          <a:xfrm>
            <a:off x="6692158" y="1917638"/>
            <a:ext cx="3040278" cy="479550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Starres</a:t>
            </a:r>
            <a:r>
              <a:rPr lang="en-US" sz="1600"/>
              <a:t> Tool vs. </a:t>
            </a:r>
            <a:r>
              <a:rPr lang="en-US" sz="1600" err="1"/>
              <a:t>flexibe</a:t>
            </a:r>
            <a:r>
              <a:rPr lang="en-US" sz="1600"/>
              <a:t> </a:t>
            </a:r>
            <a:r>
              <a:rPr lang="en-US" sz="1600" err="1"/>
              <a:t>Workflowplattform</a:t>
            </a:r>
            <a:endParaRPr lang="en-US" sz="16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EE9C23-CC68-57AA-3202-E00BFDADFDF5}"/>
              </a:ext>
            </a:extLst>
          </p:cNvPr>
          <p:cNvSpPr txBox="1"/>
          <p:nvPr/>
        </p:nvSpPr>
        <p:spPr>
          <a:xfrm>
            <a:off x="6692158" y="2949450"/>
            <a:ext cx="3040278" cy="479550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Übergreifende</a:t>
            </a:r>
            <a:r>
              <a:rPr lang="en-US" sz="1600"/>
              <a:t> </a:t>
            </a:r>
            <a:r>
              <a:rPr lang="en-US" sz="1600" err="1"/>
              <a:t>Bereitschaft</a:t>
            </a:r>
            <a:r>
              <a:rPr lang="en-US" sz="1600"/>
              <a:t> </a:t>
            </a:r>
            <a:r>
              <a:rPr lang="en-US" sz="1600" err="1"/>
              <a:t>im</a:t>
            </a:r>
            <a:r>
              <a:rPr lang="en-US" sz="1600"/>
              <a:t> </a:t>
            </a:r>
            <a:r>
              <a:rPr lang="en-US" sz="1600" err="1"/>
              <a:t>Unternehmen</a:t>
            </a:r>
            <a:endParaRPr lang="en-US" sz="16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B24D68-FFF6-D289-FF51-8F117A3A769E}"/>
              </a:ext>
            </a:extLst>
          </p:cNvPr>
          <p:cNvSpPr txBox="1"/>
          <p:nvPr/>
        </p:nvSpPr>
        <p:spPr>
          <a:xfrm>
            <a:off x="6692158" y="3643522"/>
            <a:ext cx="3040278" cy="257951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Kompletter</a:t>
            </a:r>
            <a:r>
              <a:rPr lang="en-US" sz="1600"/>
              <a:t> </a:t>
            </a:r>
            <a:r>
              <a:rPr lang="en-US" sz="1600" err="1"/>
              <a:t>Prozess</a:t>
            </a:r>
            <a:r>
              <a:rPr lang="en-US" sz="1600"/>
              <a:t> </a:t>
            </a:r>
            <a:r>
              <a:rPr lang="en-US" sz="1600">
                <a:sym typeface="Wingdings" panose="05000000000000000000" pitchFamily="2" charset="2"/>
              </a:rPr>
              <a:t> </a:t>
            </a:r>
            <a:r>
              <a:rPr lang="en-US" sz="1600" err="1">
                <a:sym typeface="Wingdings" panose="05000000000000000000" pitchFamily="2" charset="2"/>
              </a:rPr>
              <a:t>Vorgehen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17704670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2EF4B-BEF7-F53E-9B0D-B94E1FFA0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95682F1C-E5A9-D66D-474B-A64B10A2E019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8" imgH="408" progId="TCLayout.ActiveDocument.1">
                  <p:embed/>
                </p:oleObj>
              </mc:Choice>
              <mc:Fallback>
                <p:oleObj name="think-cell Slide" r:id="rId3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5682F1C-E5A9-D66D-474B-A64B10A2E01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0CEB0D8A-7A7F-B77D-E2D0-FE2F32E33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DE" sz="2400"/>
              <a:t>Weiteres Vorgehen SNOW</a:t>
            </a:r>
            <a:endParaRPr lang="de-DE" b="0">
              <a:solidFill>
                <a:schemeClr val="accent2"/>
              </a:solidFill>
            </a:endParaRP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13E83CB1-2967-1798-18CF-6E670DBA0AC7}"/>
              </a:ext>
            </a:extLst>
          </p:cNvPr>
          <p:cNvSpPr/>
          <p:nvPr/>
        </p:nvSpPr>
        <p:spPr>
          <a:xfrm>
            <a:off x="479426" y="1603375"/>
            <a:ext cx="7803514" cy="4592320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en-US" sz="1200" i="1">
                <a:solidFill>
                  <a:schemeClr val="tx1"/>
                </a:solidFill>
              </a:rPr>
              <a:t>GANTT Chart für </a:t>
            </a:r>
            <a:r>
              <a:rPr lang="en-US" sz="1200" i="1" err="1">
                <a:solidFill>
                  <a:schemeClr val="tx1"/>
                </a:solidFill>
              </a:rPr>
              <a:t>Folgeprojekt</a:t>
            </a:r>
            <a:r>
              <a:rPr lang="en-US" sz="1200" i="1">
                <a:solidFill>
                  <a:schemeClr val="tx1"/>
                </a:solidFill>
              </a:rPr>
              <a:t> SNOW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53ECC553-C386-E85E-7366-FAB0D129AF29}"/>
              </a:ext>
            </a:extLst>
          </p:cNvPr>
          <p:cNvSpPr/>
          <p:nvPr/>
        </p:nvSpPr>
        <p:spPr>
          <a:xfrm>
            <a:off x="8968740" y="1603375"/>
            <a:ext cx="2743834" cy="4592320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en-US" sz="1200" i="1">
                <a:solidFill>
                  <a:schemeClr val="tx1"/>
                </a:solidFill>
              </a:rPr>
              <a:t>“</a:t>
            </a:r>
            <a:r>
              <a:rPr lang="en-US" sz="1200" i="1" err="1">
                <a:solidFill>
                  <a:schemeClr val="tx1"/>
                </a:solidFill>
              </a:rPr>
              <a:t>Beschlussvorlage</a:t>
            </a:r>
            <a:r>
              <a:rPr lang="en-US" sz="1200" i="1">
                <a:solidFill>
                  <a:schemeClr val="tx1"/>
                </a:solidFill>
              </a:rPr>
              <a:t>” </a:t>
            </a:r>
            <a:r>
              <a:rPr lang="en-US" sz="1200" i="1" err="1">
                <a:solidFill>
                  <a:schemeClr val="tx1"/>
                </a:solidFill>
              </a:rPr>
              <a:t>mit</a:t>
            </a:r>
            <a:r>
              <a:rPr lang="en-US" sz="1200" i="1">
                <a:solidFill>
                  <a:schemeClr val="tx1"/>
                </a:solidFill>
              </a:rPr>
              <a:t> </a:t>
            </a:r>
            <a:r>
              <a:rPr lang="en-US" sz="1200" i="1" err="1">
                <a:solidFill>
                  <a:schemeClr val="tx1"/>
                </a:solidFill>
              </a:rPr>
              <a:t>Empfehlung</a:t>
            </a:r>
            <a:r>
              <a:rPr lang="en-US" sz="1200" i="1">
                <a:solidFill>
                  <a:schemeClr val="tx1"/>
                </a:solidFill>
              </a:rPr>
              <a:t>, dies </a:t>
            </a:r>
            <a:r>
              <a:rPr lang="en-US" sz="1200" i="1" err="1">
                <a:solidFill>
                  <a:schemeClr val="tx1"/>
                </a:solidFill>
              </a:rPr>
              <a:t>zu</a:t>
            </a:r>
            <a:r>
              <a:rPr lang="en-US" sz="1200" i="1">
                <a:solidFill>
                  <a:schemeClr val="tx1"/>
                </a:solidFill>
              </a:rPr>
              <a:t> </a:t>
            </a:r>
            <a:r>
              <a:rPr lang="en-US" sz="1200" i="1" err="1">
                <a:solidFill>
                  <a:schemeClr val="tx1"/>
                </a:solidFill>
              </a:rPr>
              <a:t>beauftragen</a:t>
            </a:r>
            <a:r>
              <a:rPr lang="en-US" sz="1200" i="1">
                <a:solidFill>
                  <a:schemeClr val="tx1"/>
                </a:solidFill>
              </a:rPr>
              <a:t>/</a:t>
            </a:r>
            <a:r>
              <a:rPr lang="en-US" sz="1200" i="1" err="1">
                <a:solidFill>
                  <a:schemeClr val="tx1"/>
                </a:solidFill>
              </a:rPr>
              <a:t>zu</a:t>
            </a:r>
            <a:r>
              <a:rPr lang="en-US" sz="1200" i="1">
                <a:solidFill>
                  <a:schemeClr val="tx1"/>
                </a:solidFill>
              </a:rPr>
              <a:t> tun</a:t>
            </a:r>
          </a:p>
        </p:txBody>
      </p:sp>
    </p:spTree>
    <p:extLst>
      <p:ext uri="{BB962C8B-B14F-4D97-AF65-F5344CB8AC3E}">
        <p14:creationId xmlns:p14="http://schemas.microsoft.com/office/powerpoint/2010/main" val="27503784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0C3F3-5067-1BE9-55CC-DABF73945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0094872D-196C-2387-D8DE-EFB4DF6D145F}"/>
              </a:ext>
            </a:extLst>
          </p:cNvPr>
          <p:cNvSpPr/>
          <p:nvPr/>
        </p:nvSpPr>
        <p:spPr>
          <a:xfrm>
            <a:off x="479426" y="1497454"/>
            <a:ext cx="10963980" cy="4857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2026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E8FF355-9C34-9543-E070-23265AD29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>
                <a:solidFill>
                  <a:schemeClr val="tx2">
                    <a:lumMod val="50000"/>
                  </a:schemeClr>
                </a:solidFill>
              </a:rPr>
              <a:t>Roadmap</a:t>
            </a:r>
            <a:endParaRPr lang="de-DE"/>
          </a:p>
        </p:txBody>
      </p:sp>
      <p:sp>
        <p:nvSpPr>
          <p:cNvPr id="8" name="Textplatzhalter 3">
            <a:extLst>
              <a:ext uri="{FF2B5EF4-FFF2-40B4-BE49-F238E27FC236}">
                <a16:creationId xmlns:a16="http://schemas.microsoft.com/office/drawing/2014/main" id="{97BA85A9-289C-44B3-4F60-40374F89531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9426" y="1130300"/>
            <a:ext cx="11233147" cy="249299"/>
          </a:xfrm>
        </p:spPr>
        <p:txBody>
          <a:bodyPr/>
          <a:lstStyle/>
          <a:p>
            <a:r>
              <a:rPr lang="de-DE" i="1" err="1"/>
              <a:t>Rough</a:t>
            </a:r>
            <a:r>
              <a:rPr lang="de-DE" i="1"/>
              <a:t> Schedule</a:t>
            </a:r>
          </a:p>
        </p:txBody>
      </p:sp>
      <p:sp>
        <p:nvSpPr>
          <p:cNvPr id="7" name="Stern: 5 Zacken 6">
            <a:extLst>
              <a:ext uri="{FF2B5EF4-FFF2-40B4-BE49-F238E27FC236}">
                <a16:creationId xmlns:a16="http://schemas.microsoft.com/office/drawing/2014/main" id="{D3702B8A-09C6-5DD7-AC34-232AF37DBDF8}"/>
              </a:ext>
            </a:extLst>
          </p:cNvPr>
          <p:cNvSpPr/>
          <p:nvPr/>
        </p:nvSpPr>
        <p:spPr>
          <a:xfrm>
            <a:off x="908708" y="2125104"/>
            <a:ext cx="280586" cy="280586"/>
          </a:xfrm>
          <a:prstGeom prst="star5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D5F09A99-8CA0-2F60-E3D5-7A1F57C07D65}"/>
              </a:ext>
            </a:extLst>
          </p:cNvPr>
          <p:cNvSpPr txBox="1"/>
          <p:nvPr/>
        </p:nvSpPr>
        <p:spPr>
          <a:xfrm>
            <a:off x="615519" y="2442945"/>
            <a:ext cx="1210945" cy="2215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>
              <a:lnSpc>
                <a:spcPct val="90000"/>
              </a:lnSpc>
              <a:spcBef>
                <a:spcPts val="400"/>
              </a:spcBef>
              <a:defRPr/>
            </a:pPr>
            <a:r>
              <a:rPr lang="de-DE" sz="1600" b="1">
                <a:solidFill>
                  <a:prstClr val="black"/>
                </a:solidFill>
              </a:rPr>
              <a:t>PPB 08.04</a:t>
            </a: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.</a:t>
            </a: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4FF74684-0881-AFD7-5B67-531217B8F902}"/>
              </a:ext>
            </a:extLst>
          </p:cNvPr>
          <p:cNvSpPr txBox="1"/>
          <p:nvPr/>
        </p:nvSpPr>
        <p:spPr>
          <a:xfrm>
            <a:off x="7282081" y="4478093"/>
            <a:ext cx="1549045" cy="6647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Kick-off</a:t>
            </a:r>
            <a:br>
              <a:rPr lang="de-DE" sz="1600" b="1">
                <a:solidFill>
                  <a:prstClr val="black"/>
                </a:solidFill>
                <a:latin typeface="STIHL Contraface Text"/>
              </a:rPr>
            </a:br>
            <a:r>
              <a:rPr lang="de-DE" sz="1600" b="1">
                <a:solidFill>
                  <a:prstClr val="black"/>
                </a:solidFill>
                <a:latin typeface="STIHL Contraface Text"/>
              </a:rPr>
              <a:t>Project Phase 1 Q3/Q4</a:t>
            </a:r>
            <a:endParaRPr kumimoji="0" lang="de-DE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TIHL Contraface Text"/>
              <a:ea typeface="+mn-ea"/>
              <a:cs typeface="+mn-cs"/>
            </a:endParaRPr>
          </a:p>
        </p:txBody>
      </p:sp>
      <p:sp>
        <p:nvSpPr>
          <p:cNvPr id="31" name="Pfeil nach oben 18">
            <a:extLst>
              <a:ext uri="{FF2B5EF4-FFF2-40B4-BE49-F238E27FC236}">
                <a16:creationId xmlns:a16="http://schemas.microsoft.com/office/drawing/2014/main" id="{53CA70BA-2FB4-00C4-0D2C-FF699B34EAE8}"/>
              </a:ext>
            </a:extLst>
          </p:cNvPr>
          <p:cNvSpPr/>
          <p:nvPr/>
        </p:nvSpPr>
        <p:spPr>
          <a:xfrm>
            <a:off x="7908187" y="4185921"/>
            <a:ext cx="296835" cy="199376"/>
          </a:xfrm>
          <a:prstGeom prst="upArrow">
            <a:avLst/>
          </a:prstGeom>
          <a:solidFill>
            <a:schemeClr val="accent2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TIHL Contraface Text"/>
              <a:ea typeface="+mn-ea"/>
              <a:cs typeface="+mn-cs"/>
            </a:endParaRPr>
          </a:p>
        </p:txBody>
      </p:sp>
      <p:sp>
        <p:nvSpPr>
          <p:cNvPr id="42" name="Chevron 14">
            <a:extLst>
              <a:ext uri="{FF2B5EF4-FFF2-40B4-BE49-F238E27FC236}">
                <a16:creationId xmlns:a16="http://schemas.microsoft.com/office/drawing/2014/main" id="{6658A6D1-AE27-B3DB-4A01-CCF0283B0BE0}"/>
              </a:ext>
            </a:extLst>
          </p:cNvPr>
          <p:cNvSpPr/>
          <p:nvPr/>
        </p:nvSpPr>
        <p:spPr>
          <a:xfrm>
            <a:off x="4447974" y="2648824"/>
            <a:ext cx="1706559" cy="591027"/>
          </a:xfrm>
          <a:prstGeom prst="chevron">
            <a:avLst/>
          </a:prstGeom>
          <a:solidFill>
            <a:schemeClr val="accent2"/>
          </a:solidFill>
          <a:ln w="38100"/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Stakeholder</a:t>
            </a:r>
            <a:b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</a:b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Management&amp;</a:t>
            </a:r>
            <a:b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</a:br>
            <a:r>
              <a:rPr kumimoji="0" lang="en-US" sz="105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Entscheidung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IHL Contraface Text"/>
              <a:ea typeface="+mn-ea"/>
              <a:cs typeface="+mn-cs"/>
            </a:endParaRPr>
          </a:p>
        </p:txBody>
      </p:sp>
      <p:sp>
        <p:nvSpPr>
          <p:cNvPr id="43" name="Chevron 14">
            <a:extLst>
              <a:ext uri="{FF2B5EF4-FFF2-40B4-BE49-F238E27FC236}">
                <a16:creationId xmlns:a16="http://schemas.microsoft.com/office/drawing/2014/main" id="{0608F847-0FF3-0572-AC79-44B3CDD7DDA1}"/>
              </a:ext>
            </a:extLst>
          </p:cNvPr>
          <p:cNvSpPr/>
          <p:nvPr/>
        </p:nvSpPr>
        <p:spPr>
          <a:xfrm>
            <a:off x="1101213" y="2638847"/>
            <a:ext cx="3557551" cy="591027"/>
          </a:xfrm>
          <a:prstGeom prst="chevron">
            <a:avLst/>
          </a:prstGeom>
          <a:solidFill>
            <a:schemeClr val="accent2"/>
          </a:solidFill>
          <a:ln w="38100"/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err="1">
                <a:solidFill>
                  <a:prstClr val="white"/>
                </a:solidFill>
                <a:latin typeface="STIHL Contraface Text"/>
              </a:rPr>
              <a:t>Auftragsklärung</a:t>
            </a:r>
            <a:br>
              <a:rPr lang="en-US" sz="1050">
                <a:solidFill>
                  <a:prstClr val="white"/>
                </a:solidFill>
                <a:latin typeface="STIHL Contraface Text"/>
              </a:rPr>
            </a:br>
            <a:r>
              <a:rPr lang="en-US" sz="1050" err="1">
                <a:solidFill>
                  <a:prstClr val="white"/>
                </a:solidFill>
                <a:latin typeface="STIHL Contraface Text"/>
              </a:rPr>
              <a:t>Planung</a:t>
            </a:r>
            <a:r>
              <a:rPr lang="en-US" sz="1050">
                <a:solidFill>
                  <a:prstClr val="white"/>
                </a:solidFill>
                <a:latin typeface="STIHL Contraface Text"/>
              </a:rPr>
              <a:t> der </a:t>
            </a:r>
            <a:r>
              <a:rPr lang="en-US" sz="1050" err="1">
                <a:solidFill>
                  <a:prstClr val="white"/>
                </a:solidFill>
                <a:latin typeface="STIHL Contraface Text"/>
              </a:rPr>
              <a:t>Phasen</a:t>
            </a:r>
            <a:r>
              <a:rPr lang="en-US" sz="1050">
                <a:solidFill>
                  <a:prstClr val="white"/>
                </a:solidFill>
                <a:latin typeface="STIHL Contraface Text"/>
              </a:rPr>
              <a:t> und Kosten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IHL Contraface Text"/>
              <a:ea typeface="+mn-ea"/>
              <a:cs typeface="+mn-cs"/>
            </a:endParaRPr>
          </a:p>
        </p:txBody>
      </p:sp>
      <p:sp>
        <p:nvSpPr>
          <p:cNvPr id="44" name="Stern: 5 Zacken 43">
            <a:extLst>
              <a:ext uri="{FF2B5EF4-FFF2-40B4-BE49-F238E27FC236}">
                <a16:creationId xmlns:a16="http://schemas.microsoft.com/office/drawing/2014/main" id="{C68D4119-E451-7BB9-183F-42870641D14F}"/>
              </a:ext>
            </a:extLst>
          </p:cNvPr>
          <p:cNvSpPr/>
          <p:nvPr/>
        </p:nvSpPr>
        <p:spPr>
          <a:xfrm>
            <a:off x="7079550" y="2136514"/>
            <a:ext cx="280586" cy="280586"/>
          </a:xfrm>
          <a:prstGeom prst="star5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C19101E6-D84D-1EB2-4FB7-C2CF82B06824}"/>
              </a:ext>
            </a:extLst>
          </p:cNvPr>
          <p:cNvSpPr txBox="1"/>
          <p:nvPr/>
        </p:nvSpPr>
        <p:spPr>
          <a:xfrm>
            <a:off x="5785569" y="2450481"/>
            <a:ext cx="2603868" cy="2215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>
              <a:lnSpc>
                <a:spcPct val="90000"/>
              </a:lnSpc>
              <a:spcBef>
                <a:spcPts val="400"/>
              </a:spcBef>
              <a:defRPr/>
            </a:pPr>
            <a:r>
              <a:rPr lang="de-DE" sz="1600" b="1">
                <a:solidFill>
                  <a:prstClr val="black"/>
                </a:solidFill>
              </a:rPr>
              <a:t>Jahres –Planung 01</a:t>
            </a: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.0</a:t>
            </a:r>
            <a:r>
              <a:rPr lang="de-DE" sz="1600" b="1">
                <a:solidFill>
                  <a:prstClr val="black"/>
                </a:solidFill>
                <a:latin typeface="STIHL Contraface Text"/>
              </a:rPr>
              <a:t>9</a:t>
            </a: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.2026</a:t>
            </a:r>
          </a:p>
        </p:txBody>
      </p:sp>
      <p:sp>
        <p:nvSpPr>
          <p:cNvPr id="46" name="Chevron 14">
            <a:extLst>
              <a:ext uri="{FF2B5EF4-FFF2-40B4-BE49-F238E27FC236}">
                <a16:creationId xmlns:a16="http://schemas.microsoft.com/office/drawing/2014/main" id="{06D80502-AC64-A986-C35A-C0B500464283}"/>
              </a:ext>
            </a:extLst>
          </p:cNvPr>
          <p:cNvSpPr/>
          <p:nvPr/>
        </p:nvSpPr>
        <p:spPr>
          <a:xfrm>
            <a:off x="8056605" y="3417615"/>
            <a:ext cx="3386801" cy="591027"/>
          </a:xfrm>
          <a:prstGeom prst="chevron">
            <a:avLst/>
          </a:prstGeom>
          <a:solidFill>
            <a:srgbClr val="92D050"/>
          </a:solidFill>
          <a:ln w="38100"/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sz="1050">
                <a:solidFill>
                  <a:prstClr val="white"/>
                </a:solidFill>
                <a:latin typeface="STIHL Contraface Text"/>
              </a:rPr>
              <a:t>Phase 1</a:t>
            </a:r>
            <a:br>
              <a:rPr lang="en-US" sz="1050">
                <a:solidFill>
                  <a:prstClr val="white"/>
                </a:solidFill>
              </a:rPr>
            </a:br>
            <a:r>
              <a:rPr lang="en-US" sz="1050" err="1">
                <a:solidFill>
                  <a:prstClr val="white"/>
                </a:solidFill>
              </a:rPr>
              <a:t>Konzeption</a:t>
            </a:r>
            <a:r>
              <a:rPr lang="en-US" sz="1050">
                <a:solidFill>
                  <a:prstClr val="white"/>
                </a:solidFill>
              </a:rPr>
              <a:t> &amp; </a:t>
            </a:r>
            <a:r>
              <a:rPr lang="en-US" sz="1050" err="1">
                <a:solidFill>
                  <a:prstClr val="white"/>
                </a:solidFill>
              </a:rPr>
              <a:t>Umsetzung</a:t>
            </a:r>
            <a:br>
              <a:rPr lang="en-US" sz="1050">
                <a:solidFill>
                  <a:prstClr val="white"/>
                </a:solidFill>
              </a:rPr>
            </a:br>
            <a:r>
              <a:rPr lang="en-US" sz="1050">
                <a:solidFill>
                  <a:prstClr val="white"/>
                </a:solidFill>
              </a:rPr>
              <a:t> </a:t>
            </a:r>
            <a:r>
              <a:rPr lang="en-US" sz="1050" err="1">
                <a:solidFill>
                  <a:prstClr val="white"/>
                </a:solidFill>
              </a:rPr>
              <a:t>Demand,</a:t>
            </a:r>
            <a:r>
              <a:rPr lang="en-US" sz="1050" err="1">
                <a:solidFill>
                  <a:prstClr val="white"/>
                </a:solidFill>
                <a:latin typeface="STIHL Contraface Text"/>
              </a:rPr>
              <a:t>Strategy,MDM</a:t>
            </a:r>
            <a:r>
              <a:rPr lang="en-US" sz="1050">
                <a:solidFill>
                  <a:prstClr val="white"/>
                </a:solidFill>
                <a:latin typeface="STIHL Contraface Text"/>
              </a:rPr>
              <a:t>, </a:t>
            </a:r>
            <a:r>
              <a:rPr lang="en-US" sz="1050" err="1">
                <a:solidFill>
                  <a:prstClr val="white"/>
                </a:solidFill>
                <a:latin typeface="STIHL Contraface Text"/>
              </a:rPr>
              <a:t>Portfolio,Workflows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IHL Contraface Text"/>
              <a:ea typeface="+mn-ea"/>
              <a:cs typeface="+mn-cs"/>
            </a:endParaRPr>
          </a:p>
        </p:txBody>
      </p:sp>
      <p:sp>
        <p:nvSpPr>
          <p:cNvPr id="48" name="Chevron 14">
            <a:extLst>
              <a:ext uri="{FF2B5EF4-FFF2-40B4-BE49-F238E27FC236}">
                <a16:creationId xmlns:a16="http://schemas.microsoft.com/office/drawing/2014/main" id="{EC685A8F-E499-1E22-AA7C-9D5E3AB2052E}"/>
              </a:ext>
            </a:extLst>
          </p:cNvPr>
          <p:cNvSpPr/>
          <p:nvPr/>
        </p:nvSpPr>
        <p:spPr>
          <a:xfrm>
            <a:off x="5961416" y="5341576"/>
            <a:ext cx="1706559" cy="591027"/>
          </a:xfrm>
          <a:prstGeom prst="chevron">
            <a:avLst/>
          </a:prstGeom>
          <a:solidFill>
            <a:schemeClr val="tx2"/>
          </a:solidFill>
          <a:ln w="38100"/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>
                <a:solidFill>
                  <a:prstClr val="white"/>
                </a:solidFill>
                <a:latin typeface="STIHL Contraface Text"/>
              </a:rPr>
              <a:t>ServiceNow Budgetierung</a:t>
            </a:r>
          </a:p>
        </p:txBody>
      </p:sp>
      <p:sp>
        <p:nvSpPr>
          <p:cNvPr id="49" name="Chevron 14">
            <a:extLst>
              <a:ext uri="{FF2B5EF4-FFF2-40B4-BE49-F238E27FC236}">
                <a16:creationId xmlns:a16="http://schemas.microsoft.com/office/drawing/2014/main" id="{446BC23D-8AE6-3AE6-E88B-D614EDE0B0C1}"/>
              </a:ext>
            </a:extLst>
          </p:cNvPr>
          <p:cNvSpPr/>
          <p:nvPr/>
        </p:nvSpPr>
        <p:spPr>
          <a:xfrm>
            <a:off x="7462685" y="5341576"/>
            <a:ext cx="3535472" cy="591027"/>
          </a:xfrm>
          <a:prstGeom prst="chevron">
            <a:avLst/>
          </a:prstGeom>
          <a:solidFill>
            <a:schemeClr val="tx2"/>
          </a:solidFill>
          <a:ln w="38100"/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>
                <a:solidFill>
                  <a:prstClr val="white"/>
                </a:solidFill>
                <a:latin typeface="STIHL Contraface Text"/>
              </a:rPr>
              <a:t>ServiceNow Contract Renewal</a:t>
            </a:r>
          </a:p>
        </p:txBody>
      </p:sp>
      <p:sp>
        <p:nvSpPr>
          <p:cNvPr id="50" name="Chevron 14">
            <a:extLst>
              <a:ext uri="{FF2B5EF4-FFF2-40B4-BE49-F238E27FC236}">
                <a16:creationId xmlns:a16="http://schemas.microsoft.com/office/drawing/2014/main" id="{BA0006F6-8720-9137-1A5A-4278B8D18D68}"/>
              </a:ext>
            </a:extLst>
          </p:cNvPr>
          <p:cNvSpPr/>
          <p:nvPr/>
        </p:nvSpPr>
        <p:spPr>
          <a:xfrm>
            <a:off x="5943120" y="2653688"/>
            <a:ext cx="1405367" cy="591027"/>
          </a:xfrm>
          <a:prstGeom prst="chevron">
            <a:avLst/>
          </a:prstGeom>
          <a:solidFill>
            <a:schemeClr val="accent2"/>
          </a:solidFill>
          <a:ln w="38100"/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Budget</a:t>
            </a:r>
            <a:b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</a:br>
            <a:r>
              <a:rPr kumimoji="0" lang="en-US" sz="105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Planung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IHL Contraface Text"/>
              <a:ea typeface="+mn-ea"/>
              <a:cs typeface="+mn-cs"/>
            </a:endParaRPr>
          </a:p>
        </p:txBody>
      </p:sp>
      <p:sp>
        <p:nvSpPr>
          <p:cNvPr id="51" name="Chevron 14">
            <a:extLst>
              <a:ext uri="{FF2B5EF4-FFF2-40B4-BE49-F238E27FC236}">
                <a16:creationId xmlns:a16="http://schemas.microsoft.com/office/drawing/2014/main" id="{AC4BCA12-7E2F-87CF-3A39-88B32A9075D3}"/>
              </a:ext>
            </a:extLst>
          </p:cNvPr>
          <p:cNvSpPr/>
          <p:nvPr/>
        </p:nvSpPr>
        <p:spPr>
          <a:xfrm>
            <a:off x="4216842" y="3414690"/>
            <a:ext cx="2168822" cy="591027"/>
          </a:xfrm>
          <a:prstGeom prst="chevron">
            <a:avLst/>
          </a:prstGeom>
          <a:solidFill>
            <a:schemeClr val="accent2"/>
          </a:solidFill>
          <a:ln w="38100"/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err="1">
                <a:solidFill>
                  <a:prstClr val="white"/>
                </a:solidFill>
                <a:latin typeface="STIHL Contraface Text"/>
              </a:rPr>
              <a:t>Partnerauswahl</a:t>
            </a:r>
            <a:r>
              <a:rPr lang="en-US" sz="1050">
                <a:solidFill>
                  <a:prstClr val="white"/>
                </a:solidFill>
                <a:latin typeface="STIHL Contraface Text"/>
              </a:rPr>
              <a:t> (ServiceNow SPM)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IHL Contraface Text"/>
              <a:ea typeface="+mn-ea"/>
              <a:cs typeface="+mn-cs"/>
            </a:endParaRPr>
          </a:p>
        </p:txBody>
      </p:sp>
      <p:sp>
        <p:nvSpPr>
          <p:cNvPr id="52" name="Chevron 14">
            <a:extLst>
              <a:ext uri="{FF2B5EF4-FFF2-40B4-BE49-F238E27FC236}">
                <a16:creationId xmlns:a16="http://schemas.microsoft.com/office/drawing/2014/main" id="{4311418E-0396-BD3B-033A-D810C3959D2A}"/>
              </a:ext>
            </a:extLst>
          </p:cNvPr>
          <p:cNvSpPr/>
          <p:nvPr/>
        </p:nvSpPr>
        <p:spPr>
          <a:xfrm>
            <a:off x="1405531" y="4284503"/>
            <a:ext cx="4384913" cy="591027"/>
          </a:xfrm>
          <a:prstGeom prst="chevron">
            <a:avLst/>
          </a:prstGeom>
          <a:solidFill>
            <a:schemeClr val="accent2"/>
          </a:solidFill>
          <a:ln w="38100"/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>
                <a:solidFill>
                  <a:prstClr val="white"/>
                </a:solidFill>
                <a:latin typeface="STIHL Contraface Text"/>
              </a:rPr>
              <a:t>Alternative Projekt Management </a:t>
            </a:r>
            <a:r>
              <a:rPr lang="en-US" sz="1050" err="1">
                <a:solidFill>
                  <a:prstClr val="white"/>
                </a:solidFill>
                <a:latin typeface="STIHL Contraface Text"/>
              </a:rPr>
              <a:t>Plattform</a:t>
            </a:r>
            <a:r>
              <a:rPr lang="en-US" sz="1050">
                <a:solidFill>
                  <a:prstClr val="white"/>
                </a:solidFill>
                <a:latin typeface="STIHL Contraface Text"/>
              </a:rPr>
              <a:t> </a:t>
            </a:r>
            <a:br>
              <a:rPr lang="en-US" sz="1050">
                <a:solidFill>
                  <a:prstClr val="white"/>
                </a:solidFill>
                <a:latin typeface="STIHL Contraface Text"/>
              </a:rPr>
            </a:br>
            <a:r>
              <a:rPr lang="en-US" sz="1050">
                <a:solidFill>
                  <a:prstClr val="white"/>
                </a:solidFill>
                <a:latin typeface="STIHL Contraface Text"/>
              </a:rPr>
              <a:t>(VEW, VPM)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IHL Contraface Text"/>
              <a:ea typeface="+mn-ea"/>
              <a:cs typeface="+mn-cs"/>
            </a:endParaRPr>
          </a:p>
        </p:txBody>
      </p:sp>
      <p:sp>
        <p:nvSpPr>
          <p:cNvPr id="3" name="Stern: 5 Zacken 2">
            <a:extLst>
              <a:ext uri="{FF2B5EF4-FFF2-40B4-BE49-F238E27FC236}">
                <a16:creationId xmlns:a16="http://schemas.microsoft.com/office/drawing/2014/main" id="{3D7A00C7-AD82-5AF8-E97D-B18F1B89FBA8}"/>
              </a:ext>
            </a:extLst>
          </p:cNvPr>
          <p:cNvSpPr/>
          <p:nvPr/>
        </p:nvSpPr>
        <p:spPr>
          <a:xfrm>
            <a:off x="3293767" y="2166394"/>
            <a:ext cx="280586" cy="280586"/>
          </a:xfrm>
          <a:prstGeom prst="star5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6AF6CB83-1C24-2413-7E83-544C1E0FD44A}"/>
              </a:ext>
            </a:extLst>
          </p:cNvPr>
          <p:cNvSpPr txBox="1"/>
          <p:nvPr/>
        </p:nvSpPr>
        <p:spPr>
          <a:xfrm>
            <a:off x="3611369" y="2363185"/>
            <a:ext cx="1210945" cy="2215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>
              <a:lnSpc>
                <a:spcPct val="90000"/>
              </a:lnSpc>
              <a:spcBef>
                <a:spcPts val="400"/>
              </a:spcBef>
              <a:defRPr/>
            </a:pPr>
            <a:r>
              <a:rPr lang="de-DE" sz="1600" b="1">
                <a:solidFill>
                  <a:prstClr val="black"/>
                </a:solidFill>
              </a:rPr>
              <a:t>VS 18.05</a:t>
            </a: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912667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EF763-00AC-AFD5-FB35-2DBDB22AC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B6E3A34B-D8D9-91E8-65EC-DB22B310E2C2}"/>
              </a:ext>
            </a:extLst>
          </p:cNvPr>
          <p:cNvSpPr/>
          <p:nvPr/>
        </p:nvSpPr>
        <p:spPr>
          <a:xfrm>
            <a:off x="479426" y="1531087"/>
            <a:ext cx="10963980" cy="4857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2027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AE36681-9627-33D7-1FE8-8AC28349D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>
                <a:solidFill>
                  <a:schemeClr val="tx2">
                    <a:lumMod val="50000"/>
                  </a:schemeClr>
                </a:solidFill>
              </a:rPr>
              <a:t>Roadmap</a:t>
            </a:r>
            <a:endParaRPr lang="de-DE"/>
          </a:p>
        </p:txBody>
      </p:sp>
      <p:sp>
        <p:nvSpPr>
          <p:cNvPr id="8" name="Textplatzhalter 3">
            <a:extLst>
              <a:ext uri="{FF2B5EF4-FFF2-40B4-BE49-F238E27FC236}">
                <a16:creationId xmlns:a16="http://schemas.microsoft.com/office/drawing/2014/main" id="{F1B7F023-C26E-E39D-69D4-4F7C9082B53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9426" y="1130300"/>
            <a:ext cx="11233147" cy="249299"/>
          </a:xfrm>
        </p:spPr>
        <p:txBody>
          <a:bodyPr/>
          <a:lstStyle/>
          <a:p>
            <a:r>
              <a:rPr lang="de-DE" i="1" err="1"/>
              <a:t>Rough</a:t>
            </a:r>
            <a:r>
              <a:rPr lang="de-DE" i="1"/>
              <a:t> Schedule</a:t>
            </a:r>
          </a:p>
        </p:txBody>
      </p:sp>
      <p:sp>
        <p:nvSpPr>
          <p:cNvPr id="46" name="Chevron 14">
            <a:extLst>
              <a:ext uri="{FF2B5EF4-FFF2-40B4-BE49-F238E27FC236}">
                <a16:creationId xmlns:a16="http://schemas.microsoft.com/office/drawing/2014/main" id="{4ECC3A73-A8C6-334C-18B1-838E3A39E66D}"/>
              </a:ext>
            </a:extLst>
          </p:cNvPr>
          <p:cNvSpPr/>
          <p:nvPr/>
        </p:nvSpPr>
        <p:spPr>
          <a:xfrm>
            <a:off x="617553" y="2337440"/>
            <a:ext cx="5960228" cy="591027"/>
          </a:xfrm>
          <a:prstGeom prst="chevron">
            <a:avLst/>
          </a:prstGeom>
          <a:solidFill>
            <a:srgbClr val="92D050"/>
          </a:solidFill>
          <a:ln w="38100"/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sz="1050">
                <a:solidFill>
                  <a:prstClr val="white"/>
                </a:solidFill>
                <a:latin typeface="STIHL Contraface Text"/>
              </a:rPr>
              <a:t>Phase 1</a:t>
            </a:r>
            <a:br>
              <a:rPr lang="en-US" sz="1050">
                <a:solidFill>
                  <a:prstClr val="white"/>
                </a:solidFill>
              </a:rPr>
            </a:br>
            <a:r>
              <a:rPr lang="en-US" sz="1050" err="1">
                <a:solidFill>
                  <a:prstClr val="white"/>
                </a:solidFill>
              </a:rPr>
              <a:t>Umsetzung</a:t>
            </a:r>
            <a:br>
              <a:rPr lang="en-US" sz="1050">
                <a:solidFill>
                  <a:prstClr val="white"/>
                </a:solidFill>
                <a:latin typeface="STIHL Contraface Text"/>
              </a:rPr>
            </a:br>
            <a:r>
              <a:rPr lang="en-US" sz="1050">
                <a:solidFill>
                  <a:prstClr val="white"/>
                </a:solidFill>
                <a:latin typeface="STIHL Contraface Text"/>
              </a:rPr>
              <a:t>Demand, MDM, Strategy, Portfolio, Workflows</a:t>
            </a:r>
            <a:r>
              <a:rPr lang="en-US" sz="1050">
                <a:solidFill>
                  <a:srgbClr val="FF0000"/>
                </a:solidFill>
                <a:latin typeface="STIHL Contraface Text"/>
              </a:rPr>
              <a:t>, PIT-</a:t>
            </a:r>
            <a:r>
              <a:rPr lang="en-US" sz="1050" err="1">
                <a:solidFill>
                  <a:srgbClr val="FF0000"/>
                </a:solidFill>
                <a:latin typeface="STIHL Contraface Text"/>
              </a:rPr>
              <a:t>Schnittstelle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STIHL Contraface Text"/>
              <a:ea typeface="+mn-ea"/>
              <a:cs typeface="+mn-cs"/>
            </a:endParaRPr>
          </a:p>
        </p:txBody>
      </p:sp>
      <p:sp>
        <p:nvSpPr>
          <p:cNvPr id="49" name="Chevron 14">
            <a:extLst>
              <a:ext uri="{FF2B5EF4-FFF2-40B4-BE49-F238E27FC236}">
                <a16:creationId xmlns:a16="http://schemas.microsoft.com/office/drawing/2014/main" id="{E89847A3-6EFB-2796-CB1D-EEB725E29DFA}"/>
              </a:ext>
            </a:extLst>
          </p:cNvPr>
          <p:cNvSpPr/>
          <p:nvPr/>
        </p:nvSpPr>
        <p:spPr>
          <a:xfrm>
            <a:off x="4991878" y="3338507"/>
            <a:ext cx="6128406" cy="591027"/>
          </a:xfrm>
          <a:prstGeom prst="chevron">
            <a:avLst/>
          </a:prstGeom>
          <a:solidFill>
            <a:schemeClr val="accent5">
              <a:lumMod val="60000"/>
              <a:lumOff val="40000"/>
            </a:schemeClr>
          </a:solidFill>
          <a:ln w="38100"/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>
                <a:solidFill>
                  <a:prstClr val="white"/>
                </a:solidFill>
                <a:latin typeface="STIHL Contraface Text"/>
              </a:rPr>
              <a:t>Phase 2</a:t>
            </a:r>
            <a:br>
              <a:rPr lang="en-US" sz="1050">
                <a:solidFill>
                  <a:prstClr val="white"/>
                </a:solidFill>
                <a:latin typeface="STIHL Contraface Text"/>
              </a:rPr>
            </a:br>
            <a:r>
              <a:rPr lang="en-US" sz="1050" err="1">
                <a:solidFill>
                  <a:prstClr val="white"/>
                </a:solidFill>
                <a:latin typeface="STIHL Contraface Text"/>
              </a:rPr>
              <a:t>Konzeption</a:t>
            </a:r>
            <a:r>
              <a:rPr lang="en-US" sz="1050">
                <a:solidFill>
                  <a:prstClr val="white"/>
                </a:solidFill>
                <a:latin typeface="STIHL Contraface Text"/>
              </a:rPr>
              <a:t> &amp; </a:t>
            </a:r>
            <a:r>
              <a:rPr lang="en-US" sz="1050" err="1">
                <a:solidFill>
                  <a:prstClr val="white"/>
                </a:solidFill>
                <a:latin typeface="STIHL Contraface Text"/>
              </a:rPr>
              <a:t>Umsetzung</a:t>
            </a:r>
            <a:r>
              <a:rPr lang="en-US" sz="1050">
                <a:solidFill>
                  <a:prstClr val="white"/>
                </a:solidFill>
                <a:latin typeface="STIHL Contraface Text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>
                <a:solidFill>
                  <a:prstClr val="white"/>
                </a:solidFill>
                <a:latin typeface="STIHL Contraface Text"/>
              </a:rPr>
              <a:t>Project Management (Org-Projekte, PEP, VPM, Portfolio) 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3B2DEB63-E7A0-0C37-63C7-C59BA69166D1}"/>
              </a:ext>
            </a:extLst>
          </p:cNvPr>
          <p:cNvSpPr txBox="1"/>
          <p:nvPr/>
        </p:nvSpPr>
        <p:spPr>
          <a:xfrm>
            <a:off x="7986921" y="4200917"/>
            <a:ext cx="1549045" cy="4431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Go Live</a:t>
            </a:r>
            <a:b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</a:br>
            <a:r>
              <a:rPr kumimoji="0" lang="de-DE" sz="16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Org</a:t>
            </a:r>
            <a:r>
              <a:rPr lang="de-DE" sz="1600" b="1">
                <a:solidFill>
                  <a:prstClr val="black"/>
                </a:solidFill>
                <a:latin typeface="STIHL Contraface Text"/>
              </a:rPr>
              <a:t>+IT Projekte</a:t>
            </a:r>
            <a:endParaRPr kumimoji="0" lang="de-DE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TIHL Contraface Text"/>
              <a:ea typeface="+mn-ea"/>
              <a:cs typeface="+mn-cs"/>
            </a:endParaRPr>
          </a:p>
        </p:txBody>
      </p:sp>
      <p:sp>
        <p:nvSpPr>
          <p:cNvPr id="4" name="Pfeil nach oben 18">
            <a:extLst>
              <a:ext uri="{FF2B5EF4-FFF2-40B4-BE49-F238E27FC236}">
                <a16:creationId xmlns:a16="http://schemas.microsoft.com/office/drawing/2014/main" id="{A353EE3A-38A7-429C-5BA8-051CAD0204C0}"/>
              </a:ext>
            </a:extLst>
          </p:cNvPr>
          <p:cNvSpPr/>
          <p:nvPr/>
        </p:nvSpPr>
        <p:spPr>
          <a:xfrm>
            <a:off x="8613027" y="3929534"/>
            <a:ext cx="296835" cy="199376"/>
          </a:xfrm>
          <a:prstGeom prst="upArrow">
            <a:avLst/>
          </a:prstGeom>
          <a:solidFill>
            <a:schemeClr val="accent2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TIHL Contraface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28144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47358-71C1-13FF-F052-602B50E8F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2224B03D-BD14-908C-A8F5-785D7A41B0FD}"/>
              </a:ext>
            </a:extLst>
          </p:cNvPr>
          <p:cNvSpPr/>
          <p:nvPr/>
        </p:nvSpPr>
        <p:spPr>
          <a:xfrm>
            <a:off x="479426" y="1531087"/>
            <a:ext cx="10963980" cy="4857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2028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BED0382-F54D-BA1B-1F8F-237A16EBA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>
                <a:solidFill>
                  <a:schemeClr val="tx2">
                    <a:lumMod val="50000"/>
                  </a:schemeClr>
                </a:solidFill>
              </a:rPr>
              <a:t>Roadmap</a:t>
            </a:r>
            <a:endParaRPr lang="de-DE"/>
          </a:p>
        </p:txBody>
      </p:sp>
      <p:sp>
        <p:nvSpPr>
          <p:cNvPr id="8" name="Textplatzhalter 3">
            <a:extLst>
              <a:ext uri="{FF2B5EF4-FFF2-40B4-BE49-F238E27FC236}">
                <a16:creationId xmlns:a16="http://schemas.microsoft.com/office/drawing/2014/main" id="{17BCD696-D5A0-AA34-1971-6D3DBEA0AF3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9426" y="1130300"/>
            <a:ext cx="11233147" cy="249299"/>
          </a:xfrm>
        </p:spPr>
        <p:txBody>
          <a:bodyPr/>
          <a:lstStyle/>
          <a:p>
            <a:r>
              <a:rPr lang="de-DE" i="1" err="1"/>
              <a:t>Rough</a:t>
            </a:r>
            <a:r>
              <a:rPr lang="de-DE" i="1"/>
              <a:t> Schedule</a:t>
            </a:r>
          </a:p>
        </p:txBody>
      </p:sp>
      <p:sp>
        <p:nvSpPr>
          <p:cNvPr id="49" name="Chevron 14">
            <a:extLst>
              <a:ext uri="{FF2B5EF4-FFF2-40B4-BE49-F238E27FC236}">
                <a16:creationId xmlns:a16="http://schemas.microsoft.com/office/drawing/2014/main" id="{54A47D6C-8435-A74D-535A-67724100826A}"/>
              </a:ext>
            </a:extLst>
          </p:cNvPr>
          <p:cNvSpPr/>
          <p:nvPr/>
        </p:nvSpPr>
        <p:spPr>
          <a:xfrm>
            <a:off x="399209" y="2431348"/>
            <a:ext cx="6561428" cy="591027"/>
          </a:xfrm>
          <a:prstGeom prst="chevron">
            <a:avLst/>
          </a:prstGeom>
          <a:solidFill>
            <a:schemeClr val="accent5">
              <a:lumMod val="60000"/>
              <a:lumOff val="40000"/>
            </a:schemeClr>
          </a:solidFill>
          <a:ln w="38100"/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>
                <a:solidFill>
                  <a:prstClr val="white"/>
                </a:solidFill>
                <a:latin typeface="STIHL Contraface Text"/>
              </a:rPr>
              <a:t>Phase 2</a:t>
            </a:r>
            <a:br>
              <a:rPr lang="en-US" sz="1050">
                <a:solidFill>
                  <a:prstClr val="white"/>
                </a:solidFill>
                <a:latin typeface="STIHL Contraface Text"/>
              </a:rPr>
            </a:br>
            <a:r>
              <a:rPr lang="en-US" sz="1050" err="1">
                <a:solidFill>
                  <a:prstClr val="white"/>
                </a:solidFill>
                <a:latin typeface="STIHL Contraface Text"/>
              </a:rPr>
              <a:t>Konzeption</a:t>
            </a:r>
            <a:r>
              <a:rPr lang="en-US" sz="1050">
                <a:solidFill>
                  <a:prstClr val="white"/>
                </a:solidFill>
                <a:latin typeface="STIHL Contraface Text"/>
              </a:rPr>
              <a:t> &amp; </a:t>
            </a:r>
            <a:r>
              <a:rPr lang="en-US" sz="1050" err="1">
                <a:solidFill>
                  <a:prstClr val="white"/>
                </a:solidFill>
                <a:latin typeface="STIHL Contraface Text"/>
              </a:rPr>
              <a:t>Umsetzung</a:t>
            </a:r>
            <a:r>
              <a:rPr lang="en-US" sz="1050">
                <a:solidFill>
                  <a:prstClr val="white"/>
                </a:solidFill>
                <a:latin typeface="STIHL Contraface Text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>
                <a:solidFill>
                  <a:prstClr val="white"/>
                </a:solidFill>
                <a:latin typeface="STIHL Contraface Text"/>
              </a:rPr>
              <a:t>Project Management (PEP, VPM, Portfolio) + </a:t>
            </a:r>
            <a:r>
              <a:rPr lang="en-US" sz="1050" err="1">
                <a:solidFill>
                  <a:prstClr val="white"/>
                </a:solidFill>
                <a:latin typeface="STIHL Contraface Text"/>
              </a:rPr>
              <a:t>Zusatzthemen</a:t>
            </a:r>
            <a:r>
              <a:rPr lang="en-US" sz="1050">
                <a:solidFill>
                  <a:prstClr val="white"/>
                </a:solidFill>
                <a:latin typeface="STIHL Contraface Text"/>
              </a:rPr>
              <a:t> (</a:t>
            </a:r>
            <a:r>
              <a:rPr lang="en-US" sz="1050" err="1">
                <a:solidFill>
                  <a:prstClr val="white"/>
                </a:solidFill>
                <a:latin typeface="STIHL Contraface Text"/>
              </a:rPr>
              <a:t>Maßnahmen-Managemt</a:t>
            </a:r>
            <a:r>
              <a:rPr lang="en-US" sz="1050">
                <a:solidFill>
                  <a:prstClr val="white"/>
                </a:solidFill>
                <a:latin typeface="STIHL Contraface Text"/>
              </a:rPr>
              <a:t>….) 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55E5E01B-FC0C-D18B-595A-AF2F2303A992}"/>
              </a:ext>
            </a:extLst>
          </p:cNvPr>
          <p:cNvSpPr txBox="1"/>
          <p:nvPr/>
        </p:nvSpPr>
        <p:spPr>
          <a:xfrm>
            <a:off x="6186113" y="3700383"/>
            <a:ext cx="1549045" cy="4431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Go Live</a:t>
            </a:r>
            <a:b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</a:b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VEW/VPM</a:t>
            </a:r>
          </a:p>
        </p:txBody>
      </p:sp>
      <p:sp>
        <p:nvSpPr>
          <p:cNvPr id="4" name="Pfeil nach oben 18">
            <a:extLst>
              <a:ext uri="{FF2B5EF4-FFF2-40B4-BE49-F238E27FC236}">
                <a16:creationId xmlns:a16="http://schemas.microsoft.com/office/drawing/2014/main" id="{14FE66C2-7303-34AB-B315-0C97E554B302}"/>
              </a:ext>
            </a:extLst>
          </p:cNvPr>
          <p:cNvSpPr/>
          <p:nvPr/>
        </p:nvSpPr>
        <p:spPr>
          <a:xfrm>
            <a:off x="6812219" y="3429000"/>
            <a:ext cx="296835" cy="199376"/>
          </a:xfrm>
          <a:prstGeom prst="upArrow">
            <a:avLst/>
          </a:prstGeom>
          <a:solidFill>
            <a:schemeClr val="accent2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TIHL Contraface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76640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ildplatzhalter 6" descr="Ein Bild, das draußen, Berg, Landschaft, Natur enthält.&#10;&#10;Automatisch generierte Beschreibung">
            <a:extLst>
              <a:ext uri="{FF2B5EF4-FFF2-40B4-BE49-F238E27FC236}">
                <a16:creationId xmlns:a16="http://schemas.microsoft.com/office/drawing/2014/main" id="{C1877D97-8BFD-8283-1981-2250D5B57AE3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00" b="12500"/>
          <a:stretch>
            <a:fillRect/>
          </a:stretch>
        </p:blipFill>
        <p:spPr/>
      </p:pic>
      <p:graphicFrame>
        <p:nvGraphicFramePr>
          <p:cNvPr id="2" name="Objekt 1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70" imgH="371" progId="TCLayout.ActiveDocument.1">
                  <p:embed/>
                </p:oleObj>
              </mc:Choice>
              <mc:Fallback>
                <p:oleObj name="think-cell Slide" r:id="rId5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0410E87-BFFA-41C1-BE52-E67DD581A3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9425" y="5499656"/>
            <a:ext cx="7812088" cy="671274"/>
          </a:xfrm>
        </p:spPr>
        <p:txBody>
          <a:bodyPr/>
          <a:lstStyle/>
          <a:p>
            <a:r>
              <a:rPr lang="de-DE"/>
              <a:t>Vielen Dank</a:t>
            </a:r>
          </a:p>
        </p:txBody>
      </p:sp>
      <p:pic>
        <p:nvPicPr>
          <p:cNvPr id="3" name="Grafik 2" descr="Ein Bild, das Entwurf, Kreis, Schwarzweiß, Grafiken enthält.&#10;&#10;Automatisch generierte Beschreibung">
            <a:extLst>
              <a:ext uri="{FF2B5EF4-FFF2-40B4-BE49-F238E27FC236}">
                <a16:creationId xmlns:a16="http://schemas.microsoft.com/office/drawing/2014/main" id="{8CF4DCC0-6205-DA53-CC3B-7CAA3EBBB7D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680" y="378086"/>
            <a:ext cx="1303300" cy="53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2778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C0B34AF4-2270-F99D-2A26-82D1E588A7D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2972CF5-26F3-88BE-98C6-7F379B4889C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4F6FE75-A0BC-9256-E90F-2450989E8F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5925A8F2-D526-370B-79C8-F3F2C6271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10" name="Grafik 9" descr="Ein Bild, das Screenshot, Kunst, Muster, Design enthält.&#10;&#10;Automatisch generierte Beschreibung">
            <a:extLst>
              <a:ext uri="{FF2B5EF4-FFF2-40B4-BE49-F238E27FC236}">
                <a16:creationId xmlns:a16="http://schemas.microsoft.com/office/drawing/2014/main" id="{F9F59998-C27D-727C-FDD0-13F6C930303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0250" y="2043186"/>
            <a:ext cx="7648899" cy="4814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0754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9426" y="503546"/>
            <a:ext cx="8664574" cy="304699"/>
          </a:xfrm>
        </p:spPr>
        <p:txBody>
          <a:bodyPr/>
          <a:lstStyle/>
          <a:p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551979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Objekt 28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9" name="Objekt 28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err="1"/>
              <a:t>Zielsetzung</a:t>
            </a:r>
            <a:endParaRPr lang="en-GB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72A421FE-8A25-4769-A39E-2146C9832413}"/>
              </a:ext>
            </a:extLst>
          </p:cNvPr>
          <p:cNvSpPr txBox="1"/>
          <p:nvPr/>
        </p:nvSpPr>
        <p:spPr>
          <a:xfrm>
            <a:off x="479426" y="6340250"/>
            <a:ext cx="1317668" cy="110800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>
              <a:lnSpc>
                <a:spcPct val="90000"/>
              </a:lnSpc>
            </a:pPr>
            <a:r>
              <a:rPr lang="de-DE" sz="800"/>
              <a:t>① </a:t>
            </a:r>
            <a:r>
              <a:rPr lang="de-DE" sz="800" err="1"/>
              <a:t>Please</a:t>
            </a:r>
            <a:r>
              <a:rPr lang="de-DE" sz="800"/>
              <a:t> </a:t>
            </a:r>
            <a:r>
              <a:rPr lang="de-DE" sz="800" err="1"/>
              <a:t>insert</a:t>
            </a:r>
            <a:r>
              <a:rPr lang="de-DE" sz="800"/>
              <a:t> </a:t>
            </a:r>
            <a:r>
              <a:rPr lang="de-DE" sz="800" err="1"/>
              <a:t>footnote</a:t>
            </a:r>
            <a:r>
              <a:rPr lang="de-DE" sz="800"/>
              <a:t> </a:t>
            </a:r>
            <a:r>
              <a:rPr lang="de-DE" sz="800" err="1"/>
              <a:t>here</a:t>
            </a:r>
            <a:endParaRPr lang="de-DE" sz="800"/>
          </a:p>
        </p:txBody>
      </p:sp>
      <p:sp>
        <p:nvSpPr>
          <p:cNvPr id="5" name="RbLeanShape Left U-Shape 13"/>
          <p:cNvSpPr/>
          <p:nvPr/>
        </p:nvSpPr>
        <p:spPr>
          <a:xfrm flipH="1">
            <a:off x="4305307" y="1612900"/>
            <a:ext cx="7408856" cy="4540250"/>
          </a:xfrm>
          <a:custGeom>
            <a:avLst/>
            <a:gdLst>
              <a:gd name="connsiteX0" fmla="*/ 0 w 1270000"/>
              <a:gd name="connsiteY0" fmla="*/ 0 h 3175000"/>
              <a:gd name="connsiteX1" fmla="*/ 1270000 w 1270000"/>
              <a:gd name="connsiteY1" fmla="*/ 0 h 3175000"/>
              <a:gd name="connsiteX2" fmla="*/ 1270000 w 1270000"/>
              <a:gd name="connsiteY2" fmla="*/ 3175000 h 3175000"/>
              <a:gd name="connsiteX3" fmla="*/ 0 w 1270000"/>
              <a:gd name="connsiteY3" fmla="*/ 3175000 h 31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0000" h="3175000">
                <a:moveTo>
                  <a:pt x="0" y="0"/>
                </a:moveTo>
                <a:lnTo>
                  <a:pt x="1270000" y="0"/>
                </a:lnTo>
                <a:lnTo>
                  <a:pt x="1270000" y="3175000"/>
                </a:lnTo>
                <a:lnTo>
                  <a:pt x="0" y="3175000"/>
                </a:lnTo>
              </a:path>
            </a:pathLst>
          </a:custGeom>
          <a:ln w="22225" cmpd="sng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90000" rIns="0" bIns="0" rtlCol="0" anchor="t"/>
          <a:lstStyle/>
          <a:p>
            <a:pPr fontAlgn="ctr">
              <a:lnSpc>
                <a:spcPct val="90000"/>
              </a:lnSpc>
              <a:spcBef>
                <a:spcPts val="600"/>
              </a:spcBef>
            </a:pPr>
            <a:endParaRPr lang="de-DE">
              <a:solidFill>
                <a:srgbClr val="000000"/>
              </a:solidFill>
              <a:latin typeface="+mj-lt"/>
            </a:endParaRPr>
          </a:p>
        </p:txBody>
      </p:sp>
      <p:sp>
        <p:nvSpPr>
          <p:cNvPr id="6" name="Rectangle 17"/>
          <p:cNvSpPr/>
          <p:nvPr/>
        </p:nvSpPr>
        <p:spPr>
          <a:xfrm flipH="1">
            <a:off x="4215024" y="2435427"/>
            <a:ext cx="178265" cy="2895196"/>
          </a:xfrm>
          <a:prstGeom prst="rect">
            <a:avLst/>
          </a:prstGeom>
          <a:solidFill>
            <a:schemeClr val="bg1"/>
          </a:solidFill>
          <a:ln w="9525">
            <a:noFill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108000" rtlCol="0" anchor="t" anchorCtr="0">
            <a:no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</a:pPr>
            <a:endParaRPr lang="de-DE" sz="1400" b="0">
              <a:solidFill>
                <a:srgbClr val="000000"/>
              </a:solidFill>
              <a:latin typeface="+mj-lt"/>
            </a:endParaRPr>
          </a:p>
        </p:txBody>
      </p:sp>
      <p:pic>
        <p:nvPicPr>
          <p:cNvPr id="7" name="Picture 19"/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4354" r="11368" b="15876"/>
          <a:stretch/>
        </p:blipFill>
        <p:spPr>
          <a:xfrm>
            <a:off x="479425" y="2608834"/>
            <a:ext cx="3984999" cy="2548382"/>
          </a:xfrm>
          <a:prstGeom prst="rect">
            <a:avLst/>
          </a:prstGeom>
        </p:spPr>
      </p:pic>
      <p:sp>
        <p:nvSpPr>
          <p:cNvPr id="9" name="Textframe 5"/>
          <p:cNvSpPr txBox="1"/>
          <p:nvPr/>
        </p:nvSpPr>
        <p:spPr>
          <a:xfrm>
            <a:off x="4837613" y="2606304"/>
            <a:ext cx="6874960" cy="443198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buSzPct val="100000"/>
            </a:pPr>
            <a:r>
              <a:rPr lang="de-DE" sz="3200" b="1">
                <a:solidFill>
                  <a:schemeClr val="accent2"/>
                </a:solidFill>
                <a:latin typeface="+mj-lt"/>
                <a:cs typeface="Arial Narrow" pitchFamily="34" charset="0"/>
              </a:rPr>
              <a:t>Zielsetzung des heutigen Termins</a:t>
            </a:r>
          </a:p>
        </p:txBody>
      </p:sp>
      <p:grpSp>
        <p:nvGrpSpPr>
          <p:cNvPr id="10" name="Gruppieren 9"/>
          <p:cNvGrpSpPr/>
          <p:nvPr/>
        </p:nvGrpSpPr>
        <p:grpSpPr>
          <a:xfrm>
            <a:off x="4837614" y="3305750"/>
            <a:ext cx="6876549" cy="747897"/>
            <a:chOff x="4837614" y="2589536"/>
            <a:chExt cx="6876549" cy="747897"/>
          </a:xfrm>
        </p:grpSpPr>
        <p:sp>
          <p:nvSpPr>
            <p:cNvPr id="11" name="Textframe 10"/>
            <p:cNvSpPr txBox="1"/>
            <p:nvPr/>
          </p:nvSpPr>
          <p:spPr>
            <a:xfrm>
              <a:off x="4837614" y="2741884"/>
              <a:ext cx="238884" cy="44319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 anchor="ctr" anchorCtr="0">
              <a:spAutoFit/>
            </a:bodyPr>
            <a:lstStyle/>
            <a:p>
              <a:pPr algn="ctr">
                <a:lnSpc>
                  <a:spcPct val="90000"/>
                </a:lnSpc>
                <a:spcBef>
                  <a:spcPts val="1200"/>
                </a:spcBef>
                <a:buSzPct val="100000"/>
              </a:pPr>
              <a:r>
                <a:rPr lang="de-DE" sz="3200" b="1">
                  <a:solidFill>
                    <a:schemeClr val="accent2"/>
                  </a:solidFill>
                  <a:cs typeface="Arial Narrow" pitchFamily="34" charset="0"/>
                </a:rPr>
                <a:t>1</a:t>
              </a:r>
            </a:p>
          </p:txBody>
        </p:sp>
        <p:sp>
          <p:nvSpPr>
            <p:cNvPr id="12" name="Textframe 10"/>
            <p:cNvSpPr txBox="1"/>
            <p:nvPr/>
          </p:nvSpPr>
          <p:spPr>
            <a:xfrm>
              <a:off x="5293178" y="2589536"/>
              <a:ext cx="6420985" cy="747897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 anchor="ctr">
              <a:spAutoFit/>
            </a:bodyPr>
            <a:lstStyle/>
            <a:p>
              <a:pPr>
                <a:lnSpc>
                  <a:spcPct val="90000"/>
                </a:lnSpc>
                <a:spcBef>
                  <a:spcPts val="400"/>
                </a:spcBef>
              </a:pPr>
              <a:r>
                <a:rPr lang="de-DE"/>
                <a:t>Gemeinsames Verständnis zu den Herausforderungen im Strategischen Projektportfolio Management (für Sonderprojekte in der STIHL Gruppe) schaffen.</a:t>
              </a:r>
            </a:p>
          </p:txBody>
        </p:sp>
      </p:grpSp>
      <p:cxnSp>
        <p:nvCxnSpPr>
          <p:cNvPr id="16" name="Straight Connector 22"/>
          <p:cNvCxnSpPr>
            <a:cxnSpLocks/>
          </p:cNvCxnSpPr>
          <p:nvPr/>
        </p:nvCxnSpPr>
        <p:spPr>
          <a:xfrm>
            <a:off x="5293178" y="4309895"/>
            <a:ext cx="6420985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uppieren 16"/>
          <p:cNvGrpSpPr/>
          <p:nvPr/>
        </p:nvGrpSpPr>
        <p:grpSpPr>
          <a:xfrm>
            <a:off x="4837614" y="4566142"/>
            <a:ext cx="6876549" cy="498598"/>
            <a:chOff x="4837614" y="3649159"/>
            <a:chExt cx="6876549" cy="498598"/>
          </a:xfrm>
        </p:grpSpPr>
        <p:sp>
          <p:nvSpPr>
            <p:cNvPr id="18" name="Textframe 10"/>
            <p:cNvSpPr txBox="1"/>
            <p:nvPr/>
          </p:nvSpPr>
          <p:spPr>
            <a:xfrm>
              <a:off x="4837614" y="3676858"/>
              <a:ext cx="238884" cy="44319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 anchor="ctr" anchorCtr="0">
              <a:spAutoFit/>
            </a:bodyPr>
            <a:lstStyle/>
            <a:p>
              <a:pPr algn="ctr">
                <a:lnSpc>
                  <a:spcPct val="90000"/>
                </a:lnSpc>
                <a:spcBef>
                  <a:spcPts val="1200"/>
                </a:spcBef>
                <a:buSzPct val="100000"/>
              </a:pPr>
              <a:r>
                <a:rPr lang="de-DE" sz="3200" b="1">
                  <a:solidFill>
                    <a:schemeClr val="accent2"/>
                  </a:solidFill>
                  <a:cs typeface="Arial Narrow" pitchFamily="34" charset="0"/>
                </a:rPr>
                <a:t>2</a:t>
              </a:r>
            </a:p>
          </p:txBody>
        </p:sp>
        <p:sp>
          <p:nvSpPr>
            <p:cNvPr id="19" name="Textframe 10"/>
            <p:cNvSpPr txBox="1"/>
            <p:nvPr/>
          </p:nvSpPr>
          <p:spPr>
            <a:xfrm>
              <a:off x="5293178" y="3649159"/>
              <a:ext cx="6420985" cy="49859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 anchor="ctr">
              <a:spAutoFit/>
            </a:bodyPr>
            <a:lstStyle/>
            <a:p>
              <a:pPr>
                <a:lnSpc>
                  <a:spcPct val="90000"/>
                </a:lnSpc>
                <a:spcBef>
                  <a:spcPts val="400"/>
                </a:spcBef>
                <a:buSzPct val="100000"/>
              </a:pPr>
              <a:r>
                <a:rPr lang="de-DE"/>
                <a:t>Überblick zur Einführung der Software-Plattform </a:t>
              </a:r>
              <a:r>
                <a:rPr lang="de-DE" err="1"/>
                <a:t>servicenow</a:t>
              </a:r>
              <a:r>
                <a:rPr lang="de-DE"/>
                <a:t> geben.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142847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hteck 84">
            <a:extLst>
              <a:ext uri="{FF2B5EF4-FFF2-40B4-BE49-F238E27FC236}">
                <a16:creationId xmlns:a16="http://schemas.microsoft.com/office/drawing/2014/main" id="{3B8867A5-287F-7288-D886-5F9C82B95DBC}"/>
              </a:ext>
            </a:extLst>
          </p:cNvPr>
          <p:cNvSpPr/>
          <p:nvPr/>
        </p:nvSpPr>
        <p:spPr>
          <a:xfrm>
            <a:off x="4909253" y="5683842"/>
            <a:ext cx="4336348" cy="1052225"/>
          </a:xfrm>
          <a:prstGeom prst="rect">
            <a:avLst/>
          </a:prstGeom>
          <a:solidFill>
            <a:srgbClr val="5B9BD5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vert270" lIns="288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25" name="Rechteck 124">
            <a:extLst>
              <a:ext uri="{FF2B5EF4-FFF2-40B4-BE49-F238E27FC236}">
                <a16:creationId xmlns:a16="http://schemas.microsoft.com/office/drawing/2014/main" id="{75D601FE-0E3B-2296-C4D5-16DBA17A9543}"/>
              </a:ext>
            </a:extLst>
          </p:cNvPr>
          <p:cNvSpPr/>
          <p:nvPr/>
        </p:nvSpPr>
        <p:spPr>
          <a:xfrm>
            <a:off x="156434" y="4153649"/>
            <a:ext cx="9075152" cy="1283740"/>
          </a:xfrm>
          <a:prstGeom prst="rect">
            <a:avLst/>
          </a:prstGeom>
          <a:solidFill>
            <a:srgbClr val="5B9BD5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vert270" lIns="288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9EF51B70-074D-3DB2-5003-C6EA184B8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Status Quo</a:t>
            </a:r>
          </a:p>
        </p:txBody>
      </p:sp>
      <p:sp>
        <p:nvSpPr>
          <p:cNvPr id="174" name="Freihandform: Form 173">
            <a:extLst>
              <a:ext uri="{FF2B5EF4-FFF2-40B4-BE49-F238E27FC236}">
                <a16:creationId xmlns:a16="http://schemas.microsoft.com/office/drawing/2014/main" id="{9AD1DB6D-DC5E-6069-007C-63726EA2F4A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0448" y="1206441"/>
            <a:ext cx="9075152" cy="1656000"/>
          </a:xfrm>
          <a:custGeom>
            <a:avLst/>
            <a:gdLst>
              <a:gd name="csX0" fmla="*/ 0 w 9075152"/>
              <a:gd name="csY0" fmla="*/ 0 h 1656000"/>
              <a:gd name="csX1" fmla="*/ 9075152 w 9075152"/>
              <a:gd name="csY1" fmla="*/ 0 h 1656000"/>
              <a:gd name="csX2" fmla="*/ 9075152 w 9075152"/>
              <a:gd name="csY2" fmla="*/ 1074601 h 1656000"/>
              <a:gd name="csX3" fmla="*/ 3963159 w 9075152"/>
              <a:gd name="csY3" fmla="*/ 1074601 h 1656000"/>
              <a:gd name="csX4" fmla="*/ 3963159 w 9075152"/>
              <a:gd name="csY4" fmla="*/ 1656000 h 1656000"/>
              <a:gd name="csX5" fmla="*/ 0 w 9075152"/>
              <a:gd name="csY5" fmla="*/ 1656000 h 1656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9075152" h="1656000">
                <a:moveTo>
                  <a:pt x="0" y="0"/>
                </a:moveTo>
                <a:lnTo>
                  <a:pt x="9075152" y="0"/>
                </a:lnTo>
                <a:lnTo>
                  <a:pt x="9075152" y="1074601"/>
                </a:lnTo>
                <a:lnTo>
                  <a:pt x="3963159" y="1074601"/>
                </a:lnTo>
                <a:lnTo>
                  <a:pt x="3963159" y="1656000"/>
                </a:lnTo>
                <a:lnTo>
                  <a:pt x="0" y="1656000"/>
                </a:lnTo>
                <a:close/>
              </a:path>
            </a:pathLst>
          </a:custGeom>
          <a:solidFill>
            <a:srgbClr val="5B9BD5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vert270" wrap="square" lIns="288000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CA69976B-347B-F22F-F308-07E7896756EE}"/>
              </a:ext>
            </a:extLst>
          </p:cNvPr>
          <p:cNvSpPr/>
          <p:nvPr/>
        </p:nvSpPr>
        <p:spPr>
          <a:xfrm>
            <a:off x="938148" y="1618360"/>
            <a:ext cx="1044000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algn="ctr"/>
            <a:r>
              <a:rPr lang="de-DE" sz="1100" kern="0" err="1">
                <a:latin typeface="+mj-lt"/>
              </a:rPr>
              <a:t>Submitting</a:t>
            </a:r>
            <a:endParaRPr lang="de-DE" sz="1100" kern="0">
              <a:latin typeface="+mj-lt"/>
            </a:endParaRPr>
          </a:p>
          <a:p>
            <a:pPr algn="ctr"/>
            <a:r>
              <a:rPr lang="de-DE" sz="1100" kern="0">
                <a:latin typeface="+mj-lt"/>
              </a:rPr>
              <a:t>Phase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E256EB07-9697-FF0C-B39A-8B34B8920B37}"/>
              </a:ext>
            </a:extLst>
          </p:cNvPr>
          <p:cNvSpPr/>
          <p:nvPr/>
        </p:nvSpPr>
        <p:spPr>
          <a:xfrm>
            <a:off x="2508601" y="1618360"/>
            <a:ext cx="869731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algn="ctr">
              <a:defRPr/>
            </a:pP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Qualifying </a:t>
            </a:r>
            <a:b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Phase</a:t>
            </a:r>
          </a:p>
        </p:txBody>
      </p: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6298AE72-D59F-91A2-9F53-13223EA6C256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>
            <a:off x="1982148" y="1836772"/>
            <a:ext cx="526453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18" name="Rechteck 17">
            <a:extLst>
              <a:ext uri="{FF2B5EF4-FFF2-40B4-BE49-F238E27FC236}">
                <a16:creationId xmlns:a16="http://schemas.microsoft.com/office/drawing/2014/main" id="{A74E26B5-01CC-1FDF-012A-5AD9936D2287}"/>
              </a:ext>
            </a:extLst>
          </p:cNvPr>
          <p:cNvSpPr/>
          <p:nvPr/>
        </p:nvSpPr>
        <p:spPr>
          <a:xfrm>
            <a:off x="2512637" y="4674702"/>
            <a:ext cx="2382602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de-DE" sz="1000" kern="0">
                <a:latin typeface="+mj-lt"/>
              </a:rPr>
              <a:t>Initiation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C6445840-FFB8-6C94-8EAA-078CA8A44959}"/>
              </a:ext>
            </a:extLst>
          </p:cNvPr>
          <p:cNvSpPr/>
          <p:nvPr/>
        </p:nvSpPr>
        <p:spPr>
          <a:xfrm>
            <a:off x="5779021" y="4670322"/>
            <a:ext cx="869703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de-DE" sz="1000" kern="0" err="1">
                <a:latin typeface="+mj-lt"/>
              </a:rPr>
              <a:t>Planning</a:t>
            </a:r>
            <a:endParaRPr lang="de-DE" sz="1000" kern="0">
              <a:latin typeface="+mj-lt"/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1EF066A3-12A0-BF12-5D1F-F90CA9D19467}"/>
              </a:ext>
            </a:extLst>
          </p:cNvPr>
          <p:cNvSpPr/>
          <p:nvPr/>
        </p:nvSpPr>
        <p:spPr>
          <a:xfrm>
            <a:off x="4387254" y="1625806"/>
            <a:ext cx="1044000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Approving</a:t>
            </a: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Phase </a:t>
            </a: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64BF7135-F1A3-8214-4E1B-AAC7F168D6CB}"/>
              </a:ext>
            </a:extLst>
          </p:cNvPr>
          <p:cNvSpPr/>
          <p:nvPr/>
        </p:nvSpPr>
        <p:spPr>
          <a:xfrm>
            <a:off x="7227066" y="1625806"/>
            <a:ext cx="1044000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Implementation</a:t>
            </a: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Phase</a:t>
            </a:r>
            <a:endParaRPr lang="de-DE" sz="11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j-lt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2C9B298F-2E23-8494-BCB4-A6F35E248A73}"/>
              </a:ext>
            </a:extLst>
          </p:cNvPr>
          <p:cNvSpPr/>
          <p:nvPr/>
        </p:nvSpPr>
        <p:spPr>
          <a:xfrm>
            <a:off x="5787455" y="1625806"/>
            <a:ext cx="875283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Scheduling</a:t>
            </a: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Phase</a:t>
            </a:r>
            <a:endParaRPr lang="de-DE" sz="11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j-lt"/>
            </a:endParaRPr>
          </a:p>
        </p:txBody>
      </p: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66EA4E59-2EB3-D770-8078-F9BE4829AA4D}"/>
              </a:ext>
            </a:extLst>
          </p:cNvPr>
          <p:cNvCxnSpPr>
            <a:cxnSpLocks/>
            <a:stCxn id="24" idx="3"/>
            <a:endCxn id="33" idx="1"/>
          </p:cNvCxnSpPr>
          <p:nvPr/>
        </p:nvCxnSpPr>
        <p:spPr>
          <a:xfrm>
            <a:off x="5431254" y="1844218"/>
            <a:ext cx="356201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78419F8E-EE52-AE89-B95F-3034E68DEE2E}"/>
              </a:ext>
            </a:extLst>
          </p:cNvPr>
          <p:cNvCxnSpPr>
            <a:cxnSpLocks/>
            <a:stCxn id="33" idx="3"/>
            <a:endCxn id="27" idx="1"/>
          </p:cNvCxnSpPr>
          <p:nvPr/>
        </p:nvCxnSpPr>
        <p:spPr>
          <a:xfrm>
            <a:off x="6662738" y="1844218"/>
            <a:ext cx="564328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43" name="Textfeld 42">
            <a:extLst>
              <a:ext uri="{FF2B5EF4-FFF2-40B4-BE49-F238E27FC236}">
                <a16:creationId xmlns:a16="http://schemas.microsoft.com/office/drawing/2014/main" id="{046F1DE4-7292-F753-D69C-17540D29DC55}"/>
              </a:ext>
            </a:extLst>
          </p:cNvPr>
          <p:cNvSpPr txBox="1"/>
          <p:nvPr/>
        </p:nvSpPr>
        <p:spPr>
          <a:xfrm>
            <a:off x="3716190" y="1492702"/>
            <a:ext cx="427484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Demand </a:t>
            </a:r>
            <a:br>
              <a:rPr lang="de-DE" sz="800"/>
            </a:br>
            <a:r>
              <a:rPr lang="de-DE" sz="800"/>
              <a:t>&gt; 50 PT</a:t>
            </a:r>
          </a:p>
        </p:txBody>
      </p:sp>
      <p:cxnSp>
        <p:nvCxnSpPr>
          <p:cNvPr id="45" name="Verbinder: gewinkelt 44">
            <a:extLst>
              <a:ext uri="{FF2B5EF4-FFF2-40B4-BE49-F238E27FC236}">
                <a16:creationId xmlns:a16="http://schemas.microsoft.com/office/drawing/2014/main" id="{5A3F95E7-8B56-A370-8C6F-9B3FA47E191D}"/>
              </a:ext>
            </a:extLst>
          </p:cNvPr>
          <p:cNvCxnSpPr>
            <a:cxnSpLocks/>
            <a:stCxn id="13" idx="3"/>
            <a:endCxn id="24" idx="1"/>
          </p:cNvCxnSpPr>
          <p:nvPr/>
        </p:nvCxnSpPr>
        <p:spPr>
          <a:xfrm>
            <a:off x="3378332" y="1836772"/>
            <a:ext cx="1008922" cy="7446"/>
          </a:xfrm>
          <a:prstGeom prst="bentConnector3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46" name="Raute 45">
            <a:extLst>
              <a:ext uri="{FF2B5EF4-FFF2-40B4-BE49-F238E27FC236}">
                <a16:creationId xmlns:a16="http://schemas.microsoft.com/office/drawing/2014/main" id="{B4538FA2-D282-9D1F-32D8-D11A88EB5E19}"/>
              </a:ext>
            </a:extLst>
          </p:cNvPr>
          <p:cNvSpPr/>
          <p:nvPr/>
        </p:nvSpPr>
        <p:spPr>
          <a:xfrm>
            <a:off x="3787061" y="1718334"/>
            <a:ext cx="275621" cy="236876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endParaRPr lang="en-US" sz="10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BB536666-5B60-B3A5-D57E-0DC512F61C08}"/>
              </a:ext>
            </a:extLst>
          </p:cNvPr>
          <p:cNvSpPr txBox="1"/>
          <p:nvPr/>
        </p:nvSpPr>
        <p:spPr>
          <a:xfrm>
            <a:off x="232851" y="2031120"/>
            <a:ext cx="518856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Start </a:t>
            </a:r>
            <a:br>
              <a:rPr lang="de-DE" sz="800"/>
            </a:br>
            <a:r>
              <a:rPr lang="de-DE" sz="800"/>
              <a:t>IT-Demand</a:t>
            </a:r>
          </a:p>
        </p:txBody>
      </p:sp>
      <p:sp>
        <p:nvSpPr>
          <p:cNvPr id="50" name="Ellipse 49">
            <a:extLst>
              <a:ext uri="{FF2B5EF4-FFF2-40B4-BE49-F238E27FC236}">
                <a16:creationId xmlns:a16="http://schemas.microsoft.com/office/drawing/2014/main" id="{A5C4FC50-BC2D-6FCF-783F-80EE6373E61F}"/>
              </a:ext>
            </a:extLst>
          </p:cNvPr>
          <p:cNvSpPr/>
          <p:nvPr/>
        </p:nvSpPr>
        <p:spPr>
          <a:xfrm>
            <a:off x="375656" y="1704647"/>
            <a:ext cx="263285" cy="26328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de-DE" sz="1600" b="1">
              <a:solidFill>
                <a:schemeClr val="tx1"/>
              </a:solidFill>
            </a:endParaRPr>
          </a:p>
        </p:txBody>
      </p:sp>
      <p:cxnSp>
        <p:nvCxnSpPr>
          <p:cNvPr id="51" name="Gerade Verbindung mit Pfeil 50">
            <a:extLst>
              <a:ext uri="{FF2B5EF4-FFF2-40B4-BE49-F238E27FC236}">
                <a16:creationId xmlns:a16="http://schemas.microsoft.com/office/drawing/2014/main" id="{E2D81D7E-1947-6066-BBE4-E52735D413AB}"/>
              </a:ext>
            </a:extLst>
          </p:cNvPr>
          <p:cNvCxnSpPr>
            <a:cxnSpLocks/>
            <a:stCxn id="50" idx="6"/>
            <a:endCxn id="12" idx="1"/>
          </p:cNvCxnSpPr>
          <p:nvPr/>
        </p:nvCxnSpPr>
        <p:spPr>
          <a:xfrm>
            <a:off x="638941" y="1836290"/>
            <a:ext cx="299207" cy="482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56" name="Textfeld 55">
            <a:extLst>
              <a:ext uri="{FF2B5EF4-FFF2-40B4-BE49-F238E27FC236}">
                <a16:creationId xmlns:a16="http://schemas.microsoft.com/office/drawing/2014/main" id="{58E1DC76-DA35-E0F0-E639-5A1794DB2463}"/>
              </a:ext>
            </a:extLst>
          </p:cNvPr>
          <p:cNvSpPr txBox="1"/>
          <p:nvPr/>
        </p:nvSpPr>
        <p:spPr>
          <a:xfrm>
            <a:off x="4105529" y="1722104"/>
            <a:ext cx="146959" cy="1471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 i="1" err="1"/>
              <a:t>no</a:t>
            </a:r>
            <a:endParaRPr lang="de-DE" sz="800" i="1"/>
          </a:p>
        </p:txBody>
      </p:sp>
      <p:cxnSp>
        <p:nvCxnSpPr>
          <p:cNvPr id="58" name="Verbinder: gewinkelt 57">
            <a:extLst>
              <a:ext uri="{FF2B5EF4-FFF2-40B4-BE49-F238E27FC236}">
                <a16:creationId xmlns:a16="http://schemas.microsoft.com/office/drawing/2014/main" id="{5ECA665F-C57A-B817-627B-401149EF115C}"/>
              </a:ext>
            </a:extLst>
          </p:cNvPr>
          <p:cNvCxnSpPr>
            <a:cxnSpLocks/>
            <a:stCxn id="46" idx="2"/>
            <a:endCxn id="55" idx="1"/>
          </p:cNvCxnSpPr>
          <p:nvPr/>
        </p:nvCxnSpPr>
        <p:spPr>
          <a:xfrm rot="16200000" flipH="1">
            <a:off x="3843286" y="2036796"/>
            <a:ext cx="625555" cy="462382"/>
          </a:xfrm>
          <a:prstGeom prst="bentConnector2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61" name="Textfeld 60">
            <a:extLst>
              <a:ext uri="{FF2B5EF4-FFF2-40B4-BE49-F238E27FC236}">
                <a16:creationId xmlns:a16="http://schemas.microsoft.com/office/drawing/2014/main" id="{ED6C3829-1B2D-A526-06F0-EF65EC99485C}"/>
              </a:ext>
            </a:extLst>
          </p:cNvPr>
          <p:cNvSpPr txBox="1"/>
          <p:nvPr/>
        </p:nvSpPr>
        <p:spPr>
          <a:xfrm>
            <a:off x="3968129" y="2423209"/>
            <a:ext cx="179019" cy="1471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 i="1" err="1"/>
              <a:t>yes</a:t>
            </a:r>
            <a:endParaRPr lang="de-DE" sz="800" i="1"/>
          </a:p>
        </p:txBody>
      </p:sp>
      <p:cxnSp>
        <p:nvCxnSpPr>
          <p:cNvPr id="63" name="Gerader Verbinder 62">
            <a:extLst>
              <a:ext uri="{FF2B5EF4-FFF2-40B4-BE49-F238E27FC236}">
                <a16:creationId xmlns:a16="http://schemas.microsoft.com/office/drawing/2014/main" id="{0F5703CD-085C-9105-EF71-7706EFFD0B59}"/>
              </a:ext>
            </a:extLst>
          </p:cNvPr>
          <p:cNvCxnSpPr>
            <a:cxnSpLocks/>
          </p:cNvCxnSpPr>
          <p:nvPr/>
        </p:nvCxnSpPr>
        <p:spPr>
          <a:xfrm>
            <a:off x="2208451" y="1185439"/>
            <a:ext cx="0" cy="500062"/>
          </a:xfrm>
          <a:prstGeom prst="line">
            <a:avLst/>
          </a:prstGeom>
          <a:ln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feld 64">
            <a:extLst>
              <a:ext uri="{FF2B5EF4-FFF2-40B4-BE49-F238E27FC236}">
                <a16:creationId xmlns:a16="http://schemas.microsoft.com/office/drawing/2014/main" id="{C6719D24-29A1-083C-2AD3-078B17BAAEE2}"/>
              </a:ext>
            </a:extLst>
          </p:cNvPr>
          <p:cNvSpPr txBox="1"/>
          <p:nvPr/>
        </p:nvSpPr>
        <p:spPr>
          <a:xfrm>
            <a:off x="900555" y="1261545"/>
            <a:ext cx="1126394" cy="181776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1050"/>
              <a:t>Lead: Business </a:t>
            </a:r>
            <a:r>
              <a:rPr lang="de-DE" sz="1050" err="1"/>
              <a:t>unit</a:t>
            </a:r>
            <a:endParaRPr lang="de-DE" sz="1050"/>
          </a:p>
        </p:txBody>
      </p:sp>
      <p:sp>
        <p:nvSpPr>
          <p:cNvPr id="66" name="Textfeld 65">
            <a:extLst>
              <a:ext uri="{FF2B5EF4-FFF2-40B4-BE49-F238E27FC236}">
                <a16:creationId xmlns:a16="http://schemas.microsoft.com/office/drawing/2014/main" id="{BB7BC49D-7606-5F59-96D8-ED4C5C6788B4}"/>
              </a:ext>
            </a:extLst>
          </p:cNvPr>
          <p:cNvSpPr txBox="1"/>
          <p:nvPr/>
        </p:nvSpPr>
        <p:spPr>
          <a:xfrm>
            <a:off x="2628319" y="1265304"/>
            <a:ext cx="496414" cy="181776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1050"/>
              <a:t>Lead: IT</a:t>
            </a:r>
          </a:p>
        </p:txBody>
      </p:sp>
      <p:sp>
        <p:nvSpPr>
          <p:cNvPr id="74" name="Textfeld 73">
            <a:extLst>
              <a:ext uri="{FF2B5EF4-FFF2-40B4-BE49-F238E27FC236}">
                <a16:creationId xmlns:a16="http://schemas.microsoft.com/office/drawing/2014/main" id="{41079EA0-1A40-0B0D-EB0E-3669BD499414}"/>
              </a:ext>
            </a:extLst>
          </p:cNvPr>
          <p:cNvSpPr txBox="1"/>
          <p:nvPr/>
        </p:nvSpPr>
        <p:spPr>
          <a:xfrm>
            <a:off x="301393" y="5087945"/>
            <a:ext cx="353746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Start </a:t>
            </a:r>
            <a:br>
              <a:rPr lang="de-DE" sz="800"/>
            </a:br>
            <a:r>
              <a:rPr lang="de-DE" sz="800"/>
              <a:t>Project</a:t>
            </a:r>
          </a:p>
        </p:txBody>
      </p:sp>
      <p:sp>
        <p:nvSpPr>
          <p:cNvPr id="75" name="Ellipse 74">
            <a:extLst>
              <a:ext uri="{FF2B5EF4-FFF2-40B4-BE49-F238E27FC236}">
                <a16:creationId xmlns:a16="http://schemas.microsoft.com/office/drawing/2014/main" id="{824DE8E0-5561-8C42-2E81-FB644EE37C8C}"/>
              </a:ext>
            </a:extLst>
          </p:cNvPr>
          <p:cNvSpPr/>
          <p:nvPr/>
        </p:nvSpPr>
        <p:spPr>
          <a:xfrm>
            <a:off x="361642" y="4761472"/>
            <a:ext cx="263285" cy="26328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de-DE" sz="1600" b="1">
              <a:solidFill>
                <a:schemeClr val="tx1"/>
              </a:solidFill>
            </a:endParaRPr>
          </a:p>
        </p:txBody>
      </p:sp>
      <p:sp>
        <p:nvSpPr>
          <p:cNvPr id="76" name="Rechteck 75">
            <a:extLst>
              <a:ext uri="{FF2B5EF4-FFF2-40B4-BE49-F238E27FC236}">
                <a16:creationId xmlns:a16="http://schemas.microsoft.com/office/drawing/2014/main" id="{5E87E906-7125-44D4-5D36-68C777A70834}"/>
              </a:ext>
            </a:extLst>
          </p:cNvPr>
          <p:cNvSpPr/>
          <p:nvPr/>
        </p:nvSpPr>
        <p:spPr>
          <a:xfrm>
            <a:off x="886541" y="4674702"/>
            <a:ext cx="1081593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de-DE" sz="900" kern="0">
                <a:latin typeface="+mj-lt"/>
              </a:rPr>
              <a:t>Create </a:t>
            </a:r>
            <a:r>
              <a:rPr lang="de-DE" sz="900" kern="0" err="1">
                <a:latin typeface="+mj-lt"/>
              </a:rPr>
              <a:t>project</a:t>
            </a:r>
            <a:r>
              <a:rPr lang="de-DE" sz="900" kern="0">
                <a:latin typeface="+mj-lt"/>
              </a:rPr>
              <a:t> in portfolio (PIT: VEW, VPM, IT, App: Rest)</a:t>
            </a:r>
          </a:p>
        </p:txBody>
      </p:sp>
      <p:cxnSp>
        <p:nvCxnSpPr>
          <p:cNvPr id="78" name="Gerade Verbindung mit Pfeil 77">
            <a:extLst>
              <a:ext uri="{FF2B5EF4-FFF2-40B4-BE49-F238E27FC236}">
                <a16:creationId xmlns:a16="http://schemas.microsoft.com/office/drawing/2014/main" id="{4C4F007F-82B8-3948-FB20-F1456218D9DE}"/>
              </a:ext>
            </a:extLst>
          </p:cNvPr>
          <p:cNvCxnSpPr>
            <a:cxnSpLocks/>
          </p:cNvCxnSpPr>
          <p:nvPr/>
        </p:nvCxnSpPr>
        <p:spPr>
          <a:xfrm>
            <a:off x="1319284" y="2043202"/>
            <a:ext cx="0" cy="2627120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feld 79">
            <a:extLst>
              <a:ext uri="{FF2B5EF4-FFF2-40B4-BE49-F238E27FC236}">
                <a16:creationId xmlns:a16="http://schemas.microsoft.com/office/drawing/2014/main" id="{66ACB7AE-856B-C598-AB38-C8B7C268E67D}"/>
              </a:ext>
            </a:extLst>
          </p:cNvPr>
          <p:cNvSpPr txBox="1"/>
          <p:nvPr/>
        </p:nvSpPr>
        <p:spPr>
          <a:xfrm>
            <a:off x="331160" y="3110212"/>
            <a:ext cx="913194" cy="368750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Manuelle Aufnahme</a:t>
            </a:r>
            <a:br>
              <a:rPr lang="de-DE" sz="800"/>
            </a:br>
            <a:r>
              <a:rPr lang="de-DE" sz="800"/>
              <a:t>IT-Demand -</a:t>
            </a:r>
            <a:br>
              <a:rPr lang="de-DE" sz="800"/>
            </a:br>
            <a:r>
              <a:rPr lang="de-DE" sz="800"/>
              <a:t>ID</a:t>
            </a:r>
          </a:p>
        </p:txBody>
      </p:sp>
      <p:cxnSp>
        <p:nvCxnSpPr>
          <p:cNvPr id="81" name="Gerade Verbindung mit Pfeil 80">
            <a:extLst>
              <a:ext uri="{FF2B5EF4-FFF2-40B4-BE49-F238E27FC236}">
                <a16:creationId xmlns:a16="http://schemas.microsoft.com/office/drawing/2014/main" id="{3B48725B-2BAB-6131-6E40-78C28BE5A442}"/>
              </a:ext>
            </a:extLst>
          </p:cNvPr>
          <p:cNvCxnSpPr>
            <a:cxnSpLocks/>
            <a:stCxn id="75" idx="6"/>
            <a:endCxn id="76" idx="1"/>
          </p:cNvCxnSpPr>
          <p:nvPr/>
        </p:nvCxnSpPr>
        <p:spPr>
          <a:xfrm flipV="1">
            <a:off x="624927" y="4893114"/>
            <a:ext cx="261614" cy="1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cxnSp>
        <p:nvCxnSpPr>
          <p:cNvPr id="84" name="Gerade Verbindung mit Pfeil 83">
            <a:extLst>
              <a:ext uri="{FF2B5EF4-FFF2-40B4-BE49-F238E27FC236}">
                <a16:creationId xmlns:a16="http://schemas.microsoft.com/office/drawing/2014/main" id="{30F1EA24-33F9-FEB9-3DB9-3B21F8D13190}"/>
              </a:ext>
            </a:extLst>
          </p:cNvPr>
          <p:cNvCxnSpPr>
            <a:cxnSpLocks/>
          </p:cNvCxnSpPr>
          <p:nvPr/>
        </p:nvCxnSpPr>
        <p:spPr>
          <a:xfrm flipV="1">
            <a:off x="1600200" y="2056520"/>
            <a:ext cx="0" cy="2613802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feld 87">
            <a:extLst>
              <a:ext uri="{FF2B5EF4-FFF2-40B4-BE49-F238E27FC236}">
                <a16:creationId xmlns:a16="http://schemas.microsoft.com/office/drawing/2014/main" id="{5F4222D9-D923-133E-BFAC-71184B8CBD5A}"/>
              </a:ext>
            </a:extLst>
          </p:cNvPr>
          <p:cNvSpPr txBox="1"/>
          <p:nvPr/>
        </p:nvSpPr>
        <p:spPr>
          <a:xfrm>
            <a:off x="1675929" y="3743880"/>
            <a:ext cx="1200597" cy="368750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Manuelle Aufnahme Portfolio-</a:t>
            </a:r>
            <a:br>
              <a:rPr lang="de-DE" sz="800"/>
            </a:br>
            <a:r>
              <a:rPr lang="de-DE" sz="800"/>
              <a:t>ID, Project-ID</a:t>
            </a:r>
          </a:p>
        </p:txBody>
      </p:sp>
      <p:cxnSp>
        <p:nvCxnSpPr>
          <p:cNvPr id="89" name="Gerade Verbindung mit Pfeil 88">
            <a:extLst>
              <a:ext uri="{FF2B5EF4-FFF2-40B4-BE49-F238E27FC236}">
                <a16:creationId xmlns:a16="http://schemas.microsoft.com/office/drawing/2014/main" id="{8B31A662-764C-6839-7365-4AA5F9737EDD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1968134" y="4893114"/>
            <a:ext cx="544503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cxnSp>
        <p:nvCxnSpPr>
          <p:cNvPr id="90" name="Gerade Verbindung mit Pfeil 89">
            <a:extLst>
              <a:ext uri="{FF2B5EF4-FFF2-40B4-BE49-F238E27FC236}">
                <a16:creationId xmlns:a16="http://schemas.microsoft.com/office/drawing/2014/main" id="{43243841-107C-8736-C603-A71615B10D88}"/>
              </a:ext>
            </a:extLst>
          </p:cNvPr>
          <p:cNvCxnSpPr>
            <a:cxnSpLocks/>
            <a:stCxn id="18" idx="3"/>
            <a:endCxn id="19" idx="1"/>
          </p:cNvCxnSpPr>
          <p:nvPr/>
        </p:nvCxnSpPr>
        <p:spPr>
          <a:xfrm flipV="1">
            <a:off x="4895239" y="4888734"/>
            <a:ext cx="883782" cy="438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91" name="Rechteck 90">
            <a:extLst>
              <a:ext uri="{FF2B5EF4-FFF2-40B4-BE49-F238E27FC236}">
                <a16:creationId xmlns:a16="http://schemas.microsoft.com/office/drawing/2014/main" id="{0ACF31E0-53D1-F497-9F80-EB1B9386BFF5}"/>
              </a:ext>
            </a:extLst>
          </p:cNvPr>
          <p:cNvSpPr/>
          <p:nvPr/>
        </p:nvSpPr>
        <p:spPr>
          <a:xfrm>
            <a:off x="7207845" y="4670322"/>
            <a:ext cx="1044000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lvl="0" algn="ctr">
              <a:defRPr/>
            </a:pPr>
            <a:r>
              <a:rPr lang="de-DE" sz="1100" kern="0" err="1">
                <a:solidFill>
                  <a:prstClr val="black"/>
                </a:solidFill>
              </a:rPr>
              <a:t>Execution</a:t>
            </a:r>
            <a:endParaRPr lang="de-DE" sz="1100" kern="0">
              <a:solidFill>
                <a:prstClr val="black"/>
              </a:solidFill>
            </a:endParaRPr>
          </a:p>
        </p:txBody>
      </p:sp>
      <p:cxnSp>
        <p:nvCxnSpPr>
          <p:cNvPr id="92" name="Gerade Verbindung mit Pfeil 91">
            <a:extLst>
              <a:ext uri="{FF2B5EF4-FFF2-40B4-BE49-F238E27FC236}">
                <a16:creationId xmlns:a16="http://schemas.microsoft.com/office/drawing/2014/main" id="{DC0B42B8-ECCF-F2B7-7780-5D327B28AB3B}"/>
              </a:ext>
            </a:extLst>
          </p:cNvPr>
          <p:cNvCxnSpPr>
            <a:cxnSpLocks/>
            <a:stCxn id="19" idx="3"/>
            <a:endCxn id="91" idx="1"/>
          </p:cNvCxnSpPr>
          <p:nvPr/>
        </p:nvCxnSpPr>
        <p:spPr>
          <a:xfrm>
            <a:off x="6648724" y="4888734"/>
            <a:ext cx="559121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94" name="Raute 93">
            <a:extLst>
              <a:ext uri="{FF2B5EF4-FFF2-40B4-BE49-F238E27FC236}">
                <a16:creationId xmlns:a16="http://schemas.microsoft.com/office/drawing/2014/main" id="{FA2650F2-A9E2-AF83-907A-B143634CC5EF}"/>
              </a:ext>
            </a:extLst>
          </p:cNvPr>
          <p:cNvSpPr/>
          <p:nvPr/>
        </p:nvSpPr>
        <p:spPr>
          <a:xfrm>
            <a:off x="6813374" y="4789782"/>
            <a:ext cx="215052" cy="197808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600" b="1">
                <a:solidFill>
                  <a:schemeClr val="tx1"/>
                </a:solidFill>
                <a:latin typeface="+mj-lt"/>
              </a:rPr>
              <a:t>QG</a:t>
            </a:r>
          </a:p>
        </p:txBody>
      </p:sp>
      <p:cxnSp>
        <p:nvCxnSpPr>
          <p:cNvPr id="96" name="Gerade Verbindung mit Pfeil 95">
            <a:extLst>
              <a:ext uri="{FF2B5EF4-FFF2-40B4-BE49-F238E27FC236}">
                <a16:creationId xmlns:a16="http://schemas.microsoft.com/office/drawing/2014/main" id="{E1AF92E7-5B3B-4E1B-64CA-805D5205B69A}"/>
              </a:ext>
            </a:extLst>
          </p:cNvPr>
          <p:cNvCxnSpPr>
            <a:cxnSpLocks/>
            <a:stCxn id="55" idx="0"/>
            <a:endCxn id="24" idx="2"/>
          </p:cNvCxnSpPr>
          <p:nvPr/>
        </p:nvCxnSpPr>
        <p:spPr>
          <a:xfrm flipV="1">
            <a:off x="4909253" y="2062630"/>
            <a:ext cx="1" cy="299723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171" name="Flussdiagramm: Vordefinierter Prozess 170">
            <a:extLst>
              <a:ext uri="{FF2B5EF4-FFF2-40B4-BE49-F238E27FC236}">
                <a16:creationId xmlns:a16="http://schemas.microsoft.com/office/drawing/2014/main" id="{BC405BA7-3E66-62C0-81C9-F4E94F3102B7}"/>
              </a:ext>
            </a:extLst>
          </p:cNvPr>
          <p:cNvSpPr/>
          <p:nvPr/>
        </p:nvSpPr>
        <p:spPr>
          <a:xfrm>
            <a:off x="5060620" y="4766806"/>
            <a:ext cx="479307" cy="257951"/>
          </a:xfrm>
          <a:prstGeom prst="flowChartPredefinedProcess">
            <a:avLst/>
          </a:prstGeom>
          <a:solidFill>
            <a:schemeClr val="accent6">
              <a:lumMod val="40000"/>
              <a:lumOff val="60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de-DE" sz="1000" kern="0">
                <a:solidFill>
                  <a:schemeClr val="tx1"/>
                </a:solidFill>
                <a:latin typeface="+mj-lt"/>
              </a:rPr>
              <a:t>JP</a:t>
            </a:r>
          </a:p>
        </p:txBody>
      </p:sp>
      <p:sp>
        <p:nvSpPr>
          <p:cNvPr id="172" name="Textfeld 171">
            <a:extLst>
              <a:ext uri="{FF2B5EF4-FFF2-40B4-BE49-F238E27FC236}">
                <a16:creationId xmlns:a16="http://schemas.microsoft.com/office/drawing/2014/main" id="{E69FB7EB-C6BF-918A-644B-FB00A5E43923}"/>
              </a:ext>
            </a:extLst>
          </p:cNvPr>
          <p:cNvSpPr txBox="1"/>
          <p:nvPr/>
        </p:nvSpPr>
        <p:spPr>
          <a:xfrm>
            <a:off x="170448" y="1044990"/>
            <a:ext cx="1661797" cy="2025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>
            <a:defPPr>
              <a:defRPr lang="de-DE"/>
            </a:defPPr>
            <a:lvl1pPr>
              <a:lnSpc>
                <a:spcPct val="90000"/>
              </a:lnSpc>
              <a:spcBef>
                <a:spcPts val="400"/>
              </a:spcBef>
              <a:defRPr sz="1050" b="1"/>
            </a:lvl1pPr>
          </a:lstStyle>
          <a:p>
            <a:r>
              <a:rPr lang="de-DE" sz="1200"/>
              <a:t>ServiceNow: IT Demand</a:t>
            </a:r>
          </a:p>
        </p:txBody>
      </p:sp>
      <p:sp>
        <p:nvSpPr>
          <p:cNvPr id="175" name="Textfeld 174">
            <a:extLst>
              <a:ext uri="{FF2B5EF4-FFF2-40B4-BE49-F238E27FC236}">
                <a16:creationId xmlns:a16="http://schemas.microsoft.com/office/drawing/2014/main" id="{8CDECC35-C5CC-0645-DC5C-680DA97292E3}"/>
              </a:ext>
            </a:extLst>
          </p:cNvPr>
          <p:cNvSpPr txBox="1"/>
          <p:nvPr/>
        </p:nvSpPr>
        <p:spPr>
          <a:xfrm>
            <a:off x="138156" y="3997803"/>
            <a:ext cx="1254634" cy="2025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>
            <a:defPPr>
              <a:defRPr lang="de-DE"/>
            </a:defPPr>
            <a:lvl1pPr>
              <a:lnSpc>
                <a:spcPct val="90000"/>
              </a:lnSpc>
              <a:spcBef>
                <a:spcPts val="400"/>
              </a:spcBef>
              <a:defRPr sz="1050" b="1"/>
            </a:lvl1pPr>
          </a:lstStyle>
          <a:p>
            <a:r>
              <a:rPr lang="de-DE" sz="1200"/>
              <a:t>Project Portfolios</a:t>
            </a:r>
          </a:p>
        </p:txBody>
      </p:sp>
      <p:cxnSp>
        <p:nvCxnSpPr>
          <p:cNvPr id="176" name="Gerade Verbindung mit Pfeil 175">
            <a:extLst>
              <a:ext uri="{FF2B5EF4-FFF2-40B4-BE49-F238E27FC236}">
                <a16:creationId xmlns:a16="http://schemas.microsoft.com/office/drawing/2014/main" id="{36594CDF-F169-46C4-BA97-06B617C4D847}"/>
              </a:ext>
            </a:extLst>
          </p:cNvPr>
          <p:cNvCxnSpPr>
            <a:cxnSpLocks/>
            <a:stCxn id="27" idx="3"/>
          </p:cNvCxnSpPr>
          <p:nvPr/>
        </p:nvCxnSpPr>
        <p:spPr>
          <a:xfrm>
            <a:off x="8271066" y="1844218"/>
            <a:ext cx="367035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cxnSp>
        <p:nvCxnSpPr>
          <p:cNvPr id="177" name="Gerade Verbindung mit Pfeil 176">
            <a:extLst>
              <a:ext uri="{FF2B5EF4-FFF2-40B4-BE49-F238E27FC236}">
                <a16:creationId xmlns:a16="http://schemas.microsoft.com/office/drawing/2014/main" id="{D175FC6D-CACD-3940-A466-3658A1F38A3D}"/>
              </a:ext>
            </a:extLst>
          </p:cNvPr>
          <p:cNvCxnSpPr>
            <a:cxnSpLocks/>
            <a:stCxn id="91" idx="3"/>
            <a:endCxn id="179" idx="2"/>
          </p:cNvCxnSpPr>
          <p:nvPr/>
        </p:nvCxnSpPr>
        <p:spPr>
          <a:xfrm flipV="1">
            <a:off x="8251845" y="4888686"/>
            <a:ext cx="358228" cy="48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178" name="Ellipse 177">
            <a:extLst>
              <a:ext uri="{FF2B5EF4-FFF2-40B4-BE49-F238E27FC236}">
                <a16:creationId xmlns:a16="http://schemas.microsoft.com/office/drawing/2014/main" id="{5BEB9E8B-7B30-02D5-B00C-88999ACCF182}"/>
              </a:ext>
            </a:extLst>
          </p:cNvPr>
          <p:cNvSpPr/>
          <p:nvPr/>
        </p:nvSpPr>
        <p:spPr>
          <a:xfrm>
            <a:off x="8638101" y="1704647"/>
            <a:ext cx="263285" cy="26328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de-DE" sz="1600" b="1">
              <a:solidFill>
                <a:schemeClr val="tx1"/>
              </a:solidFill>
            </a:endParaRPr>
          </a:p>
        </p:txBody>
      </p:sp>
      <p:sp>
        <p:nvSpPr>
          <p:cNvPr id="179" name="Ellipse 178">
            <a:extLst>
              <a:ext uri="{FF2B5EF4-FFF2-40B4-BE49-F238E27FC236}">
                <a16:creationId xmlns:a16="http://schemas.microsoft.com/office/drawing/2014/main" id="{D47AEB5A-1652-EE77-4755-A5DD74F1064E}"/>
              </a:ext>
            </a:extLst>
          </p:cNvPr>
          <p:cNvSpPr/>
          <p:nvPr/>
        </p:nvSpPr>
        <p:spPr>
          <a:xfrm>
            <a:off x="8610073" y="4757043"/>
            <a:ext cx="263285" cy="26328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de-DE" sz="1600" b="1">
              <a:solidFill>
                <a:schemeClr val="tx1"/>
              </a:solidFill>
            </a:endParaRPr>
          </a:p>
        </p:txBody>
      </p:sp>
      <p:sp>
        <p:nvSpPr>
          <p:cNvPr id="180" name="Textfeld 179">
            <a:extLst>
              <a:ext uri="{FF2B5EF4-FFF2-40B4-BE49-F238E27FC236}">
                <a16:creationId xmlns:a16="http://schemas.microsoft.com/office/drawing/2014/main" id="{F868093A-46E7-6A16-740F-163D602F21E7}"/>
              </a:ext>
            </a:extLst>
          </p:cNvPr>
          <p:cNvSpPr txBox="1"/>
          <p:nvPr/>
        </p:nvSpPr>
        <p:spPr>
          <a:xfrm>
            <a:off x="8601297" y="1986873"/>
            <a:ext cx="355350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End </a:t>
            </a:r>
            <a:br>
              <a:rPr lang="de-DE" sz="800"/>
            </a:br>
            <a:r>
              <a:rPr lang="de-DE" sz="800" err="1"/>
              <a:t>closure</a:t>
            </a:r>
            <a:endParaRPr lang="de-DE" sz="800"/>
          </a:p>
        </p:txBody>
      </p:sp>
      <p:sp>
        <p:nvSpPr>
          <p:cNvPr id="181" name="Textfeld 180">
            <a:extLst>
              <a:ext uri="{FF2B5EF4-FFF2-40B4-BE49-F238E27FC236}">
                <a16:creationId xmlns:a16="http://schemas.microsoft.com/office/drawing/2014/main" id="{57DCB0FB-B939-8077-DE91-6495AD98DE7F}"/>
              </a:ext>
            </a:extLst>
          </p:cNvPr>
          <p:cNvSpPr txBox="1"/>
          <p:nvPr/>
        </p:nvSpPr>
        <p:spPr>
          <a:xfrm>
            <a:off x="8587283" y="5084771"/>
            <a:ext cx="355350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End </a:t>
            </a:r>
            <a:br>
              <a:rPr lang="de-DE" sz="800"/>
            </a:br>
            <a:r>
              <a:rPr lang="de-DE" sz="800" err="1"/>
              <a:t>closure</a:t>
            </a:r>
            <a:endParaRPr lang="de-DE" sz="800"/>
          </a:p>
        </p:txBody>
      </p:sp>
      <p:sp>
        <p:nvSpPr>
          <p:cNvPr id="198" name="Raute 197">
            <a:extLst>
              <a:ext uri="{FF2B5EF4-FFF2-40B4-BE49-F238E27FC236}">
                <a16:creationId xmlns:a16="http://schemas.microsoft.com/office/drawing/2014/main" id="{50EE4227-296E-1200-638D-628960619256}"/>
              </a:ext>
            </a:extLst>
          </p:cNvPr>
          <p:cNvSpPr/>
          <p:nvPr/>
        </p:nvSpPr>
        <p:spPr>
          <a:xfrm>
            <a:off x="2067807" y="1730762"/>
            <a:ext cx="243689" cy="2241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600" b="1">
                <a:solidFill>
                  <a:schemeClr val="tx1"/>
                </a:solidFill>
                <a:latin typeface="+mj-lt"/>
              </a:rPr>
              <a:t>QG0</a:t>
            </a:r>
          </a:p>
        </p:txBody>
      </p:sp>
      <p:sp>
        <p:nvSpPr>
          <p:cNvPr id="201" name="Raute 200">
            <a:extLst>
              <a:ext uri="{FF2B5EF4-FFF2-40B4-BE49-F238E27FC236}">
                <a16:creationId xmlns:a16="http://schemas.microsoft.com/office/drawing/2014/main" id="{B026515A-9A4E-2B9B-B25D-7CC63FD64848}"/>
              </a:ext>
            </a:extLst>
          </p:cNvPr>
          <p:cNvSpPr/>
          <p:nvPr/>
        </p:nvSpPr>
        <p:spPr>
          <a:xfrm>
            <a:off x="3456921" y="1718334"/>
            <a:ext cx="243689" cy="2241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600" b="1">
                <a:solidFill>
                  <a:schemeClr val="tx1"/>
                </a:solidFill>
                <a:latin typeface="+mj-lt"/>
              </a:rPr>
              <a:t>QG1</a:t>
            </a:r>
          </a:p>
        </p:txBody>
      </p:sp>
      <p:sp>
        <p:nvSpPr>
          <p:cNvPr id="202" name="Raute 201">
            <a:extLst>
              <a:ext uri="{FF2B5EF4-FFF2-40B4-BE49-F238E27FC236}">
                <a16:creationId xmlns:a16="http://schemas.microsoft.com/office/drawing/2014/main" id="{6AFADA02-6A39-CC78-3916-2A18CA211566}"/>
              </a:ext>
            </a:extLst>
          </p:cNvPr>
          <p:cNvSpPr/>
          <p:nvPr/>
        </p:nvSpPr>
        <p:spPr>
          <a:xfrm>
            <a:off x="6784471" y="1730762"/>
            <a:ext cx="243689" cy="2241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600" b="1">
                <a:solidFill>
                  <a:schemeClr val="tx1"/>
                </a:solidFill>
                <a:latin typeface="+mj-lt"/>
              </a:rPr>
              <a:t>QG2</a:t>
            </a:r>
          </a:p>
        </p:txBody>
      </p:sp>
      <p:sp>
        <p:nvSpPr>
          <p:cNvPr id="224" name="Runde Klammer links/rechts 223">
            <a:extLst>
              <a:ext uri="{FF2B5EF4-FFF2-40B4-BE49-F238E27FC236}">
                <a16:creationId xmlns:a16="http://schemas.microsoft.com/office/drawing/2014/main" id="{12FB1363-E8CB-D2AF-938E-2B184D8A667A}"/>
              </a:ext>
            </a:extLst>
          </p:cNvPr>
          <p:cNvSpPr/>
          <p:nvPr/>
        </p:nvSpPr>
        <p:spPr>
          <a:xfrm>
            <a:off x="4967980" y="4670322"/>
            <a:ext cx="646390" cy="426921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5D1C001D-20FD-9879-067C-0C7D03FCB09D}"/>
              </a:ext>
            </a:extLst>
          </p:cNvPr>
          <p:cNvCxnSpPr>
            <a:cxnSpLocks/>
            <a:stCxn id="171" idx="0"/>
          </p:cNvCxnSpPr>
          <p:nvPr/>
        </p:nvCxnSpPr>
        <p:spPr>
          <a:xfrm flipH="1" flipV="1">
            <a:off x="5285685" y="2062630"/>
            <a:ext cx="14589" cy="2704176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9B639B89-51E5-A5B6-07A5-5CE604566C1D}"/>
              </a:ext>
            </a:extLst>
          </p:cNvPr>
          <p:cNvCxnSpPr>
            <a:cxnSpLocks/>
            <a:stCxn id="94" idx="0"/>
            <a:endCxn id="202" idx="2"/>
          </p:cNvCxnSpPr>
          <p:nvPr/>
        </p:nvCxnSpPr>
        <p:spPr>
          <a:xfrm flipH="1" flipV="1">
            <a:off x="6906316" y="1954911"/>
            <a:ext cx="14584" cy="2834871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hteck 16">
            <a:extLst>
              <a:ext uri="{FF2B5EF4-FFF2-40B4-BE49-F238E27FC236}">
                <a16:creationId xmlns:a16="http://schemas.microsoft.com/office/drawing/2014/main" id="{DB9F3788-7BFD-938F-2C28-21B907C6EF17}"/>
              </a:ext>
            </a:extLst>
          </p:cNvPr>
          <p:cNvSpPr/>
          <p:nvPr/>
        </p:nvSpPr>
        <p:spPr>
          <a:xfrm>
            <a:off x="1768759" y="2937620"/>
            <a:ext cx="1342705" cy="65394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>
              <a:lnSpc>
                <a:spcPct val="90000"/>
              </a:lnSpc>
            </a:pPr>
            <a:r>
              <a:rPr lang="de-DE" sz="800" b="1">
                <a:solidFill>
                  <a:schemeClr val="tx1"/>
                </a:solidFill>
              </a:rPr>
              <a:t>Kein führender Prozess</a:t>
            </a:r>
            <a:br>
              <a:rPr lang="de-DE" sz="800" b="1">
                <a:solidFill>
                  <a:schemeClr val="tx1"/>
                </a:solidFill>
              </a:rPr>
            </a:br>
            <a:br>
              <a:rPr lang="de-DE" sz="800" b="1">
                <a:solidFill>
                  <a:schemeClr val="tx1"/>
                </a:solidFill>
              </a:rPr>
            </a:br>
            <a:r>
              <a:rPr lang="de-DE" sz="800" b="1">
                <a:solidFill>
                  <a:schemeClr val="tx1"/>
                </a:solidFill>
              </a:rPr>
              <a:t>Minimal-Ziel: Abbildung in beiden Systemen</a:t>
            </a: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AE6ABE64-FD0E-36B9-7241-7FA2300403C2}"/>
              </a:ext>
            </a:extLst>
          </p:cNvPr>
          <p:cNvSpPr/>
          <p:nvPr/>
        </p:nvSpPr>
        <p:spPr>
          <a:xfrm>
            <a:off x="5406491" y="2937620"/>
            <a:ext cx="1056633" cy="10119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>
              <a:lnSpc>
                <a:spcPct val="90000"/>
              </a:lnSpc>
            </a:pPr>
            <a:r>
              <a:rPr lang="de-DE" sz="800" b="1">
                <a:solidFill>
                  <a:schemeClr val="tx1"/>
                </a:solidFill>
              </a:rPr>
              <a:t>JP: Sehr hoher manueller Aufwand</a:t>
            </a:r>
            <a:br>
              <a:rPr lang="de-DE" sz="800" b="1">
                <a:solidFill>
                  <a:schemeClr val="tx1"/>
                </a:solidFill>
              </a:rPr>
            </a:br>
            <a:br>
              <a:rPr lang="de-DE" sz="800" b="1">
                <a:solidFill>
                  <a:schemeClr val="tx1"/>
                </a:solidFill>
              </a:rPr>
            </a:br>
            <a:r>
              <a:rPr lang="de-DE" sz="800" b="1">
                <a:solidFill>
                  <a:schemeClr val="tx1"/>
                </a:solidFill>
              </a:rPr>
              <a:t>Parallel-Prozesse, teilweise abgestimmt;</a:t>
            </a:r>
            <a:br>
              <a:rPr lang="de-DE" sz="800" b="1">
                <a:solidFill>
                  <a:schemeClr val="tx1"/>
                </a:solidFill>
              </a:rPr>
            </a:br>
            <a:r>
              <a:rPr lang="de-DE" sz="800" b="1">
                <a:solidFill>
                  <a:schemeClr val="tx1"/>
                </a:solidFill>
              </a:rPr>
              <a:t>Orientierung </a:t>
            </a:r>
            <a:br>
              <a:rPr lang="de-DE" sz="800" b="1">
                <a:solidFill>
                  <a:schemeClr val="tx1"/>
                </a:solidFill>
              </a:rPr>
            </a:br>
            <a:r>
              <a:rPr lang="de-DE" sz="800" b="1">
                <a:solidFill>
                  <a:schemeClr val="tx1"/>
                </a:solidFill>
              </a:rPr>
              <a:t>„IT-</a:t>
            </a:r>
            <a:r>
              <a:rPr lang="de-DE" sz="800" b="1" err="1">
                <a:solidFill>
                  <a:schemeClr val="tx1"/>
                </a:solidFill>
              </a:rPr>
              <a:t>Innobudget</a:t>
            </a:r>
            <a:r>
              <a:rPr lang="de-DE" sz="800" b="1">
                <a:solidFill>
                  <a:schemeClr val="tx1"/>
                </a:solidFill>
              </a:rPr>
              <a:t>“</a:t>
            </a:r>
          </a:p>
          <a:p>
            <a:pPr>
              <a:lnSpc>
                <a:spcPct val="90000"/>
              </a:lnSpc>
            </a:pPr>
            <a:br>
              <a:rPr lang="de-DE" sz="800" b="1">
                <a:solidFill>
                  <a:schemeClr val="tx1"/>
                </a:solidFill>
              </a:rPr>
            </a:br>
            <a:endParaRPr lang="de-DE" sz="800" b="1">
              <a:solidFill>
                <a:schemeClr val="tx1"/>
              </a:solidFill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9F0F759D-5E60-64BE-D6F5-B785485AD8D3}"/>
              </a:ext>
            </a:extLst>
          </p:cNvPr>
          <p:cNvSpPr/>
          <p:nvPr/>
        </p:nvSpPr>
        <p:spPr>
          <a:xfrm>
            <a:off x="7030469" y="2937620"/>
            <a:ext cx="870206" cy="102778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>
              <a:lnSpc>
                <a:spcPct val="90000"/>
              </a:lnSpc>
            </a:pPr>
            <a:r>
              <a:rPr lang="de-DE" sz="800" b="1">
                <a:solidFill>
                  <a:schemeClr val="tx1"/>
                </a:solidFill>
              </a:rPr>
              <a:t>Kein führender Prozess, diverse Gremien und Umsetzungsfreigaben (IT, PPB, EV)</a:t>
            </a:r>
            <a:br>
              <a:rPr lang="de-DE" sz="800" b="1">
                <a:solidFill>
                  <a:schemeClr val="tx1"/>
                </a:solidFill>
              </a:rPr>
            </a:br>
            <a:endParaRPr lang="de-DE" sz="800" b="1">
              <a:solidFill>
                <a:schemeClr val="tx1"/>
              </a:solidFill>
            </a:endParaRPr>
          </a:p>
        </p:txBody>
      </p:sp>
      <p:sp>
        <p:nvSpPr>
          <p:cNvPr id="22" name="RbLeanShape Right U-Shape 17">
            <a:extLst>
              <a:ext uri="{FF2B5EF4-FFF2-40B4-BE49-F238E27FC236}">
                <a16:creationId xmlns:a16="http://schemas.microsoft.com/office/drawing/2014/main" id="{A71E937B-3A17-48C5-D631-A0DEFD853DB8}"/>
              </a:ext>
            </a:extLst>
          </p:cNvPr>
          <p:cNvSpPr>
            <a:spLocks/>
          </p:cNvSpPr>
          <p:nvPr/>
        </p:nvSpPr>
        <p:spPr>
          <a:xfrm>
            <a:off x="9383411" y="1206441"/>
            <a:ext cx="2328684" cy="5142609"/>
          </a:xfrm>
          <a:custGeom>
            <a:avLst/>
            <a:gdLst>
              <a:gd name="connsiteX0" fmla="*/ 1270000 w 1270000"/>
              <a:gd name="connsiteY0" fmla="*/ 0 h 3175000"/>
              <a:gd name="connsiteX1" fmla="*/ 0 w 1270000"/>
              <a:gd name="connsiteY1" fmla="*/ 0 h 3175000"/>
              <a:gd name="connsiteX2" fmla="*/ 0 w 1270000"/>
              <a:gd name="connsiteY2" fmla="*/ 3175000 h 3175000"/>
              <a:gd name="connsiteX3" fmla="*/ 1270000 w 1270000"/>
              <a:gd name="connsiteY3" fmla="*/ 3175000 h 31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0000" h="3175000">
                <a:moveTo>
                  <a:pt x="1270000" y="0"/>
                </a:moveTo>
                <a:lnTo>
                  <a:pt x="0" y="0"/>
                </a:lnTo>
                <a:lnTo>
                  <a:pt x="0" y="3175000"/>
                </a:lnTo>
                <a:lnTo>
                  <a:pt x="1270000" y="3175000"/>
                </a:lnTo>
              </a:path>
            </a:pathLst>
          </a:cu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fontAlgn="base">
              <a:lnSpc>
                <a:spcPct val="90000"/>
              </a:lnSpc>
              <a:spcAft>
                <a:spcPct val="0"/>
              </a:spcAft>
            </a:pPr>
            <a:endParaRPr lang="de-DE"/>
          </a:p>
        </p:txBody>
      </p:sp>
      <p:sp>
        <p:nvSpPr>
          <p:cNvPr id="28" name="ListLeanHorizontalTextDetail0">
            <a:extLst>
              <a:ext uri="{FF2B5EF4-FFF2-40B4-BE49-F238E27FC236}">
                <a16:creationId xmlns:a16="http://schemas.microsoft.com/office/drawing/2014/main" id="{7C1AB734-1390-5AEC-E178-0C88035F0CB7}"/>
              </a:ext>
            </a:extLst>
          </p:cNvPr>
          <p:cNvSpPr txBox="1">
            <a:spLocks/>
          </p:cNvSpPr>
          <p:nvPr/>
        </p:nvSpPr>
        <p:spPr>
          <a:xfrm>
            <a:off x="9520644" y="1491262"/>
            <a:ext cx="2606166" cy="4093428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err="1"/>
              <a:t>Zeitlich</a:t>
            </a:r>
            <a:r>
              <a:rPr lang="en-US" sz="1600"/>
              <a:t> und </a:t>
            </a:r>
            <a:r>
              <a:rPr lang="en-US" sz="1600" err="1"/>
              <a:t>inhaltlich</a:t>
            </a:r>
            <a:r>
              <a:rPr lang="en-US" sz="1600"/>
              <a:t> </a:t>
            </a:r>
            <a:r>
              <a:rPr lang="en-US" sz="1600" b="1" err="1"/>
              <a:t>unabgestimmte</a:t>
            </a:r>
            <a:r>
              <a:rPr lang="en-US" sz="1600" b="1"/>
              <a:t> Parallel-</a:t>
            </a:r>
            <a:r>
              <a:rPr lang="en-US" sz="1600" b="1" err="1"/>
              <a:t>Prozesse</a:t>
            </a:r>
            <a:r>
              <a:rPr lang="en-US" sz="1600" b="1"/>
              <a:t> </a:t>
            </a:r>
          </a:p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err="1"/>
              <a:t>unklare</a:t>
            </a:r>
            <a:r>
              <a:rPr lang="en-US" sz="1600"/>
              <a:t> </a:t>
            </a:r>
            <a:r>
              <a:rPr lang="en-US" sz="1600" b="1" err="1"/>
              <a:t>Zuständigkeiten</a:t>
            </a:r>
            <a:r>
              <a:rPr lang="en-US" sz="1600" b="1"/>
              <a:t> und diverse </a:t>
            </a:r>
            <a:r>
              <a:rPr lang="en-US" sz="1600" b="1" err="1"/>
              <a:t>Gremien</a:t>
            </a:r>
            <a:endParaRPr lang="en-US" sz="1600"/>
          </a:p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b="1" err="1"/>
              <a:t>Aufwändige</a:t>
            </a:r>
            <a:r>
              <a:rPr lang="en-US" sz="1600"/>
              <a:t> </a:t>
            </a:r>
            <a:r>
              <a:rPr lang="en-US" sz="1600" err="1"/>
              <a:t>Datenhaltung</a:t>
            </a:r>
            <a:r>
              <a:rPr lang="en-US" sz="1600"/>
              <a:t> in </a:t>
            </a:r>
            <a:r>
              <a:rPr lang="en-US" sz="1600" err="1"/>
              <a:t>mehreren</a:t>
            </a:r>
            <a:r>
              <a:rPr lang="en-US" sz="1600"/>
              <a:t> </a:t>
            </a:r>
            <a:r>
              <a:rPr lang="en-US" sz="1600" err="1"/>
              <a:t>Systemen</a:t>
            </a:r>
            <a:r>
              <a:rPr lang="en-US" sz="1600"/>
              <a:t> (</a:t>
            </a:r>
            <a:r>
              <a:rPr lang="en-US" sz="1600" err="1"/>
              <a:t>Systembrüche</a:t>
            </a:r>
            <a:r>
              <a:rPr lang="en-US" sz="1600"/>
              <a:t>)</a:t>
            </a:r>
          </a:p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b="1" err="1"/>
              <a:t>hoher</a:t>
            </a:r>
            <a:r>
              <a:rPr lang="en-US" sz="1600" b="1"/>
              <a:t> </a:t>
            </a:r>
            <a:r>
              <a:rPr lang="en-US" sz="1600" b="1" err="1"/>
              <a:t>manueller</a:t>
            </a:r>
            <a:r>
              <a:rPr lang="en-US" sz="1600" b="1"/>
              <a:t> </a:t>
            </a:r>
            <a:r>
              <a:rPr lang="en-US" sz="1600" b="1" err="1"/>
              <a:t>Aufwand</a:t>
            </a:r>
            <a:r>
              <a:rPr lang="en-US" sz="1600" b="1"/>
              <a:t>,</a:t>
            </a:r>
            <a:r>
              <a:rPr lang="en-US" sz="1600"/>
              <a:t> </a:t>
            </a:r>
            <a:r>
              <a:rPr lang="en-US" sz="1600" err="1"/>
              <a:t>unvollständige</a:t>
            </a:r>
            <a:r>
              <a:rPr lang="en-US" sz="1600"/>
              <a:t> und nicht </a:t>
            </a:r>
            <a:r>
              <a:rPr lang="en-US" sz="1600" err="1"/>
              <a:t>aktuelle</a:t>
            </a:r>
            <a:r>
              <a:rPr lang="en-US" sz="1600"/>
              <a:t> </a:t>
            </a:r>
            <a:r>
              <a:rPr lang="en-US" sz="1600" err="1"/>
              <a:t>Daten</a:t>
            </a:r>
            <a:endParaRPr lang="en-US" sz="1600"/>
          </a:p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err="1"/>
              <a:t>Unklare</a:t>
            </a:r>
            <a:r>
              <a:rPr lang="en-US" sz="1600"/>
              <a:t> </a:t>
            </a:r>
            <a:r>
              <a:rPr lang="en-US" sz="1600" b="1" err="1"/>
              <a:t>Eskalationsmechanismen</a:t>
            </a:r>
            <a:r>
              <a:rPr lang="en-US" sz="1600"/>
              <a:t> </a:t>
            </a:r>
          </a:p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/>
              <a:t>Keine </a:t>
            </a:r>
            <a:r>
              <a:rPr lang="en-US" sz="1600" err="1"/>
              <a:t>durchgehende</a:t>
            </a:r>
            <a:r>
              <a:rPr lang="en-US" sz="1600"/>
              <a:t> </a:t>
            </a:r>
            <a:r>
              <a:rPr lang="en-US" sz="1600" b="1" err="1"/>
              <a:t>Priorisierungslogik</a:t>
            </a:r>
            <a:r>
              <a:rPr lang="en-US" sz="1600"/>
              <a:t> </a:t>
            </a:r>
          </a:p>
        </p:txBody>
      </p:sp>
      <p:sp>
        <p:nvSpPr>
          <p:cNvPr id="29" name="ListLeanHorizontalTextTopic0">
            <a:extLst>
              <a:ext uri="{FF2B5EF4-FFF2-40B4-BE49-F238E27FC236}">
                <a16:creationId xmlns:a16="http://schemas.microsoft.com/office/drawing/2014/main" id="{45E7B2F1-DBD7-43AB-503D-8EA5CC657EE2}"/>
              </a:ext>
            </a:extLst>
          </p:cNvPr>
          <p:cNvSpPr txBox="1">
            <a:spLocks/>
          </p:cNvSpPr>
          <p:nvPr/>
        </p:nvSpPr>
        <p:spPr>
          <a:xfrm>
            <a:off x="9383411" y="976927"/>
            <a:ext cx="3124347" cy="296482"/>
          </a:xfrm>
          <a:prstGeom prst="rect">
            <a:avLst/>
          </a:prstGeom>
          <a:noFill/>
        </p:spPr>
        <p:txBody>
          <a:bodyPr vert="horz" wrap="square" lIns="0" tIns="0" rIns="0" bIns="72000" rtlCol="0" anchor="b" anchorCtr="0">
            <a:sp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r>
              <a:rPr lang="en-US" sz="1600" b="1" err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PainPoints</a:t>
            </a:r>
            <a:endParaRPr lang="en-US" sz="16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  <p:cxnSp>
        <p:nvCxnSpPr>
          <p:cNvPr id="39" name="Gerade Verbindung mit Pfeil 38">
            <a:extLst>
              <a:ext uri="{FF2B5EF4-FFF2-40B4-BE49-F238E27FC236}">
                <a16:creationId xmlns:a16="http://schemas.microsoft.com/office/drawing/2014/main" id="{A80F400D-72F2-0F48-760B-D2876057F28F}"/>
              </a:ext>
            </a:extLst>
          </p:cNvPr>
          <p:cNvCxnSpPr>
            <a:cxnSpLocks/>
          </p:cNvCxnSpPr>
          <p:nvPr/>
        </p:nvCxnSpPr>
        <p:spPr>
          <a:xfrm>
            <a:off x="5055251" y="5969041"/>
            <a:ext cx="3878686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6" name="Rechteck 5">
            <a:extLst>
              <a:ext uri="{FF2B5EF4-FFF2-40B4-BE49-F238E27FC236}">
                <a16:creationId xmlns:a16="http://schemas.microsoft.com/office/drawing/2014/main" id="{14C171C3-59B8-3F58-B56B-FC2B2805BD16}"/>
              </a:ext>
            </a:extLst>
          </p:cNvPr>
          <p:cNvSpPr/>
          <p:nvPr/>
        </p:nvSpPr>
        <p:spPr>
          <a:xfrm>
            <a:off x="5133466" y="5854183"/>
            <a:ext cx="563001" cy="227195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900" kern="0">
                <a:latin typeface="+mj-lt"/>
              </a:rPr>
              <a:t>S</a:t>
            </a:r>
            <a:r>
              <a:rPr kumimoji="0" lang="de-DE" sz="900" b="0" i="0" u="none" strike="noStrike" kern="0" cap="none" spc="0" normalizeH="0" baseline="0" noProof="0" err="1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ubmit</a:t>
            </a:r>
            <a:endParaRPr lang="de-DE" sz="9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j-lt"/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25ADB842-9814-9C39-AA66-BEF5ABD29574}"/>
              </a:ext>
            </a:extLst>
          </p:cNvPr>
          <p:cNvSpPr txBox="1"/>
          <p:nvPr/>
        </p:nvSpPr>
        <p:spPr>
          <a:xfrm>
            <a:off x="5126142" y="6120864"/>
            <a:ext cx="555725" cy="368750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Incl. </a:t>
            </a:r>
            <a:r>
              <a:rPr lang="de-DE" sz="800" err="1"/>
              <a:t>project</a:t>
            </a:r>
            <a:br>
              <a:rPr lang="de-DE" sz="800"/>
            </a:br>
            <a:r>
              <a:rPr lang="de-DE" sz="800" err="1"/>
              <a:t>charter</a:t>
            </a:r>
            <a:r>
              <a:rPr lang="de-DE" sz="800"/>
              <a:t>, </a:t>
            </a:r>
            <a:br>
              <a:rPr lang="de-DE" sz="800"/>
            </a:br>
            <a:r>
              <a:rPr lang="de-DE" sz="800" err="1"/>
              <a:t>opt</a:t>
            </a:r>
            <a:r>
              <a:rPr lang="de-DE" sz="800"/>
              <a:t>. WIRE</a:t>
            </a:r>
          </a:p>
        </p:txBody>
      </p:sp>
      <p:sp>
        <p:nvSpPr>
          <p:cNvPr id="16" name="Raute 15">
            <a:extLst>
              <a:ext uri="{FF2B5EF4-FFF2-40B4-BE49-F238E27FC236}">
                <a16:creationId xmlns:a16="http://schemas.microsoft.com/office/drawing/2014/main" id="{18F29798-CFA1-D5FC-3BF4-37B743A20B10}"/>
              </a:ext>
            </a:extLst>
          </p:cNvPr>
          <p:cNvSpPr/>
          <p:nvPr/>
        </p:nvSpPr>
        <p:spPr>
          <a:xfrm>
            <a:off x="6499348" y="5831314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 err="1">
                <a:solidFill>
                  <a:schemeClr val="tx1"/>
                </a:solidFill>
              </a:rPr>
              <a:t>FaB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26" name="Raute 25">
            <a:extLst>
              <a:ext uri="{FF2B5EF4-FFF2-40B4-BE49-F238E27FC236}">
                <a16:creationId xmlns:a16="http://schemas.microsoft.com/office/drawing/2014/main" id="{1D386C5F-5424-01C4-00CB-894D2FDD7852}"/>
              </a:ext>
            </a:extLst>
          </p:cNvPr>
          <p:cNvSpPr/>
          <p:nvPr/>
        </p:nvSpPr>
        <p:spPr>
          <a:xfrm>
            <a:off x="5727189" y="5831933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CO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31" name="Raute 30">
            <a:extLst>
              <a:ext uri="{FF2B5EF4-FFF2-40B4-BE49-F238E27FC236}">
                <a16:creationId xmlns:a16="http://schemas.microsoft.com/office/drawing/2014/main" id="{A67AF17D-1481-8D49-E34D-22E918E75646}"/>
              </a:ext>
            </a:extLst>
          </p:cNvPr>
          <p:cNvSpPr/>
          <p:nvPr/>
        </p:nvSpPr>
        <p:spPr>
          <a:xfrm>
            <a:off x="6872467" y="5831206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IT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32" name="Raute 31">
            <a:extLst>
              <a:ext uri="{FF2B5EF4-FFF2-40B4-BE49-F238E27FC236}">
                <a16:creationId xmlns:a16="http://schemas.microsoft.com/office/drawing/2014/main" id="{88544C02-2CCF-2F7A-83F9-9360863C0B36}"/>
              </a:ext>
            </a:extLst>
          </p:cNvPr>
          <p:cNvSpPr/>
          <p:nvPr/>
        </p:nvSpPr>
        <p:spPr>
          <a:xfrm>
            <a:off x="7227519" y="5831314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SP1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35" name="Raute 34">
            <a:extLst>
              <a:ext uri="{FF2B5EF4-FFF2-40B4-BE49-F238E27FC236}">
                <a16:creationId xmlns:a16="http://schemas.microsoft.com/office/drawing/2014/main" id="{8FC5A555-63FF-9787-18A0-6AA46CAAB464}"/>
              </a:ext>
            </a:extLst>
          </p:cNvPr>
          <p:cNvSpPr/>
          <p:nvPr/>
        </p:nvSpPr>
        <p:spPr>
          <a:xfrm>
            <a:off x="7980953" y="5830445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FCI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38" name="Raute 37">
            <a:extLst>
              <a:ext uri="{FF2B5EF4-FFF2-40B4-BE49-F238E27FC236}">
                <a16:creationId xmlns:a16="http://schemas.microsoft.com/office/drawing/2014/main" id="{3F4D9DC6-A746-C0E3-2301-DEB75031ABDD}"/>
              </a:ext>
            </a:extLst>
          </p:cNvPr>
          <p:cNvSpPr/>
          <p:nvPr/>
        </p:nvSpPr>
        <p:spPr>
          <a:xfrm>
            <a:off x="8389652" y="5837481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RV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3FBAA605-45EA-6ED6-E06F-09BCAD9C598B}"/>
              </a:ext>
            </a:extLst>
          </p:cNvPr>
          <p:cNvSpPr/>
          <p:nvPr/>
        </p:nvSpPr>
        <p:spPr>
          <a:xfrm>
            <a:off x="7653780" y="5849145"/>
            <a:ext cx="263285" cy="263285"/>
          </a:xfrm>
          <a:prstGeom prst="ellipse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lang="de-DE" sz="900" kern="0">
                <a:solidFill>
                  <a:schemeClr val="tx1"/>
                </a:solidFill>
                <a:latin typeface="+mj-lt"/>
              </a:rPr>
              <a:t>WF2</a:t>
            </a:r>
          </a:p>
        </p:txBody>
      </p:sp>
      <p:sp>
        <p:nvSpPr>
          <p:cNvPr id="41" name="Runde Klammer links/rechts 40">
            <a:extLst>
              <a:ext uri="{FF2B5EF4-FFF2-40B4-BE49-F238E27FC236}">
                <a16:creationId xmlns:a16="http://schemas.microsoft.com/office/drawing/2014/main" id="{C7FFD01F-24A2-BE89-F917-86F37902E534}"/>
              </a:ext>
            </a:extLst>
          </p:cNvPr>
          <p:cNvSpPr/>
          <p:nvPr/>
        </p:nvSpPr>
        <p:spPr>
          <a:xfrm>
            <a:off x="6863182" y="5797350"/>
            <a:ext cx="348616" cy="368750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9" name="Ellipse 48">
            <a:extLst>
              <a:ext uri="{FF2B5EF4-FFF2-40B4-BE49-F238E27FC236}">
                <a16:creationId xmlns:a16="http://schemas.microsoft.com/office/drawing/2014/main" id="{51F93E36-06B9-8488-A035-F95FB4F5DCBA}"/>
              </a:ext>
            </a:extLst>
          </p:cNvPr>
          <p:cNvSpPr/>
          <p:nvPr/>
        </p:nvSpPr>
        <p:spPr>
          <a:xfrm>
            <a:off x="6169054" y="5842109"/>
            <a:ext cx="263285" cy="263285"/>
          </a:xfrm>
          <a:prstGeom prst="ellipse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lang="de-DE" sz="900" kern="0">
                <a:solidFill>
                  <a:schemeClr val="tx1"/>
                </a:solidFill>
                <a:latin typeface="+mj-lt"/>
              </a:rPr>
              <a:t>WF1</a:t>
            </a:r>
          </a:p>
        </p:txBody>
      </p:sp>
      <p:sp>
        <p:nvSpPr>
          <p:cNvPr id="2" name="Raute 1">
            <a:extLst>
              <a:ext uri="{FF2B5EF4-FFF2-40B4-BE49-F238E27FC236}">
                <a16:creationId xmlns:a16="http://schemas.microsoft.com/office/drawing/2014/main" id="{1EE6968C-7345-F440-4C45-41BFA8E11623}"/>
              </a:ext>
            </a:extLst>
          </p:cNvPr>
          <p:cNvSpPr/>
          <p:nvPr/>
        </p:nvSpPr>
        <p:spPr>
          <a:xfrm>
            <a:off x="6737873" y="6185998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IPS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8" name="Raute 7">
            <a:extLst>
              <a:ext uri="{FF2B5EF4-FFF2-40B4-BE49-F238E27FC236}">
                <a16:creationId xmlns:a16="http://schemas.microsoft.com/office/drawing/2014/main" id="{3EC170AE-BE74-DDA3-7876-14BC230FFCCD}"/>
              </a:ext>
            </a:extLst>
          </p:cNvPr>
          <p:cNvSpPr/>
          <p:nvPr/>
        </p:nvSpPr>
        <p:spPr>
          <a:xfrm>
            <a:off x="6309467" y="6423075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IT-BP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3D32A397-1F40-5B44-BF1B-9CDD87AFE23E}"/>
              </a:ext>
            </a:extLst>
          </p:cNvPr>
          <p:cNvCxnSpPr>
            <a:cxnSpLocks/>
            <a:stCxn id="31" idx="2"/>
            <a:endCxn id="2" idx="0"/>
          </p:cNvCxnSpPr>
          <p:nvPr/>
        </p:nvCxnSpPr>
        <p:spPr>
          <a:xfrm flipH="1">
            <a:off x="6914509" y="6106155"/>
            <a:ext cx="134594" cy="79843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Gerade Verbindung mit Pfeil 41">
            <a:extLst>
              <a:ext uri="{FF2B5EF4-FFF2-40B4-BE49-F238E27FC236}">
                <a16:creationId xmlns:a16="http://schemas.microsoft.com/office/drawing/2014/main" id="{006DB907-A1D1-C862-0723-CD97A61DBB80}"/>
              </a:ext>
            </a:extLst>
          </p:cNvPr>
          <p:cNvCxnSpPr>
            <a:cxnSpLocks/>
            <a:stCxn id="2" idx="2"/>
            <a:endCxn id="8" idx="3"/>
          </p:cNvCxnSpPr>
          <p:nvPr/>
        </p:nvCxnSpPr>
        <p:spPr>
          <a:xfrm flipH="1">
            <a:off x="6662738" y="6460947"/>
            <a:ext cx="251771" cy="99603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Gerade Verbindung mit Pfeil 56">
            <a:extLst>
              <a:ext uri="{FF2B5EF4-FFF2-40B4-BE49-F238E27FC236}">
                <a16:creationId xmlns:a16="http://schemas.microsoft.com/office/drawing/2014/main" id="{95AC6D85-73F0-8CAF-8257-D1B3299BC591}"/>
              </a:ext>
            </a:extLst>
          </p:cNvPr>
          <p:cNvCxnSpPr>
            <a:cxnSpLocks/>
            <a:stCxn id="8" idx="0"/>
            <a:endCxn id="2" idx="1"/>
          </p:cNvCxnSpPr>
          <p:nvPr/>
        </p:nvCxnSpPr>
        <p:spPr>
          <a:xfrm flipV="1">
            <a:off x="6486103" y="6323473"/>
            <a:ext cx="251770" cy="99602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unde Klammer links/rechts 61">
            <a:extLst>
              <a:ext uri="{FF2B5EF4-FFF2-40B4-BE49-F238E27FC236}">
                <a16:creationId xmlns:a16="http://schemas.microsoft.com/office/drawing/2014/main" id="{57785123-0E93-5A51-9922-B606AE08FC41}"/>
              </a:ext>
            </a:extLst>
          </p:cNvPr>
          <p:cNvSpPr/>
          <p:nvPr/>
        </p:nvSpPr>
        <p:spPr>
          <a:xfrm>
            <a:off x="7225738" y="5797350"/>
            <a:ext cx="348616" cy="368750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4" name="Textfeld 63">
            <a:extLst>
              <a:ext uri="{FF2B5EF4-FFF2-40B4-BE49-F238E27FC236}">
                <a16:creationId xmlns:a16="http://schemas.microsoft.com/office/drawing/2014/main" id="{4F07E436-52AA-F034-C224-B4183C0A68A7}"/>
              </a:ext>
            </a:extLst>
          </p:cNvPr>
          <p:cNvSpPr txBox="1"/>
          <p:nvPr/>
        </p:nvSpPr>
        <p:spPr>
          <a:xfrm>
            <a:off x="7231616" y="6102033"/>
            <a:ext cx="347335" cy="327200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700" err="1"/>
              <a:t>only</a:t>
            </a:r>
            <a:r>
              <a:rPr lang="de-DE" sz="700"/>
              <a:t> </a:t>
            </a:r>
            <a:br>
              <a:rPr lang="de-DE" sz="700"/>
            </a:br>
            <a:r>
              <a:rPr lang="de-DE" sz="700" err="1"/>
              <a:t>special</a:t>
            </a:r>
            <a:br>
              <a:rPr lang="de-DE" sz="700"/>
            </a:br>
            <a:r>
              <a:rPr lang="de-DE" sz="700" err="1"/>
              <a:t>projects</a:t>
            </a:r>
            <a:endParaRPr lang="de-DE" sz="700"/>
          </a:p>
        </p:txBody>
      </p:sp>
      <p:pic>
        <p:nvPicPr>
          <p:cNvPr id="5" name="Grafik 4" descr="Marke Fragezeichen mit einfarbiger Füllung">
            <a:extLst>
              <a:ext uri="{FF2B5EF4-FFF2-40B4-BE49-F238E27FC236}">
                <a16:creationId xmlns:a16="http://schemas.microsoft.com/office/drawing/2014/main" id="{FAAF1B51-EA7A-FD1E-0E41-D9D3D28566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65227" y="2783415"/>
            <a:ext cx="267267" cy="267267"/>
          </a:xfrm>
          <a:prstGeom prst="rect">
            <a:avLst/>
          </a:prstGeom>
        </p:spPr>
      </p:pic>
      <p:pic>
        <p:nvPicPr>
          <p:cNvPr id="3" name="Grafik 2" descr="Marke Fragezeichen mit einfarbiger Füllung">
            <a:extLst>
              <a:ext uri="{FF2B5EF4-FFF2-40B4-BE49-F238E27FC236}">
                <a16:creationId xmlns:a16="http://schemas.microsoft.com/office/drawing/2014/main" id="{29C97CFF-0B8B-6290-5176-FC21003C00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13608" y="2794232"/>
            <a:ext cx="266400" cy="266400"/>
          </a:xfrm>
          <a:prstGeom prst="rect">
            <a:avLst/>
          </a:prstGeom>
        </p:spPr>
      </p:pic>
      <p:pic>
        <p:nvPicPr>
          <p:cNvPr id="4" name="Grafik 3" descr="Marke Fragezeichen mit einfarbiger Füllung">
            <a:extLst>
              <a:ext uri="{FF2B5EF4-FFF2-40B4-BE49-F238E27FC236}">
                <a16:creationId xmlns:a16="http://schemas.microsoft.com/office/drawing/2014/main" id="{324E5370-B580-DD50-AF89-7676D470CF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91175" y="2804187"/>
            <a:ext cx="266400" cy="266400"/>
          </a:xfrm>
          <a:prstGeom prst="rect">
            <a:avLst/>
          </a:prstGeom>
        </p:spPr>
      </p:pic>
      <p:sp>
        <p:nvSpPr>
          <p:cNvPr id="55" name="Rechteck 54">
            <a:extLst>
              <a:ext uri="{FF2B5EF4-FFF2-40B4-BE49-F238E27FC236}">
                <a16:creationId xmlns:a16="http://schemas.microsoft.com/office/drawing/2014/main" id="{6DA98A74-85BD-5BFF-D064-81FA2C2C01C7}"/>
              </a:ext>
            </a:extLst>
          </p:cNvPr>
          <p:cNvSpPr/>
          <p:nvPr/>
        </p:nvSpPr>
        <p:spPr>
          <a:xfrm>
            <a:off x="4387254" y="2362353"/>
            <a:ext cx="1043998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+ </a:t>
            </a:r>
            <a:r>
              <a:rPr kumimoji="0" lang="de-DE" sz="105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create</a:t>
            </a:r>
            <a:r>
              <a:rPr kumimoji="0" lang="de-DE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PIT-project </a:t>
            </a:r>
            <a:r>
              <a:rPr kumimoji="0" lang="de-DE" sz="105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for</a:t>
            </a:r>
            <a:r>
              <a:rPr kumimoji="0" lang="de-DE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IT </a:t>
            </a:r>
            <a:r>
              <a:rPr kumimoji="0" lang="de-DE" sz="105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part</a:t>
            </a:r>
            <a:endParaRPr kumimoji="0" lang="de-DE" sz="10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pic>
        <p:nvPicPr>
          <p:cNvPr id="73" name="Grafik 72" descr="Blitz mit einfarbiger Füllung">
            <a:extLst>
              <a:ext uri="{FF2B5EF4-FFF2-40B4-BE49-F238E27FC236}">
                <a16:creationId xmlns:a16="http://schemas.microsoft.com/office/drawing/2014/main" id="{2E9F29E5-C6C1-F35B-A07B-3CE2343E1F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90347" y="3772501"/>
            <a:ext cx="249320" cy="311508"/>
          </a:xfrm>
          <a:prstGeom prst="rect">
            <a:avLst/>
          </a:prstGeom>
        </p:spPr>
      </p:pic>
      <p:pic>
        <p:nvPicPr>
          <p:cNvPr id="77" name="Grafik 76" descr="Blitz mit einfarbiger Füllung">
            <a:extLst>
              <a:ext uri="{FF2B5EF4-FFF2-40B4-BE49-F238E27FC236}">
                <a16:creationId xmlns:a16="http://schemas.microsoft.com/office/drawing/2014/main" id="{AED83BD7-72A4-CC6B-EAF6-A40D83A4E9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6206" y="3119791"/>
            <a:ext cx="249320" cy="311508"/>
          </a:xfrm>
          <a:prstGeom prst="rect">
            <a:avLst/>
          </a:prstGeom>
        </p:spPr>
      </p:pic>
      <p:sp>
        <p:nvSpPr>
          <p:cNvPr id="86" name="Textfeld 85">
            <a:extLst>
              <a:ext uri="{FF2B5EF4-FFF2-40B4-BE49-F238E27FC236}">
                <a16:creationId xmlns:a16="http://schemas.microsoft.com/office/drawing/2014/main" id="{2BB80597-8959-9A46-2365-603A7925EDE2}"/>
              </a:ext>
            </a:extLst>
          </p:cNvPr>
          <p:cNvSpPr txBox="1"/>
          <p:nvPr/>
        </p:nvSpPr>
        <p:spPr>
          <a:xfrm>
            <a:off x="4895239" y="5533873"/>
            <a:ext cx="752894" cy="2025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>
            <a:defPPr>
              <a:defRPr lang="de-DE"/>
            </a:defPPr>
            <a:lvl1pPr>
              <a:lnSpc>
                <a:spcPct val="90000"/>
              </a:lnSpc>
              <a:spcBef>
                <a:spcPts val="400"/>
              </a:spcBef>
              <a:defRPr sz="1050" b="1"/>
            </a:lvl1pPr>
          </a:lstStyle>
          <a:p>
            <a:r>
              <a:rPr lang="de-DE" sz="1200"/>
              <a:t>EV/</a:t>
            </a:r>
            <a:r>
              <a:rPr lang="de-DE" sz="1200" err="1"/>
              <a:t>Lucom</a:t>
            </a:r>
            <a:endParaRPr lang="de-DE" sz="1200"/>
          </a:p>
        </p:txBody>
      </p:sp>
      <p:pic>
        <p:nvPicPr>
          <p:cNvPr id="97" name="Grafik 96">
            <a:extLst>
              <a:ext uri="{FF2B5EF4-FFF2-40B4-BE49-F238E27FC236}">
                <a16:creationId xmlns:a16="http://schemas.microsoft.com/office/drawing/2014/main" id="{6F37DC10-B625-A647-AA28-AFC512649F7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2354" t="58918" r="18842" b="36651"/>
          <a:stretch>
            <a:fillRect/>
          </a:stretch>
        </p:blipFill>
        <p:spPr>
          <a:xfrm>
            <a:off x="938043" y="5464399"/>
            <a:ext cx="810371" cy="300062"/>
          </a:xfrm>
          <a:prstGeom prst="rect">
            <a:avLst/>
          </a:prstGeom>
          <a:solidFill>
            <a:schemeClr val="accent1"/>
          </a:solidFill>
        </p:spPr>
      </p:pic>
      <p:pic>
        <p:nvPicPr>
          <p:cNvPr id="99" name="Grafik 98">
            <a:extLst>
              <a:ext uri="{FF2B5EF4-FFF2-40B4-BE49-F238E27FC236}">
                <a16:creationId xmlns:a16="http://schemas.microsoft.com/office/drawing/2014/main" id="{A5981DA2-3290-BD77-DBA1-2C1E0EBFAC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72911" y="1031344"/>
            <a:ext cx="861929" cy="163398"/>
          </a:xfrm>
          <a:prstGeom prst="rect">
            <a:avLst/>
          </a:prstGeom>
        </p:spPr>
      </p:pic>
      <p:pic>
        <p:nvPicPr>
          <p:cNvPr id="103" name="Grafik 102">
            <a:extLst>
              <a:ext uri="{FF2B5EF4-FFF2-40B4-BE49-F238E27FC236}">
                <a16:creationId xmlns:a16="http://schemas.microsoft.com/office/drawing/2014/main" id="{6C5FF56B-6FD0-C520-CD11-BDBC1B24186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6009" y="5816255"/>
            <a:ext cx="843972" cy="273430"/>
          </a:xfrm>
          <a:prstGeom prst="rect">
            <a:avLst/>
          </a:prstGeom>
        </p:spPr>
      </p:pic>
      <p:pic>
        <p:nvPicPr>
          <p:cNvPr id="105" name="Grafik 104">
            <a:extLst>
              <a:ext uri="{FF2B5EF4-FFF2-40B4-BE49-F238E27FC236}">
                <a16:creationId xmlns:a16="http://schemas.microsoft.com/office/drawing/2014/main" id="{99CC7BBE-CD8F-3B3F-041E-86F16C1052A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6009" y="6149489"/>
            <a:ext cx="803980" cy="230965"/>
          </a:xfrm>
          <a:prstGeom prst="rect">
            <a:avLst/>
          </a:prstGeom>
        </p:spPr>
      </p:pic>
      <p:cxnSp>
        <p:nvCxnSpPr>
          <p:cNvPr id="106" name="Gerade Verbindung mit Pfeil 105">
            <a:extLst>
              <a:ext uri="{FF2B5EF4-FFF2-40B4-BE49-F238E27FC236}">
                <a16:creationId xmlns:a16="http://schemas.microsoft.com/office/drawing/2014/main" id="{95B0FC04-44B8-14A0-63A5-5425F6E127C3}"/>
              </a:ext>
            </a:extLst>
          </p:cNvPr>
          <p:cNvCxnSpPr>
            <a:cxnSpLocks/>
            <a:endCxn id="94" idx="2"/>
          </p:cNvCxnSpPr>
          <p:nvPr/>
        </p:nvCxnSpPr>
        <p:spPr>
          <a:xfrm flipV="1">
            <a:off x="5148448" y="4987590"/>
            <a:ext cx="1772452" cy="829629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Gerade Verbindung mit Pfeil 108">
            <a:extLst>
              <a:ext uri="{FF2B5EF4-FFF2-40B4-BE49-F238E27FC236}">
                <a16:creationId xmlns:a16="http://schemas.microsoft.com/office/drawing/2014/main" id="{DF8444CB-A440-57DA-F13D-154A72BC5742}"/>
              </a:ext>
            </a:extLst>
          </p:cNvPr>
          <p:cNvCxnSpPr>
            <a:cxnSpLocks/>
            <a:stCxn id="94" idx="2"/>
          </p:cNvCxnSpPr>
          <p:nvPr/>
        </p:nvCxnSpPr>
        <p:spPr>
          <a:xfrm>
            <a:off x="6920900" y="4987590"/>
            <a:ext cx="1980486" cy="966472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2" name="Grafik 111" descr="Blitz mit einfarbiger Füllung">
            <a:extLst>
              <a:ext uri="{FF2B5EF4-FFF2-40B4-BE49-F238E27FC236}">
                <a16:creationId xmlns:a16="http://schemas.microsoft.com/office/drawing/2014/main" id="{0B04D48B-FB15-9E8E-E8D1-B23B3D0F02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94722" y="5211253"/>
            <a:ext cx="249320" cy="311508"/>
          </a:xfrm>
          <a:prstGeom prst="rect">
            <a:avLst/>
          </a:prstGeom>
        </p:spPr>
      </p:pic>
      <p:sp>
        <p:nvSpPr>
          <p:cNvPr id="113" name="Textfeld 112">
            <a:extLst>
              <a:ext uri="{FF2B5EF4-FFF2-40B4-BE49-F238E27FC236}">
                <a16:creationId xmlns:a16="http://schemas.microsoft.com/office/drawing/2014/main" id="{3B5A0264-E0C2-5FA7-133F-0FA709CD5B95}"/>
              </a:ext>
            </a:extLst>
          </p:cNvPr>
          <p:cNvSpPr txBox="1"/>
          <p:nvPr/>
        </p:nvSpPr>
        <p:spPr>
          <a:xfrm>
            <a:off x="6624595" y="5230826"/>
            <a:ext cx="948461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manueller Start </a:t>
            </a:r>
            <a:br>
              <a:rPr lang="de-DE" sz="800"/>
            </a:br>
            <a:r>
              <a:rPr lang="de-DE" sz="800"/>
              <a:t>Prozess EV Freigabe</a:t>
            </a:r>
          </a:p>
        </p:txBody>
      </p:sp>
      <p:pic>
        <p:nvPicPr>
          <p:cNvPr id="93" name="Grafik 92">
            <a:extLst>
              <a:ext uri="{FF2B5EF4-FFF2-40B4-BE49-F238E27FC236}">
                <a16:creationId xmlns:a16="http://schemas.microsoft.com/office/drawing/2014/main" id="{579CB4EA-5A17-8328-3694-F6514BF28F74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1" b="17297"/>
          <a:stretch>
            <a:fillRect/>
          </a:stretch>
        </p:blipFill>
        <p:spPr>
          <a:xfrm>
            <a:off x="4246310" y="5550552"/>
            <a:ext cx="642751" cy="177189"/>
          </a:xfrm>
          <a:prstGeom prst="rect">
            <a:avLst/>
          </a:prstGeom>
        </p:spPr>
      </p:pic>
      <p:pic>
        <p:nvPicPr>
          <p:cNvPr id="114" name="Grafik 113" descr="Blitz mit einfarbiger Füllung">
            <a:extLst>
              <a:ext uri="{FF2B5EF4-FFF2-40B4-BE49-F238E27FC236}">
                <a16:creationId xmlns:a16="http://schemas.microsoft.com/office/drawing/2014/main" id="{48DA8A0A-2B2E-F22F-35E2-9CA9E0FB27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93672" y="3090199"/>
            <a:ext cx="249320" cy="311508"/>
          </a:xfrm>
          <a:prstGeom prst="rect">
            <a:avLst/>
          </a:prstGeom>
        </p:spPr>
      </p:pic>
      <p:pic>
        <p:nvPicPr>
          <p:cNvPr id="115" name="Grafik 114" descr="Blitz mit einfarbiger Füllung">
            <a:extLst>
              <a:ext uri="{FF2B5EF4-FFF2-40B4-BE49-F238E27FC236}">
                <a16:creationId xmlns:a16="http://schemas.microsoft.com/office/drawing/2014/main" id="{A1226798-6B5D-A694-E3F1-503AACF9FA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86769" y="3113018"/>
            <a:ext cx="249320" cy="311508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F958A108-613B-E691-0732-2D63A3BA53D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2354" t="58918" r="18842" b="36651"/>
          <a:stretch>
            <a:fillRect/>
          </a:stretch>
        </p:blipFill>
        <p:spPr>
          <a:xfrm>
            <a:off x="5446835" y="2448095"/>
            <a:ext cx="656460" cy="243072"/>
          </a:xfrm>
          <a:prstGeom prst="rect">
            <a:avLst/>
          </a:prstGeom>
          <a:solidFill>
            <a:schemeClr val="accent1"/>
          </a:solidFill>
        </p:spPr>
      </p:pic>
    </p:spTree>
    <p:extLst>
      <p:ext uri="{BB962C8B-B14F-4D97-AF65-F5344CB8AC3E}">
        <p14:creationId xmlns:p14="http://schemas.microsoft.com/office/powerpoint/2010/main" val="35932095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05E4BA-6D56-DF0C-BC66-00E23F4B4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Status Quo: IT Demand and Project </a:t>
            </a:r>
            <a:r>
              <a:rPr lang="de-DE" err="1"/>
              <a:t>landscape</a:t>
            </a:r>
            <a:r>
              <a:rPr lang="de-DE"/>
              <a:t> </a:t>
            </a:r>
          </a:p>
        </p:txBody>
      </p:sp>
      <p:graphicFrame>
        <p:nvGraphicFramePr>
          <p:cNvPr id="67" name="Tabelle 66">
            <a:extLst>
              <a:ext uri="{FF2B5EF4-FFF2-40B4-BE49-F238E27FC236}">
                <a16:creationId xmlns:a16="http://schemas.microsoft.com/office/drawing/2014/main" id="{CB61E864-FE54-22F2-E327-95FBF604A762}"/>
              </a:ext>
            </a:extLst>
          </p:cNvPr>
          <p:cNvGraphicFramePr>
            <a:graphicFrameLocks noGrp="1"/>
          </p:cNvGraphicFramePr>
          <p:nvPr/>
        </p:nvGraphicFramePr>
        <p:xfrm>
          <a:off x="3384773" y="2786658"/>
          <a:ext cx="1462478" cy="16658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769">
                  <a:extLst>
                    <a:ext uri="{9D8B030D-6E8A-4147-A177-3AD203B41FA5}">
                      <a16:colId xmlns:a16="http://schemas.microsoft.com/office/drawing/2014/main" val="2769098059"/>
                    </a:ext>
                  </a:extLst>
                </a:gridCol>
                <a:gridCol w="562709">
                  <a:extLst>
                    <a:ext uri="{9D8B030D-6E8A-4147-A177-3AD203B41FA5}">
                      <a16:colId xmlns:a16="http://schemas.microsoft.com/office/drawing/2014/main" val="3275432437"/>
                    </a:ext>
                  </a:extLst>
                </a:gridCol>
              </a:tblGrid>
              <a:tr h="157053">
                <a:tc>
                  <a:txBody>
                    <a:bodyPr/>
                    <a:lstStyle/>
                    <a:p>
                      <a:endParaRPr lang="de-DE" sz="900"/>
                    </a:p>
                  </a:txBody>
                  <a:tcPr marL="36000" marR="36000" marT="0" marB="0"/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IT PT</a:t>
                      </a:r>
                    </a:p>
                  </a:txBody>
                  <a:tcPr marL="36000" marR="36000" marT="0" marB="0"/>
                </a:tc>
                <a:extLst>
                  <a:ext uri="{0D108BD9-81ED-4DB2-BD59-A6C34878D82A}">
                    <a16:rowId xmlns:a16="http://schemas.microsoft.com/office/drawing/2014/main" val="3726635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minor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&lt;5 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7483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minor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&lt;5 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31009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minor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&lt;5 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226934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medium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5-49 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9898840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medium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5-49 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201448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project</a:t>
                      </a:r>
                    </a:p>
                  </a:txBody>
                  <a:tcPr marL="36000" marR="3600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&gt;50PT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6390936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project</a:t>
                      </a:r>
                    </a:p>
                  </a:txBody>
                  <a:tcPr marL="36000" marR="3600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&gt;50PT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4411064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project</a:t>
                      </a:r>
                    </a:p>
                  </a:txBody>
                  <a:tcPr marL="36000" marR="3600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&gt;50PT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1254602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project</a:t>
                      </a:r>
                    </a:p>
                  </a:txBody>
                  <a:tcPr marL="36000" marR="36000"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&gt;50PT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9881932"/>
                  </a:ext>
                </a:extLst>
              </a:tr>
            </a:tbl>
          </a:graphicData>
        </a:graphic>
      </p:graphicFrame>
      <p:graphicFrame>
        <p:nvGraphicFramePr>
          <p:cNvPr id="68" name="Tabelle 67">
            <a:extLst>
              <a:ext uri="{FF2B5EF4-FFF2-40B4-BE49-F238E27FC236}">
                <a16:creationId xmlns:a16="http://schemas.microsoft.com/office/drawing/2014/main" id="{8AA6139F-B926-2787-DE6F-D8037BD0E56A}"/>
              </a:ext>
            </a:extLst>
          </p:cNvPr>
          <p:cNvGraphicFramePr>
            <a:graphicFrameLocks noGrp="1"/>
          </p:cNvGraphicFramePr>
          <p:nvPr/>
        </p:nvGraphicFramePr>
        <p:xfrm>
          <a:off x="1343380" y="2818497"/>
          <a:ext cx="1122768" cy="7852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2290">
                  <a:extLst>
                    <a:ext uri="{9D8B030D-6E8A-4147-A177-3AD203B41FA5}">
                      <a16:colId xmlns:a16="http://schemas.microsoft.com/office/drawing/2014/main" val="2769098059"/>
                    </a:ext>
                  </a:extLst>
                </a:gridCol>
                <a:gridCol w="280478">
                  <a:extLst>
                    <a:ext uri="{9D8B030D-6E8A-4147-A177-3AD203B41FA5}">
                      <a16:colId xmlns:a16="http://schemas.microsoft.com/office/drawing/2014/main" val="3275432437"/>
                    </a:ext>
                  </a:extLst>
                </a:gridCol>
              </a:tblGrid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700" b="1" kern="120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origin</a:t>
                      </a:r>
                      <a:endParaRPr lang="de-DE" sz="7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700"/>
                    </a:p>
                  </a:txBody>
                  <a:tcPr marL="36000" marR="36000" marT="0" marB="0"/>
                </a:tc>
                <a:extLst>
                  <a:ext uri="{0D108BD9-81ED-4DB2-BD59-A6C34878D82A}">
                    <a16:rowId xmlns:a16="http://schemas.microsoft.com/office/drawing/2014/main" val="3726635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 err="1"/>
                        <a:t>indep</a:t>
                      </a:r>
                      <a:r>
                        <a:rPr lang="de-DE" sz="800"/>
                        <a:t>. IT-Project</a:t>
                      </a:r>
                    </a:p>
                  </a:txBody>
                  <a:tcPr marL="36000" marR="36000"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7483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/>
                        <a:t>Business</a:t>
                      </a:r>
                    </a:p>
                  </a:txBody>
                  <a:tcPr marL="36000" marR="3600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453120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Business</a:t>
                      </a:r>
                    </a:p>
                  </a:txBody>
                  <a:tcPr marL="36000" marR="3600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800567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Business</a:t>
                      </a:r>
                    </a:p>
                  </a:txBody>
                  <a:tcPr marL="36000" marR="3600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337501"/>
                  </a:ext>
                </a:extLst>
              </a:tr>
            </a:tbl>
          </a:graphicData>
        </a:graphic>
      </p:graphicFrame>
      <p:sp>
        <p:nvSpPr>
          <p:cNvPr id="70" name="Textfeld 69">
            <a:extLst>
              <a:ext uri="{FF2B5EF4-FFF2-40B4-BE49-F238E27FC236}">
                <a16:creationId xmlns:a16="http://schemas.microsoft.com/office/drawing/2014/main" id="{358319D1-B549-006A-D7B2-B635508ACB3D}"/>
              </a:ext>
            </a:extLst>
          </p:cNvPr>
          <p:cNvSpPr txBox="1"/>
          <p:nvPr/>
        </p:nvSpPr>
        <p:spPr>
          <a:xfrm>
            <a:off x="1343381" y="2661887"/>
            <a:ext cx="829839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>
            <a:defPPr>
              <a:defRPr lang="de-DE"/>
            </a:defPPr>
            <a:lvl1pPr>
              <a:lnSpc>
                <a:spcPct val="90000"/>
              </a:lnSpc>
              <a:spcBef>
                <a:spcPts val="400"/>
              </a:spcBef>
              <a:defRPr sz="1050" b="1"/>
            </a:lvl1pPr>
          </a:lstStyle>
          <a:p>
            <a:r>
              <a:rPr lang="de-DE" sz="900"/>
              <a:t>PIT: IT-Projects</a:t>
            </a:r>
          </a:p>
        </p:txBody>
      </p:sp>
      <p:graphicFrame>
        <p:nvGraphicFramePr>
          <p:cNvPr id="99" name="Tabelle 98">
            <a:extLst>
              <a:ext uri="{FF2B5EF4-FFF2-40B4-BE49-F238E27FC236}">
                <a16:creationId xmlns:a16="http://schemas.microsoft.com/office/drawing/2014/main" id="{9E4F676B-0CBA-0A5E-2F83-7E2FCC34E33B}"/>
              </a:ext>
            </a:extLst>
          </p:cNvPr>
          <p:cNvGraphicFramePr>
            <a:graphicFrameLocks noGrp="1"/>
          </p:cNvGraphicFramePr>
          <p:nvPr/>
        </p:nvGraphicFramePr>
        <p:xfrm>
          <a:off x="5472530" y="2808591"/>
          <a:ext cx="985617" cy="795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1333">
                  <a:extLst>
                    <a:ext uri="{9D8B030D-6E8A-4147-A177-3AD203B41FA5}">
                      <a16:colId xmlns:a16="http://schemas.microsoft.com/office/drawing/2014/main" val="2769098059"/>
                    </a:ext>
                  </a:extLst>
                </a:gridCol>
                <a:gridCol w="164284">
                  <a:extLst>
                    <a:ext uri="{9D8B030D-6E8A-4147-A177-3AD203B41FA5}">
                      <a16:colId xmlns:a16="http://schemas.microsoft.com/office/drawing/2014/main" val="3275432437"/>
                    </a:ext>
                  </a:extLst>
                </a:gridCol>
              </a:tblGrid>
              <a:tr h="1668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7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Business project</a:t>
                      </a:r>
                    </a:p>
                  </a:txBody>
                  <a:tcPr marL="36000" marR="3600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500"/>
                    </a:p>
                  </a:txBody>
                  <a:tcPr marL="36000" marR="36000" marT="0" marB="0"/>
                </a:tc>
                <a:extLst>
                  <a:ext uri="{0D108BD9-81ED-4DB2-BD59-A6C34878D82A}">
                    <a16:rowId xmlns:a16="http://schemas.microsoft.com/office/drawing/2014/main" val="3726635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Project w IT</a:t>
                      </a:r>
                    </a:p>
                  </a:txBody>
                  <a:tcPr marL="36000" marR="3600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7483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Project </a:t>
                      </a:r>
                      <a:r>
                        <a:rPr lang="de-DE" sz="800" err="1"/>
                        <a:t>no</a:t>
                      </a:r>
                      <a:r>
                        <a:rPr lang="de-DE" sz="800"/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453120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800567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337501"/>
                  </a:ext>
                </a:extLst>
              </a:tr>
            </a:tbl>
          </a:graphicData>
        </a:graphic>
      </p:graphicFrame>
      <p:graphicFrame>
        <p:nvGraphicFramePr>
          <p:cNvPr id="100" name="Tabelle 99">
            <a:extLst>
              <a:ext uri="{FF2B5EF4-FFF2-40B4-BE49-F238E27FC236}">
                <a16:creationId xmlns:a16="http://schemas.microsoft.com/office/drawing/2014/main" id="{07BAE0E9-8346-9771-B483-D6FFC56817C7}"/>
              </a:ext>
            </a:extLst>
          </p:cNvPr>
          <p:cNvGraphicFramePr>
            <a:graphicFrameLocks noGrp="1"/>
          </p:cNvGraphicFramePr>
          <p:nvPr/>
        </p:nvGraphicFramePr>
        <p:xfrm>
          <a:off x="7013874" y="2808591"/>
          <a:ext cx="913310" cy="7852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1764">
                  <a:extLst>
                    <a:ext uri="{9D8B030D-6E8A-4147-A177-3AD203B41FA5}">
                      <a16:colId xmlns:a16="http://schemas.microsoft.com/office/drawing/2014/main" val="2769098059"/>
                    </a:ext>
                  </a:extLst>
                </a:gridCol>
                <a:gridCol w="131546">
                  <a:extLst>
                    <a:ext uri="{9D8B030D-6E8A-4147-A177-3AD203B41FA5}">
                      <a16:colId xmlns:a16="http://schemas.microsoft.com/office/drawing/2014/main" val="3275432437"/>
                    </a:ext>
                  </a:extLst>
                </a:gridCol>
              </a:tblGrid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7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Business project</a:t>
                      </a:r>
                    </a:p>
                  </a:txBody>
                  <a:tcPr marL="36000" marR="3600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700"/>
                    </a:p>
                  </a:txBody>
                  <a:tcPr marL="36000" marR="36000" marT="0" marB="0"/>
                </a:tc>
                <a:extLst>
                  <a:ext uri="{0D108BD9-81ED-4DB2-BD59-A6C34878D82A}">
                    <a16:rowId xmlns:a16="http://schemas.microsoft.com/office/drawing/2014/main" val="3726635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Project </a:t>
                      </a:r>
                      <a:r>
                        <a:rPr lang="de-DE" sz="800" err="1"/>
                        <a:t>no</a:t>
                      </a:r>
                      <a:r>
                        <a:rPr lang="de-DE" sz="800"/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7483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453120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800567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/>
                        <a:t>Project w IT</a:t>
                      </a:r>
                    </a:p>
                  </a:txBody>
                  <a:tcPr marL="36000" marR="36000" marT="0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337501"/>
                  </a:ext>
                </a:extLst>
              </a:tr>
            </a:tbl>
          </a:graphicData>
        </a:graphic>
      </p:graphicFrame>
      <p:sp>
        <p:nvSpPr>
          <p:cNvPr id="101" name="Textfeld 100">
            <a:extLst>
              <a:ext uri="{FF2B5EF4-FFF2-40B4-BE49-F238E27FC236}">
                <a16:creationId xmlns:a16="http://schemas.microsoft.com/office/drawing/2014/main" id="{D5C98117-3B92-E07D-EDCB-7605A1CF3549}"/>
              </a:ext>
            </a:extLst>
          </p:cNvPr>
          <p:cNvSpPr txBox="1"/>
          <p:nvPr/>
        </p:nvSpPr>
        <p:spPr>
          <a:xfrm>
            <a:off x="5402384" y="2661887"/>
            <a:ext cx="934033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PIT: VPM-projects</a:t>
            </a:r>
          </a:p>
        </p:txBody>
      </p:sp>
      <p:sp>
        <p:nvSpPr>
          <p:cNvPr id="102" name="Textfeld 101">
            <a:extLst>
              <a:ext uri="{FF2B5EF4-FFF2-40B4-BE49-F238E27FC236}">
                <a16:creationId xmlns:a16="http://schemas.microsoft.com/office/drawing/2014/main" id="{A609ACA3-79A3-8D32-37C1-B4C103B82D1E}"/>
              </a:ext>
            </a:extLst>
          </p:cNvPr>
          <p:cNvSpPr txBox="1"/>
          <p:nvPr/>
        </p:nvSpPr>
        <p:spPr>
          <a:xfrm>
            <a:off x="7082002" y="2661887"/>
            <a:ext cx="945255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PIT: VEW-projects</a:t>
            </a:r>
          </a:p>
        </p:txBody>
      </p:sp>
      <p:sp>
        <p:nvSpPr>
          <p:cNvPr id="104" name="Textfeld 103">
            <a:extLst>
              <a:ext uri="{FF2B5EF4-FFF2-40B4-BE49-F238E27FC236}">
                <a16:creationId xmlns:a16="http://schemas.microsoft.com/office/drawing/2014/main" id="{EE2D9350-4BD1-F4E8-C3EB-D076E93A4692}"/>
              </a:ext>
            </a:extLst>
          </p:cNvPr>
          <p:cNvSpPr txBox="1"/>
          <p:nvPr/>
        </p:nvSpPr>
        <p:spPr>
          <a:xfrm>
            <a:off x="8498532" y="2661887"/>
            <a:ext cx="1273870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App: List special-projects</a:t>
            </a:r>
          </a:p>
        </p:txBody>
      </p:sp>
      <p:sp>
        <p:nvSpPr>
          <p:cNvPr id="118" name="Textfeld 117">
            <a:extLst>
              <a:ext uri="{FF2B5EF4-FFF2-40B4-BE49-F238E27FC236}">
                <a16:creationId xmlns:a16="http://schemas.microsoft.com/office/drawing/2014/main" id="{6EE391A1-8357-FB7A-B42F-728C9942F11B}"/>
              </a:ext>
            </a:extLst>
          </p:cNvPr>
          <p:cNvSpPr txBox="1"/>
          <p:nvPr/>
        </p:nvSpPr>
        <p:spPr>
          <a:xfrm>
            <a:off x="1324315" y="3649923"/>
            <a:ext cx="1434170" cy="637542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900" b="1" err="1"/>
              <a:t>Demands</a:t>
            </a:r>
            <a:r>
              <a:rPr lang="de-DE" sz="900" b="1"/>
              <a:t> &gt; 50 PT</a:t>
            </a:r>
            <a:br>
              <a:rPr lang="de-DE" sz="900" b="1"/>
            </a:br>
            <a:r>
              <a:rPr lang="de-DE" sz="900"/>
              <a:t>As </a:t>
            </a:r>
            <a:r>
              <a:rPr lang="de-DE" sz="900" err="1"/>
              <a:t>part</a:t>
            </a:r>
            <a:r>
              <a:rPr lang="de-DE" sz="900"/>
              <a:t> </a:t>
            </a:r>
            <a:r>
              <a:rPr lang="de-DE" sz="900" err="1"/>
              <a:t>of</a:t>
            </a:r>
            <a:r>
              <a:rPr lang="de-DE" sz="900"/>
              <a:t> a </a:t>
            </a:r>
            <a:r>
              <a:rPr lang="de-DE" sz="900" err="1"/>
              <a:t>business</a:t>
            </a:r>
            <a:r>
              <a:rPr lang="de-DE" sz="900"/>
              <a:t> project</a:t>
            </a:r>
          </a:p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900" err="1"/>
              <a:t>or</a:t>
            </a:r>
            <a:endParaRPr lang="de-DE" sz="900"/>
          </a:p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an </a:t>
            </a:r>
            <a:r>
              <a:rPr lang="de-DE" sz="900" err="1"/>
              <a:t>independent</a:t>
            </a:r>
            <a:r>
              <a:rPr lang="de-DE" sz="900"/>
              <a:t> IT project</a:t>
            </a:r>
          </a:p>
        </p:txBody>
      </p:sp>
      <p:sp>
        <p:nvSpPr>
          <p:cNvPr id="124" name="Textfeld 123">
            <a:extLst>
              <a:ext uri="{FF2B5EF4-FFF2-40B4-BE49-F238E27FC236}">
                <a16:creationId xmlns:a16="http://schemas.microsoft.com/office/drawing/2014/main" id="{782DA232-60C1-31AE-6226-300E44A4CD56}"/>
              </a:ext>
            </a:extLst>
          </p:cNvPr>
          <p:cNvSpPr txBox="1"/>
          <p:nvPr/>
        </p:nvSpPr>
        <p:spPr>
          <a:xfrm>
            <a:off x="3372580" y="2449747"/>
            <a:ext cx="725643" cy="2856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900" b="1"/>
              <a:t>Service </a:t>
            </a:r>
            <a:r>
              <a:rPr lang="de-DE" sz="900" b="1" err="1"/>
              <a:t>Now</a:t>
            </a:r>
            <a:r>
              <a:rPr lang="de-DE" sz="900" b="1"/>
              <a:t>: </a:t>
            </a:r>
            <a:br>
              <a:rPr lang="de-DE" sz="900" b="1"/>
            </a:br>
            <a:r>
              <a:rPr lang="de-DE" sz="900" b="1"/>
              <a:t>IT-</a:t>
            </a:r>
            <a:r>
              <a:rPr lang="de-DE" sz="900" b="1" err="1"/>
              <a:t>Demands</a:t>
            </a:r>
            <a:endParaRPr lang="de-DE" sz="900"/>
          </a:p>
        </p:txBody>
      </p:sp>
      <p:cxnSp>
        <p:nvCxnSpPr>
          <p:cNvPr id="127" name="Gerader Verbinder 126">
            <a:extLst>
              <a:ext uri="{FF2B5EF4-FFF2-40B4-BE49-F238E27FC236}">
                <a16:creationId xmlns:a16="http://schemas.microsoft.com/office/drawing/2014/main" id="{77A90D63-32E4-1E32-7465-1F171993B9C6}"/>
              </a:ext>
            </a:extLst>
          </p:cNvPr>
          <p:cNvCxnSpPr>
            <a:cxnSpLocks/>
          </p:cNvCxnSpPr>
          <p:nvPr/>
        </p:nvCxnSpPr>
        <p:spPr>
          <a:xfrm flipH="1" flipV="1">
            <a:off x="2456236" y="3003021"/>
            <a:ext cx="942043" cy="757351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Gerader Verbinder 127">
            <a:extLst>
              <a:ext uri="{FF2B5EF4-FFF2-40B4-BE49-F238E27FC236}">
                <a16:creationId xmlns:a16="http://schemas.microsoft.com/office/drawing/2014/main" id="{66A2E3F2-0A82-230F-2365-B778C1605583}"/>
              </a:ext>
            </a:extLst>
          </p:cNvPr>
          <p:cNvCxnSpPr>
            <a:cxnSpLocks/>
          </p:cNvCxnSpPr>
          <p:nvPr/>
        </p:nvCxnSpPr>
        <p:spPr>
          <a:xfrm flipH="1" flipV="1">
            <a:off x="2466148" y="3603762"/>
            <a:ext cx="944994" cy="780129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Gerader Verbinder 137">
            <a:extLst>
              <a:ext uri="{FF2B5EF4-FFF2-40B4-BE49-F238E27FC236}">
                <a16:creationId xmlns:a16="http://schemas.microsoft.com/office/drawing/2014/main" id="{8E3CB375-57A3-6220-AF34-207AB0CF3705}"/>
              </a:ext>
            </a:extLst>
          </p:cNvPr>
          <p:cNvCxnSpPr>
            <a:cxnSpLocks/>
          </p:cNvCxnSpPr>
          <p:nvPr/>
        </p:nvCxnSpPr>
        <p:spPr>
          <a:xfrm flipH="1">
            <a:off x="4825915" y="2981137"/>
            <a:ext cx="665467" cy="827488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Gerader Verbinder 141">
            <a:extLst>
              <a:ext uri="{FF2B5EF4-FFF2-40B4-BE49-F238E27FC236}">
                <a16:creationId xmlns:a16="http://schemas.microsoft.com/office/drawing/2014/main" id="{2918FC8A-7DB2-C30D-5D40-E31D5F0259C3}"/>
              </a:ext>
            </a:extLst>
          </p:cNvPr>
          <p:cNvCxnSpPr>
            <a:cxnSpLocks/>
          </p:cNvCxnSpPr>
          <p:nvPr/>
        </p:nvCxnSpPr>
        <p:spPr>
          <a:xfrm flipH="1">
            <a:off x="4825915" y="3104155"/>
            <a:ext cx="661202" cy="827488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Gerader Verbinder 148">
            <a:extLst>
              <a:ext uri="{FF2B5EF4-FFF2-40B4-BE49-F238E27FC236}">
                <a16:creationId xmlns:a16="http://schemas.microsoft.com/office/drawing/2014/main" id="{A7BE1EB5-8862-363B-5A04-DC253B3553A5}"/>
              </a:ext>
            </a:extLst>
          </p:cNvPr>
          <p:cNvCxnSpPr>
            <a:cxnSpLocks/>
          </p:cNvCxnSpPr>
          <p:nvPr/>
        </p:nvCxnSpPr>
        <p:spPr>
          <a:xfrm flipH="1">
            <a:off x="4834332" y="3443353"/>
            <a:ext cx="2185808" cy="530953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Gerader Verbinder 149">
            <a:extLst>
              <a:ext uri="{FF2B5EF4-FFF2-40B4-BE49-F238E27FC236}">
                <a16:creationId xmlns:a16="http://schemas.microsoft.com/office/drawing/2014/main" id="{12934A8F-937F-4765-DEE7-92AACB0FF3D7}"/>
              </a:ext>
            </a:extLst>
          </p:cNvPr>
          <p:cNvCxnSpPr>
            <a:cxnSpLocks/>
          </p:cNvCxnSpPr>
          <p:nvPr/>
        </p:nvCxnSpPr>
        <p:spPr>
          <a:xfrm flipH="1">
            <a:off x="4834332" y="3586690"/>
            <a:ext cx="2193206" cy="512603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Gerader Verbinder 155">
            <a:extLst>
              <a:ext uri="{FF2B5EF4-FFF2-40B4-BE49-F238E27FC236}">
                <a16:creationId xmlns:a16="http://schemas.microsoft.com/office/drawing/2014/main" id="{3919F219-007F-C633-EFC8-A39024FAEAAF}"/>
              </a:ext>
            </a:extLst>
          </p:cNvPr>
          <p:cNvCxnSpPr>
            <a:cxnSpLocks/>
          </p:cNvCxnSpPr>
          <p:nvPr/>
        </p:nvCxnSpPr>
        <p:spPr>
          <a:xfrm flipH="1">
            <a:off x="4847251" y="3455541"/>
            <a:ext cx="3691701" cy="671165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Gerader Verbinder 156">
            <a:extLst>
              <a:ext uri="{FF2B5EF4-FFF2-40B4-BE49-F238E27FC236}">
                <a16:creationId xmlns:a16="http://schemas.microsoft.com/office/drawing/2014/main" id="{EDB16928-8578-AEAC-B6FB-8BAA1963712C}"/>
              </a:ext>
            </a:extLst>
          </p:cNvPr>
          <p:cNvCxnSpPr>
            <a:cxnSpLocks/>
          </p:cNvCxnSpPr>
          <p:nvPr/>
        </p:nvCxnSpPr>
        <p:spPr>
          <a:xfrm flipH="1">
            <a:off x="4829394" y="3569758"/>
            <a:ext cx="3764757" cy="699823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feld 162">
            <a:extLst>
              <a:ext uri="{FF2B5EF4-FFF2-40B4-BE49-F238E27FC236}">
                <a16:creationId xmlns:a16="http://schemas.microsoft.com/office/drawing/2014/main" id="{88D72B88-145A-C2D9-98AB-34AE3569EFB7}"/>
              </a:ext>
            </a:extLst>
          </p:cNvPr>
          <p:cNvSpPr txBox="1"/>
          <p:nvPr/>
        </p:nvSpPr>
        <p:spPr>
          <a:xfrm rot="18626663">
            <a:off x="4738043" y="3358649"/>
            <a:ext cx="849075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 i="1"/>
              <a:t>IT-Demand ID </a:t>
            </a:r>
            <a:r>
              <a:rPr lang="de-DE" sz="900" i="1">
                <a:sym typeface="Wingdings" panose="05000000000000000000" pitchFamily="2" charset="2"/>
              </a:rPr>
              <a:t></a:t>
            </a:r>
            <a:endParaRPr lang="de-DE" sz="900" i="1"/>
          </a:p>
        </p:txBody>
      </p:sp>
      <p:sp>
        <p:nvSpPr>
          <p:cNvPr id="164" name="Textfeld 163">
            <a:extLst>
              <a:ext uri="{FF2B5EF4-FFF2-40B4-BE49-F238E27FC236}">
                <a16:creationId xmlns:a16="http://schemas.microsoft.com/office/drawing/2014/main" id="{5A959C67-226C-429A-1030-D1E286C37F01}"/>
              </a:ext>
            </a:extLst>
          </p:cNvPr>
          <p:cNvSpPr txBox="1"/>
          <p:nvPr/>
        </p:nvSpPr>
        <p:spPr>
          <a:xfrm rot="20981616">
            <a:off x="5473063" y="3695985"/>
            <a:ext cx="849075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 i="1"/>
              <a:t>IT-Demand ID </a:t>
            </a:r>
            <a:r>
              <a:rPr lang="de-DE" sz="900" i="1">
                <a:sym typeface="Wingdings" panose="05000000000000000000" pitchFamily="2" charset="2"/>
              </a:rPr>
              <a:t></a:t>
            </a:r>
            <a:endParaRPr lang="de-DE" sz="900" i="1"/>
          </a:p>
        </p:txBody>
      </p:sp>
      <p:sp>
        <p:nvSpPr>
          <p:cNvPr id="165" name="Textfeld 164">
            <a:extLst>
              <a:ext uri="{FF2B5EF4-FFF2-40B4-BE49-F238E27FC236}">
                <a16:creationId xmlns:a16="http://schemas.microsoft.com/office/drawing/2014/main" id="{0D38512C-098E-BD7F-3B8C-C6C9E548F725}"/>
              </a:ext>
            </a:extLst>
          </p:cNvPr>
          <p:cNvSpPr txBox="1"/>
          <p:nvPr/>
        </p:nvSpPr>
        <p:spPr>
          <a:xfrm rot="20983576">
            <a:off x="5627520" y="3863865"/>
            <a:ext cx="849075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 i="1"/>
              <a:t>IT-Demand ID </a:t>
            </a:r>
            <a:r>
              <a:rPr lang="de-DE" sz="900" i="1">
                <a:sym typeface="Wingdings" panose="05000000000000000000" pitchFamily="2" charset="2"/>
              </a:rPr>
              <a:t></a:t>
            </a:r>
            <a:endParaRPr lang="de-DE" sz="900" i="1"/>
          </a:p>
        </p:txBody>
      </p:sp>
      <p:pic>
        <p:nvPicPr>
          <p:cNvPr id="5" name="Grafik 4" descr="Benutzer mit einfarbiger Füllung">
            <a:extLst>
              <a:ext uri="{FF2B5EF4-FFF2-40B4-BE49-F238E27FC236}">
                <a16:creationId xmlns:a16="http://schemas.microsoft.com/office/drawing/2014/main" id="{4179A1DE-F45C-9230-F7B7-B460A1808D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28400" y="1236754"/>
            <a:ext cx="779255" cy="779255"/>
          </a:xfrm>
          <a:prstGeom prst="rect">
            <a:avLst/>
          </a:prstGeom>
        </p:spPr>
      </p:pic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487B6126-E91B-A390-9382-F524ADA2AC04}"/>
              </a:ext>
            </a:extLst>
          </p:cNvPr>
          <p:cNvCxnSpPr>
            <a:cxnSpLocks/>
          </p:cNvCxnSpPr>
          <p:nvPr/>
        </p:nvCxnSpPr>
        <p:spPr>
          <a:xfrm>
            <a:off x="4018027" y="2062197"/>
            <a:ext cx="0" cy="3288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Verbinder: gewinkelt 14">
            <a:extLst>
              <a:ext uri="{FF2B5EF4-FFF2-40B4-BE49-F238E27FC236}">
                <a16:creationId xmlns:a16="http://schemas.microsoft.com/office/drawing/2014/main" id="{9037A950-6A7D-DCDE-F613-E7840F1E301E}"/>
              </a:ext>
            </a:extLst>
          </p:cNvPr>
          <p:cNvCxnSpPr>
            <a:endCxn id="101" idx="0"/>
          </p:cNvCxnSpPr>
          <p:nvPr/>
        </p:nvCxnSpPr>
        <p:spPr>
          <a:xfrm>
            <a:off x="4018027" y="2059940"/>
            <a:ext cx="1851374" cy="60194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Verbinder: gewinkelt 15">
            <a:extLst>
              <a:ext uri="{FF2B5EF4-FFF2-40B4-BE49-F238E27FC236}">
                <a16:creationId xmlns:a16="http://schemas.microsoft.com/office/drawing/2014/main" id="{1494FBE0-906F-E5E1-7861-7CA3C5CEE7F4}"/>
              </a:ext>
            </a:extLst>
          </p:cNvPr>
          <p:cNvCxnSpPr>
            <a:cxnSpLocks/>
          </p:cNvCxnSpPr>
          <p:nvPr/>
        </p:nvCxnSpPr>
        <p:spPr>
          <a:xfrm>
            <a:off x="4018026" y="2062197"/>
            <a:ext cx="5052126" cy="609933"/>
          </a:xfrm>
          <a:prstGeom prst="bentConnector3">
            <a:avLst>
              <a:gd name="adj1" fmla="val 10002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Verbinder: gewinkelt 18">
            <a:extLst>
              <a:ext uri="{FF2B5EF4-FFF2-40B4-BE49-F238E27FC236}">
                <a16:creationId xmlns:a16="http://schemas.microsoft.com/office/drawing/2014/main" id="{9AA1CD77-1AF1-D48C-1DB6-760E4BE05D4D}"/>
              </a:ext>
            </a:extLst>
          </p:cNvPr>
          <p:cNvCxnSpPr/>
          <p:nvPr/>
        </p:nvCxnSpPr>
        <p:spPr>
          <a:xfrm>
            <a:off x="5697304" y="2059703"/>
            <a:ext cx="1851370" cy="60194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Verbinder: gewinkelt 19">
            <a:extLst>
              <a:ext uri="{FF2B5EF4-FFF2-40B4-BE49-F238E27FC236}">
                <a16:creationId xmlns:a16="http://schemas.microsoft.com/office/drawing/2014/main" id="{44F17F6D-BEE7-BFEA-ABAE-BA96E2CDFEEF}"/>
              </a:ext>
            </a:extLst>
          </p:cNvPr>
          <p:cNvCxnSpPr>
            <a:cxnSpLocks/>
          </p:cNvCxnSpPr>
          <p:nvPr/>
        </p:nvCxnSpPr>
        <p:spPr>
          <a:xfrm rot="10800000" flipV="1">
            <a:off x="1940574" y="2449747"/>
            <a:ext cx="767050" cy="185102"/>
          </a:xfrm>
          <a:prstGeom prst="bentConnector3">
            <a:avLst>
              <a:gd name="adj1" fmla="val 99981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Grafik 21" descr="Benutzer mit einfarbiger Füllung">
            <a:extLst>
              <a:ext uri="{FF2B5EF4-FFF2-40B4-BE49-F238E27FC236}">
                <a16:creationId xmlns:a16="http://schemas.microsoft.com/office/drawing/2014/main" id="{088F014B-38E2-0FC8-6228-8D3E9043DB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88944" y="2236984"/>
            <a:ext cx="454893" cy="454893"/>
          </a:xfrm>
          <a:prstGeom prst="rect">
            <a:avLst/>
          </a:prstGeom>
        </p:spPr>
      </p:pic>
      <p:sp>
        <p:nvSpPr>
          <p:cNvPr id="23" name="Textfeld 22">
            <a:extLst>
              <a:ext uri="{FF2B5EF4-FFF2-40B4-BE49-F238E27FC236}">
                <a16:creationId xmlns:a16="http://schemas.microsoft.com/office/drawing/2014/main" id="{3792A68E-F527-F4F9-36B9-8C21883B2979}"/>
              </a:ext>
            </a:extLst>
          </p:cNvPr>
          <p:cNvSpPr txBox="1"/>
          <p:nvPr/>
        </p:nvSpPr>
        <p:spPr>
          <a:xfrm>
            <a:off x="2946547" y="2604882"/>
            <a:ext cx="134134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IT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06152011-2EB8-61CA-02A9-92B741179B3E}"/>
              </a:ext>
            </a:extLst>
          </p:cNvPr>
          <p:cNvSpPr txBox="1"/>
          <p:nvPr/>
        </p:nvSpPr>
        <p:spPr>
          <a:xfrm>
            <a:off x="3696083" y="1848162"/>
            <a:ext cx="643889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Fachbereich</a:t>
            </a:r>
          </a:p>
        </p:txBody>
      </p:sp>
      <p:graphicFrame>
        <p:nvGraphicFramePr>
          <p:cNvPr id="32" name="Tabelle 31">
            <a:extLst>
              <a:ext uri="{FF2B5EF4-FFF2-40B4-BE49-F238E27FC236}">
                <a16:creationId xmlns:a16="http://schemas.microsoft.com/office/drawing/2014/main" id="{677DFA34-DE23-F373-BA74-7A5CE7863EE5}"/>
              </a:ext>
            </a:extLst>
          </p:cNvPr>
          <p:cNvGraphicFramePr>
            <a:graphicFrameLocks noGrp="1"/>
          </p:cNvGraphicFramePr>
          <p:nvPr/>
        </p:nvGraphicFramePr>
        <p:xfrm>
          <a:off x="1076180" y="4645102"/>
          <a:ext cx="1700212" cy="118923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50106">
                  <a:extLst>
                    <a:ext uri="{9D8B030D-6E8A-4147-A177-3AD203B41FA5}">
                      <a16:colId xmlns:a16="http://schemas.microsoft.com/office/drawing/2014/main" val="880039343"/>
                    </a:ext>
                  </a:extLst>
                </a:gridCol>
                <a:gridCol w="850106">
                  <a:extLst>
                    <a:ext uri="{9D8B030D-6E8A-4147-A177-3AD203B41FA5}">
                      <a16:colId xmlns:a16="http://schemas.microsoft.com/office/drawing/2014/main" val="2463114861"/>
                    </a:ext>
                  </a:extLst>
                </a:gridCol>
              </a:tblGrid>
              <a:tr h="366272">
                <a:tc>
                  <a:txBody>
                    <a:bodyPr/>
                    <a:lstStyle/>
                    <a:p>
                      <a:r>
                        <a:rPr lang="de-DE" sz="900" b="1"/>
                        <a:t>Portfolio</a:t>
                      </a:r>
                    </a:p>
                    <a:p>
                      <a:r>
                        <a:rPr lang="de-DE" sz="900" b="1" err="1"/>
                        <a:t>origin</a:t>
                      </a:r>
                      <a:endParaRPr lang="de-DE" sz="900" b="1"/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 b="1"/>
                        <a:t>IT-Projekte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4574744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r>
                        <a:rPr lang="de-DE" sz="900"/>
                        <a:t>VPM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7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7941466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r>
                        <a:rPr lang="de-DE" sz="900"/>
                        <a:t>VEW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5832798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r>
                        <a:rPr lang="de-DE" sz="900"/>
                        <a:t>Special </a:t>
                      </a:r>
                      <a:r>
                        <a:rPr lang="de-DE" sz="900" err="1"/>
                        <a:t>projects</a:t>
                      </a:r>
                      <a:endParaRPr lang="de-DE" sz="900"/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28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4073546"/>
                  </a:ext>
                </a:extLst>
              </a:tr>
            </a:tbl>
          </a:graphicData>
        </a:graphic>
      </p:graphicFrame>
      <p:graphicFrame>
        <p:nvGraphicFramePr>
          <p:cNvPr id="33" name="Tabelle 32">
            <a:extLst>
              <a:ext uri="{FF2B5EF4-FFF2-40B4-BE49-F238E27FC236}">
                <a16:creationId xmlns:a16="http://schemas.microsoft.com/office/drawing/2014/main" id="{A2CC72A1-9FB2-B367-0D9D-F3A77942A608}"/>
              </a:ext>
            </a:extLst>
          </p:cNvPr>
          <p:cNvGraphicFramePr>
            <a:graphicFrameLocks noGrp="1"/>
          </p:cNvGraphicFramePr>
          <p:nvPr/>
        </p:nvGraphicFramePr>
        <p:xfrm>
          <a:off x="3384773" y="4646334"/>
          <a:ext cx="2017611" cy="13263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79771">
                  <a:extLst>
                    <a:ext uri="{9D8B030D-6E8A-4147-A177-3AD203B41FA5}">
                      <a16:colId xmlns:a16="http://schemas.microsoft.com/office/drawing/2014/main" val="880039343"/>
                    </a:ext>
                  </a:extLst>
                </a:gridCol>
                <a:gridCol w="1237840">
                  <a:extLst>
                    <a:ext uri="{9D8B030D-6E8A-4147-A177-3AD203B41FA5}">
                      <a16:colId xmlns:a16="http://schemas.microsoft.com/office/drawing/2014/main" val="2463114861"/>
                    </a:ext>
                  </a:extLst>
                </a:gridCol>
              </a:tblGrid>
              <a:tr h="366272">
                <a:tc>
                  <a:txBody>
                    <a:bodyPr/>
                    <a:lstStyle/>
                    <a:p>
                      <a:r>
                        <a:rPr lang="de-DE" sz="900" b="1"/>
                        <a:t>IT-Demand</a:t>
                      </a:r>
                      <a:br>
                        <a:rPr lang="de-DE" sz="900" b="1"/>
                      </a:br>
                      <a:r>
                        <a:rPr lang="de-DE" sz="900" b="1" err="1"/>
                        <a:t>origin</a:t>
                      </a:r>
                      <a:endParaRPr lang="de-DE" sz="900" b="1"/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 b="1" kern="1200">
                          <a:solidFill>
                            <a:schemeClr val="tx1"/>
                          </a:solidFill>
                        </a:rPr>
                        <a:t>IT-</a:t>
                      </a:r>
                      <a:r>
                        <a:rPr lang="de-DE" sz="900" b="1" kern="1200" err="1">
                          <a:solidFill>
                            <a:schemeClr val="tx1"/>
                          </a:solidFill>
                        </a:rPr>
                        <a:t>Demands</a:t>
                      </a:r>
                      <a:endParaRPr lang="de-DE" sz="9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4574744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r>
                        <a:rPr lang="de-DE" sz="900"/>
                        <a:t>VPM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381 </a:t>
                      </a:r>
                      <a:br>
                        <a:rPr lang="de-DE" sz="900"/>
                      </a:br>
                      <a:r>
                        <a:rPr lang="de-DE" sz="900"/>
                        <a:t>(235 not </a:t>
                      </a:r>
                      <a:r>
                        <a:rPr lang="de-DE" sz="900" err="1"/>
                        <a:t>classified</a:t>
                      </a:r>
                      <a:r>
                        <a:rPr lang="de-DE" sz="900"/>
                        <a:t>)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7941466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r>
                        <a:rPr lang="de-DE" sz="900"/>
                        <a:t>VEW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91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5832798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/>
                        <a:t>VPR, VVM, VFI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524 </a:t>
                      </a:r>
                      <a:br>
                        <a:rPr lang="de-DE" sz="900"/>
                      </a:br>
                      <a:r>
                        <a:rPr lang="de-DE" sz="900"/>
                        <a:t>(214 not </a:t>
                      </a:r>
                      <a:r>
                        <a:rPr lang="de-DE" sz="900" err="1"/>
                        <a:t>classified</a:t>
                      </a:r>
                      <a:r>
                        <a:rPr lang="de-DE" sz="900"/>
                        <a:t>))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4073546"/>
                  </a:ext>
                </a:extLst>
              </a:tr>
            </a:tbl>
          </a:graphicData>
        </a:graphic>
      </p:graphicFrame>
      <p:pic>
        <p:nvPicPr>
          <p:cNvPr id="35" name="Grafik 34">
            <a:extLst>
              <a:ext uri="{FF2B5EF4-FFF2-40B4-BE49-F238E27FC236}">
                <a16:creationId xmlns:a16="http://schemas.microsoft.com/office/drawing/2014/main" id="{4AF8AF17-514B-8842-F072-5B6F8BC483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5224" y="2469733"/>
            <a:ext cx="795675" cy="150838"/>
          </a:xfrm>
          <a:prstGeom prst="rect">
            <a:avLst/>
          </a:prstGeom>
        </p:spPr>
      </p:pic>
      <p:pic>
        <p:nvPicPr>
          <p:cNvPr id="36" name="Grafik 35">
            <a:extLst>
              <a:ext uri="{FF2B5EF4-FFF2-40B4-BE49-F238E27FC236}">
                <a16:creationId xmlns:a16="http://schemas.microsoft.com/office/drawing/2014/main" id="{A5BFD6C5-45AE-1F85-45AF-18DAE967E25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2354" t="58918" r="18842" b="36651"/>
          <a:stretch>
            <a:fillRect/>
          </a:stretch>
        </p:blipFill>
        <p:spPr>
          <a:xfrm>
            <a:off x="5905002" y="2308981"/>
            <a:ext cx="725138" cy="268502"/>
          </a:xfrm>
          <a:prstGeom prst="rect">
            <a:avLst/>
          </a:prstGeom>
          <a:solidFill>
            <a:schemeClr val="accent1"/>
          </a:solidFill>
        </p:spPr>
      </p:pic>
      <p:pic>
        <p:nvPicPr>
          <p:cNvPr id="39" name="Grafik 38">
            <a:extLst>
              <a:ext uri="{FF2B5EF4-FFF2-40B4-BE49-F238E27FC236}">
                <a16:creationId xmlns:a16="http://schemas.microsoft.com/office/drawing/2014/main" id="{9B57F966-416C-2952-4BBA-927A8FC7E0A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2354" t="58918" r="18842" b="36651"/>
          <a:stretch>
            <a:fillRect/>
          </a:stretch>
        </p:blipFill>
        <p:spPr>
          <a:xfrm>
            <a:off x="7584275" y="2280325"/>
            <a:ext cx="725138" cy="268502"/>
          </a:xfrm>
          <a:prstGeom prst="rect">
            <a:avLst/>
          </a:prstGeom>
          <a:solidFill>
            <a:schemeClr val="accent1"/>
          </a:solidFill>
        </p:spPr>
      </p:pic>
      <p:pic>
        <p:nvPicPr>
          <p:cNvPr id="40" name="Grafik 39">
            <a:extLst>
              <a:ext uri="{FF2B5EF4-FFF2-40B4-BE49-F238E27FC236}">
                <a16:creationId xmlns:a16="http://schemas.microsoft.com/office/drawing/2014/main" id="{48244F48-2B48-8E0B-561C-9DD2EDDC71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05705" y="2088019"/>
            <a:ext cx="843972" cy="273430"/>
          </a:xfrm>
          <a:prstGeom prst="rect">
            <a:avLst/>
          </a:prstGeom>
        </p:spPr>
      </p:pic>
      <p:pic>
        <p:nvPicPr>
          <p:cNvPr id="41" name="Grafik 40">
            <a:extLst>
              <a:ext uri="{FF2B5EF4-FFF2-40B4-BE49-F238E27FC236}">
                <a16:creationId xmlns:a16="http://schemas.microsoft.com/office/drawing/2014/main" id="{B3CC540B-F762-B676-88D2-1EF8FFAD86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12283" y="2375207"/>
            <a:ext cx="803980" cy="230965"/>
          </a:xfrm>
          <a:prstGeom prst="rect">
            <a:avLst/>
          </a:prstGeom>
        </p:spPr>
      </p:pic>
      <p:pic>
        <p:nvPicPr>
          <p:cNvPr id="42" name="Grafik 41">
            <a:extLst>
              <a:ext uri="{FF2B5EF4-FFF2-40B4-BE49-F238E27FC236}">
                <a16:creationId xmlns:a16="http://schemas.microsoft.com/office/drawing/2014/main" id="{F2C3E883-FD3C-97B6-B33A-CF012EB2B36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2354" t="58918" r="18842" b="36651"/>
          <a:stretch>
            <a:fillRect/>
          </a:stretch>
        </p:blipFill>
        <p:spPr>
          <a:xfrm>
            <a:off x="1151064" y="2296959"/>
            <a:ext cx="725138" cy="268502"/>
          </a:xfrm>
          <a:prstGeom prst="rect">
            <a:avLst/>
          </a:prstGeom>
          <a:solidFill>
            <a:schemeClr val="accent1"/>
          </a:solidFill>
        </p:spPr>
      </p:pic>
      <p:graphicFrame>
        <p:nvGraphicFramePr>
          <p:cNvPr id="103" name="Tabelle 102">
            <a:extLst>
              <a:ext uri="{FF2B5EF4-FFF2-40B4-BE49-F238E27FC236}">
                <a16:creationId xmlns:a16="http://schemas.microsoft.com/office/drawing/2014/main" id="{CB6681F9-451C-E2ED-ACAF-F2814BE0E937}"/>
              </a:ext>
            </a:extLst>
          </p:cNvPr>
          <p:cNvGraphicFramePr>
            <a:graphicFrameLocks noGrp="1"/>
          </p:cNvGraphicFramePr>
          <p:nvPr/>
        </p:nvGraphicFramePr>
        <p:xfrm>
          <a:off x="8512989" y="2808591"/>
          <a:ext cx="961286" cy="7852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1724">
                  <a:extLst>
                    <a:ext uri="{9D8B030D-6E8A-4147-A177-3AD203B41FA5}">
                      <a16:colId xmlns:a16="http://schemas.microsoft.com/office/drawing/2014/main" val="2769098059"/>
                    </a:ext>
                  </a:extLst>
                </a:gridCol>
                <a:gridCol w="189562">
                  <a:extLst>
                    <a:ext uri="{9D8B030D-6E8A-4147-A177-3AD203B41FA5}">
                      <a16:colId xmlns:a16="http://schemas.microsoft.com/office/drawing/2014/main" val="3275432437"/>
                    </a:ext>
                  </a:extLst>
                </a:gridCol>
              </a:tblGrid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7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Business project</a:t>
                      </a:r>
                    </a:p>
                  </a:txBody>
                  <a:tcPr marL="36000" marR="3600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700"/>
                    </a:p>
                  </a:txBody>
                  <a:tcPr marL="36000" marR="36000" marT="0" marB="0"/>
                </a:tc>
                <a:extLst>
                  <a:ext uri="{0D108BD9-81ED-4DB2-BD59-A6C34878D82A}">
                    <a16:rowId xmlns:a16="http://schemas.microsoft.com/office/drawing/2014/main" val="3726635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Project </a:t>
                      </a:r>
                      <a:r>
                        <a:rPr lang="de-DE" sz="800" err="1"/>
                        <a:t>no</a:t>
                      </a:r>
                      <a:r>
                        <a:rPr lang="de-DE" sz="800"/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7483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453120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800567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/>
                        <a:t>Project w IT</a:t>
                      </a:r>
                    </a:p>
                  </a:txBody>
                  <a:tcPr marL="36000" marR="36000" marT="0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3375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05480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12F8DB34-8C37-92FF-6E38-28B6A3258EE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408" imgH="408" progId="TCLayout.ActiveDocument.1">
                  <p:embed/>
                </p:oleObj>
              </mc:Choice>
              <mc:Fallback>
                <p:oleObj name="think-cell Slide" r:id="rId7" imgW="408" imgH="408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2F8DB34-8C37-92FF-6E38-28B6A3258EE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de-DE"/>
              <a:t>Steuerungs- und Transparenzebenen im Strategischen PPM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/>
              <a:t>Mögliches Zielbild</a:t>
            </a:r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23C62709-7425-2A42-58D3-F8A5CA6A5524}"/>
              </a:ext>
            </a:extLst>
          </p:cNvPr>
          <p:cNvGrpSpPr/>
          <p:nvPr/>
        </p:nvGrpSpPr>
        <p:grpSpPr>
          <a:xfrm>
            <a:off x="9007463" y="1563977"/>
            <a:ext cx="2595619" cy="4441696"/>
            <a:chOff x="479426" y="1059850"/>
            <a:chExt cx="3152774" cy="5394926"/>
          </a:xfrm>
        </p:grpSpPr>
        <p:sp>
          <p:nvSpPr>
            <p:cNvPr id="14" name="Frame 1035">
              <a:extLst>
                <a:ext uri="{FF2B5EF4-FFF2-40B4-BE49-F238E27FC236}">
                  <a16:creationId xmlns:a16="http://schemas.microsoft.com/office/drawing/2014/main" id="{E0B16674-3270-7335-C781-0D4B3C26088D}"/>
                </a:ext>
              </a:extLst>
            </p:cNvPr>
            <p:cNvSpPr/>
            <p:nvPr/>
          </p:nvSpPr>
          <p:spPr>
            <a:xfrm>
              <a:off x="522798" y="1067103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5" name="Frame 1036">
              <a:extLst>
                <a:ext uri="{FF2B5EF4-FFF2-40B4-BE49-F238E27FC236}">
                  <a16:creationId xmlns:a16="http://schemas.microsoft.com/office/drawing/2014/main" id="{3EB83888-A6FF-EA98-3ABD-E8D4433B8643}"/>
                </a:ext>
              </a:extLst>
            </p:cNvPr>
            <p:cNvSpPr/>
            <p:nvPr/>
          </p:nvSpPr>
          <p:spPr>
            <a:xfrm rot="60000">
              <a:off x="510041" y="1133208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6" name="Frame 1037">
              <a:extLst>
                <a:ext uri="{FF2B5EF4-FFF2-40B4-BE49-F238E27FC236}">
                  <a16:creationId xmlns:a16="http://schemas.microsoft.com/office/drawing/2014/main" id="{4F45D64C-F494-8AE1-9F57-04A73964F0C7}"/>
                </a:ext>
              </a:extLst>
            </p:cNvPr>
            <p:cNvSpPr/>
            <p:nvPr/>
          </p:nvSpPr>
          <p:spPr>
            <a:xfrm>
              <a:off x="479426" y="1124286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7" name="Frame 1038">
              <a:extLst>
                <a:ext uri="{FF2B5EF4-FFF2-40B4-BE49-F238E27FC236}">
                  <a16:creationId xmlns:a16="http://schemas.microsoft.com/office/drawing/2014/main" id="{68804FE1-77C3-7F5A-05A8-9902F9251FA6}"/>
                </a:ext>
              </a:extLst>
            </p:cNvPr>
            <p:cNvSpPr/>
            <p:nvPr/>
          </p:nvSpPr>
          <p:spPr>
            <a:xfrm rot="21540000">
              <a:off x="509566" y="1059850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E774C311-9845-63B4-995A-0CF51D58645B}"/>
              </a:ext>
            </a:extLst>
          </p:cNvPr>
          <p:cNvGrpSpPr/>
          <p:nvPr/>
        </p:nvGrpSpPr>
        <p:grpSpPr>
          <a:xfrm>
            <a:off x="3507564" y="1593345"/>
            <a:ext cx="2595619" cy="4441696"/>
            <a:chOff x="479426" y="1059850"/>
            <a:chExt cx="3152774" cy="5394926"/>
          </a:xfrm>
        </p:grpSpPr>
        <p:sp>
          <p:nvSpPr>
            <p:cNvPr id="19" name="Frame 1035">
              <a:extLst>
                <a:ext uri="{FF2B5EF4-FFF2-40B4-BE49-F238E27FC236}">
                  <a16:creationId xmlns:a16="http://schemas.microsoft.com/office/drawing/2014/main" id="{2AE917E4-FF9A-0CBF-B6B1-8BF1670D53AA}"/>
                </a:ext>
              </a:extLst>
            </p:cNvPr>
            <p:cNvSpPr/>
            <p:nvPr/>
          </p:nvSpPr>
          <p:spPr>
            <a:xfrm>
              <a:off x="522798" y="1067103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0" name="Frame 1036">
              <a:extLst>
                <a:ext uri="{FF2B5EF4-FFF2-40B4-BE49-F238E27FC236}">
                  <a16:creationId xmlns:a16="http://schemas.microsoft.com/office/drawing/2014/main" id="{3B425F85-5688-8155-B530-F3107D83834A}"/>
                </a:ext>
              </a:extLst>
            </p:cNvPr>
            <p:cNvSpPr/>
            <p:nvPr/>
          </p:nvSpPr>
          <p:spPr>
            <a:xfrm rot="60000">
              <a:off x="510041" y="1133208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1" name="Frame 1037">
              <a:extLst>
                <a:ext uri="{FF2B5EF4-FFF2-40B4-BE49-F238E27FC236}">
                  <a16:creationId xmlns:a16="http://schemas.microsoft.com/office/drawing/2014/main" id="{76A71962-E781-1A7F-CF01-59F625A69E1F}"/>
                </a:ext>
              </a:extLst>
            </p:cNvPr>
            <p:cNvSpPr/>
            <p:nvPr/>
          </p:nvSpPr>
          <p:spPr>
            <a:xfrm>
              <a:off x="479426" y="1124286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2" name="Frame 1038">
              <a:extLst>
                <a:ext uri="{FF2B5EF4-FFF2-40B4-BE49-F238E27FC236}">
                  <a16:creationId xmlns:a16="http://schemas.microsoft.com/office/drawing/2014/main" id="{7785388A-FDB9-F787-0146-4E34ABBAEF74}"/>
                </a:ext>
              </a:extLst>
            </p:cNvPr>
            <p:cNvSpPr/>
            <p:nvPr/>
          </p:nvSpPr>
          <p:spPr>
            <a:xfrm rot="21540000">
              <a:off x="509566" y="1059850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sp>
        <p:nvSpPr>
          <p:cNvPr id="23" name="Rechteck 22">
            <a:extLst>
              <a:ext uri="{FF2B5EF4-FFF2-40B4-BE49-F238E27FC236}">
                <a16:creationId xmlns:a16="http://schemas.microsoft.com/office/drawing/2014/main" id="{724F71D0-6256-E75C-B3DF-360A6665983B}"/>
              </a:ext>
            </a:extLst>
          </p:cNvPr>
          <p:cNvSpPr/>
          <p:nvPr/>
        </p:nvSpPr>
        <p:spPr>
          <a:xfrm>
            <a:off x="8623069" y="1508973"/>
            <a:ext cx="3400113" cy="669600"/>
          </a:xfrm>
          <a:custGeom>
            <a:avLst/>
            <a:gdLst>
              <a:gd name="csX0" fmla="*/ 0 w 3400113"/>
              <a:gd name="csY0" fmla="*/ 0 h 669600"/>
              <a:gd name="csX1" fmla="*/ 714024 w 3400113"/>
              <a:gd name="csY1" fmla="*/ 0 h 669600"/>
              <a:gd name="csX2" fmla="*/ 1360045 w 3400113"/>
              <a:gd name="csY2" fmla="*/ 0 h 669600"/>
              <a:gd name="csX3" fmla="*/ 2040068 w 3400113"/>
              <a:gd name="csY3" fmla="*/ 0 h 669600"/>
              <a:gd name="csX4" fmla="*/ 2652088 w 3400113"/>
              <a:gd name="csY4" fmla="*/ 0 h 669600"/>
              <a:gd name="csX5" fmla="*/ 3400113 w 3400113"/>
              <a:gd name="csY5" fmla="*/ 0 h 669600"/>
              <a:gd name="csX6" fmla="*/ 3400113 w 3400113"/>
              <a:gd name="csY6" fmla="*/ 669600 h 669600"/>
              <a:gd name="csX7" fmla="*/ 2720090 w 3400113"/>
              <a:gd name="csY7" fmla="*/ 669600 h 669600"/>
              <a:gd name="csX8" fmla="*/ 1972066 w 3400113"/>
              <a:gd name="csY8" fmla="*/ 669600 h 669600"/>
              <a:gd name="csX9" fmla="*/ 1394046 w 3400113"/>
              <a:gd name="csY9" fmla="*/ 669600 h 669600"/>
              <a:gd name="csX10" fmla="*/ 782026 w 3400113"/>
              <a:gd name="csY10" fmla="*/ 669600 h 669600"/>
              <a:gd name="csX11" fmla="*/ 0 w 3400113"/>
              <a:gd name="csY11" fmla="*/ 669600 h 669600"/>
              <a:gd name="csX12" fmla="*/ 0 w 3400113"/>
              <a:gd name="csY12" fmla="*/ 0 h 669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00113" h="669600" extrusionOk="0">
                <a:moveTo>
                  <a:pt x="0" y="0"/>
                </a:moveTo>
                <a:cubicBezTo>
                  <a:pt x="245533" y="30532"/>
                  <a:pt x="429181" y="-21592"/>
                  <a:pt x="714024" y="0"/>
                </a:cubicBezTo>
                <a:cubicBezTo>
                  <a:pt x="998867" y="21592"/>
                  <a:pt x="1086739" y="-31477"/>
                  <a:pt x="1360045" y="0"/>
                </a:cubicBezTo>
                <a:cubicBezTo>
                  <a:pt x="1633351" y="31477"/>
                  <a:pt x="1721987" y="-21325"/>
                  <a:pt x="2040068" y="0"/>
                </a:cubicBezTo>
                <a:cubicBezTo>
                  <a:pt x="2358149" y="21325"/>
                  <a:pt x="2347051" y="4091"/>
                  <a:pt x="2652088" y="0"/>
                </a:cubicBezTo>
                <a:cubicBezTo>
                  <a:pt x="2957125" y="-4091"/>
                  <a:pt x="3223803" y="-20898"/>
                  <a:pt x="3400113" y="0"/>
                </a:cubicBezTo>
                <a:cubicBezTo>
                  <a:pt x="3367510" y="273310"/>
                  <a:pt x="3392956" y="478077"/>
                  <a:pt x="3400113" y="669600"/>
                </a:cubicBezTo>
                <a:cubicBezTo>
                  <a:pt x="3079102" y="700339"/>
                  <a:pt x="2868779" y="680658"/>
                  <a:pt x="2720090" y="669600"/>
                </a:cubicBezTo>
                <a:cubicBezTo>
                  <a:pt x="2571401" y="658542"/>
                  <a:pt x="2252113" y="640100"/>
                  <a:pt x="1972066" y="669600"/>
                </a:cubicBezTo>
                <a:cubicBezTo>
                  <a:pt x="1692019" y="699100"/>
                  <a:pt x="1537115" y="671484"/>
                  <a:pt x="1394046" y="669600"/>
                </a:cubicBezTo>
                <a:cubicBezTo>
                  <a:pt x="1250977" y="667716"/>
                  <a:pt x="1075808" y="671094"/>
                  <a:pt x="782026" y="669600"/>
                </a:cubicBezTo>
                <a:cubicBezTo>
                  <a:pt x="488244" y="668106"/>
                  <a:pt x="293745" y="694482"/>
                  <a:pt x="0" y="669600"/>
                </a:cubicBezTo>
                <a:cubicBezTo>
                  <a:pt x="-12094" y="444193"/>
                  <a:pt x="23794" y="231181"/>
                  <a:pt x="0" y="0"/>
                </a:cubicBezTo>
                <a:close/>
              </a:path>
            </a:pathLst>
          </a:custGeom>
          <a:noFill/>
          <a:ln w="63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51298046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en-US" sz="1600" b="1" noProof="0">
                <a:solidFill>
                  <a:schemeClr val="tx1"/>
                </a:solidFill>
              </a:rPr>
              <a:t>ISS Backlog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71AB35A1-2D8B-BDC5-378F-A63D53F3B8E8}"/>
              </a:ext>
            </a:extLst>
          </p:cNvPr>
          <p:cNvSpPr/>
          <p:nvPr/>
        </p:nvSpPr>
        <p:spPr>
          <a:xfrm>
            <a:off x="3123170" y="1510944"/>
            <a:ext cx="3400113" cy="667629"/>
          </a:xfrm>
          <a:custGeom>
            <a:avLst/>
            <a:gdLst>
              <a:gd name="csX0" fmla="*/ 0 w 3400113"/>
              <a:gd name="csY0" fmla="*/ 0 h 667629"/>
              <a:gd name="csX1" fmla="*/ 714024 w 3400113"/>
              <a:gd name="csY1" fmla="*/ 0 h 667629"/>
              <a:gd name="csX2" fmla="*/ 1360045 w 3400113"/>
              <a:gd name="csY2" fmla="*/ 0 h 667629"/>
              <a:gd name="csX3" fmla="*/ 2040068 w 3400113"/>
              <a:gd name="csY3" fmla="*/ 0 h 667629"/>
              <a:gd name="csX4" fmla="*/ 2652088 w 3400113"/>
              <a:gd name="csY4" fmla="*/ 0 h 667629"/>
              <a:gd name="csX5" fmla="*/ 3400113 w 3400113"/>
              <a:gd name="csY5" fmla="*/ 0 h 667629"/>
              <a:gd name="csX6" fmla="*/ 3400113 w 3400113"/>
              <a:gd name="csY6" fmla="*/ 667629 h 667629"/>
              <a:gd name="csX7" fmla="*/ 2720090 w 3400113"/>
              <a:gd name="csY7" fmla="*/ 667629 h 667629"/>
              <a:gd name="csX8" fmla="*/ 1972066 w 3400113"/>
              <a:gd name="csY8" fmla="*/ 667629 h 667629"/>
              <a:gd name="csX9" fmla="*/ 1394046 w 3400113"/>
              <a:gd name="csY9" fmla="*/ 667629 h 667629"/>
              <a:gd name="csX10" fmla="*/ 782026 w 3400113"/>
              <a:gd name="csY10" fmla="*/ 667629 h 667629"/>
              <a:gd name="csX11" fmla="*/ 0 w 3400113"/>
              <a:gd name="csY11" fmla="*/ 667629 h 667629"/>
              <a:gd name="csX12" fmla="*/ 0 w 3400113"/>
              <a:gd name="csY12" fmla="*/ 0 h 6676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00113" h="667629" extrusionOk="0">
                <a:moveTo>
                  <a:pt x="0" y="0"/>
                </a:moveTo>
                <a:cubicBezTo>
                  <a:pt x="245533" y="30532"/>
                  <a:pt x="429181" y="-21592"/>
                  <a:pt x="714024" y="0"/>
                </a:cubicBezTo>
                <a:cubicBezTo>
                  <a:pt x="998867" y="21592"/>
                  <a:pt x="1086739" y="-31477"/>
                  <a:pt x="1360045" y="0"/>
                </a:cubicBezTo>
                <a:cubicBezTo>
                  <a:pt x="1633351" y="31477"/>
                  <a:pt x="1721987" y="-21325"/>
                  <a:pt x="2040068" y="0"/>
                </a:cubicBezTo>
                <a:cubicBezTo>
                  <a:pt x="2358149" y="21325"/>
                  <a:pt x="2347051" y="4091"/>
                  <a:pt x="2652088" y="0"/>
                </a:cubicBezTo>
                <a:cubicBezTo>
                  <a:pt x="2957125" y="-4091"/>
                  <a:pt x="3223803" y="-20898"/>
                  <a:pt x="3400113" y="0"/>
                </a:cubicBezTo>
                <a:cubicBezTo>
                  <a:pt x="3426744" y="251787"/>
                  <a:pt x="3369986" y="507081"/>
                  <a:pt x="3400113" y="667629"/>
                </a:cubicBezTo>
                <a:cubicBezTo>
                  <a:pt x="3079102" y="698368"/>
                  <a:pt x="2868779" y="678687"/>
                  <a:pt x="2720090" y="667629"/>
                </a:cubicBezTo>
                <a:cubicBezTo>
                  <a:pt x="2571401" y="656571"/>
                  <a:pt x="2252113" y="638129"/>
                  <a:pt x="1972066" y="667629"/>
                </a:cubicBezTo>
                <a:cubicBezTo>
                  <a:pt x="1692019" y="697129"/>
                  <a:pt x="1537115" y="669513"/>
                  <a:pt x="1394046" y="667629"/>
                </a:cubicBezTo>
                <a:cubicBezTo>
                  <a:pt x="1250977" y="665745"/>
                  <a:pt x="1075808" y="669123"/>
                  <a:pt x="782026" y="667629"/>
                </a:cubicBezTo>
                <a:cubicBezTo>
                  <a:pt x="488244" y="666135"/>
                  <a:pt x="293745" y="692511"/>
                  <a:pt x="0" y="667629"/>
                </a:cubicBezTo>
                <a:cubicBezTo>
                  <a:pt x="-29856" y="525735"/>
                  <a:pt x="-14318" y="294065"/>
                  <a:pt x="0" y="0"/>
                </a:cubicBezTo>
                <a:close/>
              </a:path>
            </a:pathLst>
          </a:custGeom>
          <a:noFill/>
          <a:ln w="63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51298046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en-US" sz="1600" b="1" noProof="0">
                <a:solidFill>
                  <a:schemeClr val="tx1"/>
                </a:solidFill>
              </a:rPr>
              <a:t>Portfolio</a:t>
            </a:r>
          </a:p>
        </p:txBody>
      </p: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5CDCA726-A9EF-3DCA-E982-055B81B0B254}"/>
              </a:ext>
            </a:extLst>
          </p:cNvPr>
          <p:cNvGrpSpPr/>
          <p:nvPr/>
        </p:nvGrpSpPr>
        <p:grpSpPr>
          <a:xfrm>
            <a:off x="5979793" y="2706983"/>
            <a:ext cx="3138688" cy="2521679"/>
            <a:chOff x="477838" y="1726219"/>
            <a:chExt cx="3430019" cy="2668741"/>
          </a:xfrm>
        </p:grpSpPr>
        <p:sp>
          <p:nvSpPr>
            <p:cNvPr id="26" name="Rechteck 25">
              <a:extLst>
                <a:ext uri="{FF2B5EF4-FFF2-40B4-BE49-F238E27FC236}">
                  <a16:creationId xmlns:a16="http://schemas.microsoft.com/office/drawing/2014/main" id="{CC817B96-719F-2D81-0D03-C1CC81E228C4}"/>
                </a:ext>
              </a:extLst>
            </p:cNvPr>
            <p:cNvSpPr/>
            <p:nvPr/>
          </p:nvSpPr>
          <p:spPr>
            <a:xfrm>
              <a:off x="477838" y="1726219"/>
              <a:ext cx="3430019" cy="266874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lnSpc>
                  <a:spcPct val="90000"/>
                </a:lnSpc>
              </a:pPr>
              <a:endParaRPr lang="en-US" sz="1600" b="1" noProof="0">
                <a:solidFill>
                  <a:schemeClr val="tx1"/>
                </a:solidFill>
              </a:endParaRPr>
            </a:p>
          </p:txBody>
        </p:sp>
        <p:grpSp>
          <p:nvGrpSpPr>
            <p:cNvPr id="27" name="Gruppieren 26">
              <a:extLst>
                <a:ext uri="{FF2B5EF4-FFF2-40B4-BE49-F238E27FC236}">
                  <a16:creationId xmlns:a16="http://schemas.microsoft.com/office/drawing/2014/main" id="{01A01835-790D-37D5-C661-F1AE9F6D219C}"/>
                </a:ext>
              </a:extLst>
            </p:cNvPr>
            <p:cNvGrpSpPr/>
            <p:nvPr/>
          </p:nvGrpSpPr>
          <p:grpSpPr>
            <a:xfrm>
              <a:off x="770030" y="1842814"/>
              <a:ext cx="344126" cy="344124"/>
              <a:chOff x="7851517" y="3047957"/>
              <a:chExt cx="344126" cy="344124"/>
            </a:xfrm>
          </p:grpSpPr>
          <p:sp>
            <p:nvSpPr>
              <p:cNvPr id="38" name="Rechteck 37">
                <a:hlinkClick r:id="" action="ppaction://noaction"/>
                <a:extLst>
                  <a:ext uri="{FF2B5EF4-FFF2-40B4-BE49-F238E27FC236}">
                    <a16:creationId xmlns:a16="http://schemas.microsoft.com/office/drawing/2014/main" id="{98C56FCD-AE9F-1214-EE50-4CA113F6853B}"/>
                  </a:ext>
                </a:extLst>
              </p:cNvPr>
              <p:cNvSpPr/>
              <p:nvPr>
                <p:custDataLst>
                  <p:tags r:id="rId5"/>
                </p:custDataLst>
              </p:nvPr>
            </p:nvSpPr>
            <p:spPr>
              <a:xfrm>
                <a:off x="7906011" y="3096730"/>
                <a:ext cx="203749" cy="246221"/>
              </a:xfrm>
              <a:prstGeom prst="rect">
                <a:avLst/>
              </a:prstGeom>
              <a:noFill/>
              <a:ln w="635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6350" cap="flat" cmpd="sng" algn="ctr">
                    <a:solidFill>
                      <a:schemeClr val="tx1"/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sz="1600" b="1" noProof="0">
                    <a:solidFill>
                      <a:schemeClr val="tx1"/>
                    </a:solidFill>
                  </a:rPr>
                  <a:t>!</a:t>
                </a:r>
              </a:p>
            </p:txBody>
          </p:sp>
          <p:sp>
            <p:nvSpPr>
              <p:cNvPr id="39" name="Freeform 150">
                <a:extLst>
                  <a:ext uri="{FF2B5EF4-FFF2-40B4-BE49-F238E27FC236}">
                    <a16:creationId xmlns:a16="http://schemas.microsoft.com/office/drawing/2014/main" id="{55B7B357-892D-E878-02DC-27947CB9B550}"/>
                  </a:ext>
                </a:extLst>
              </p:cNvPr>
              <p:cNvSpPr>
                <a:spLocks noEditPoints="1"/>
              </p:cNvSpPr>
              <p:nvPr/>
            </p:nvSpPr>
            <p:spPr bwMode="gray">
              <a:xfrm>
                <a:off x="7851517" y="3047957"/>
                <a:ext cx="344126" cy="344124"/>
              </a:xfrm>
              <a:custGeom>
                <a:avLst/>
                <a:gdLst>
                  <a:gd name="T0" fmla="*/ 496 w 571"/>
                  <a:gd name="T1" fmla="*/ 148 h 589"/>
                  <a:gd name="T2" fmla="*/ 99 w 571"/>
                  <a:gd name="T3" fmla="*/ 105 h 589"/>
                  <a:gd name="T4" fmla="*/ 12 w 571"/>
                  <a:gd name="T5" fmla="*/ 380 h 589"/>
                  <a:gd name="T6" fmla="*/ 270 w 571"/>
                  <a:gd name="T7" fmla="*/ 588 h 589"/>
                  <a:gd name="T8" fmla="*/ 481 w 571"/>
                  <a:gd name="T9" fmla="*/ 484 h 589"/>
                  <a:gd name="T10" fmla="*/ 502 w 571"/>
                  <a:gd name="T11" fmla="*/ 154 h 589"/>
                  <a:gd name="T12" fmla="*/ 53 w 571"/>
                  <a:gd name="T13" fmla="*/ 459 h 589"/>
                  <a:gd name="T14" fmla="*/ 172 w 571"/>
                  <a:gd name="T15" fmla="*/ 543 h 589"/>
                  <a:gd name="T16" fmla="*/ 390 w 571"/>
                  <a:gd name="T17" fmla="*/ 549 h 589"/>
                  <a:gd name="T18" fmla="*/ 165 w 571"/>
                  <a:gd name="T19" fmla="*/ 75 h 589"/>
                  <a:gd name="T20" fmla="*/ 334 w 571"/>
                  <a:gd name="T21" fmla="*/ 62 h 589"/>
                  <a:gd name="T22" fmla="*/ 165 w 571"/>
                  <a:gd name="T23" fmla="*/ 75 h 589"/>
                  <a:gd name="T24" fmla="*/ 169 w 571"/>
                  <a:gd name="T25" fmla="*/ 534 h 589"/>
                  <a:gd name="T26" fmla="*/ 444 w 571"/>
                  <a:gd name="T27" fmla="*/ 508 h 589"/>
                  <a:gd name="T28" fmla="*/ 307 w 571"/>
                  <a:gd name="T29" fmla="*/ 541 h 589"/>
                  <a:gd name="T30" fmla="*/ 39 w 571"/>
                  <a:gd name="T31" fmla="*/ 222 h 589"/>
                  <a:gd name="T32" fmla="*/ 116 w 571"/>
                  <a:gd name="T33" fmla="*/ 110 h 589"/>
                  <a:gd name="T34" fmla="*/ 446 w 571"/>
                  <a:gd name="T35" fmla="*/ 116 h 589"/>
                  <a:gd name="T36" fmla="*/ 535 w 571"/>
                  <a:gd name="T37" fmla="*/ 270 h 589"/>
                  <a:gd name="T38" fmla="*/ 467 w 571"/>
                  <a:gd name="T39" fmla="*/ 486 h 589"/>
                  <a:gd name="T40" fmla="*/ 486 w 571"/>
                  <a:gd name="T41" fmla="*/ 148 h 589"/>
                  <a:gd name="T42" fmla="*/ 495 w 571"/>
                  <a:gd name="T43" fmla="*/ 160 h 589"/>
                  <a:gd name="T44" fmla="*/ 447 w 571"/>
                  <a:gd name="T45" fmla="*/ 108 h 589"/>
                  <a:gd name="T46" fmla="*/ 286 w 571"/>
                  <a:gd name="T47" fmla="*/ 40 h 589"/>
                  <a:gd name="T48" fmla="*/ 116 w 571"/>
                  <a:gd name="T49" fmla="*/ 101 h 589"/>
                  <a:gd name="T50" fmla="*/ 96 w 571"/>
                  <a:gd name="T51" fmla="*/ 118 h 589"/>
                  <a:gd name="T52" fmla="*/ 297 w 571"/>
                  <a:gd name="T53" fmla="*/ 23 h 589"/>
                  <a:gd name="T54" fmla="*/ 478 w 571"/>
                  <a:gd name="T55" fmla="*/ 131 h 589"/>
                  <a:gd name="T56" fmla="*/ 27 w 571"/>
                  <a:gd name="T57" fmla="*/ 235 h 589"/>
                  <a:gd name="T58" fmla="*/ 90 w 571"/>
                  <a:gd name="T59" fmla="*/ 486 h 589"/>
                  <a:gd name="T60" fmla="*/ 15 w 571"/>
                  <a:gd name="T61" fmla="*/ 279 h 589"/>
                  <a:gd name="T62" fmla="*/ 492 w 571"/>
                  <a:gd name="T63" fmla="*/ 467 h 589"/>
                  <a:gd name="T64" fmla="*/ 539 w 571"/>
                  <a:gd name="T65" fmla="*/ 256 h 589"/>
                  <a:gd name="T66" fmla="*/ 509 w 571"/>
                  <a:gd name="T67" fmla="*/ 173 h 589"/>
                  <a:gd name="T68" fmla="*/ 492 w 571"/>
                  <a:gd name="T69" fmla="*/ 467 h 5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571" h="589">
                    <a:moveTo>
                      <a:pt x="502" y="154"/>
                    </a:moveTo>
                    <a:cubicBezTo>
                      <a:pt x="500" y="152"/>
                      <a:pt x="498" y="150"/>
                      <a:pt x="496" y="148"/>
                    </a:cubicBezTo>
                    <a:cubicBezTo>
                      <a:pt x="450" y="65"/>
                      <a:pt x="392" y="34"/>
                      <a:pt x="352" y="23"/>
                    </a:cubicBezTo>
                    <a:cubicBezTo>
                      <a:pt x="270" y="0"/>
                      <a:pt x="173" y="32"/>
                      <a:pt x="99" y="105"/>
                    </a:cubicBezTo>
                    <a:cubicBezTo>
                      <a:pt x="51" y="154"/>
                      <a:pt x="19" y="215"/>
                      <a:pt x="9" y="277"/>
                    </a:cubicBezTo>
                    <a:cubicBezTo>
                      <a:pt x="3" y="311"/>
                      <a:pt x="4" y="346"/>
                      <a:pt x="12" y="380"/>
                    </a:cubicBezTo>
                    <a:cubicBezTo>
                      <a:pt x="35" y="477"/>
                      <a:pt x="112" y="555"/>
                      <a:pt x="207" y="580"/>
                    </a:cubicBezTo>
                    <a:cubicBezTo>
                      <a:pt x="228" y="585"/>
                      <a:pt x="249" y="588"/>
                      <a:pt x="270" y="588"/>
                    </a:cubicBezTo>
                    <a:cubicBezTo>
                      <a:pt x="346" y="588"/>
                      <a:pt x="419" y="552"/>
                      <a:pt x="481" y="484"/>
                    </a:cubicBezTo>
                    <a:cubicBezTo>
                      <a:pt x="481" y="484"/>
                      <a:pt x="481" y="484"/>
                      <a:pt x="481" y="484"/>
                    </a:cubicBezTo>
                    <a:cubicBezTo>
                      <a:pt x="532" y="445"/>
                      <a:pt x="561" y="394"/>
                      <a:pt x="566" y="336"/>
                    </a:cubicBezTo>
                    <a:cubicBezTo>
                      <a:pt x="571" y="268"/>
                      <a:pt x="549" y="205"/>
                      <a:pt x="502" y="154"/>
                    </a:cubicBezTo>
                    <a:close/>
                    <a:moveTo>
                      <a:pt x="209" y="573"/>
                    </a:moveTo>
                    <a:cubicBezTo>
                      <a:pt x="145" y="557"/>
                      <a:pt x="89" y="515"/>
                      <a:pt x="53" y="459"/>
                    </a:cubicBezTo>
                    <a:cubicBezTo>
                      <a:pt x="72" y="483"/>
                      <a:pt x="97" y="502"/>
                      <a:pt x="127" y="518"/>
                    </a:cubicBezTo>
                    <a:cubicBezTo>
                      <a:pt x="141" y="527"/>
                      <a:pt x="156" y="536"/>
                      <a:pt x="172" y="543"/>
                    </a:cubicBezTo>
                    <a:cubicBezTo>
                      <a:pt x="230" y="570"/>
                      <a:pt x="293" y="577"/>
                      <a:pt x="352" y="562"/>
                    </a:cubicBezTo>
                    <a:cubicBezTo>
                      <a:pt x="365" y="559"/>
                      <a:pt x="377" y="554"/>
                      <a:pt x="390" y="549"/>
                    </a:cubicBezTo>
                    <a:cubicBezTo>
                      <a:pt x="333" y="581"/>
                      <a:pt x="271" y="589"/>
                      <a:pt x="209" y="573"/>
                    </a:cubicBezTo>
                    <a:close/>
                    <a:moveTo>
                      <a:pt x="165" y="75"/>
                    </a:moveTo>
                    <a:cubicBezTo>
                      <a:pt x="247" y="29"/>
                      <a:pt x="335" y="46"/>
                      <a:pt x="399" y="82"/>
                    </a:cubicBezTo>
                    <a:cubicBezTo>
                      <a:pt x="378" y="73"/>
                      <a:pt x="356" y="66"/>
                      <a:pt x="334" y="62"/>
                    </a:cubicBezTo>
                    <a:cubicBezTo>
                      <a:pt x="312" y="57"/>
                      <a:pt x="290" y="55"/>
                      <a:pt x="269" y="55"/>
                    </a:cubicBezTo>
                    <a:cubicBezTo>
                      <a:pt x="232" y="55"/>
                      <a:pt x="196" y="62"/>
                      <a:pt x="165" y="75"/>
                    </a:cubicBezTo>
                    <a:close/>
                    <a:moveTo>
                      <a:pt x="175" y="537"/>
                    </a:moveTo>
                    <a:cubicBezTo>
                      <a:pt x="173" y="536"/>
                      <a:pt x="171" y="535"/>
                      <a:pt x="169" y="534"/>
                    </a:cubicBezTo>
                    <a:cubicBezTo>
                      <a:pt x="211" y="548"/>
                      <a:pt x="260" y="553"/>
                      <a:pt x="308" y="548"/>
                    </a:cubicBezTo>
                    <a:cubicBezTo>
                      <a:pt x="357" y="543"/>
                      <a:pt x="404" y="529"/>
                      <a:pt x="444" y="508"/>
                    </a:cubicBezTo>
                    <a:cubicBezTo>
                      <a:pt x="357" y="581"/>
                      <a:pt x="249" y="572"/>
                      <a:pt x="175" y="537"/>
                    </a:cubicBezTo>
                    <a:close/>
                    <a:moveTo>
                      <a:pt x="307" y="541"/>
                    </a:moveTo>
                    <a:cubicBezTo>
                      <a:pt x="244" y="547"/>
                      <a:pt x="181" y="537"/>
                      <a:pt x="131" y="512"/>
                    </a:cubicBezTo>
                    <a:cubicBezTo>
                      <a:pt x="35" y="444"/>
                      <a:pt x="0" y="336"/>
                      <a:pt x="39" y="222"/>
                    </a:cubicBezTo>
                    <a:cubicBezTo>
                      <a:pt x="45" y="202"/>
                      <a:pt x="54" y="183"/>
                      <a:pt x="65" y="166"/>
                    </a:cubicBezTo>
                    <a:cubicBezTo>
                      <a:pt x="79" y="146"/>
                      <a:pt x="96" y="128"/>
                      <a:pt x="116" y="110"/>
                    </a:cubicBezTo>
                    <a:cubicBezTo>
                      <a:pt x="196" y="48"/>
                      <a:pt x="294" y="60"/>
                      <a:pt x="332" y="68"/>
                    </a:cubicBezTo>
                    <a:cubicBezTo>
                      <a:pt x="373" y="77"/>
                      <a:pt x="412" y="93"/>
                      <a:pt x="446" y="116"/>
                    </a:cubicBezTo>
                    <a:cubicBezTo>
                      <a:pt x="479" y="145"/>
                      <a:pt x="505" y="182"/>
                      <a:pt x="521" y="222"/>
                    </a:cubicBezTo>
                    <a:cubicBezTo>
                      <a:pt x="526" y="237"/>
                      <a:pt x="531" y="253"/>
                      <a:pt x="535" y="270"/>
                    </a:cubicBezTo>
                    <a:cubicBezTo>
                      <a:pt x="546" y="327"/>
                      <a:pt x="535" y="385"/>
                      <a:pt x="504" y="437"/>
                    </a:cubicBezTo>
                    <a:cubicBezTo>
                      <a:pt x="493" y="455"/>
                      <a:pt x="480" y="472"/>
                      <a:pt x="467" y="486"/>
                    </a:cubicBezTo>
                    <a:cubicBezTo>
                      <a:pt x="423" y="516"/>
                      <a:pt x="366" y="536"/>
                      <a:pt x="307" y="541"/>
                    </a:cubicBezTo>
                    <a:close/>
                    <a:moveTo>
                      <a:pt x="486" y="148"/>
                    </a:moveTo>
                    <a:cubicBezTo>
                      <a:pt x="488" y="150"/>
                      <a:pt x="489" y="152"/>
                      <a:pt x="491" y="154"/>
                    </a:cubicBezTo>
                    <a:cubicBezTo>
                      <a:pt x="492" y="156"/>
                      <a:pt x="493" y="158"/>
                      <a:pt x="495" y="160"/>
                    </a:cubicBezTo>
                    <a:cubicBezTo>
                      <a:pt x="492" y="156"/>
                      <a:pt x="489" y="152"/>
                      <a:pt x="486" y="148"/>
                    </a:cubicBezTo>
                    <a:close/>
                    <a:moveTo>
                      <a:pt x="447" y="108"/>
                    </a:moveTo>
                    <a:cubicBezTo>
                      <a:pt x="446" y="107"/>
                      <a:pt x="445" y="106"/>
                      <a:pt x="443" y="105"/>
                    </a:cubicBezTo>
                    <a:cubicBezTo>
                      <a:pt x="397" y="66"/>
                      <a:pt x="341" y="43"/>
                      <a:pt x="286" y="40"/>
                    </a:cubicBezTo>
                    <a:cubicBezTo>
                      <a:pt x="281" y="40"/>
                      <a:pt x="277" y="39"/>
                      <a:pt x="273" y="39"/>
                    </a:cubicBezTo>
                    <a:cubicBezTo>
                      <a:pt x="216" y="39"/>
                      <a:pt x="162" y="61"/>
                      <a:pt x="116" y="101"/>
                    </a:cubicBezTo>
                    <a:cubicBezTo>
                      <a:pt x="113" y="104"/>
                      <a:pt x="110" y="106"/>
                      <a:pt x="107" y="109"/>
                    </a:cubicBezTo>
                    <a:cubicBezTo>
                      <a:pt x="103" y="112"/>
                      <a:pt x="100" y="115"/>
                      <a:pt x="96" y="118"/>
                    </a:cubicBezTo>
                    <a:cubicBezTo>
                      <a:pt x="99" y="115"/>
                      <a:pt x="102" y="113"/>
                      <a:pt x="104" y="110"/>
                    </a:cubicBezTo>
                    <a:cubicBezTo>
                      <a:pt x="160" y="55"/>
                      <a:pt x="230" y="23"/>
                      <a:pt x="297" y="23"/>
                    </a:cubicBezTo>
                    <a:cubicBezTo>
                      <a:pt x="315" y="23"/>
                      <a:pt x="333" y="25"/>
                      <a:pt x="350" y="30"/>
                    </a:cubicBezTo>
                    <a:cubicBezTo>
                      <a:pt x="401" y="44"/>
                      <a:pt x="444" y="78"/>
                      <a:pt x="478" y="131"/>
                    </a:cubicBezTo>
                    <a:cubicBezTo>
                      <a:pt x="468" y="123"/>
                      <a:pt x="458" y="115"/>
                      <a:pt x="447" y="108"/>
                    </a:cubicBezTo>
                    <a:close/>
                    <a:moveTo>
                      <a:pt x="27" y="235"/>
                    </a:moveTo>
                    <a:cubicBezTo>
                      <a:pt x="9" y="299"/>
                      <a:pt x="14" y="362"/>
                      <a:pt x="41" y="418"/>
                    </a:cubicBezTo>
                    <a:cubicBezTo>
                      <a:pt x="53" y="443"/>
                      <a:pt x="70" y="466"/>
                      <a:pt x="90" y="486"/>
                    </a:cubicBezTo>
                    <a:cubicBezTo>
                      <a:pt x="56" y="459"/>
                      <a:pt x="33" y="424"/>
                      <a:pt x="21" y="382"/>
                    </a:cubicBezTo>
                    <a:cubicBezTo>
                      <a:pt x="12" y="349"/>
                      <a:pt x="10" y="315"/>
                      <a:pt x="15" y="279"/>
                    </a:cubicBezTo>
                    <a:cubicBezTo>
                      <a:pt x="18" y="264"/>
                      <a:pt x="22" y="250"/>
                      <a:pt x="27" y="235"/>
                    </a:cubicBezTo>
                    <a:close/>
                    <a:moveTo>
                      <a:pt x="492" y="467"/>
                    </a:moveTo>
                    <a:cubicBezTo>
                      <a:pt x="498" y="458"/>
                      <a:pt x="504" y="450"/>
                      <a:pt x="510" y="440"/>
                    </a:cubicBezTo>
                    <a:cubicBezTo>
                      <a:pt x="545" y="383"/>
                      <a:pt x="555" y="319"/>
                      <a:pt x="539" y="256"/>
                    </a:cubicBezTo>
                    <a:cubicBezTo>
                      <a:pt x="536" y="241"/>
                      <a:pt x="531" y="227"/>
                      <a:pt x="525" y="213"/>
                    </a:cubicBezTo>
                    <a:cubicBezTo>
                      <a:pt x="520" y="199"/>
                      <a:pt x="515" y="186"/>
                      <a:pt x="509" y="173"/>
                    </a:cubicBezTo>
                    <a:cubicBezTo>
                      <a:pt x="546" y="220"/>
                      <a:pt x="564" y="276"/>
                      <a:pt x="559" y="335"/>
                    </a:cubicBezTo>
                    <a:cubicBezTo>
                      <a:pt x="555" y="386"/>
                      <a:pt x="532" y="431"/>
                      <a:pt x="492" y="46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txBody>
              <a:bodyPr vert="horz" wrap="square" lIns="67211" tIns="33605" rIns="67211" bIns="33605" numCol="1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72084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28" name="Textfeld 27">
              <a:extLst>
                <a:ext uri="{FF2B5EF4-FFF2-40B4-BE49-F238E27FC236}">
                  <a16:creationId xmlns:a16="http://schemas.microsoft.com/office/drawing/2014/main" id="{55150E25-88A4-300C-E59E-7C0A0F34C5A9}"/>
                </a:ext>
              </a:extLst>
            </p:cNvPr>
            <p:cNvSpPr txBox="1"/>
            <p:nvPr/>
          </p:nvSpPr>
          <p:spPr>
            <a:xfrm>
              <a:off x="1221678" y="1904075"/>
              <a:ext cx="2058256" cy="2215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b="1" noProof="0"/>
                <a:t>Demand </a:t>
              </a:r>
              <a:r>
                <a:rPr lang="en-US" sz="1600" b="1" noProof="0" err="1"/>
                <a:t>als</a:t>
              </a:r>
              <a:r>
                <a:rPr lang="en-US" sz="1600" b="1" noProof="0"/>
                <a:t> Connector</a:t>
              </a:r>
            </a:p>
          </p:txBody>
        </p:sp>
      </p:grpSp>
      <p:pic>
        <p:nvPicPr>
          <p:cNvPr id="41" name="Grafik 40">
            <a:extLst>
              <a:ext uri="{FF2B5EF4-FFF2-40B4-BE49-F238E27FC236}">
                <a16:creationId xmlns:a16="http://schemas.microsoft.com/office/drawing/2014/main" id="{555717AD-8CB6-668A-9CC1-26AC184E585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17192" y="3252484"/>
            <a:ext cx="1797971" cy="932308"/>
          </a:xfrm>
          <a:prstGeom prst="rect">
            <a:avLst/>
          </a:prstGeom>
        </p:spPr>
      </p:pic>
      <p:sp>
        <p:nvSpPr>
          <p:cNvPr id="42" name="Rechteck 41">
            <a:hlinkClick r:id="" action="ppaction://noaction"/>
            <a:extLst>
              <a:ext uri="{FF2B5EF4-FFF2-40B4-BE49-F238E27FC236}">
                <a16:creationId xmlns:a16="http://schemas.microsoft.com/office/drawing/2014/main" id="{99F289C6-41C3-D365-41C7-C50E808842E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059888" y="1719355"/>
            <a:ext cx="203749" cy="246221"/>
          </a:xfrm>
          <a:prstGeom prst="rect">
            <a:avLst/>
          </a:prstGeom>
          <a:noFill/>
          <a:ln w="63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 cap="flat" cmpd="sng" algn="ctr">
                <a:solidFill>
                  <a:schemeClr val="tx1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sz="1600" b="1">
                <a:solidFill>
                  <a:schemeClr val="tx1"/>
                </a:solidFill>
              </a:rPr>
              <a:t>1</a:t>
            </a:r>
            <a:endParaRPr lang="en-US" sz="1600" b="1" noProof="0">
              <a:solidFill>
                <a:schemeClr val="tx1"/>
              </a:solidFill>
            </a:endParaRPr>
          </a:p>
        </p:txBody>
      </p:sp>
      <p:sp>
        <p:nvSpPr>
          <p:cNvPr id="43" name="Freeform 150">
            <a:extLst>
              <a:ext uri="{FF2B5EF4-FFF2-40B4-BE49-F238E27FC236}">
                <a16:creationId xmlns:a16="http://schemas.microsoft.com/office/drawing/2014/main" id="{A3C6E60B-02DF-079C-0364-559D5C74BBA8}"/>
              </a:ext>
            </a:extLst>
          </p:cNvPr>
          <p:cNvSpPr>
            <a:spLocks noEditPoints="1"/>
          </p:cNvSpPr>
          <p:nvPr/>
        </p:nvSpPr>
        <p:spPr bwMode="gray">
          <a:xfrm>
            <a:off x="3989700" y="1670404"/>
            <a:ext cx="344126" cy="344124"/>
          </a:xfrm>
          <a:custGeom>
            <a:avLst/>
            <a:gdLst>
              <a:gd name="T0" fmla="*/ 496 w 571"/>
              <a:gd name="T1" fmla="*/ 148 h 589"/>
              <a:gd name="T2" fmla="*/ 99 w 571"/>
              <a:gd name="T3" fmla="*/ 105 h 589"/>
              <a:gd name="T4" fmla="*/ 12 w 571"/>
              <a:gd name="T5" fmla="*/ 380 h 589"/>
              <a:gd name="T6" fmla="*/ 270 w 571"/>
              <a:gd name="T7" fmla="*/ 588 h 589"/>
              <a:gd name="T8" fmla="*/ 481 w 571"/>
              <a:gd name="T9" fmla="*/ 484 h 589"/>
              <a:gd name="T10" fmla="*/ 502 w 571"/>
              <a:gd name="T11" fmla="*/ 154 h 589"/>
              <a:gd name="T12" fmla="*/ 53 w 571"/>
              <a:gd name="T13" fmla="*/ 459 h 589"/>
              <a:gd name="T14" fmla="*/ 172 w 571"/>
              <a:gd name="T15" fmla="*/ 543 h 589"/>
              <a:gd name="T16" fmla="*/ 390 w 571"/>
              <a:gd name="T17" fmla="*/ 549 h 589"/>
              <a:gd name="T18" fmla="*/ 165 w 571"/>
              <a:gd name="T19" fmla="*/ 75 h 589"/>
              <a:gd name="T20" fmla="*/ 334 w 571"/>
              <a:gd name="T21" fmla="*/ 62 h 589"/>
              <a:gd name="T22" fmla="*/ 165 w 571"/>
              <a:gd name="T23" fmla="*/ 75 h 589"/>
              <a:gd name="T24" fmla="*/ 169 w 571"/>
              <a:gd name="T25" fmla="*/ 534 h 589"/>
              <a:gd name="T26" fmla="*/ 444 w 571"/>
              <a:gd name="T27" fmla="*/ 508 h 589"/>
              <a:gd name="T28" fmla="*/ 307 w 571"/>
              <a:gd name="T29" fmla="*/ 541 h 589"/>
              <a:gd name="T30" fmla="*/ 39 w 571"/>
              <a:gd name="T31" fmla="*/ 222 h 589"/>
              <a:gd name="T32" fmla="*/ 116 w 571"/>
              <a:gd name="T33" fmla="*/ 110 h 589"/>
              <a:gd name="T34" fmla="*/ 446 w 571"/>
              <a:gd name="T35" fmla="*/ 116 h 589"/>
              <a:gd name="T36" fmla="*/ 535 w 571"/>
              <a:gd name="T37" fmla="*/ 270 h 589"/>
              <a:gd name="T38" fmla="*/ 467 w 571"/>
              <a:gd name="T39" fmla="*/ 486 h 589"/>
              <a:gd name="T40" fmla="*/ 486 w 571"/>
              <a:gd name="T41" fmla="*/ 148 h 589"/>
              <a:gd name="T42" fmla="*/ 495 w 571"/>
              <a:gd name="T43" fmla="*/ 160 h 589"/>
              <a:gd name="T44" fmla="*/ 447 w 571"/>
              <a:gd name="T45" fmla="*/ 108 h 589"/>
              <a:gd name="T46" fmla="*/ 286 w 571"/>
              <a:gd name="T47" fmla="*/ 40 h 589"/>
              <a:gd name="T48" fmla="*/ 116 w 571"/>
              <a:gd name="T49" fmla="*/ 101 h 589"/>
              <a:gd name="T50" fmla="*/ 96 w 571"/>
              <a:gd name="T51" fmla="*/ 118 h 589"/>
              <a:gd name="T52" fmla="*/ 297 w 571"/>
              <a:gd name="T53" fmla="*/ 23 h 589"/>
              <a:gd name="T54" fmla="*/ 478 w 571"/>
              <a:gd name="T55" fmla="*/ 131 h 589"/>
              <a:gd name="T56" fmla="*/ 27 w 571"/>
              <a:gd name="T57" fmla="*/ 235 h 589"/>
              <a:gd name="T58" fmla="*/ 90 w 571"/>
              <a:gd name="T59" fmla="*/ 486 h 589"/>
              <a:gd name="T60" fmla="*/ 15 w 571"/>
              <a:gd name="T61" fmla="*/ 279 h 589"/>
              <a:gd name="T62" fmla="*/ 492 w 571"/>
              <a:gd name="T63" fmla="*/ 467 h 589"/>
              <a:gd name="T64" fmla="*/ 539 w 571"/>
              <a:gd name="T65" fmla="*/ 256 h 589"/>
              <a:gd name="T66" fmla="*/ 509 w 571"/>
              <a:gd name="T67" fmla="*/ 173 h 589"/>
              <a:gd name="T68" fmla="*/ 492 w 571"/>
              <a:gd name="T69" fmla="*/ 467 h 5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571" h="589">
                <a:moveTo>
                  <a:pt x="502" y="154"/>
                </a:moveTo>
                <a:cubicBezTo>
                  <a:pt x="500" y="152"/>
                  <a:pt x="498" y="150"/>
                  <a:pt x="496" y="148"/>
                </a:cubicBezTo>
                <a:cubicBezTo>
                  <a:pt x="450" y="65"/>
                  <a:pt x="392" y="34"/>
                  <a:pt x="352" y="23"/>
                </a:cubicBezTo>
                <a:cubicBezTo>
                  <a:pt x="270" y="0"/>
                  <a:pt x="173" y="32"/>
                  <a:pt x="99" y="105"/>
                </a:cubicBezTo>
                <a:cubicBezTo>
                  <a:pt x="51" y="154"/>
                  <a:pt x="19" y="215"/>
                  <a:pt x="9" y="277"/>
                </a:cubicBezTo>
                <a:cubicBezTo>
                  <a:pt x="3" y="311"/>
                  <a:pt x="4" y="346"/>
                  <a:pt x="12" y="380"/>
                </a:cubicBezTo>
                <a:cubicBezTo>
                  <a:pt x="35" y="477"/>
                  <a:pt x="112" y="555"/>
                  <a:pt x="207" y="580"/>
                </a:cubicBezTo>
                <a:cubicBezTo>
                  <a:pt x="228" y="585"/>
                  <a:pt x="249" y="588"/>
                  <a:pt x="270" y="588"/>
                </a:cubicBezTo>
                <a:cubicBezTo>
                  <a:pt x="346" y="588"/>
                  <a:pt x="419" y="552"/>
                  <a:pt x="481" y="484"/>
                </a:cubicBezTo>
                <a:cubicBezTo>
                  <a:pt x="481" y="484"/>
                  <a:pt x="481" y="484"/>
                  <a:pt x="481" y="484"/>
                </a:cubicBezTo>
                <a:cubicBezTo>
                  <a:pt x="532" y="445"/>
                  <a:pt x="561" y="394"/>
                  <a:pt x="566" y="336"/>
                </a:cubicBezTo>
                <a:cubicBezTo>
                  <a:pt x="571" y="268"/>
                  <a:pt x="549" y="205"/>
                  <a:pt x="502" y="154"/>
                </a:cubicBezTo>
                <a:close/>
                <a:moveTo>
                  <a:pt x="209" y="573"/>
                </a:moveTo>
                <a:cubicBezTo>
                  <a:pt x="145" y="557"/>
                  <a:pt x="89" y="515"/>
                  <a:pt x="53" y="459"/>
                </a:cubicBezTo>
                <a:cubicBezTo>
                  <a:pt x="72" y="483"/>
                  <a:pt x="97" y="502"/>
                  <a:pt x="127" y="518"/>
                </a:cubicBezTo>
                <a:cubicBezTo>
                  <a:pt x="141" y="527"/>
                  <a:pt x="156" y="536"/>
                  <a:pt x="172" y="543"/>
                </a:cubicBezTo>
                <a:cubicBezTo>
                  <a:pt x="230" y="570"/>
                  <a:pt x="293" y="577"/>
                  <a:pt x="352" y="562"/>
                </a:cubicBezTo>
                <a:cubicBezTo>
                  <a:pt x="365" y="559"/>
                  <a:pt x="377" y="554"/>
                  <a:pt x="390" y="549"/>
                </a:cubicBezTo>
                <a:cubicBezTo>
                  <a:pt x="333" y="581"/>
                  <a:pt x="271" y="589"/>
                  <a:pt x="209" y="573"/>
                </a:cubicBezTo>
                <a:close/>
                <a:moveTo>
                  <a:pt x="165" y="75"/>
                </a:moveTo>
                <a:cubicBezTo>
                  <a:pt x="247" y="29"/>
                  <a:pt x="335" y="46"/>
                  <a:pt x="399" y="82"/>
                </a:cubicBezTo>
                <a:cubicBezTo>
                  <a:pt x="378" y="73"/>
                  <a:pt x="356" y="66"/>
                  <a:pt x="334" y="62"/>
                </a:cubicBezTo>
                <a:cubicBezTo>
                  <a:pt x="312" y="57"/>
                  <a:pt x="290" y="55"/>
                  <a:pt x="269" y="55"/>
                </a:cubicBezTo>
                <a:cubicBezTo>
                  <a:pt x="232" y="55"/>
                  <a:pt x="196" y="62"/>
                  <a:pt x="165" y="75"/>
                </a:cubicBezTo>
                <a:close/>
                <a:moveTo>
                  <a:pt x="175" y="537"/>
                </a:moveTo>
                <a:cubicBezTo>
                  <a:pt x="173" y="536"/>
                  <a:pt x="171" y="535"/>
                  <a:pt x="169" y="534"/>
                </a:cubicBezTo>
                <a:cubicBezTo>
                  <a:pt x="211" y="548"/>
                  <a:pt x="260" y="553"/>
                  <a:pt x="308" y="548"/>
                </a:cubicBezTo>
                <a:cubicBezTo>
                  <a:pt x="357" y="543"/>
                  <a:pt x="404" y="529"/>
                  <a:pt x="444" y="508"/>
                </a:cubicBezTo>
                <a:cubicBezTo>
                  <a:pt x="357" y="581"/>
                  <a:pt x="249" y="572"/>
                  <a:pt x="175" y="537"/>
                </a:cubicBezTo>
                <a:close/>
                <a:moveTo>
                  <a:pt x="307" y="541"/>
                </a:moveTo>
                <a:cubicBezTo>
                  <a:pt x="244" y="547"/>
                  <a:pt x="181" y="537"/>
                  <a:pt x="131" y="512"/>
                </a:cubicBezTo>
                <a:cubicBezTo>
                  <a:pt x="35" y="444"/>
                  <a:pt x="0" y="336"/>
                  <a:pt x="39" y="222"/>
                </a:cubicBezTo>
                <a:cubicBezTo>
                  <a:pt x="45" y="202"/>
                  <a:pt x="54" y="183"/>
                  <a:pt x="65" y="166"/>
                </a:cubicBezTo>
                <a:cubicBezTo>
                  <a:pt x="79" y="146"/>
                  <a:pt x="96" y="128"/>
                  <a:pt x="116" y="110"/>
                </a:cubicBezTo>
                <a:cubicBezTo>
                  <a:pt x="196" y="48"/>
                  <a:pt x="294" y="60"/>
                  <a:pt x="332" y="68"/>
                </a:cubicBezTo>
                <a:cubicBezTo>
                  <a:pt x="373" y="77"/>
                  <a:pt x="412" y="93"/>
                  <a:pt x="446" y="116"/>
                </a:cubicBezTo>
                <a:cubicBezTo>
                  <a:pt x="479" y="145"/>
                  <a:pt x="505" y="182"/>
                  <a:pt x="521" y="222"/>
                </a:cubicBezTo>
                <a:cubicBezTo>
                  <a:pt x="526" y="237"/>
                  <a:pt x="531" y="253"/>
                  <a:pt x="535" y="270"/>
                </a:cubicBezTo>
                <a:cubicBezTo>
                  <a:pt x="546" y="327"/>
                  <a:pt x="535" y="385"/>
                  <a:pt x="504" y="437"/>
                </a:cubicBezTo>
                <a:cubicBezTo>
                  <a:pt x="493" y="455"/>
                  <a:pt x="480" y="472"/>
                  <a:pt x="467" y="486"/>
                </a:cubicBezTo>
                <a:cubicBezTo>
                  <a:pt x="423" y="516"/>
                  <a:pt x="366" y="536"/>
                  <a:pt x="307" y="541"/>
                </a:cubicBezTo>
                <a:close/>
                <a:moveTo>
                  <a:pt x="486" y="148"/>
                </a:moveTo>
                <a:cubicBezTo>
                  <a:pt x="488" y="150"/>
                  <a:pt x="489" y="152"/>
                  <a:pt x="491" y="154"/>
                </a:cubicBezTo>
                <a:cubicBezTo>
                  <a:pt x="492" y="156"/>
                  <a:pt x="493" y="158"/>
                  <a:pt x="495" y="160"/>
                </a:cubicBezTo>
                <a:cubicBezTo>
                  <a:pt x="492" y="156"/>
                  <a:pt x="489" y="152"/>
                  <a:pt x="486" y="148"/>
                </a:cubicBezTo>
                <a:close/>
                <a:moveTo>
                  <a:pt x="447" y="108"/>
                </a:moveTo>
                <a:cubicBezTo>
                  <a:pt x="446" y="107"/>
                  <a:pt x="445" y="106"/>
                  <a:pt x="443" y="105"/>
                </a:cubicBezTo>
                <a:cubicBezTo>
                  <a:pt x="397" y="66"/>
                  <a:pt x="341" y="43"/>
                  <a:pt x="286" y="40"/>
                </a:cubicBezTo>
                <a:cubicBezTo>
                  <a:pt x="281" y="40"/>
                  <a:pt x="277" y="39"/>
                  <a:pt x="273" y="39"/>
                </a:cubicBezTo>
                <a:cubicBezTo>
                  <a:pt x="216" y="39"/>
                  <a:pt x="162" y="61"/>
                  <a:pt x="116" y="101"/>
                </a:cubicBezTo>
                <a:cubicBezTo>
                  <a:pt x="113" y="104"/>
                  <a:pt x="110" y="106"/>
                  <a:pt x="107" y="109"/>
                </a:cubicBezTo>
                <a:cubicBezTo>
                  <a:pt x="103" y="112"/>
                  <a:pt x="100" y="115"/>
                  <a:pt x="96" y="118"/>
                </a:cubicBezTo>
                <a:cubicBezTo>
                  <a:pt x="99" y="115"/>
                  <a:pt x="102" y="113"/>
                  <a:pt x="104" y="110"/>
                </a:cubicBezTo>
                <a:cubicBezTo>
                  <a:pt x="160" y="55"/>
                  <a:pt x="230" y="23"/>
                  <a:pt x="297" y="23"/>
                </a:cubicBezTo>
                <a:cubicBezTo>
                  <a:pt x="315" y="23"/>
                  <a:pt x="333" y="25"/>
                  <a:pt x="350" y="30"/>
                </a:cubicBezTo>
                <a:cubicBezTo>
                  <a:pt x="401" y="44"/>
                  <a:pt x="444" y="78"/>
                  <a:pt x="478" y="131"/>
                </a:cubicBezTo>
                <a:cubicBezTo>
                  <a:pt x="468" y="123"/>
                  <a:pt x="458" y="115"/>
                  <a:pt x="447" y="108"/>
                </a:cubicBezTo>
                <a:close/>
                <a:moveTo>
                  <a:pt x="27" y="235"/>
                </a:moveTo>
                <a:cubicBezTo>
                  <a:pt x="9" y="299"/>
                  <a:pt x="14" y="362"/>
                  <a:pt x="41" y="418"/>
                </a:cubicBezTo>
                <a:cubicBezTo>
                  <a:pt x="53" y="443"/>
                  <a:pt x="70" y="466"/>
                  <a:pt x="90" y="486"/>
                </a:cubicBezTo>
                <a:cubicBezTo>
                  <a:pt x="56" y="459"/>
                  <a:pt x="33" y="424"/>
                  <a:pt x="21" y="382"/>
                </a:cubicBezTo>
                <a:cubicBezTo>
                  <a:pt x="12" y="349"/>
                  <a:pt x="10" y="315"/>
                  <a:pt x="15" y="279"/>
                </a:cubicBezTo>
                <a:cubicBezTo>
                  <a:pt x="18" y="264"/>
                  <a:pt x="22" y="250"/>
                  <a:pt x="27" y="235"/>
                </a:cubicBezTo>
                <a:close/>
                <a:moveTo>
                  <a:pt x="492" y="467"/>
                </a:moveTo>
                <a:cubicBezTo>
                  <a:pt x="498" y="458"/>
                  <a:pt x="504" y="450"/>
                  <a:pt x="510" y="440"/>
                </a:cubicBezTo>
                <a:cubicBezTo>
                  <a:pt x="545" y="383"/>
                  <a:pt x="555" y="319"/>
                  <a:pt x="539" y="256"/>
                </a:cubicBezTo>
                <a:cubicBezTo>
                  <a:pt x="536" y="241"/>
                  <a:pt x="531" y="227"/>
                  <a:pt x="525" y="213"/>
                </a:cubicBezTo>
                <a:cubicBezTo>
                  <a:pt x="520" y="199"/>
                  <a:pt x="515" y="186"/>
                  <a:pt x="509" y="173"/>
                </a:cubicBezTo>
                <a:cubicBezTo>
                  <a:pt x="546" y="220"/>
                  <a:pt x="564" y="276"/>
                  <a:pt x="559" y="335"/>
                </a:cubicBezTo>
                <a:cubicBezTo>
                  <a:pt x="555" y="386"/>
                  <a:pt x="532" y="431"/>
                  <a:pt x="492" y="467"/>
                </a:cubicBezTo>
                <a:close/>
              </a:path>
            </a:pathLst>
          </a:cu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vert="horz" wrap="square" lIns="67211" tIns="33605" rIns="67211" bIns="33605" numCol="1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72084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4" name="Rechteck 43">
            <a:hlinkClick r:id="" action="ppaction://noaction"/>
            <a:extLst>
              <a:ext uri="{FF2B5EF4-FFF2-40B4-BE49-F238E27FC236}">
                <a16:creationId xmlns:a16="http://schemas.microsoft.com/office/drawing/2014/main" id="{6E7837BC-41CE-6B72-21EF-841EAE7CA6A7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9430856" y="1729693"/>
            <a:ext cx="203749" cy="246221"/>
          </a:xfrm>
          <a:prstGeom prst="rect">
            <a:avLst/>
          </a:prstGeom>
          <a:noFill/>
          <a:ln w="63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 cap="flat" cmpd="sng" algn="ctr">
                <a:solidFill>
                  <a:schemeClr val="tx1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sz="1600" b="1" noProof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5" name="Freeform 150">
            <a:extLst>
              <a:ext uri="{FF2B5EF4-FFF2-40B4-BE49-F238E27FC236}">
                <a16:creationId xmlns:a16="http://schemas.microsoft.com/office/drawing/2014/main" id="{AA7861AB-C4C3-4E3F-0FFA-4B31C09D2670}"/>
              </a:ext>
            </a:extLst>
          </p:cNvPr>
          <p:cNvSpPr>
            <a:spLocks noEditPoints="1"/>
          </p:cNvSpPr>
          <p:nvPr/>
        </p:nvSpPr>
        <p:spPr bwMode="gray">
          <a:xfrm>
            <a:off x="9360927" y="1670404"/>
            <a:ext cx="344126" cy="344124"/>
          </a:xfrm>
          <a:custGeom>
            <a:avLst/>
            <a:gdLst>
              <a:gd name="T0" fmla="*/ 496 w 571"/>
              <a:gd name="T1" fmla="*/ 148 h 589"/>
              <a:gd name="T2" fmla="*/ 99 w 571"/>
              <a:gd name="T3" fmla="*/ 105 h 589"/>
              <a:gd name="T4" fmla="*/ 12 w 571"/>
              <a:gd name="T5" fmla="*/ 380 h 589"/>
              <a:gd name="T6" fmla="*/ 270 w 571"/>
              <a:gd name="T7" fmla="*/ 588 h 589"/>
              <a:gd name="T8" fmla="*/ 481 w 571"/>
              <a:gd name="T9" fmla="*/ 484 h 589"/>
              <a:gd name="T10" fmla="*/ 502 w 571"/>
              <a:gd name="T11" fmla="*/ 154 h 589"/>
              <a:gd name="T12" fmla="*/ 53 w 571"/>
              <a:gd name="T13" fmla="*/ 459 h 589"/>
              <a:gd name="T14" fmla="*/ 172 w 571"/>
              <a:gd name="T15" fmla="*/ 543 h 589"/>
              <a:gd name="T16" fmla="*/ 390 w 571"/>
              <a:gd name="T17" fmla="*/ 549 h 589"/>
              <a:gd name="T18" fmla="*/ 165 w 571"/>
              <a:gd name="T19" fmla="*/ 75 h 589"/>
              <a:gd name="T20" fmla="*/ 334 w 571"/>
              <a:gd name="T21" fmla="*/ 62 h 589"/>
              <a:gd name="T22" fmla="*/ 165 w 571"/>
              <a:gd name="T23" fmla="*/ 75 h 589"/>
              <a:gd name="T24" fmla="*/ 169 w 571"/>
              <a:gd name="T25" fmla="*/ 534 h 589"/>
              <a:gd name="T26" fmla="*/ 444 w 571"/>
              <a:gd name="T27" fmla="*/ 508 h 589"/>
              <a:gd name="T28" fmla="*/ 307 w 571"/>
              <a:gd name="T29" fmla="*/ 541 h 589"/>
              <a:gd name="T30" fmla="*/ 39 w 571"/>
              <a:gd name="T31" fmla="*/ 222 h 589"/>
              <a:gd name="T32" fmla="*/ 116 w 571"/>
              <a:gd name="T33" fmla="*/ 110 h 589"/>
              <a:gd name="T34" fmla="*/ 446 w 571"/>
              <a:gd name="T35" fmla="*/ 116 h 589"/>
              <a:gd name="T36" fmla="*/ 535 w 571"/>
              <a:gd name="T37" fmla="*/ 270 h 589"/>
              <a:gd name="T38" fmla="*/ 467 w 571"/>
              <a:gd name="T39" fmla="*/ 486 h 589"/>
              <a:gd name="T40" fmla="*/ 486 w 571"/>
              <a:gd name="T41" fmla="*/ 148 h 589"/>
              <a:gd name="T42" fmla="*/ 495 w 571"/>
              <a:gd name="T43" fmla="*/ 160 h 589"/>
              <a:gd name="T44" fmla="*/ 447 w 571"/>
              <a:gd name="T45" fmla="*/ 108 h 589"/>
              <a:gd name="T46" fmla="*/ 286 w 571"/>
              <a:gd name="T47" fmla="*/ 40 h 589"/>
              <a:gd name="T48" fmla="*/ 116 w 571"/>
              <a:gd name="T49" fmla="*/ 101 h 589"/>
              <a:gd name="T50" fmla="*/ 96 w 571"/>
              <a:gd name="T51" fmla="*/ 118 h 589"/>
              <a:gd name="T52" fmla="*/ 297 w 571"/>
              <a:gd name="T53" fmla="*/ 23 h 589"/>
              <a:gd name="T54" fmla="*/ 478 w 571"/>
              <a:gd name="T55" fmla="*/ 131 h 589"/>
              <a:gd name="T56" fmla="*/ 27 w 571"/>
              <a:gd name="T57" fmla="*/ 235 h 589"/>
              <a:gd name="T58" fmla="*/ 90 w 571"/>
              <a:gd name="T59" fmla="*/ 486 h 589"/>
              <a:gd name="T60" fmla="*/ 15 w 571"/>
              <a:gd name="T61" fmla="*/ 279 h 589"/>
              <a:gd name="T62" fmla="*/ 492 w 571"/>
              <a:gd name="T63" fmla="*/ 467 h 589"/>
              <a:gd name="T64" fmla="*/ 539 w 571"/>
              <a:gd name="T65" fmla="*/ 256 h 589"/>
              <a:gd name="T66" fmla="*/ 509 w 571"/>
              <a:gd name="T67" fmla="*/ 173 h 589"/>
              <a:gd name="T68" fmla="*/ 492 w 571"/>
              <a:gd name="T69" fmla="*/ 467 h 5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571" h="589">
                <a:moveTo>
                  <a:pt x="502" y="154"/>
                </a:moveTo>
                <a:cubicBezTo>
                  <a:pt x="500" y="152"/>
                  <a:pt x="498" y="150"/>
                  <a:pt x="496" y="148"/>
                </a:cubicBezTo>
                <a:cubicBezTo>
                  <a:pt x="450" y="65"/>
                  <a:pt x="392" y="34"/>
                  <a:pt x="352" y="23"/>
                </a:cubicBezTo>
                <a:cubicBezTo>
                  <a:pt x="270" y="0"/>
                  <a:pt x="173" y="32"/>
                  <a:pt x="99" y="105"/>
                </a:cubicBezTo>
                <a:cubicBezTo>
                  <a:pt x="51" y="154"/>
                  <a:pt x="19" y="215"/>
                  <a:pt x="9" y="277"/>
                </a:cubicBezTo>
                <a:cubicBezTo>
                  <a:pt x="3" y="311"/>
                  <a:pt x="4" y="346"/>
                  <a:pt x="12" y="380"/>
                </a:cubicBezTo>
                <a:cubicBezTo>
                  <a:pt x="35" y="477"/>
                  <a:pt x="112" y="555"/>
                  <a:pt x="207" y="580"/>
                </a:cubicBezTo>
                <a:cubicBezTo>
                  <a:pt x="228" y="585"/>
                  <a:pt x="249" y="588"/>
                  <a:pt x="270" y="588"/>
                </a:cubicBezTo>
                <a:cubicBezTo>
                  <a:pt x="346" y="588"/>
                  <a:pt x="419" y="552"/>
                  <a:pt x="481" y="484"/>
                </a:cubicBezTo>
                <a:cubicBezTo>
                  <a:pt x="481" y="484"/>
                  <a:pt x="481" y="484"/>
                  <a:pt x="481" y="484"/>
                </a:cubicBezTo>
                <a:cubicBezTo>
                  <a:pt x="532" y="445"/>
                  <a:pt x="561" y="394"/>
                  <a:pt x="566" y="336"/>
                </a:cubicBezTo>
                <a:cubicBezTo>
                  <a:pt x="571" y="268"/>
                  <a:pt x="549" y="205"/>
                  <a:pt x="502" y="154"/>
                </a:cubicBezTo>
                <a:close/>
                <a:moveTo>
                  <a:pt x="209" y="573"/>
                </a:moveTo>
                <a:cubicBezTo>
                  <a:pt x="145" y="557"/>
                  <a:pt x="89" y="515"/>
                  <a:pt x="53" y="459"/>
                </a:cubicBezTo>
                <a:cubicBezTo>
                  <a:pt x="72" y="483"/>
                  <a:pt x="97" y="502"/>
                  <a:pt x="127" y="518"/>
                </a:cubicBezTo>
                <a:cubicBezTo>
                  <a:pt x="141" y="527"/>
                  <a:pt x="156" y="536"/>
                  <a:pt x="172" y="543"/>
                </a:cubicBezTo>
                <a:cubicBezTo>
                  <a:pt x="230" y="570"/>
                  <a:pt x="293" y="577"/>
                  <a:pt x="352" y="562"/>
                </a:cubicBezTo>
                <a:cubicBezTo>
                  <a:pt x="365" y="559"/>
                  <a:pt x="377" y="554"/>
                  <a:pt x="390" y="549"/>
                </a:cubicBezTo>
                <a:cubicBezTo>
                  <a:pt x="333" y="581"/>
                  <a:pt x="271" y="589"/>
                  <a:pt x="209" y="573"/>
                </a:cubicBezTo>
                <a:close/>
                <a:moveTo>
                  <a:pt x="165" y="75"/>
                </a:moveTo>
                <a:cubicBezTo>
                  <a:pt x="247" y="29"/>
                  <a:pt x="335" y="46"/>
                  <a:pt x="399" y="82"/>
                </a:cubicBezTo>
                <a:cubicBezTo>
                  <a:pt x="378" y="73"/>
                  <a:pt x="356" y="66"/>
                  <a:pt x="334" y="62"/>
                </a:cubicBezTo>
                <a:cubicBezTo>
                  <a:pt x="312" y="57"/>
                  <a:pt x="290" y="55"/>
                  <a:pt x="269" y="55"/>
                </a:cubicBezTo>
                <a:cubicBezTo>
                  <a:pt x="232" y="55"/>
                  <a:pt x="196" y="62"/>
                  <a:pt x="165" y="75"/>
                </a:cubicBezTo>
                <a:close/>
                <a:moveTo>
                  <a:pt x="175" y="537"/>
                </a:moveTo>
                <a:cubicBezTo>
                  <a:pt x="173" y="536"/>
                  <a:pt x="171" y="535"/>
                  <a:pt x="169" y="534"/>
                </a:cubicBezTo>
                <a:cubicBezTo>
                  <a:pt x="211" y="548"/>
                  <a:pt x="260" y="553"/>
                  <a:pt x="308" y="548"/>
                </a:cubicBezTo>
                <a:cubicBezTo>
                  <a:pt x="357" y="543"/>
                  <a:pt x="404" y="529"/>
                  <a:pt x="444" y="508"/>
                </a:cubicBezTo>
                <a:cubicBezTo>
                  <a:pt x="357" y="581"/>
                  <a:pt x="249" y="572"/>
                  <a:pt x="175" y="537"/>
                </a:cubicBezTo>
                <a:close/>
                <a:moveTo>
                  <a:pt x="307" y="541"/>
                </a:moveTo>
                <a:cubicBezTo>
                  <a:pt x="244" y="547"/>
                  <a:pt x="181" y="537"/>
                  <a:pt x="131" y="512"/>
                </a:cubicBezTo>
                <a:cubicBezTo>
                  <a:pt x="35" y="444"/>
                  <a:pt x="0" y="336"/>
                  <a:pt x="39" y="222"/>
                </a:cubicBezTo>
                <a:cubicBezTo>
                  <a:pt x="45" y="202"/>
                  <a:pt x="54" y="183"/>
                  <a:pt x="65" y="166"/>
                </a:cubicBezTo>
                <a:cubicBezTo>
                  <a:pt x="79" y="146"/>
                  <a:pt x="96" y="128"/>
                  <a:pt x="116" y="110"/>
                </a:cubicBezTo>
                <a:cubicBezTo>
                  <a:pt x="196" y="48"/>
                  <a:pt x="294" y="60"/>
                  <a:pt x="332" y="68"/>
                </a:cubicBezTo>
                <a:cubicBezTo>
                  <a:pt x="373" y="77"/>
                  <a:pt x="412" y="93"/>
                  <a:pt x="446" y="116"/>
                </a:cubicBezTo>
                <a:cubicBezTo>
                  <a:pt x="479" y="145"/>
                  <a:pt x="505" y="182"/>
                  <a:pt x="521" y="222"/>
                </a:cubicBezTo>
                <a:cubicBezTo>
                  <a:pt x="526" y="237"/>
                  <a:pt x="531" y="253"/>
                  <a:pt x="535" y="270"/>
                </a:cubicBezTo>
                <a:cubicBezTo>
                  <a:pt x="546" y="327"/>
                  <a:pt x="535" y="385"/>
                  <a:pt x="504" y="437"/>
                </a:cubicBezTo>
                <a:cubicBezTo>
                  <a:pt x="493" y="455"/>
                  <a:pt x="480" y="472"/>
                  <a:pt x="467" y="486"/>
                </a:cubicBezTo>
                <a:cubicBezTo>
                  <a:pt x="423" y="516"/>
                  <a:pt x="366" y="536"/>
                  <a:pt x="307" y="541"/>
                </a:cubicBezTo>
                <a:close/>
                <a:moveTo>
                  <a:pt x="486" y="148"/>
                </a:moveTo>
                <a:cubicBezTo>
                  <a:pt x="488" y="150"/>
                  <a:pt x="489" y="152"/>
                  <a:pt x="491" y="154"/>
                </a:cubicBezTo>
                <a:cubicBezTo>
                  <a:pt x="492" y="156"/>
                  <a:pt x="493" y="158"/>
                  <a:pt x="495" y="160"/>
                </a:cubicBezTo>
                <a:cubicBezTo>
                  <a:pt x="492" y="156"/>
                  <a:pt x="489" y="152"/>
                  <a:pt x="486" y="148"/>
                </a:cubicBezTo>
                <a:close/>
                <a:moveTo>
                  <a:pt x="447" y="108"/>
                </a:moveTo>
                <a:cubicBezTo>
                  <a:pt x="446" y="107"/>
                  <a:pt x="445" y="106"/>
                  <a:pt x="443" y="105"/>
                </a:cubicBezTo>
                <a:cubicBezTo>
                  <a:pt x="397" y="66"/>
                  <a:pt x="341" y="43"/>
                  <a:pt x="286" y="40"/>
                </a:cubicBezTo>
                <a:cubicBezTo>
                  <a:pt x="281" y="40"/>
                  <a:pt x="277" y="39"/>
                  <a:pt x="273" y="39"/>
                </a:cubicBezTo>
                <a:cubicBezTo>
                  <a:pt x="216" y="39"/>
                  <a:pt x="162" y="61"/>
                  <a:pt x="116" y="101"/>
                </a:cubicBezTo>
                <a:cubicBezTo>
                  <a:pt x="113" y="104"/>
                  <a:pt x="110" y="106"/>
                  <a:pt x="107" y="109"/>
                </a:cubicBezTo>
                <a:cubicBezTo>
                  <a:pt x="103" y="112"/>
                  <a:pt x="100" y="115"/>
                  <a:pt x="96" y="118"/>
                </a:cubicBezTo>
                <a:cubicBezTo>
                  <a:pt x="99" y="115"/>
                  <a:pt x="102" y="113"/>
                  <a:pt x="104" y="110"/>
                </a:cubicBezTo>
                <a:cubicBezTo>
                  <a:pt x="160" y="55"/>
                  <a:pt x="230" y="23"/>
                  <a:pt x="297" y="23"/>
                </a:cubicBezTo>
                <a:cubicBezTo>
                  <a:pt x="315" y="23"/>
                  <a:pt x="333" y="25"/>
                  <a:pt x="350" y="30"/>
                </a:cubicBezTo>
                <a:cubicBezTo>
                  <a:pt x="401" y="44"/>
                  <a:pt x="444" y="78"/>
                  <a:pt x="478" y="131"/>
                </a:cubicBezTo>
                <a:cubicBezTo>
                  <a:pt x="468" y="123"/>
                  <a:pt x="458" y="115"/>
                  <a:pt x="447" y="108"/>
                </a:cubicBezTo>
                <a:close/>
                <a:moveTo>
                  <a:pt x="27" y="235"/>
                </a:moveTo>
                <a:cubicBezTo>
                  <a:pt x="9" y="299"/>
                  <a:pt x="14" y="362"/>
                  <a:pt x="41" y="418"/>
                </a:cubicBezTo>
                <a:cubicBezTo>
                  <a:pt x="53" y="443"/>
                  <a:pt x="70" y="466"/>
                  <a:pt x="90" y="486"/>
                </a:cubicBezTo>
                <a:cubicBezTo>
                  <a:pt x="56" y="459"/>
                  <a:pt x="33" y="424"/>
                  <a:pt x="21" y="382"/>
                </a:cubicBezTo>
                <a:cubicBezTo>
                  <a:pt x="12" y="349"/>
                  <a:pt x="10" y="315"/>
                  <a:pt x="15" y="279"/>
                </a:cubicBezTo>
                <a:cubicBezTo>
                  <a:pt x="18" y="264"/>
                  <a:pt x="22" y="250"/>
                  <a:pt x="27" y="235"/>
                </a:cubicBezTo>
                <a:close/>
                <a:moveTo>
                  <a:pt x="492" y="467"/>
                </a:moveTo>
                <a:cubicBezTo>
                  <a:pt x="498" y="458"/>
                  <a:pt x="504" y="450"/>
                  <a:pt x="510" y="440"/>
                </a:cubicBezTo>
                <a:cubicBezTo>
                  <a:pt x="545" y="383"/>
                  <a:pt x="555" y="319"/>
                  <a:pt x="539" y="256"/>
                </a:cubicBezTo>
                <a:cubicBezTo>
                  <a:pt x="536" y="241"/>
                  <a:pt x="531" y="227"/>
                  <a:pt x="525" y="213"/>
                </a:cubicBezTo>
                <a:cubicBezTo>
                  <a:pt x="520" y="199"/>
                  <a:pt x="515" y="186"/>
                  <a:pt x="509" y="173"/>
                </a:cubicBezTo>
                <a:cubicBezTo>
                  <a:pt x="546" y="220"/>
                  <a:pt x="564" y="276"/>
                  <a:pt x="559" y="335"/>
                </a:cubicBezTo>
                <a:cubicBezTo>
                  <a:pt x="555" y="386"/>
                  <a:pt x="532" y="431"/>
                  <a:pt x="492" y="467"/>
                </a:cubicBezTo>
                <a:close/>
              </a:path>
            </a:pathLst>
          </a:cu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vert="horz" wrap="square" lIns="67211" tIns="33605" rIns="67211" bIns="33605" numCol="1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72084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85484D63-760C-B999-D780-DA2A629B9BA0}"/>
              </a:ext>
            </a:extLst>
          </p:cNvPr>
          <p:cNvSpPr txBox="1"/>
          <p:nvPr/>
        </p:nvSpPr>
        <p:spPr>
          <a:xfrm>
            <a:off x="3655434" y="3510428"/>
            <a:ext cx="2127127" cy="2077936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 b="1"/>
              <a:t>Übersicht / Transparenz </a:t>
            </a:r>
            <a:r>
              <a:rPr lang="de-DE" sz="1400"/>
              <a:t>zu allen geplanten und laufenden (Sonder)-Projekten gemäß Freigaben in der Jahresplanung</a:t>
            </a:r>
          </a:p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Managen / Nachhalten von </a:t>
            </a:r>
            <a:r>
              <a:rPr lang="de-DE" sz="1400" b="1"/>
              <a:t>Abhängigkeiten</a:t>
            </a:r>
          </a:p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Erfassung der </a:t>
            </a:r>
            <a:r>
              <a:rPr lang="de-DE" sz="1400" b="1"/>
              <a:t>Demand-Nr.</a:t>
            </a:r>
            <a:r>
              <a:rPr lang="de-DE" sz="1400"/>
              <a:t> </a:t>
            </a:r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0E32B803-BD65-3A87-E7B9-68EB3B636F8B}"/>
              </a:ext>
            </a:extLst>
          </p:cNvPr>
          <p:cNvSpPr txBox="1"/>
          <p:nvPr/>
        </p:nvSpPr>
        <p:spPr>
          <a:xfrm>
            <a:off x="9326519" y="2572231"/>
            <a:ext cx="2127127" cy="2956125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 b="1"/>
              <a:t>Arbeitsvorrat</a:t>
            </a:r>
            <a:r>
              <a:rPr lang="de-DE" sz="1400"/>
              <a:t> im ISS Kontext</a:t>
            </a:r>
          </a:p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Könnte als Value Streams geclustert werden</a:t>
            </a:r>
          </a:p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 b="1"/>
              <a:t>Agile Abarbeitung </a:t>
            </a:r>
            <a:r>
              <a:rPr lang="de-DE" sz="1400"/>
              <a:t>partiell möglich</a:t>
            </a:r>
          </a:p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Steuerung von </a:t>
            </a:r>
            <a:r>
              <a:rPr lang="de-DE" sz="1400" b="1"/>
              <a:t>Schlüssel-Ressourcen</a:t>
            </a:r>
            <a:r>
              <a:rPr lang="de-DE" sz="1400"/>
              <a:t> ist Herausforderung</a:t>
            </a:r>
          </a:p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Abwägung der </a:t>
            </a:r>
            <a:r>
              <a:rPr lang="de-DE" sz="1400" b="1"/>
              <a:t>resultierenden Betriebskosten </a:t>
            </a:r>
            <a:r>
              <a:rPr lang="de-DE" sz="1400"/>
              <a:t>bereits bei Projektanbahnung</a:t>
            </a:r>
          </a:p>
        </p:txBody>
      </p:sp>
      <p:grpSp>
        <p:nvGrpSpPr>
          <p:cNvPr id="50" name="Gruppieren 49">
            <a:extLst>
              <a:ext uri="{FF2B5EF4-FFF2-40B4-BE49-F238E27FC236}">
                <a16:creationId xmlns:a16="http://schemas.microsoft.com/office/drawing/2014/main" id="{9F5AFC25-9EF9-C5D1-F7AD-E6AE70B35961}"/>
              </a:ext>
            </a:extLst>
          </p:cNvPr>
          <p:cNvGrpSpPr/>
          <p:nvPr/>
        </p:nvGrpSpPr>
        <p:grpSpPr>
          <a:xfrm>
            <a:off x="7247946" y="5396808"/>
            <a:ext cx="628283" cy="599842"/>
            <a:chOff x="6482488" y="2284840"/>
            <a:chExt cx="628283" cy="599842"/>
          </a:xfrm>
        </p:grpSpPr>
        <p:sp>
          <p:nvSpPr>
            <p:cNvPr id="51" name="Freihandform: Form 50">
              <a:extLst>
                <a:ext uri="{FF2B5EF4-FFF2-40B4-BE49-F238E27FC236}">
                  <a16:creationId xmlns:a16="http://schemas.microsoft.com/office/drawing/2014/main" id="{61835176-7C70-E1A8-18FA-7BDEDB4EBFE6}"/>
                </a:ext>
              </a:extLst>
            </p:cNvPr>
            <p:cNvSpPr/>
            <p:nvPr/>
          </p:nvSpPr>
          <p:spPr>
            <a:xfrm>
              <a:off x="6482488" y="2370338"/>
              <a:ext cx="291902" cy="428846"/>
            </a:xfrm>
            <a:custGeom>
              <a:avLst/>
              <a:gdLst>
                <a:gd name="connsiteX0" fmla="*/ 593693 w 714660"/>
                <a:gd name="connsiteY0" fmla="*/ 689038 h 1049940"/>
                <a:gd name="connsiteX1" fmla="*/ 714661 w 714660"/>
                <a:gd name="connsiteY1" fmla="*/ 525018 h 1049940"/>
                <a:gd name="connsiteX2" fmla="*/ 327470 w 714660"/>
                <a:gd name="connsiteY2" fmla="*/ 0 h 1049940"/>
                <a:gd name="connsiteX3" fmla="*/ 0 w 714660"/>
                <a:gd name="connsiteY3" fmla="*/ 0 h 1049940"/>
                <a:gd name="connsiteX4" fmla="*/ 163735 w 714660"/>
                <a:gd name="connsiteY4" fmla="*/ 222028 h 1049940"/>
                <a:gd name="connsiteX5" fmla="*/ 550831 w 714660"/>
                <a:gd name="connsiteY5" fmla="*/ 747046 h 1049940"/>
                <a:gd name="connsiteX6" fmla="*/ 327470 w 714660"/>
                <a:gd name="connsiteY6" fmla="*/ 1049941 h 1049940"/>
                <a:gd name="connsiteX7" fmla="*/ 0 w 714660"/>
                <a:gd name="connsiteY7" fmla="*/ 1049941 h 1049940"/>
                <a:gd name="connsiteX8" fmla="*/ 349091 w 714660"/>
                <a:gd name="connsiteY8" fmla="*/ 576548 h 1049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14660" h="1049940">
                  <a:moveTo>
                    <a:pt x="593693" y="689038"/>
                  </a:moveTo>
                  <a:lnTo>
                    <a:pt x="714661" y="525018"/>
                  </a:lnTo>
                  <a:lnTo>
                    <a:pt x="327470" y="0"/>
                  </a:lnTo>
                  <a:lnTo>
                    <a:pt x="0" y="0"/>
                  </a:lnTo>
                  <a:lnTo>
                    <a:pt x="163735" y="222028"/>
                  </a:lnTo>
                  <a:lnTo>
                    <a:pt x="550831" y="747046"/>
                  </a:lnTo>
                  <a:lnTo>
                    <a:pt x="327470" y="1049941"/>
                  </a:lnTo>
                  <a:lnTo>
                    <a:pt x="0" y="1049941"/>
                  </a:lnTo>
                  <a:lnTo>
                    <a:pt x="349091" y="576548"/>
                  </a:lnTo>
                </a:path>
              </a:pathLst>
            </a:custGeom>
            <a:noFill/>
            <a:ln w="190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52" name="Freihandform: Form 51">
              <a:extLst>
                <a:ext uri="{FF2B5EF4-FFF2-40B4-BE49-F238E27FC236}">
                  <a16:creationId xmlns:a16="http://schemas.microsoft.com/office/drawing/2014/main" id="{F17779A3-8BD8-A3CD-024A-40BB1F590F62}"/>
                </a:ext>
              </a:extLst>
            </p:cNvPr>
            <p:cNvSpPr/>
            <p:nvPr/>
          </p:nvSpPr>
          <p:spPr>
            <a:xfrm>
              <a:off x="6702476" y="2284840"/>
              <a:ext cx="408295" cy="599842"/>
            </a:xfrm>
            <a:custGeom>
              <a:avLst/>
              <a:gdLst>
                <a:gd name="connsiteX0" fmla="*/ 593693 w 714660"/>
                <a:gd name="connsiteY0" fmla="*/ 689038 h 1049940"/>
                <a:gd name="connsiteX1" fmla="*/ 714661 w 714660"/>
                <a:gd name="connsiteY1" fmla="*/ 525018 h 1049940"/>
                <a:gd name="connsiteX2" fmla="*/ 327470 w 714660"/>
                <a:gd name="connsiteY2" fmla="*/ 0 h 1049940"/>
                <a:gd name="connsiteX3" fmla="*/ 0 w 714660"/>
                <a:gd name="connsiteY3" fmla="*/ 0 h 1049940"/>
                <a:gd name="connsiteX4" fmla="*/ 163735 w 714660"/>
                <a:gd name="connsiteY4" fmla="*/ 222028 h 1049940"/>
                <a:gd name="connsiteX5" fmla="*/ 550831 w 714660"/>
                <a:gd name="connsiteY5" fmla="*/ 747046 h 1049940"/>
                <a:gd name="connsiteX6" fmla="*/ 327470 w 714660"/>
                <a:gd name="connsiteY6" fmla="*/ 1049941 h 1049940"/>
                <a:gd name="connsiteX7" fmla="*/ 0 w 714660"/>
                <a:gd name="connsiteY7" fmla="*/ 1049941 h 1049940"/>
                <a:gd name="connsiteX8" fmla="*/ 349091 w 714660"/>
                <a:gd name="connsiteY8" fmla="*/ 576548 h 1049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14660" h="1049940">
                  <a:moveTo>
                    <a:pt x="593693" y="689038"/>
                  </a:moveTo>
                  <a:lnTo>
                    <a:pt x="714661" y="525018"/>
                  </a:lnTo>
                  <a:lnTo>
                    <a:pt x="327470" y="0"/>
                  </a:lnTo>
                  <a:lnTo>
                    <a:pt x="0" y="0"/>
                  </a:lnTo>
                  <a:lnTo>
                    <a:pt x="163735" y="222028"/>
                  </a:lnTo>
                  <a:lnTo>
                    <a:pt x="550831" y="747046"/>
                  </a:lnTo>
                  <a:lnTo>
                    <a:pt x="327470" y="1049941"/>
                  </a:lnTo>
                  <a:lnTo>
                    <a:pt x="0" y="1049941"/>
                  </a:lnTo>
                  <a:lnTo>
                    <a:pt x="349091" y="576548"/>
                  </a:lnTo>
                </a:path>
              </a:pathLst>
            </a:custGeom>
            <a:noFill/>
            <a:ln w="19050" cap="flat">
              <a:solidFill>
                <a:schemeClr val="accent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grpSp>
        <p:nvGrpSpPr>
          <p:cNvPr id="53" name="Gruppieren 52">
            <a:extLst>
              <a:ext uri="{FF2B5EF4-FFF2-40B4-BE49-F238E27FC236}">
                <a16:creationId xmlns:a16="http://schemas.microsoft.com/office/drawing/2014/main" id="{EF649992-6E22-A9AC-E42C-1FAF2A80E307}"/>
              </a:ext>
            </a:extLst>
          </p:cNvPr>
          <p:cNvGrpSpPr/>
          <p:nvPr/>
        </p:nvGrpSpPr>
        <p:grpSpPr>
          <a:xfrm>
            <a:off x="1528842" y="5373030"/>
            <a:ext cx="628283" cy="599842"/>
            <a:chOff x="6482488" y="2284840"/>
            <a:chExt cx="628283" cy="599842"/>
          </a:xfrm>
        </p:grpSpPr>
        <p:sp>
          <p:nvSpPr>
            <p:cNvPr id="54" name="Freihandform: Form 53">
              <a:extLst>
                <a:ext uri="{FF2B5EF4-FFF2-40B4-BE49-F238E27FC236}">
                  <a16:creationId xmlns:a16="http://schemas.microsoft.com/office/drawing/2014/main" id="{DE36E804-05DA-5879-6E40-E4FCE2E511EE}"/>
                </a:ext>
              </a:extLst>
            </p:cNvPr>
            <p:cNvSpPr/>
            <p:nvPr/>
          </p:nvSpPr>
          <p:spPr>
            <a:xfrm>
              <a:off x="6482488" y="2370338"/>
              <a:ext cx="291902" cy="428846"/>
            </a:xfrm>
            <a:custGeom>
              <a:avLst/>
              <a:gdLst>
                <a:gd name="connsiteX0" fmla="*/ 593693 w 714660"/>
                <a:gd name="connsiteY0" fmla="*/ 689038 h 1049940"/>
                <a:gd name="connsiteX1" fmla="*/ 714661 w 714660"/>
                <a:gd name="connsiteY1" fmla="*/ 525018 h 1049940"/>
                <a:gd name="connsiteX2" fmla="*/ 327470 w 714660"/>
                <a:gd name="connsiteY2" fmla="*/ 0 h 1049940"/>
                <a:gd name="connsiteX3" fmla="*/ 0 w 714660"/>
                <a:gd name="connsiteY3" fmla="*/ 0 h 1049940"/>
                <a:gd name="connsiteX4" fmla="*/ 163735 w 714660"/>
                <a:gd name="connsiteY4" fmla="*/ 222028 h 1049940"/>
                <a:gd name="connsiteX5" fmla="*/ 550831 w 714660"/>
                <a:gd name="connsiteY5" fmla="*/ 747046 h 1049940"/>
                <a:gd name="connsiteX6" fmla="*/ 327470 w 714660"/>
                <a:gd name="connsiteY6" fmla="*/ 1049941 h 1049940"/>
                <a:gd name="connsiteX7" fmla="*/ 0 w 714660"/>
                <a:gd name="connsiteY7" fmla="*/ 1049941 h 1049940"/>
                <a:gd name="connsiteX8" fmla="*/ 349091 w 714660"/>
                <a:gd name="connsiteY8" fmla="*/ 576548 h 1049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14660" h="1049940">
                  <a:moveTo>
                    <a:pt x="593693" y="689038"/>
                  </a:moveTo>
                  <a:lnTo>
                    <a:pt x="714661" y="525018"/>
                  </a:lnTo>
                  <a:lnTo>
                    <a:pt x="327470" y="0"/>
                  </a:lnTo>
                  <a:lnTo>
                    <a:pt x="0" y="0"/>
                  </a:lnTo>
                  <a:lnTo>
                    <a:pt x="163735" y="222028"/>
                  </a:lnTo>
                  <a:lnTo>
                    <a:pt x="550831" y="747046"/>
                  </a:lnTo>
                  <a:lnTo>
                    <a:pt x="327470" y="1049941"/>
                  </a:lnTo>
                  <a:lnTo>
                    <a:pt x="0" y="1049941"/>
                  </a:lnTo>
                  <a:lnTo>
                    <a:pt x="349091" y="576548"/>
                  </a:lnTo>
                </a:path>
              </a:pathLst>
            </a:custGeom>
            <a:noFill/>
            <a:ln w="190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55" name="Freihandform: Form 54">
              <a:extLst>
                <a:ext uri="{FF2B5EF4-FFF2-40B4-BE49-F238E27FC236}">
                  <a16:creationId xmlns:a16="http://schemas.microsoft.com/office/drawing/2014/main" id="{CCA44671-5DDC-0563-4890-DB0A097FE962}"/>
                </a:ext>
              </a:extLst>
            </p:cNvPr>
            <p:cNvSpPr/>
            <p:nvPr/>
          </p:nvSpPr>
          <p:spPr>
            <a:xfrm>
              <a:off x="6702476" y="2284840"/>
              <a:ext cx="408295" cy="599842"/>
            </a:xfrm>
            <a:custGeom>
              <a:avLst/>
              <a:gdLst>
                <a:gd name="connsiteX0" fmla="*/ 593693 w 714660"/>
                <a:gd name="connsiteY0" fmla="*/ 689038 h 1049940"/>
                <a:gd name="connsiteX1" fmla="*/ 714661 w 714660"/>
                <a:gd name="connsiteY1" fmla="*/ 525018 h 1049940"/>
                <a:gd name="connsiteX2" fmla="*/ 327470 w 714660"/>
                <a:gd name="connsiteY2" fmla="*/ 0 h 1049940"/>
                <a:gd name="connsiteX3" fmla="*/ 0 w 714660"/>
                <a:gd name="connsiteY3" fmla="*/ 0 h 1049940"/>
                <a:gd name="connsiteX4" fmla="*/ 163735 w 714660"/>
                <a:gd name="connsiteY4" fmla="*/ 222028 h 1049940"/>
                <a:gd name="connsiteX5" fmla="*/ 550831 w 714660"/>
                <a:gd name="connsiteY5" fmla="*/ 747046 h 1049940"/>
                <a:gd name="connsiteX6" fmla="*/ 327470 w 714660"/>
                <a:gd name="connsiteY6" fmla="*/ 1049941 h 1049940"/>
                <a:gd name="connsiteX7" fmla="*/ 0 w 714660"/>
                <a:gd name="connsiteY7" fmla="*/ 1049941 h 1049940"/>
                <a:gd name="connsiteX8" fmla="*/ 349091 w 714660"/>
                <a:gd name="connsiteY8" fmla="*/ 576548 h 1049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14660" h="1049940">
                  <a:moveTo>
                    <a:pt x="593693" y="689038"/>
                  </a:moveTo>
                  <a:lnTo>
                    <a:pt x="714661" y="525018"/>
                  </a:lnTo>
                  <a:lnTo>
                    <a:pt x="327470" y="0"/>
                  </a:lnTo>
                  <a:lnTo>
                    <a:pt x="0" y="0"/>
                  </a:lnTo>
                  <a:lnTo>
                    <a:pt x="163735" y="222028"/>
                  </a:lnTo>
                  <a:lnTo>
                    <a:pt x="550831" y="747046"/>
                  </a:lnTo>
                  <a:lnTo>
                    <a:pt x="327470" y="1049941"/>
                  </a:lnTo>
                  <a:lnTo>
                    <a:pt x="0" y="1049941"/>
                  </a:lnTo>
                  <a:lnTo>
                    <a:pt x="349091" y="576548"/>
                  </a:lnTo>
                </a:path>
              </a:pathLst>
            </a:custGeom>
            <a:noFill/>
            <a:ln w="19050" cap="flat">
              <a:solidFill>
                <a:schemeClr val="accent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grpSp>
        <p:nvGrpSpPr>
          <p:cNvPr id="56" name="Gruppieren 55">
            <a:extLst>
              <a:ext uri="{FF2B5EF4-FFF2-40B4-BE49-F238E27FC236}">
                <a16:creationId xmlns:a16="http://schemas.microsoft.com/office/drawing/2014/main" id="{41E455A3-DBB8-F2D4-4FA8-55C90C3DA7FA}"/>
              </a:ext>
            </a:extLst>
          </p:cNvPr>
          <p:cNvGrpSpPr/>
          <p:nvPr/>
        </p:nvGrpSpPr>
        <p:grpSpPr>
          <a:xfrm>
            <a:off x="475726" y="2706264"/>
            <a:ext cx="3132000" cy="2520000"/>
            <a:chOff x="477838" y="1726219"/>
            <a:chExt cx="3430019" cy="2668741"/>
          </a:xfrm>
        </p:grpSpPr>
        <p:sp>
          <p:nvSpPr>
            <p:cNvPr id="57" name="Rechteck 56">
              <a:extLst>
                <a:ext uri="{FF2B5EF4-FFF2-40B4-BE49-F238E27FC236}">
                  <a16:creationId xmlns:a16="http://schemas.microsoft.com/office/drawing/2014/main" id="{F1E14051-8B27-ED1D-7573-786E183ABEC8}"/>
                </a:ext>
              </a:extLst>
            </p:cNvPr>
            <p:cNvSpPr/>
            <p:nvPr/>
          </p:nvSpPr>
          <p:spPr>
            <a:xfrm>
              <a:off x="477838" y="1726219"/>
              <a:ext cx="3430019" cy="266874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lnSpc>
                  <a:spcPct val="90000"/>
                </a:lnSpc>
              </a:pPr>
              <a:endParaRPr lang="en-US" sz="1600" b="1" noProof="0">
                <a:solidFill>
                  <a:schemeClr val="tx1"/>
                </a:solidFill>
              </a:endParaRPr>
            </a:p>
          </p:txBody>
        </p:sp>
        <p:grpSp>
          <p:nvGrpSpPr>
            <p:cNvPr id="58" name="Gruppieren 57">
              <a:extLst>
                <a:ext uri="{FF2B5EF4-FFF2-40B4-BE49-F238E27FC236}">
                  <a16:creationId xmlns:a16="http://schemas.microsoft.com/office/drawing/2014/main" id="{E02C89F7-09A6-04E3-659A-DC578713390B}"/>
                </a:ext>
              </a:extLst>
            </p:cNvPr>
            <p:cNvGrpSpPr/>
            <p:nvPr/>
          </p:nvGrpSpPr>
          <p:grpSpPr>
            <a:xfrm>
              <a:off x="791141" y="1843693"/>
              <a:ext cx="344126" cy="344124"/>
              <a:chOff x="7872628" y="3048836"/>
              <a:chExt cx="344126" cy="344124"/>
            </a:xfrm>
          </p:grpSpPr>
          <p:sp>
            <p:nvSpPr>
              <p:cNvPr id="60" name="Rechteck 59">
                <a:hlinkClick r:id="" action="ppaction://noaction"/>
                <a:extLst>
                  <a:ext uri="{FF2B5EF4-FFF2-40B4-BE49-F238E27FC236}">
                    <a16:creationId xmlns:a16="http://schemas.microsoft.com/office/drawing/2014/main" id="{D53D0D64-A13C-D62E-38AE-2295DF19AFAB}"/>
                  </a:ext>
                </a:extLst>
              </p:cNvPr>
              <p:cNvSpPr/>
              <p:nvPr>
                <p:custDataLst>
                  <p:tags r:id="rId4"/>
                </p:custDataLst>
              </p:nvPr>
            </p:nvSpPr>
            <p:spPr>
              <a:xfrm>
                <a:off x="7942815" y="3090521"/>
                <a:ext cx="203749" cy="260754"/>
              </a:xfrm>
              <a:prstGeom prst="rect">
                <a:avLst/>
              </a:prstGeom>
              <a:noFill/>
              <a:ln w="635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6350" cap="flat" cmpd="sng" algn="ctr">
                    <a:solidFill>
                      <a:schemeClr val="tx1"/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sz="1600" b="1" noProof="0">
                    <a:solidFill>
                      <a:schemeClr val="tx1"/>
                    </a:solidFill>
                  </a:rPr>
                  <a:t>?</a:t>
                </a:r>
              </a:p>
            </p:txBody>
          </p:sp>
          <p:sp>
            <p:nvSpPr>
              <p:cNvPr id="61" name="Freeform 150">
                <a:extLst>
                  <a:ext uri="{FF2B5EF4-FFF2-40B4-BE49-F238E27FC236}">
                    <a16:creationId xmlns:a16="http://schemas.microsoft.com/office/drawing/2014/main" id="{67F18C15-A8D6-BEC3-6FB2-2BF5E81AD046}"/>
                  </a:ext>
                </a:extLst>
              </p:cNvPr>
              <p:cNvSpPr>
                <a:spLocks noEditPoints="1"/>
              </p:cNvSpPr>
              <p:nvPr/>
            </p:nvSpPr>
            <p:spPr bwMode="gray">
              <a:xfrm>
                <a:off x="7872628" y="3048836"/>
                <a:ext cx="344126" cy="344124"/>
              </a:xfrm>
              <a:custGeom>
                <a:avLst/>
                <a:gdLst>
                  <a:gd name="T0" fmla="*/ 496 w 571"/>
                  <a:gd name="T1" fmla="*/ 148 h 589"/>
                  <a:gd name="T2" fmla="*/ 99 w 571"/>
                  <a:gd name="T3" fmla="*/ 105 h 589"/>
                  <a:gd name="T4" fmla="*/ 12 w 571"/>
                  <a:gd name="T5" fmla="*/ 380 h 589"/>
                  <a:gd name="T6" fmla="*/ 270 w 571"/>
                  <a:gd name="T7" fmla="*/ 588 h 589"/>
                  <a:gd name="T8" fmla="*/ 481 w 571"/>
                  <a:gd name="T9" fmla="*/ 484 h 589"/>
                  <a:gd name="T10" fmla="*/ 502 w 571"/>
                  <a:gd name="T11" fmla="*/ 154 h 589"/>
                  <a:gd name="T12" fmla="*/ 53 w 571"/>
                  <a:gd name="T13" fmla="*/ 459 h 589"/>
                  <a:gd name="T14" fmla="*/ 172 w 571"/>
                  <a:gd name="T15" fmla="*/ 543 h 589"/>
                  <a:gd name="T16" fmla="*/ 390 w 571"/>
                  <a:gd name="T17" fmla="*/ 549 h 589"/>
                  <a:gd name="T18" fmla="*/ 165 w 571"/>
                  <a:gd name="T19" fmla="*/ 75 h 589"/>
                  <a:gd name="T20" fmla="*/ 334 w 571"/>
                  <a:gd name="T21" fmla="*/ 62 h 589"/>
                  <a:gd name="T22" fmla="*/ 165 w 571"/>
                  <a:gd name="T23" fmla="*/ 75 h 589"/>
                  <a:gd name="T24" fmla="*/ 169 w 571"/>
                  <a:gd name="T25" fmla="*/ 534 h 589"/>
                  <a:gd name="T26" fmla="*/ 444 w 571"/>
                  <a:gd name="T27" fmla="*/ 508 h 589"/>
                  <a:gd name="T28" fmla="*/ 307 w 571"/>
                  <a:gd name="T29" fmla="*/ 541 h 589"/>
                  <a:gd name="T30" fmla="*/ 39 w 571"/>
                  <a:gd name="T31" fmla="*/ 222 h 589"/>
                  <a:gd name="T32" fmla="*/ 116 w 571"/>
                  <a:gd name="T33" fmla="*/ 110 h 589"/>
                  <a:gd name="T34" fmla="*/ 446 w 571"/>
                  <a:gd name="T35" fmla="*/ 116 h 589"/>
                  <a:gd name="T36" fmla="*/ 535 w 571"/>
                  <a:gd name="T37" fmla="*/ 270 h 589"/>
                  <a:gd name="T38" fmla="*/ 467 w 571"/>
                  <a:gd name="T39" fmla="*/ 486 h 589"/>
                  <a:gd name="T40" fmla="*/ 486 w 571"/>
                  <a:gd name="T41" fmla="*/ 148 h 589"/>
                  <a:gd name="T42" fmla="*/ 495 w 571"/>
                  <a:gd name="T43" fmla="*/ 160 h 589"/>
                  <a:gd name="T44" fmla="*/ 447 w 571"/>
                  <a:gd name="T45" fmla="*/ 108 h 589"/>
                  <a:gd name="T46" fmla="*/ 286 w 571"/>
                  <a:gd name="T47" fmla="*/ 40 h 589"/>
                  <a:gd name="T48" fmla="*/ 116 w 571"/>
                  <a:gd name="T49" fmla="*/ 101 h 589"/>
                  <a:gd name="T50" fmla="*/ 96 w 571"/>
                  <a:gd name="T51" fmla="*/ 118 h 589"/>
                  <a:gd name="T52" fmla="*/ 297 w 571"/>
                  <a:gd name="T53" fmla="*/ 23 h 589"/>
                  <a:gd name="T54" fmla="*/ 478 w 571"/>
                  <a:gd name="T55" fmla="*/ 131 h 589"/>
                  <a:gd name="T56" fmla="*/ 27 w 571"/>
                  <a:gd name="T57" fmla="*/ 235 h 589"/>
                  <a:gd name="T58" fmla="*/ 90 w 571"/>
                  <a:gd name="T59" fmla="*/ 486 h 589"/>
                  <a:gd name="T60" fmla="*/ 15 w 571"/>
                  <a:gd name="T61" fmla="*/ 279 h 589"/>
                  <a:gd name="T62" fmla="*/ 492 w 571"/>
                  <a:gd name="T63" fmla="*/ 467 h 589"/>
                  <a:gd name="T64" fmla="*/ 539 w 571"/>
                  <a:gd name="T65" fmla="*/ 256 h 589"/>
                  <a:gd name="T66" fmla="*/ 509 w 571"/>
                  <a:gd name="T67" fmla="*/ 173 h 589"/>
                  <a:gd name="T68" fmla="*/ 492 w 571"/>
                  <a:gd name="T69" fmla="*/ 467 h 5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571" h="589">
                    <a:moveTo>
                      <a:pt x="502" y="154"/>
                    </a:moveTo>
                    <a:cubicBezTo>
                      <a:pt x="500" y="152"/>
                      <a:pt x="498" y="150"/>
                      <a:pt x="496" y="148"/>
                    </a:cubicBezTo>
                    <a:cubicBezTo>
                      <a:pt x="450" y="65"/>
                      <a:pt x="392" y="34"/>
                      <a:pt x="352" y="23"/>
                    </a:cubicBezTo>
                    <a:cubicBezTo>
                      <a:pt x="270" y="0"/>
                      <a:pt x="173" y="32"/>
                      <a:pt x="99" y="105"/>
                    </a:cubicBezTo>
                    <a:cubicBezTo>
                      <a:pt x="51" y="154"/>
                      <a:pt x="19" y="215"/>
                      <a:pt x="9" y="277"/>
                    </a:cubicBezTo>
                    <a:cubicBezTo>
                      <a:pt x="3" y="311"/>
                      <a:pt x="4" y="346"/>
                      <a:pt x="12" y="380"/>
                    </a:cubicBezTo>
                    <a:cubicBezTo>
                      <a:pt x="35" y="477"/>
                      <a:pt x="112" y="555"/>
                      <a:pt x="207" y="580"/>
                    </a:cubicBezTo>
                    <a:cubicBezTo>
                      <a:pt x="228" y="585"/>
                      <a:pt x="249" y="588"/>
                      <a:pt x="270" y="588"/>
                    </a:cubicBezTo>
                    <a:cubicBezTo>
                      <a:pt x="346" y="588"/>
                      <a:pt x="419" y="552"/>
                      <a:pt x="481" y="484"/>
                    </a:cubicBezTo>
                    <a:cubicBezTo>
                      <a:pt x="481" y="484"/>
                      <a:pt x="481" y="484"/>
                      <a:pt x="481" y="484"/>
                    </a:cubicBezTo>
                    <a:cubicBezTo>
                      <a:pt x="532" y="445"/>
                      <a:pt x="561" y="394"/>
                      <a:pt x="566" y="336"/>
                    </a:cubicBezTo>
                    <a:cubicBezTo>
                      <a:pt x="571" y="268"/>
                      <a:pt x="549" y="205"/>
                      <a:pt x="502" y="154"/>
                    </a:cubicBezTo>
                    <a:close/>
                    <a:moveTo>
                      <a:pt x="209" y="573"/>
                    </a:moveTo>
                    <a:cubicBezTo>
                      <a:pt x="145" y="557"/>
                      <a:pt x="89" y="515"/>
                      <a:pt x="53" y="459"/>
                    </a:cubicBezTo>
                    <a:cubicBezTo>
                      <a:pt x="72" y="483"/>
                      <a:pt x="97" y="502"/>
                      <a:pt x="127" y="518"/>
                    </a:cubicBezTo>
                    <a:cubicBezTo>
                      <a:pt x="141" y="527"/>
                      <a:pt x="156" y="536"/>
                      <a:pt x="172" y="543"/>
                    </a:cubicBezTo>
                    <a:cubicBezTo>
                      <a:pt x="230" y="570"/>
                      <a:pt x="293" y="577"/>
                      <a:pt x="352" y="562"/>
                    </a:cubicBezTo>
                    <a:cubicBezTo>
                      <a:pt x="365" y="559"/>
                      <a:pt x="377" y="554"/>
                      <a:pt x="390" y="549"/>
                    </a:cubicBezTo>
                    <a:cubicBezTo>
                      <a:pt x="333" y="581"/>
                      <a:pt x="271" y="589"/>
                      <a:pt x="209" y="573"/>
                    </a:cubicBezTo>
                    <a:close/>
                    <a:moveTo>
                      <a:pt x="165" y="75"/>
                    </a:moveTo>
                    <a:cubicBezTo>
                      <a:pt x="247" y="29"/>
                      <a:pt x="335" y="46"/>
                      <a:pt x="399" y="82"/>
                    </a:cubicBezTo>
                    <a:cubicBezTo>
                      <a:pt x="378" y="73"/>
                      <a:pt x="356" y="66"/>
                      <a:pt x="334" y="62"/>
                    </a:cubicBezTo>
                    <a:cubicBezTo>
                      <a:pt x="312" y="57"/>
                      <a:pt x="290" y="55"/>
                      <a:pt x="269" y="55"/>
                    </a:cubicBezTo>
                    <a:cubicBezTo>
                      <a:pt x="232" y="55"/>
                      <a:pt x="196" y="62"/>
                      <a:pt x="165" y="75"/>
                    </a:cubicBezTo>
                    <a:close/>
                    <a:moveTo>
                      <a:pt x="175" y="537"/>
                    </a:moveTo>
                    <a:cubicBezTo>
                      <a:pt x="173" y="536"/>
                      <a:pt x="171" y="535"/>
                      <a:pt x="169" y="534"/>
                    </a:cubicBezTo>
                    <a:cubicBezTo>
                      <a:pt x="211" y="548"/>
                      <a:pt x="260" y="553"/>
                      <a:pt x="308" y="548"/>
                    </a:cubicBezTo>
                    <a:cubicBezTo>
                      <a:pt x="357" y="543"/>
                      <a:pt x="404" y="529"/>
                      <a:pt x="444" y="508"/>
                    </a:cubicBezTo>
                    <a:cubicBezTo>
                      <a:pt x="357" y="581"/>
                      <a:pt x="249" y="572"/>
                      <a:pt x="175" y="537"/>
                    </a:cubicBezTo>
                    <a:close/>
                    <a:moveTo>
                      <a:pt x="307" y="541"/>
                    </a:moveTo>
                    <a:cubicBezTo>
                      <a:pt x="244" y="547"/>
                      <a:pt x="181" y="537"/>
                      <a:pt x="131" y="512"/>
                    </a:cubicBezTo>
                    <a:cubicBezTo>
                      <a:pt x="35" y="444"/>
                      <a:pt x="0" y="336"/>
                      <a:pt x="39" y="222"/>
                    </a:cubicBezTo>
                    <a:cubicBezTo>
                      <a:pt x="45" y="202"/>
                      <a:pt x="54" y="183"/>
                      <a:pt x="65" y="166"/>
                    </a:cubicBezTo>
                    <a:cubicBezTo>
                      <a:pt x="79" y="146"/>
                      <a:pt x="96" y="128"/>
                      <a:pt x="116" y="110"/>
                    </a:cubicBezTo>
                    <a:cubicBezTo>
                      <a:pt x="196" y="48"/>
                      <a:pt x="294" y="60"/>
                      <a:pt x="332" y="68"/>
                    </a:cubicBezTo>
                    <a:cubicBezTo>
                      <a:pt x="373" y="77"/>
                      <a:pt x="412" y="93"/>
                      <a:pt x="446" y="116"/>
                    </a:cubicBezTo>
                    <a:cubicBezTo>
                      <a:pt x="479" y="145"/>
                      <a:pt x="505" y="182"/>
                      <a:pt x="521" y="222"/>
                    </a:cubicBezTo>
                    <a:cubicBezTo>
                      <a:pt x="526" y="237"/>
                      <a:pt x="531" y="253"/>
                      <a:pt x="535" y="270"/>
                    </a:cubicBezTo>
                    <a:cubicBezTo>
                      <a:pt x="546" y="327"/>
                      <a:pt x="535" y="385"/>
                      <a:pt x="504" y="437"/>
                    </a:cubicBezTo>
                    <a:cubicBezTo>
                      <a:pt x="493" y="455"/>
                      <a:pt x="480" y="472"/>
                      <a:pt x="467" y="486"/>
                    </a:cubicBezTo>
                    <a:cubicBezTo>
                      <a:pt x="423" y="516"/>
                      <a:pt x="366" y="536"/>
                      <a:pt x="307" y="541"/>
                    </a:cubicBezTo>
                    <a:close/>
                    <a:moveTo>
                      <a:pt x="486" y="148"/>
                    </a:moveTo>
                    <a:cubicBezTo>
                      <a:pt x="488" y="150"/>
                      <a:pt x="489" y="152"/>
                      <a:pt x="491" y="154"/>
                    </a:cubicBezTo>
                    <a:cubicBezTo>
                      <a:pt x="492" y="156"/>
                      <a:pt x="493" y="158"/>
                      <a:pt x="495" y="160"/>
                    </a:cubicBezTo>
                    <a:cubicBezTo>
                      <a:pt x="492" y="156"/>
                      <a:pt x="489" y="152"/>
                      <a:pt x="486" y="148"/>
                    </a:cubicBezTo>
                    <a:close/>
                    <a:moveTo>
                      <a:pt x="447" y="108"/>
                    </a:moveTo>
                    <a:cubicBezTo>
                      <a:pt x="446" y="107"/>
                      <a:pt x="445" y="106"/>
                      <a:pt x="443" y="105"/>
                    </a:cubicBezTo>
                    <a:cubicBezTo>
                      <a:pt x="397" y="66"/>
                      <a:pt x="341" y="43"/>
                      <a:pt x="286" y="40"/>
                    </a:cubicBezTo>
                    <a:cubicBezTo>
                      <a:pt x="281" y="40"/>
                      <a:pt x="277" y="39"/>
                      <a:pt x="273" y="39"/>
                    </a:cubicBezTo>
                    <a:cubicBezTo>
                      <a:pt x="216" y="39"/>
                      <a:pt x="162" y="61"/>
                      <a:pt x="116" y="101"/>
                    </a:cubicBezTo>
                    <a:cubicBezTo>
                      <a:pt x="113" y="104"/>
                      <a:pt x="110" y="106"/>
                      <a:pt x="107" y="109"/>
                    </a:cubicBezTo>
                    <a:cubicBezTo>
                      <a:pt x="103" y="112"/>
                      <a:pt x="100" y="115"/>
                      <a:pt x="96" y="118"/>
                    </a:cubicBezTo>
                    <a:cubicBezTo>
                      <a:pt x="99" y="115"/>
                      <a:pt x="102" y="113"/>
                      <a:pt x="104" y="110"/>
                    </a:cubicBezTo>
                    <a:cubicBezTo>
                      <a:pt x="160" y="55"/>
                      <a:pt x="230" y="23"/>
                      <a:pt x="297" y="23"/>
                    </a:cubicBezTo>
                    <a:cubicBezTo>
                      <a:pt x="315" y="23"/>
                      <a:pt x="333" y="25"/>
                      <a:pt x="350" y="30"/>
                    </a:cubicBezTo>
                    <a:cubicBezTo>
                      <a:pt x="401" y="44"/>
                      <a:pt x="444" y="78"/>
                      <a:pt x="478" y="131"/>
                    </a:cubicBezTo>
                    <a:cubicBezTo>
                      <a:pt x="468" y="123"/>
                      <a:pt x="458" y="115"/>
                      <a:pt x="447" y="108"/>
                    </a:cubicBezTo>
                    <a:close/>
                    <a:moveTo>
                      <a:pt x="27" y="235"/>
                    </a:moveTo>
                    <a:cubicBezTo>
                      <a:pt x="9" y="299"/>
                      <a:pt x="14" y="362"/>
                      <a:pt x="41" y="418"/>
                    </a:cubicBezTo>
                    <a:cubicBezTo>
                      <a:pt x="53" y="443"/>
                      <a:pt x="70" y="466"/>
                      <a:pt x="90" y="486"/>
                    </a:cubicBezTo>
                    <a:cubicBezTo>
                      <a:pt x="56" y="459"/>
                      <a:pt x="33" y="424"/>
                      <a:pt x="21" y="382"/>
                    </a:cubicBezTo>
                    <a:cubicBezTo>
                      <a:pt x="12" y="349"/>
                      <a:pt x="10" y="315"/>
                      <a:pt x="15" y="279"/>
                    </a:cubicBezTo>
                    <a:cubicBezTo>
                      <a:pt x="18" y="264"/>
                      <a:pt x="22" y="250"/>
                      <a:pt x="27" y="235"/>
                    </a:cubicBezTo>
                    <a:close/>
                    <a:moveTo>
                      <a:pt x="492" y="467"/>
                    </a:moveTo>
                    <a:cubicBezTo>
                      <a:pt x="498" y="458"/>
                      <a:pt x="504" y="450"/>
                      <a:pt x="510" y="440"/>
                    </a:cubicBezTo>
                    <a:cubicBezTo>
                      <a:pt x="545" y="383"/>
                      <a:pt x="555" y="319"/>
                      <a:pt x="539" y="256"/>
                    </a:cubicBezTo>
                    <a:cubicBezTo>
                      <a:pt x="536" y="241"/>
                      <a:pt x="531" y="227"/>
                      <a:pt x="525" y="213"/>
                    </a:cubicBezTo>
                    <a:cubicBezTo>
                      <a:pt x="520" y="199"/>
                      <a:pt x="515" y="186"/>
                      <a:pt x="509" y="173"/>
                    </a:cubicBezTo>
                    <a:cubicBezTo>
                      <a:pt x="546" y="220"/>
                      <a:pt x="564" y="276"/>
                      <a:pt x="559" y="335"/>
                    </a:cubicBezTo>
                    <a:cubicBezTo>
                      <a:pt x="555" y="386"/>
                      <a:pt x="532" y="431"/>
                      <a:pt x="492" y="46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txBody>
              <a:bodyPr vert="horz" wrap="square" lIns="67211" tIns="33605" rIns="67211" bIns="33605" numCol="1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72084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59" name="Textfeld 58">
              <a:extLst>
                <a:ext uri="{FF2B5EF4-FFF2-40B4-BE49-F238E27FC236}">
                  <a16:creationId xmlns:a16="http://schemas.microsoft.com/office/drawing/2014/main" id="{786F968A-F5ED-18C5-62E2-B2DAC9F9E269}"/>
                </a:ext>
              </a:extLst>
            </p:cNvPr>
            <p:cNvSpPr txBox="1"/>
            <p:nvPr/>
          </p:nvSpPr>
          <p:spPr>
            <a:xfrm>
              <a:off x="1242788" y="1904955"/>
              <a:ext cx="2046951" cy="23467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b="1" noProof="0" err="1"/>
                <a:t>Vorarbeit</a:t>
              </a:r>
              <a:r>
                <a:rPr lang="en-US" sz="1600" b="1" noProof="0"/>
                <a:t> </a:t>
              </a:r>
              <a:r>
                <a:rPr lang="en-US" sz="1200" b="1" noProof="0"/>
                <a:t>(</a:t>
              </a:r>
              <a:r>
                <a:rPr lang="en-US" sz="1200" b="1" noProof="0" err="1"/>
                <a:t>aufzubauen</a:t>
              </a:r>
              <a:r>
                <a:rPr lang="en-US" sz="1200" b="1" noProof="0"/>
                <a:t>!)</a:t>
              </a:r>
            </a:p>
          </p:txBody>
        </p:sp>
      </p:grpSp>
      <p:sp>
        <p:nvSpPr>
          <p:cNvPr id="62" name="Textfeld 61">
            <a:extLst>
              <a:ext uri="{FF2B5EF4-FFF2-40B4-BE49-F238E27FC236}">
                <a16:creationId xmlns:a16="http://schemas.microsoft.com/office/drawing/2014/main" id="{6999CF74-3EC2-2B96-DB98-5434AF1CBCE1}"/>
              </a:ext>
            </a:extLst>
          </p:cNvPr>
          <p:cNvSpPr txBox="1"/>
          <p:nvPr/>
        </p:nvSpPr>
        <p:spPr>
          <a:xfrm>
            <a:off x="6049290" y="4278187"/>
            <a:ext cx="2999694" cy="811949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Herausarbeiten und Dokumentieren der </a:t>
            </a:r>
            <a:r>
              <a:rPr lang="de-DE" sz="1400" b="1"/>
              <a:t>Anforderungen</a:t>
            </a:r>
            <a:r>
              <a:rPr lang="de-DE" sz="1400"/>
              <a:t> an bestehende / neue IT-Systeme (z.B. Central </a:t>
            </a:r>
            <a:r>
              <a:rPr lang="de-DE" sz="1400" err="1"/>
              <a:t>Logistic</a:t>
            </a:r>
            <a:r>
              <a:rPr lang="de-DE" sz="1400"/>
              <a:t> Entity </a:t>
            </a:r>
            <a:r>
              <a:rPr lang="de-DE" sz="1400">
                <a:sym typeface="Wingdings" panose="05000000000000000000" pitchFamily="2" charset="2"/>
              </a:rPr>
              <a:t> SAP-Template)</a:t>
            </a:r>
            <a:endParaRPr lang="de-DE" sz="1400"/>
          </a:p>
        </p:txBody>
      </p:sp>
      <p:pic>
        <p:nvPicPr>
          <p:cNvPr id="64" name="Grafik 63">
            <a:extLst>
              <a:ext uri="{FF2B5EF4-FFF2-40B4-BE49-F238E27FC236}">
                <a16:creationId xmlns:a16="http://schemas.microsoft.com/office/drawing/2014/main" id="{57373B7F-2C54-2361-3856-BA0FDFB33C29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r="18235"/>
          <a:stretch>
            <a:fillRect/>
          </a:stretch>
        </p:blipFill>
        <p:spPr>
          <a:xfrm>
            <a:off x="3691617" y="2230561"/>
            <a:ext cx="2209587" cy="1229138"/>
          </a:xfrm>
          <a:prstGeom prst="rect">
            <a:avLst/>
          </a:prstGeom>
        </p:spPr>
      </p:pic>
      <p:sp>
        <p:nvSpPr>
          <p:cNvPr id="65" name="Textfeld 64">
            <a:extLst>
              <a:ext uri="{FF2B5EF4-FFF2-40B4-BE49-F238E27FC236}">
                <a16:creationId xmlns:a16="http://schemas.microsoft.com/office/drawing/2014/main" id="{A6ABA410-70A2-4B45-603F-9EB344AEA82D}"/>
              </a:ext>
            </a:extLst>
          </p:cNvPr>
          <p:cNvSpPr txBox="1"/>
          <p:nvPr/>
        </p:nvSpPr>
        <p:spPr>
          <a:xfrm>
            <a:off x="633907" y="3374399"/>
            <a:ext cx="2849191" cy="1690138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Aufbau eines </a:t>
            </a:r>
            <a:r>
              <a:rPr lang="de-DE" sz="1400" b="1"/>
              <a:t>Gremiums</a:t>
            </a:r>
            <a:r>
              <a:rPr lang="de-DE" sz="1400"/>
              <a:t> zur Portfolio-Strukturierung nach </a:t>
            </a:r>
            <a:r>
              <a:rPr lang="de-DE" sz="1400" b="1"/>
              <a:t>Dringlichkeit</a:t>
            </a:r>
            <a:r>
              <a:rPr lang="de-DE" sz="1400"/>
              <a:t> und </a:t>
            </a:r>
            <a:r>
              <a:rPr lang="de-DE" sz="1400" b="1"/>
              <a:t>Wichtigkeit </a:t>
            </a:r>
            <a:r>
              <a:rPr lang="de-DE" sz="1400"/>
              <a:t>unter Steuerung von SCD / SEH</a:t>
            </a:r>
          </a:p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Frühe </a:t>
            </a:r>
            <a:r>
              <a:rPr lang="de-DE" sz="1400" b="1"/>
              <a:t>Eskalation</a:t>
            </a:r>
            <a:r>
              <a:rPr lang="de-DE" sz="1400"/>
              <a:t> und Umschichtung</a:t>
            </a:r>
            <a:endParaRPr lang="de-DE" sz="1400" b="1"/>
          </a:p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Aufnahme in </a:t>
            </a:r>
            <a:r>
              <a:rPr lang="de-DE" sz="1400" b="1"/>
              <a:t>Business Needs Management</a:t>
            </a:r>
            <a:r>
              <a:rPr lang="de-DE" sz="1400"/>
              <a:t>-Prozess </a:t>
            </a:r>
          </a:p>
        </p:txBody>
      </p:sp>
    </p:spTree>
    <p:extLst>
      <p:ext uri="{BB962C8B-B14F-4D97-AF65-F5344CB8AC3E}">
        <p14:creationId xmlns:p14="http://schemas.microsoft.com/office/powerpoint/2010/main" val="181223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B38AFFF-B98D-F235-7283-FAAC2366A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C38CCA-54E5-CEC8-86A8-F8C787CC50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C15D0C8-777E-4D36-E26A-3FABF7D6E4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2298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Ausgangslange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b="1"/>
              <a:t>Fragmentierte Systemlandschaft, viele Zuständigkeiten und Parallel-Prozesse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DC0361F-97D2-5DA9-356A-D12C465E05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36" y="1709478"/>
            <a:ext cx="8595318" cy="4044856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1CB9EC59-67C1-C3D5-223F-6E124E0C48E7}"/>
              </a:ext>
            </a:extLst>
          </p:cNvPr>
          <p:cNvSpPr txBox="1"/>
          <p:nvPr/>
        </p:nvSpPr>
        <p:spPr>
          <a:xfrm>
            <a:off x="8704810" y="1373557"/>
            <a:ext cx="3266983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600" b="1" u="sng">
                <a:solidFill>
                  <a:schemeClr val="accent2"/>
                </a:solidFill>
              </a:rPr>
              <a:t>Main Pain-Points</a:t>
            </a:r>
            <a:endParaRPr lang="de-DE" sz="1600" u="sng">
              <a:solidFill>
                <a:schemeClr val="accent2"/>
              </a:solidFill>
            </a:endParaRPr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 b="1"/>
              <a:t>Medien- und Systembrüche </a:t>
            </a:r>
            <a:br>
              <a:rPr lang="de-DE" sz="1600" b="1"/>
            </a:br>
            <a:endParaRPr lang="de-DE" sz="1600" b="1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 b="1"/>
              <a:t>viele manuelle und parallele </a:t>
            </a:r>
            <a:r>
              <a:rPr lang="de-DE" sz="1600"/>
              <a:t>(</a:t>
            </a:r>
            <a:r>
              <a:rPr lang="de-DE" sz="1600" err="1"/>
              <a:t>tw</a:t>
            </a:r>
            <a:r>
              <a:rPr lang="de-DE" sz="1600"/>
              <a:t>. unabgestimmte) </a:t>
            </a:r>
            <a:r>
              <a:rPr lang="de-DE" sz="1600" b="1"/>
              <a:t>Prozesse</a:t>
            </a:r>
            <a:endParaRPr lang="de-DE" sz="1600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endParaRPr lang="de-DE" sz="1600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/>
              <a:t>Bereichsübergreifende </a:t>
            </a:r>
            <a:r>
              <a:rPr lang="de-DE" sz="1600" b="1"/>
              <a:t>Intransparenz</a:t>
            </a:r>
            <a:r>
              <a:rPr lang="de-DE" sz="1600"/>
              <a:t> bei Status, Ressourcen und Kosten.</a:t>
            </a:r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endParaRPr lang="de-DE" sz="1600" b="1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 b="1"/>
              <a:t>Inkonsistenzen</a:t>
            </a:r>
            <a:r>
              <a:rPr lang="de-DE" sz="1600"/>
              <a:t> und erhöhter </a:t>
            </a:r>
            <a:r>
              <a:rPr lang="de-DE" sz="1600" b="1"/>
              <a:t>Abstimmungsaufwand</a:t>
            </a:r>
            <a:r>
              <a:rPr lang="de-DE" sz="1600"/>
              <a:t>.</a:t>
            </a:r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endParaRPr lang="de-DE" sz="1600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/>
              <a:t>Projektmanagement </a:t>
            </a:r>
            <a:r>
              <a:rPr lang="de-DE" sz="1600" b="1"/>
              <a:t>uneinheitlich</a:t>
            </a:r>
            <a:r>
              <a:rPr lang="de-DE" sz="1600"/>
              <a:t> mit abgekündigten und nicht mehr supporteten Tools</a:t>
            </a:r>
            <a:br>
              <a:rPr lang="de-DE" sz="1600"/>
            </a:br>
            <a:r>
              <a:rPr lang="de-DE" sz="1600"/>
              <a:t>(PIT, Microsoft Project Online)</a:t>
            </a:r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endParaRPr lang="de-DE" sz="1600" b="1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 b="1"/>
              <a:t>Fehlende Datenstruktur/ Datenbank</a:t>
            </a:r>
            <a:endParaRPr lang="de-DE" sz="160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1EF41C01-4C0D-FE56-DA64-8ECBA085DE52}"/>
              </a:ext>
            </a:extLst>
          </p:cNvPr>
          <p:cNvSpPr txBox="1"/>
          <p:nvPr/>
        </p:nvSpPr>
        <p:spPr>
          <a:xfrm flipH="1">
            <a:off x="6894873" y="5727700"/>
            <a:ext cx="1792181" cy="188701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de-DE" sz="1100" i="1"/>
              <a:t>Schematische Darstellung</a:t>
            </a:r>
          </a:p>
        </p:txBody>
      </p:sp>
    </p:spTree>
    <p:extLst>
      <p:ext uri="{BB962C8B-B14F-4D97-AF65-F5344CB8AC3E}">
        <p14:creationId xmlns:p14="http://schemas.microsoft.com/office/powerpoint/2010/main" val="297806023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  <p:tag name="THINKCELLPRESENTATIONDONOTDELETE" val="&lt;?xml version=&quot;1.0&quot; encoding=&quot;UTF-16&quot; standalone=&quot;yes&quot;?&gt;&lt;root reqver=&quot;32687&quot;&gt;&lt;version val=&quot;38650&quot;/&gt;&lt;CPresentation id=&quot;1&quot;&gt;&lt;m_precDefaultOrdinal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BF85tvmTV.2trNKwozeAw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u4g5UG1QUKtI8SxcSTf2w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dCO7J0OS_uYu83qu2IS0Q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LVArru6TV6RGD66rY_n0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LETTe1mSV.Cm4EVc0csLg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Bzr7RcHSxecPfjmbUJudg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QrizpMrTy6lgA5SCokSfw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aGq4e5bTnOyd7mCDKqzhQ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dCO7J0OS_uYu83qu2IS0Q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o4L0avzTJ2I6Oy1dIR0cQ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YOEdoRNTiaKeA_qVRivRQ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R8H0BhERUq65Lpj817pXw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R8H0BhERUq65Lpj817pXw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l6IIGFvQyGz90E2L5DZmA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u4g5UG1QUKtI8SxcSTf2w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LVArru6TV6RGD66rY_n0g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aGq4e5bTnOyd7mCDKqzhQ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CCp7ilDLGhQ.5l4Tb0qUw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mIpQSRxlCSNFW6SAoVGGg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2GSlic0.itPNX.NACz3ng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DYHU69T669hfu4d9EZeDw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XS.2mP9ieXk6Yr8UquCAA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wKq9mkp0aHSNxhv6Sl.Lw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moBjVh6KjSJLF8E9HATaQ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HaN7phGX2zTrxDMHfTAew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K9CV4qHw5QBQGYZKD.t8g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kmlb5.02HAj7uhlwcyhYw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5DF2NFpoWWisnZSPcpiMQ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GwhkwSqYa0XMXKUQx7aGg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_Topic"/>
  <p:tag name="EE4P_AGENDAWIZARD_CONTENT" val="/Festlegung priorisierte und depriorisierte Themen für 2022/23 (inkl. Anpassung SHF-Programm)"/>
  <p:tag name="EE4P_AGENDAWIZARD_PROPERTIES" val="66.42661/126.25/552.9948/50.57748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_Topic"/>
  <p:tag name="EE4P_AGENDAWIZARD_CONTENT" val="/Festlegung priorisierte und depriorisierte Themen für 2022/23 (inkl. Anpassung SHF-Programm)"/>
  <p:tag name="EE4P_AGENDAWIZARD_PROPERTIES" val="66.42661/126.25/552.9948/50.57748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_Topic"/>
  <p:tag name="EE4P_AGENDAWIZARD_CONTENT" val="/Festlegung priorisierte und depriorisierte Themen für 2022/23 (inkl. Anpassung SHF-Programm)"/>
  <p:tag name="EE4P_AGENDAWIZARD_PROPERTIES" val="66.42661/126.25/552.9948/50.57748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_Topic"/>
  <p:tag name="EE4P_AGENDAWIZARD_CONTENT" val="/Festlegung priorisierte und depriorisierte Themen für 2022/23 (inkl. Anpassung SHF-Programm)"/>
  <p:tag name="EE4P_AGENDAWIZARD_PROPERTIES" val="66.42661/126.25/552.9948/50.57748"/>
</p:tagLst>
</file>

<file path=ppt/theme/theme1.xml><?xml version="1.0" encoding="utf-8"?>
<a:theme xmlns:a="http://schemas.openxmlformats.org/drawingml/2006/main" name="STIHL EN 16:9">
  <a:themeElements>
    <a:clrScheme name="STILHL_CD">
      <a:dk1>
        <a:sysClr val="windowText" lastClr="000000"/>
      </a:dk1>
      <a:lt1>
        <a:sysClr val="window" lastClr="FFFFFF"/>
      </a:lt1>
      <a:dk2>
        <a:srgbClr val="B1B1B1"/>
      </a:dk2>
      <a:lt2>
        <a:srgbClr val="E7E6E6"/>
      </a:lt2>
      <a:accent1>
        <a:srgbClr val="000000"/>
      </a:accent1>
      <a:accent2>
        <a:srgbClr val="F37A1F"/>
      </a:accent2>
      <a:accent3>
        <a:srgbClr val="B1B1B1"/>
      </a:accent3>
      <a:accent4>
        <a:srgbClr val="749F4A"/>
      </a:accent4>
      <a:accent5>
        <a:srgbClr val="249ABE"/>
      </a:accent5>
      <a:accent6>
        <a:srgbClr val="FDC543"/>
      </a:accent6>
      <a:hlink>
        <a:srgbClr val="D43B3B"/>
      </a:hlink>
      <a:folHlink>
        <a:srgbClr val="878787"/>
      </a:folHlink>
    </a:clrScheme>
    <a:fontScheme name="STIHL">
      <a:majorFont>
        <a:latin typeface="STIHL Contraface Text"/>
        <a:ea typeface=""/>
        <a:cs typeface=""/>
      </a:majorFont>
      <a:minorFont>
        <a:latin typeface="STIHL Contraface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6350">
          <a:solidFill>
            <a:schemeClr val="tx1"/>
          </a:solidFill>
        </a:ln>
      </a:spPr>
      <a:bodyPr lIns="72000" tIns="72000" rIns="72000" bIns="72000" rtlCol="0" anchor="ctr"/>
      <a:lstStyle>
        <a:defPPr algn="ctr">
          <a:lnSpc>
            <a:spcPct val="90000"/>
          </a:lnSpc>
          <a:defRPr sz="1600" b="1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18000" tIns="18000" rIns="18000" bIns="18000" rtlCol="0">
        <a:spAutoFit/>
      </a:bodyPr>
      <a:lstStyle>
        <a:defPPr algn="l">
          <a:lnSpc>
            <a:spcPct val="90000"/>
          </a:lnSpc>
          <a:spcBef>
            <a:spcPts val="400"/>
          </a:spcBef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STIHL_EN_16-9.potx" id="{9750D1A3-F6B3-4B5F-BA2F-8611BD39BBAB}" vid="{17D6F275-8783-4081-AFB4-15D0B82B1DDB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20C0303EFA73FE4CB2BBEDAB929C7991" ma:contentTypeVersion="14" ma:contentTypeDescription="Ein neues Dokument erstellen." ma:contentTypeScope="" ma:versionID="be8cd97a4da789067f2f82ce703bb723">
  <xsd:schema xmlns:xsd="http://www.w3.org/2001/XMLSchema" xmlns:xs="http://www.w3.org/2001/XMLSchema" xmlns:p="http://schemas.microsoft.com/office/2006/metadata/properties" xmlns:ns2="2f256423-360f-43c8-9cc5-edab87e38065" xmlns:ns3="810f0827-59f8-4c5d-82e6-a3017adce947" targetNamespace="http://schemas.microsoft.com/office/2006/metadata/properties" ma:root="true" ma:fieldsID="ca81409d21ad380bc0f6c450f5718395" ns2:_="" ns3:_="">
    <xsd:import namespace="2f256423-360f-43c8-9cc5-edab87e38065"/>
    <xsd:import namespace="810f0827-59f8-4c5d-82e6-a3017adce94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256423-360f-43c8-9cc5-edab87e380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ildmarkierungen" ma:readOnly="false" ma:fieldId="{5cf76f15-5ced-4ddc-b409-7134ff3c332f}" ma:taxonomyMulti="true" ma:sspId="c751d313-418a-41e7-8296-c801e9c6f9b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0f0827-59f8-4c5d-82e6-a3017adce94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7f6e1361-4b6f-41a0-ba01-80ad4012ed0f}" ma:internalName="TaxCatchAll" ma:showField="CatchAllData" ma:web="810f0827-59f8-4c5d-82e6-a3017adce94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10f0827-59f8-4c5d-82e6-a3017adce947"/>
    <lcf76f155ced4ddcb4097134ff3c332f xmlns="2f256423-360f-43c8-9cc5-edab87e38065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063B4FC-3AC8-40C0-A302-B0410F7FBC93}">
  <ds:schemaRefs>
    <ds:schemaRef ds:uri="2f256423-360f-43c8-9cc5-edab87e38065"/>
    <ds:schemaRef ds:uri="810f0827-59f8-4c5d-82e6-a3017adce94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AB9BD90E-92CC-4A62-9368-6A8C72AC441B}">
  <ds:schemaRefs>
    <ds:schemaRef ds:uri="2f256423-360f-43c8-9cc5-edab87e38065"/>
    <ds:schemaRef ds:uri="810f0827-59f8-4c5d-82e6-a3017adce94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D3ACD1F0-1D83-4215-A735-A9D0BB6DD0C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STIHL_EN_16-9</Template>
  <Application>Microsoft Office PowerPoint</Application>
  <PresentationFormat>Widescreen</PresentationFormat>
  <Slides>24</Slides>
  <Notes>7</Notes>
  <HiddenSlides>6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STIHL EN 16:9</vt:lpstr>
      <vt:lpstr>Überblick PPM@STIHL und zwischenstand servicenow plattform  ƒ</vt:lpstr>
      <vt:lpstr>Informationen zur Vorstandsvorlage </vt:lpstr>
      <vt:lpstr>Projekte und Projektportfoliomanagement bei STIHL</vt:lpstr>
      <vt:lpstr>Von der Strategie zur Umsetzung – Alternative zu Folie 3</vt:lpstr>
      <vt:lpstr>Herausforderungen im Status Quo</vt:lpstr>
      <vt:lpstr>Vorgehen / Ansatz / Prämissen</vt:lpstr>
      <vt:lpstr>Vorprojekt SNOW – Überblick</vt:lpstr>
      <vt:lpstr>Backup: Beschreibung Leistungsumfang ServiceNow SPM Suite</vt:lpstr>
      <vt:lpstr>Vorprojekt SNOW – Ergebnisse (1 von 2)</vt:lpstr>
      <vt:lpstr>Vorprojekt SNOW – Ergebnisse (2 von 2)</vt:lpstr>
      <vt:lpstr>Lessons Learned MSPO</vt:lpstr>
      <vt:lpstr>Weiteres Vorgehen SNOW</vt:lpstr>
      <vt:lpstr>Roadmap</vt:lpstr>
      <vt:lpstr>Roadmap</vt:lpstr>
      <vt:lpstr>Roadmap</vt:lpstr>
      <vt:lpstr>PowerPoint Presentation</vt:lpstr>
      <vt:lpstr>PowerPoint Presentation</vt:lpstr>
      <vt:lpstr>PowerPoint Presentation</vt:lpstr>
      <vt:lpstr>PowerPoint Presentation</vt:lpstr>
      <vt:lpstr>Status Quo</vt:lpstr>
      <vt:lpstr>Status Quo: IT Demand and Project landscape </vt:lpstr>
      <vt:lpstr>Steuerungs- und Transparenzebenen im Strategischen PPM</vt:lpstr>
      <vt:lpstr>PowerPoint Presentation</vt:lpstr>
      <vt:lpstr>Ausgangslange</vt:lpstr>
    </vt:vector>
  </TitlesOfParts>
  <Manager/>
  <Company>ERR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D1/MC2 Ecke, Oliver</dc:creator>
  <cp:revision>17</cp:revision>
  <dcterms:created xsi:type="dcterms:W3CDTF">2025-07-07T10:08:27Z</dcterms:created>
  <dcterms:modified xsi:type="dcterms:W3CDTF">2026-05-07T07:42:08Z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0x01010020C0303EFA73FE4CB2BBEDAB929C7991</vt:lpwstr>
  </property>
  <property fmtid="{D5CDD505-2E9C-101B-9397-08002B2CF9AE}" pid="3" name="Verantwortlicher">
    <vt:lpwstr/>
  </property>
  <property fmtid="{D5CDD505-2E9C-101B-9397-08002B2CF9AE}" pid="4" name="MSIP_Label_f336f76c-dfa2-4ce6-8362-305539f7b79a_Enabled">
    <vt:lpwstr>true</vt:lpwstr>
  </property>
  <property fmtid="{D5CDD505-2E9C-101B-9397-08002B2CF9AE}" pid="5" name="MSIP_Label_f336f76c-dfa2-4ce6-8362-305539f7b79a_SetDate">
    <vt:lpwstr>2023-12-12T09:44:36Z</vt:lpwstr>
  </property>
  <property fmtid="{D5CDD505-2E9C-101B-9397-08002B2CF9AE}" pid="6" name="MSIP_Label_f336f76c-dfa2-4ce6-8362-305539f7b79a_Method">
    <vt:lpwstr>Privileged</vt:lpwstr>
  </property>
  <property fmtid="{D5CDD505-2E9C-101B-9397-08002B2CF9AE}" pid="7" name="MSIP_Label_f336f76c-dfa2-4ce6-8362-305539f7b79a_Name">
    <vt:lpwstr>Internal</vt:lpwstr>
  </property>
  <property fmtid="{D5CDD505-2E9C-101B-9397-08002B2CF9AE}" pid="8" name="MSIP_Label_f336f76c-dfa2-4ce6-8362-305539f7b79a_SiteId">
    <vt:lpwstr>702ed1df-fbf3-42e7-a14d-db80a314e632</vt:lpwstr>
  </property>
  <property fmtid="{D5CDD505-2E9C-101B-9397-08002B2CF9AE}" pid="9" name="MSIP_Label_f336f76c-dfa2-4ce6-8362-305539f7b79a_ActionId">
    <vt:lpwstr>f25fa44d-eaa3-46d9-9d6a-7f6f55407eae</vt:lpwstr>
  </property>
  <property fmtid="{D5CDD505-2E9C-101B-9397-08002B2CF9AE}" pid="10" name="MSIP_Label_f336f76c-dfa2-4ce6-8362-305539f7b79a_ContentBits">
    <vt:lpwstr>1</vt:lpwstr>
  </property>
  <property fmtid="{D5CDD505-2E9C-101B-9397-08002B2CF9AE}" pid="11" name="MediaServiceImageTags">
    <vt:lpwstr/>
  </property>
</Properties>
</file>