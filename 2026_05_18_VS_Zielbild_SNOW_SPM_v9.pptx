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23B_D398B549.xlsb" ContentType="application/vnd.ms-excel.sheet.binary.macroEnabled.12"/>
  <Override PartName="/ppt/embeddings/Microsoft_Excel_Binary_23B_D398B5491.xlsb" ContentType="application/vnd.ms-excel.sheet.binary.macroEnabled.12"/>
  <Override PartName="/ppt/embeddings/Microsoft_Excel_Binary_23B_D398B5492.xlsb" ContentType="application/vnd.ms-excel.sheet.binary.macroEnabled.12"/>
  <Override PartName="/ppt/embeddings/Microsoft_Excel_Binary_23B_D398B5493.xlsb" ContentType="application/vnd.ms-excel.sheet.binary.macroEnabled.12"/>
  <Override PartName="/ppt/embeddings/Microsoft_Excel_Binary_23B_D398B5494.xlsb" ContentType="application/vnd.ms-excel.sheet.binary.macroEnabled.12"/>
  <Override PartName="/ppt/embeddings/Microsoft_Excel_Binary_23B_D398B549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0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38"/>
    <p:sldId id="571" r:id="rId13"/>
    <p:sldId id="572" r:id="rId14"/>
    <p:sldId id="569" r:id="rId15"/>
    <p:sldId id="570" r:id="rId16"/>
    <p:sldId id="2147483631" r:id="rId17"/>
    <p:sldId id="258" r:id="rId18"/>
    <p:sldId id="260" r:id="rId19"/>
    <p:sldId id="288" r:id="rId20"/>
    <p:sldId id="286" r:id="rId21"/>
    <p:sldId id="287" r:id="rId22"/>
    <p:sldId id="563" r:id="rId23"/>
    <p:sldId id="282" r:id="rId24"/>
    <p:sldId id="283" r:id="rId25"/>
    <p:sldId id="278" r:id="rId26"/>
    <p:sldId id="284" r:id="rId27"/>
    <p:sldId id="574" r:id="rId28"/>
  </p:sldIdLst>
  <p:sldSz cx="12192000" cy="6858000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38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C16B-7AAB-FDAA-30F4-CB2ED727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5E91200-C058-D632-7C08-45DB7D18E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3F2DAC-6C10-16B9-E149-9B3D5B8BA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4FEB33-2714-06BC-031E-11E2698DA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340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C0D7-1D21-5EDA-732D-7C39AA15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656C38-471A-A1CA-E81B-3C14455CF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07153A-AAD6-14D1-2FED-DB0FB08BE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8C1F0-20CC-F2DE-5026-24432EBBE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1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‹#›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tags" Target="../tags/tag64.xml"/><Relationship Id="rId11" Type="http://schemas.openxmlformats.org/officeDocument/2006/relationships/tags" Target="../tags/tag65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6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16.png"/><Relationship Id="rId6" Type="http://schemas.openxmlformats.org/officeDocument/2006/relationships/image" Target="../media/image25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8B683B-21DD-C0DE-3F0B-2D0D05E257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377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8B683B-21DD-C0DE-3F0B-2D0D05E25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DB4122F-455F-4C06-E4F6-B22B5C90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Von der 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Umsetzung</a:t>
            </a:r>
            <a:r>
              <a:rPr lang="en-US"/>
              <a:t> – Alternative </a:t>
            </a:r>
            <a:r>
              <a:rPr lang="en-US" err="1"/>
              <a:t>zu</a:t>
            </a:r>
            <a:r>
              <a:rPr lang="en-US"/>
              <a:t> Folie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E2C1-53B3-260C-AD0B-816F2A7A6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4663-DD2A-0A5B-4BDD-43F8D1DA1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1545104"/>
            <a:ext cx="4875245" cy="2596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BEA9B-EA89-9BFF-F986-75D1EBE13580}"/>
              </a:ext>
            </a:extLst>
          </p:cNvPr>
          <p:cNvSpPr txBox="1"/>
          <p:nvPr/>
        </p:nvSpPr>
        <p:spPr>
          <a:xfrm>
            <a:off x="6096000" y="1545104"/>
            <a:ext cx="4875245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Darstellung</a:t>
            </a:r>
            <a:r>
              <a:rPr lang="en-US" sz="1600"/>
              <a:t> des </a:t>
            </a:r>
            <a:r>
              <a:rPr lang="en-US" sz="1600" err="1"/>
              <a:t>Prozesses</a:t>
            </a:r>
            <a:r>
              <a:rPr lang="en-US" sz="1600"/>
              <a:t> in der </a:t>
            </a:r>
            <a:r>
              <a:rPr lang="en-US" sz="1600" err="1"/>
              <a:t>Tabellenform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Software und </a:t>
            </a:r>
            <a:r>
              <a:rPr lang="en-US" sz="1600" err="1"/>
              <a:t>Mengenangaben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094872D-196C-2387-D8DE-EFB4DF6D145F}"/>
              </a:ext>
            </a:extLst>
          </p:cNvPr>
          <p:cNvSpPr/>
          <p:nvPr/>
        </p:nvSpPr>
        <p:spPr>
          <a:xfrm>
            <a:off x="479426" y="1497454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2026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8FF355-9C34-9543-E070-23265AD2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7BA85A9-289C-44B3-4F60-40374F8953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7" name="Stern: 5 Zacken 6">
            <a:extLst>
              <a:ext uri="{FF2B5EF4-FFF2-40B4-BE49-F238E27FC236}">
                <a16:creationId xmlns:a16="http://schemas.microsoft.com/office/drawing/2014/main" id="{D3702B8A-09C6-5DD7-AC34-232AF37DBDF8}"/>
              </a:ext>
            </a:extLst>
          </p:cNvPr>
          <p:cNvSpPr/>
          <p:nvPr/>
        </p:nvSpPr>
        <p:spPr>
          <a:xfrm>
            <a:off x="908708" y="212510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F09A99-8CA0-2F60-E3D5-7A1F57C07D65}"/>
              </a:ext>
            </a:extLst>
          </p:cNvPr>
          <p:cNvSpPr txBox="1"/>
          <p:nvPr/>
        </p:nvSpPr>
        <p:spPr>
          <a:xfrm>
            <a:off x="615519" y="244294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PPB 08.04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FF74684-0881-AFD7-5B67-531217B8F902}"/>
              </a:ext>
            </a:extLst>
          </p:cNvPr>
          <p:cNvSpPr txBox="1"/>
          <p:nvPr/>
        </p:nvSpPr>
        <p:spPr>
          <a:xfrm>
            <a:off x="7282081" y="4478093"/>
            <a:ext cx="1549045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Kick-off</a:t>
            </a:r>
            <a:br>
              <a:rPr lang="de-DE" sz="1600" b="1">
                <a:solidFill>
                  <a:prstClr val="black"/>
                </a:solidFill>
                <a:latin typeface="STIHL Contraface Text"/>
              </a:rPr>
            </a:br>
            <a:r>
              <a:rPr lang="de-DE" sz="1600" b="1">
                <a:solidFill>
                  <a:prstClr val="black"/>
                </a:solidFill>
                <a:latin typeface="STIHL Contraface Text"/>
              </a:rPr>
              <a:t>Project Phase 1 Q3/Q4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1" name="Pfeil nach oben 18">
            <a:extLst>
              <a:ext uri="{FF2B5EF4-FFF2-40B4-BE49-F238E27FC236}">
                <a16:creationId xmlns:a16="http://schemas.microsoft.com/office/drawing/2014/main" id="{53CA70BA-2FB4-00C4-0D2C-FF699B34EAE8}"/>
              </a:ext>
            </a:extLst>
          </p:cNvPr>
          <p:cNvSpPr/>
          <p:nvPr/>
        </p:nvSpPr>
        <p:spPr>
          <a:xfrm>
            <a:off x="7908187" y="4185921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2" name="Chevron 14">
            <a:extLst>
              <a:ext uri="{FF2B5EF4-FFF2-40B4-BE49-F238E27FC236}">
                <a16:creationId xmlns:a16="http://schemas.microsoft.com/office/drawing/2014/main" id="{6658A6D1-AE27-B3DB-4A01-CCF0283B0BE0}"/>
              </a:ext>
            </a:extLst>
          </p:cNvPr>
          <p:cNvSpPr/>
          <p:nvPr/>
        </p:nvSpPr>
        <p:spPr>
          <a:xfrm>
            <a:off x="4447974" y="2648824"/>
            <a:ext cx="1706559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Stakeholder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Management&amp;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Entscheidung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3" name="Chevron 14">
            <a:extLst>
              <a:ext uri="{FF2B5EF4-FFF2-40B4-BE49-F238E27FC236}">
                <a16:creationId xmlns:a16="http://schemas.microsoft.com/office/drawing/2014/main" id="{0608F847-0FF3-0572-AC79-44B3CDD7DDA1}"/>
              </a:ext>
            </a:extLst>
          </p:cNvPr>
          <p:cNvSpPr/>
          <p:nvPr/>
        </p:nvSpPr>
        <p:spPr>
          <a:xfrm>
            <a:off x="1101213" y="2638847"/>
            <a:ext cx="3557551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Auftragsklärung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Planung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der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Phasen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und Kosten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4" name="Stern: 5 Zacken 43">
            <a:extLst>
              <a:ext uri="{FF2B5EF4-FFF2-40B4-BE49-F238E27FC236}">
                <a16:creationId xmlns:a16="http://schemas.microsoft.com/office/drawing/2014/main" id="{C68D4119-E451-7BB9-183F-42870641D14F}"/>
              </a:ext>
            </a:extLst>
          </p:cNvPr>
          <p:cNvSpPr/>
          <p:nvPr/>
        </p:nvSpPr>
        <p:spPr>
          <a:xfrm>
            <a:off x="7079550" y="213651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19101E6-D84D-1EB2-4FB7-C2CF82B06824}"/>
              </a:ext>
            </a:extLst>
          </p:cNvPr>
          <p:cNvSpPr txBox="1"/>
          <p:nvPr/>
        </p:nvSpPr>
        <p:spPr>
          <a:xfrm>
            <a:off x="5785569" y="2450481"/>
            <a:ext cx="2603868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Jahres –Planung 01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.0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9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.2026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06D80502-AC64-A986-C35A-C0B500464283}"/>
              </a:ext>
            </a:extLst>
          </p:cNvPr>
          <p:cNvSpPr/>
          <p:nvPr/>
        </p:nvSpPr>
        <p:spPr>
          <a:xfrm>
            <a:off x="8056605" y="3417615"/>
            <a:ext cx="3386801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Konzeption</a:t>
            </a:r>
            <a:r>
              <a:rPr lang="en-US" sz="1050">
                <a:solidFill>
                  <a:prstClr val="white"/>
                </a:solidFill>
              </a:rPr>
              <a:t> &amp; </a:t>
            </a: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>
                <a:solidFill>
                  <a:prstClr val="white"/>
                </a:solidFill>
              </a:rPr>
              <a:t> </a:t>
            </a:r>
            <a:r>
              <a:rPr lang="en-US" sz="1050" err="1">
                <a:solidFill>
                  <a:prstClr val="white"/>
                </a:solidFill>
              </a:rPr>
              <a:t>Demand,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Strategy,MDM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,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Portfolio,Workflows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8" name="Chevron 14">
            <a:extLst>
              <a:ext uri="{FF2B5EF4-FFF2-40B4-BE49-F238E27FC236}">
                <a16:creationId xmlns:a16="http://schemas.microsoft.com/office/drawing/2014/main" id="{EC685A8F-E499-1E22-AA7C-9D5E3AB2052E}"/>
              </a:ext>
            </a:extLst>
          </p:cNvPr>
          <p:cNvSpPr/>
          <p:nvPr/>
        </p:nvSpPr>
        <p:spPr>
          <a:xfrm>
            <a:off x="5961416" y="5341576"/>
            <a:ext cx="1706559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Budgetierung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446BC23D-8AE6-3AE6-E88B-D614EDE0B0C1}"/>
              </a:ext>
            </a:extLst>
          </p:cNvPr>
          <p:cNvSpPr/>
          <p:nvPr/>
        </p:nvSpPr>
        <p:spPr>
          <a:xfrm>
            <a:off x="7462685" y="5341576"/>
            <a:ext cx="3535472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Contract Renewal</a:t>
            </a:r>
          </a:p>
        </p:txBody>
      </p:sp>
      <p:sp>
        <p:nvSpPr>
          <p:cNvPr id="50" name="Chevron 14">
            <a:extLst>
              <a:ext uri="{FF2B5EF4-FFF2-40B4-BE49-F238E27FC236}">
                <a16:creationId xmlns:a16="http://schemas.microsoft.com/office/drawing/2014/main" id="{BA0006F6-8720-9137-1A5A-4278B8D18D68}"/>
              </a:ext>
            </a:extLst>
          </p:cNvPr>
          <p:cNvSpPr/>
          <p:nvPr/>
        </p:nvSpPr>
        <p:spPr>
          <a:xfrm>
            <a:off x="5943120" y="2653688"/>
            <a:ext cx="1405367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Budget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Planung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1" name="Chevron 14">
            <a:extLst>
              <a:ext uri="{FF2B5EF4-FFF2-40B4-BE49-F238E27FC236}">
                <a16:creationId xmlns:a16="http://schemas.microsoft.com/office/drawing/2014/main" id="{AC4BCA12-7E2F-87CF-3A39-88B32A9075D3}"/>
              </a:ext>
            </a:extLst>
          </p:cNvPr>
          <p:cNvSpPr/>
          <p:nvPr/>
        </p:nvSpPr>
        <p:spPr>
          <a:xfrm>
            <a:off x="4216842" y="3414690"/>
            <a:ext cx="2168822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Partnerauswahl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(ServiceNow SPM)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2" name="Chevron 14">
            <a:extLst>
              <a:ext uri="{FF2B5EF4-FFF2-40B4-BE49-F238E27FC236}">
                <a16:creationId xmlns:a16="http://schemas.microsoft.com/office/drawing/2014/main" id="{4311418E-0396-BD3B-033A-D810C3959D2A}"/>
              </a:ext>
            </a:extLst>
          </p:cNvPr>
          <p:cNvSpPr/>
          <p:nvPr/>
        </p:nvSpPr>
        <p:spPr>
          <a:xfrm>
            <a:off x="1405531" y="4284503"/>
            <a:ext cx="4384913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Alternative Projekt Management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Plattform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(VEW, VPM)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" name="Stern: 5 Zacken 2">
            <a:extLst>
              <a:ext uri="{FF2B5EF4-FFF2-40B4-BE49-F238E27FC236}">
                <a16:creationId xmlns:a16="http://schemas.microsoft.com/office/drawing/2014/main" id="{3D7A00C7-AD82-5AF8-E97D-B18F1B89FBA8}"/>
              </a:ext>
            </a:extLst>
          </p:cNvPr>
          <p:cNvSpPr/>
          <p:nvPr/>
        </p:nvSpPr>
        <p:spPr>
          <a:xfrm>
            <a:off x="3293767" y="216639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AF6CB83-1C24-2413-7E83-544C1E0FD44A}"/>
              </a:ext>
            </a:extLst>
          </p:cNvPr>
          <p:cNvSpPr txBox="1"/>
          <p:nvPr/>
        </p:nvSpPr>
        <p:spPr>
          <a:xfrm>
            <a:off x="3611369" y="236318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VS 18.05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F763-00AC-AFD5-FB35-2DBDB22A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6E3A34B-D8D9-91E8-65EC-DB22B310E2C2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2027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E36681-9627-33D7-1FE8-8AC28349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F1B7F023-C26E-E39D-69D4-4F7C9082B5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4ECC3A73-A8C6-334C-18B1-838E3A39E66D}"/>
              </a:ext>
            </a:extLst>
          </p:cNvPr>
          <p:cNvSpPr/>
          <p:nvPr/>
        </p:nvSpPr>
        <p:spPr>
          <a:xfrm>
            <a:off x="617553" y="2337440"/>
            <a:ext cx="5960228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Demand, MDM, Strategy, Portfolio, Workflows</a:t>
            </a:r>
            <a:r>
              <a:rPr lang="en-US" sz="1050">
                <a:solidFill>
                  <a:srgbClr val="FF0000"/>
                </a:solidFill>
                <a:latin typeface="STIHL Contraface Text"/>
              </a:rPr>
              <a:t>, PIT-</a:t>
            </a:r>
            <a:r>
              <a:rPr lang="en-US" sz="1050" err="1">
                <a:solidFill>
                  <a:srgbClr val="FF0000"/>
                </a:solidFill>
                <a:latin typeface="STIHL Contraface Text"/>
              </a:rPr>
              <a:t>Schnittstelle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E89847A3-6EFB-2796-CB1D-EEB725E29DFA}"/>
              </a:ext>
            </a:extLst>
          </p:cNvPr>
          <p:cNvSpPr/>
          <p:nvPr/>
        </p:nvSpPr>
        <p:spPr>
          <a:xfrm>
            <a:off x="4991878" y="3338507"/>
            <a:ext cx="6128406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(Org-Projekte, PEP, VPM, Portfolio)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B2DEB63-E7A0-0C37-63C7-C59BA69166D1}"/>
              </a:ext>
            </a:extLst>
          </p:cNvPr>
          <p:cNvSpPr txBox="1"/>
          <p:nvPr/>
        </p:nvSpPr>
        <p:spPr>
          <a:xfrm>
            <a:off x="7986921" y="4200917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Org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+IT Projekte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A353EE3A-38A7-429C-5BA8-051CAD0204C0}"/>
              </a:ext>
            </a:extLst>
          </p:cNvPr>
          <p:cNvSpPr/>
          <p:nvPr/>
        </p:nvSpPr>
        <p:spPr>
          <a:xfrm>
            <a:off x="8613027" y="3929534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814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7358-71C1-13FF-F052-602B50E8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2224B03D-BD14-908C-A8F5-785D7A41B0FD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2028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ED0382-F54D-BA1B-1F8F-237A16EB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17BCD696-D5A0-AA34-1971-6D3DBEA0AF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54A47D6C-8435-A74D-535A-67724100826A}"/>
              </a:ext>
            </a:extLst>
          </p:cNvPr>
          <p:cNvSpPr/>
          <p:nvPr/>
        </p:nvSpPr>
        <p:spPr>
          <a:xfrm>
            <a:off x="399209" y="2431348"/>
            <a:ext cx="6561428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(PEP, VPM, Portfolio) +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Zusatzthemen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Maßnahmen-Managemt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….)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5E5E01B-FC0C-D18B-595A-AF2F2303A992}"/>
              </a:ext>
            </a:extLst>
          </p:cNvPr>
          <p:cNvSpPr txBox="1"/>
          <p:nvPr/>
        </p:nvSpPr>
        <p:spPr>
          <a:xfrm>
            <a:off x="6186113" y="3700383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VEW/VPM</a:t>
            </a: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14FE66C2-7303-34AB-B315-0C97E554B302}"/>
              </a:ext>
            </a:extLst>
          </p:cNvPr>
          <p:cNvSpPr/>
          <p:nvPr/>
        </p:nvSpPr>
        <p:spPr>
          <a:xfrm>
            <a:off x="6812219" y="3429000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664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Application>Microsoft Office PowerPoint</Application>
  <PresentationFormat>Widescreen</PresentationFormat>
  <Slides>24</Slides>
  <Notes>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STIHL EN 16:9</vt:lpstr>
      <vt:lpstr>Überblick PPM@STIHL und zwischenstand servicenow plattform  ƒ</vt:lpstr>
      <vt:lpstr>Informationen zur Vorstandsvorlage </vt:lpstr>
      <vt:lpstr>Projekte und Projektportfoliomanagement bei STIHL</vt:lpstr>
      <vt:lpstr>Von der Strategie zur Umsetzung – Alternative zu Folie 3</vt:lpstr>
      <vt:lpstr>Herausforderungen im Status Quo</vt:lpstr>
      <vt:lpstr>Vorgehen / Ansatz / Prämissen</vt:lpstr>
      <vt:lpstr>Vorprojekt SNOW – Überblick</vt:lpstr>
      <vt:lpstr>Backup: Beschreibung Leistungsumfang ServiceNow SPM Suite</vt:lpstr>
      <vt:lpstr>Vorprojekt SNOW – Ergebnisse (1 von 2)</vt:lpstr>
      <vt:lpstr>Vorprojekt SNOW – Ergebnisse (2 von 2)</vt:lpstr>
      <vt:lpstr>Lessons Learned MSPO</vt:lpstr>
      <vt:lpstr>Weiteres Vorgehen SNOW</vt:lpstr>
      <vt:lpstr>Roadmap</vt:lpstr>
      <vt:lpstr>Roadmap</vt:lpstr>
      <vt:lpstr>Roadmap</vt:lpstr>
      <vt:lpstr>PowerPoint Presentation</vt:lpstr>
      <vt:lpstr>PowerPoint Presentation</vt:lpstr>
      <vt:lpstr>PowerPoint Presentation</vt:lpstr>
      <vt:lpstr>PowerPoint Presentation</vt:lpstr>
      <vt:lpstr>Status Quo</vt:lpstr>
      <vt:lpstr>Status Quo: IT Demand and Project landscape </vt:lpstr>
      <vt:lpstr>Steuerungs- und Transparenzebenen im Strategischen PPM</vt:lpstr>
      <vt:lpstr>PowerPoint Presentation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revision>17</cp:revision>
  <dcterms:created xsi:type="dcterms:W3CDTF">2025-07-07T10:08:27Z</dcterms:created>
  <dcterms:modified xsi:type="dcterms:W3CDTF">2026-05-07T07:42:08Z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