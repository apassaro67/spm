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tags" Target="tags/tag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2.xml"/><Relationship Id="rId28" Type="http://schemas.openxmlformats.org/officeDocument/2006/relationships/tags" Target="../tags/tag3.xml"/><Relationship Id="rId29" Type="http://schemas.openxmlformats.org/officeDocument/2006/relationships/oleObject" Target="../embeddings/oleObject1.bin"/><Relationship Id="rId30" Type="http://schemas.openxmlformats.org/officeDocument/2006/relationships/image" Target="../media/image1.emf"/><Relationship Id="rId3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08" imgH="408" progId="TCLayout.ActiveDocument.1">
                  <p:embed/>
                </p:oleObj>
              </mc:Choice>
              <mc:Fallback>
                <p:oleObj name="think-cell Slide" r:id="rId29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2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Bewertung der Plattform-Strategie mit ServiceNow · nach 4 Vorstands-Aufgaben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Alex Passaro · Torsten Zahn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Stand: 08.07.2026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SEPM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Inhaltsverzeichnis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655564" cy="85953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" y="1014984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1498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96696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1 — Massnahmen-Mgmt 'Hype'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417320"/>
            <a:ext cx="292608" cy="2286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1732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1732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= OUT OF SCOPE — Begruendung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1956816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" y="1956816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4" y="2011680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011680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993392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2 — SNOW-Prozessabdeckung  (20 Schluesselprozesse)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241401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41401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1401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Schluesselprozesse @ STIHL — Uebersicht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270662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70662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270662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Bewertungsergebnis + Harmonisierungspotenzial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2999232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99923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2999232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Top-Konsolidierungs-Chancen ('Sehr Hoch' + 'Hoch')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" y="3291840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29184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329184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Alternativen (mit Nachteilen)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3831335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1752" y="3831335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4904" y="3886199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3886199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867911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3 — Governance-Strukturen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" y="428853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428853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428853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Governance-Modelle A / B / 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" y="458114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58114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58114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Was aendert sich pro Schluesselprozess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" y="4873751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873751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4873751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Benefits (Zeit · Qualitaet · Kosten)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" y="5166359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166359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5166359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Einmalaufwaende + Betriebsthemen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1636" y="960120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31636" y="960120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1014984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4788" y="101498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7123" y="996696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4 — Plattform-Abhaengigkeit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3075" y="1417320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5" y="141732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8836" y="141732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Risikomatrix neu (BoB vs. Plattform)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3075" y="1709928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3075" y="1709928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8836" y="1709928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Lockin Pro/Con + Anpassungsaufwaende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3075" y="200253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3075" y="200253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88836" y="200253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SAP-SNOW Vergleich + Vertragshistorie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3075" y="229514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3075" y="229514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88836" y="229514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Referenzkunden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31636" y="2834639"/>
            <a:ext cx="5655564" cy="20299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231636" y="2834639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04788" y="2889503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4788" y="2889503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07123" y="2871215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GESAMTDARSTELLUNG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23075" y="3291839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3075" y="3291839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88836" y="3291839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Qualitative Analyse (5 Dimensionen)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23075" y="3584447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3075" y="3584447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88836" y="3584447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Strategische Ausrichtung / neue Geschaeftsfelder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23075" y="3877055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23075" y="3877055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88836" y="3877055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TCO und Betrieb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23075" y="4169663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3075" y="4169663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88836" y="4169663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Umsetzungsvorschlag Szenario 1 + 2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23075" y="4462272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3075" y="446227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88836" y="4462272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Empfehlung + Entscheidungsvorlage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1752" y="6172200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Farben: rot = out of scope, navy = Kapitel-Detail, orange = Gesamtdarstellung / Empfehlung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Rahmen — 4 Aufgaben aus dem Vorstandsprotokoll SEPM (01.07.2026)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9601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792" y="960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Fragestellung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601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9601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Status / Ergebnis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14632" y="960120"/>
            <a:ext cx="57607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Folie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32588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" y="1325880"/>
            <a:ext cx="91440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32588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B91C1C"/>
                </a:solidFill>
                <a:latin typeface="Calibri"/>
              </a:rPr>
              <a:t>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39903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Ablose Software 'Hype' (Massnahmenmgmt) durch SNOW?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139903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Hype stark angepasst → OUT-OF-SCOPE-Begruendung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34472" y="1645920"/>
            <a:ext cx="1188720" cy="329184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4472" y="164592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14632" y="132588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" y="2331720"/>
            <a:ext cx="11585448" cy="9601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" y="233172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33172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40487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Kann SNOW die STIHL-Schluesselprozesse abbilden (oder App Engine) — ohne Standardisierung um jeden Preis?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40487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Schluesselprozesse listen · Reife SNOW bewerten · Alternativen mit Nachteilen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34472" y="265176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265176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14632" y="233172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5-8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" y="333756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1752" y="333756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33756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341071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Governance-Strukturen bewerten — Komplexitaet in der Organisation vermeiden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41071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Governance-Modelle A/B/C · Prozess-Governance · Benefits · Aufwaende · Betrieb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34472" y="365760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34472" y="365760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14632" y="333756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9-12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4343400"/>
            <a:ext cx="11585448" cy="9601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" y="434340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3434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441655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Abhaengigkeitsrisiko SNOW (Vergleich SAP) im Folgeprojekt bewerten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441655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Risikomatrix neu · Lockin/Vibe Coding · SAP-Vergleich · Vertragshistorie · Referenzen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34472" y="466344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34472" y="466344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14632" y="434340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13-16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" y="534924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" y="5349240"/>
            <a:ext cx="91440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534924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07F12"/>
                </a:solidFill>
                <a:latin typeface="Calibri"/>
              </a:rPr>
              <a:t>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64792" y="542239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Gesamtdarstellung fuer Vorstand + Entscheidungsvorlage (VS Q3/2026)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542239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Qualitative Analyse · Strategische Ausrichtung · TCO · Szenarien 1+2 · Empfehlung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34472" y="5669280"/>
            <a:ext cx="1188720" cy="32918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34472" y="566928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14632" y="534924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17-21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1 — Massnahmen-Management 'Hype': OUT OF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8580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91440" cy="6858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960120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STATUS: 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9672" y="96012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Vorstands-Vorschlag: Hype-Ablose nicht Teil dieser Untersuchung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Stark customized ueber Jahre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wurde ueber mehrere Release-Zyklen fuer STIHL-spezifische Massnahmen-Logik erweitert. Eine Ablose muesste alle Customizings inhaltlich nachziehen — enormer Migrationsaufwand.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54496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Zusatzfunktionen mit hoher Fachtiefe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Hype-Funktionen fuer Zielkosten-Verfolgung / Massnahmen-Backlog sind stark in der Produktentwicklung verwurzelt. Nicht 1:1 auf SNOW SPM abbildbar ohne massive Anpassung.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752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192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Keine PPM-Kernfunktion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gehoert nicht in den Kern des Portfolio-Managements. Der Business Case konzentriert sich auf Strategy, Portfolio, Demand, Projekt- und Ressourcen-Management — nicht auf Massnahmen-Details.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54496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Vermeidung von Scope-Creep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Erweiterung um Hype wuerde die Aufwaende und Risiken erheblich vergroessern und den Zeitplan fuer die Jahresplanung 2027 gefaehrden.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6355079"/>
            <a:ext cx="11585448" cy="502920"/>
          </a:xfrm>
          <a:prstGeom prst="roundRect">
            <a:avLst/>
          </a:prstGeom>
          <a:solidFill>
            <a:srgbClr val="FFF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" y="6355079"/>
            <a:ext cx="73152" cy="502920"/>
          </a:xfrm>
          <a:prstGeom prst="rect">
            <a:avLst/>
          </a:prstGeom>
          <a:solidFill>
            <a:srgbClr val="F5C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355079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Zukunftsoption: lose Integration Hype ↔ SNOW (z.B. Massnahmen-Referenz auf Portfolio-Ebene) im spaeteren Projekt-Follow-up — nicht Teil dieses Business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20 Schluesselprozesse @ STIHL: Uebersicht + Harmonisierungspotenzial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4572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Bewertungsergebnis Excel-Analyse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9432" y="1088136"/>
            <a:ext cx="219456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3752" y="9601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3872" y="1088136"/>
            <a:ext cx="219456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9601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68312" y="1088136"/>
            <a:ext cx="219456" cy="201168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2" y="9601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088136"/>
            <a:ext cx="219456" cy="20116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9601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7192" y="1088136"/>
            <a:ext cx="219456" cy="20116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1512" y="9601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71632" y="1088136"/>
            <a:ext cx="219456" cy="201168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45952" y="9601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" y="1554480"/>
            <a:ext cx="3770375" cy="4892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1752" y="1554480"/>
            <a:ext cx="3770375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1572768"/>
            <a:ext cx="349605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STRATEGY  (4 Prozesse)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" y="2011680"/>
            <a:ext cx="3587495" cy="59435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" y="2011680"/>
            <a:ext cx="54864" cy="594359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4632" y="2189988"/>
            <a:ext cx="237744" cy="23774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1899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2029968"/>
            <a:ext cx="14843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Strategische Planung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80487" y="2189988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0487" y="218998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4847" y="2189988"/>
            <a:ext cx="960120" cy="237744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4847" y="21899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" y="2651760"/>
            <a:ext cx="3587495" cy="59435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" y="2651760"/>
            <a:ext cx="54864" cy="594359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4632" y="2830068"/>
            <a:ext cx="237744" cy="23774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283006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2670048"/>
            <a:ext cx="14843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OKR / Goals &amp; Targets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80487" y="2830068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80487" y="283006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2/6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74847" y="2830068"/>
            <a:ext cx="960120" cy="237744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4847" y="28300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" y="3291840"/>
            <a:ext cx="3587495" cy="59435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3192" y="3291840"/>
            <a:ext cx="54864" cy="594359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4632" y="3470148"/>
            <a:ext cx="237744" cy="23774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" y="34701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3310128"/>
            <a:ext cx="14843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Steuerung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80487" y="3470148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80487" y="347014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74847" y="3470148"/>
            <a:ext cx="960120" cy="237744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4847" y="347014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3192" y="3931920"/>
            <a:ext cx="3587495" cy="59435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3192" y="3931920"/>
            <a:ext cx="54864" cy="594359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4632" y="4110228"/>
            <a:ext cx="237744" cy="23774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" y="41102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3950207"/>
            <a:ext cx="14843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Strategy Reporting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80487" y="4110228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80487" y="411022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74847" y="4110228"/>
            <a:ext cx="960120" cy="23774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4847" y="41102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09288" y="1554480"/>
            <a:ext cx="3770375" cy="4892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209288" y="1554480"/>
            <a:ext cx="3770375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6448" y="1572768"/>
            <a:ext cx="349605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ALIGNMENT  (8 Prozesse)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00728" y="201168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00728" y="2011680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392168" y="2141410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92168" y="214141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12208" y="202996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Ideenmanagement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88024" y="214141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8024" y="214141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82384" y="2141410"/>
            <a:ext cx="960120" cy="237744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82384" y="214141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00728" y="255460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00728" y="2554605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392168" y="2684335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92168" y="268433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12208" y="257289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Demand Management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88024" y="268433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88024" y="268433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82384" y="2684335"/>
            <a:ext cx="960120" cy="23774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82384" y="268433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00728" y="309753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00728" y="3097530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392168" y="3227260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92168" y="32272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12208" y="311581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Planung / Roadmaps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88024" y="322726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88024" y="322726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82384" y="3227260"/>
            <a:ext cx="960120" cy="237744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82384" y="32272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300728" y="364045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00728" y="3640455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392168" y="3770185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92168" y="377018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12208" y="365874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Kapazitaetsplanung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88024" y="377018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88024" y="377018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882384" y="3770185"/>
            <a:ext cx="960120" cy="237744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82384" y="377018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00728" y="418338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300728" y="4183380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92168" y="4313110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92168" y="431311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12208" y="420166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Finanzplanung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288024" y="431311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88024" y="431311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82384" y="4313110"/>
            <a:ext cx="960120" cy="237744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82384" y="431311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300728" y="472630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00728" y="4726305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92168" y="4856035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92168" y="485603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12208" y="474459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Approval Prozesse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88024" y="485603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88024" y="485603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82384" y="4856035"/>
            <a:ext cx="960120" cy="23774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82384" y="485603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00728" y="526923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00728" y="5269230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92168" y="5398960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92168" y="5398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12208" y="528751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Reporting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288024" y="539896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88024" y="539896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882384" y="5398960"/>
            <a:ext cx="960120" cy="237744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82384" y="53989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300728" y="581215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300728" y="5812155"/>
            <a:ext cx="54864" cy="497204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392168" y="5941885"/>
            <a:ext cx="237744" cy="23774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392168" y="594188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12208" y="583044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Szenarien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88024" y="594188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288024" y="594188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882384" y="5941885"/>
            <a:ext cx="960120" cy="237744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882384" y="594188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116824" y="1554480"/>
            <a:ext cx="3770375" cy="4892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116824" y="1554480"/>
            <a:ext cx="3770375" cy="384048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253984" y="1572768"/>
            <a:ext cx="349605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LIEFERUNG  (8 Prozesse)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208264" y="201168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208264" y="2011680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299704" y="2141410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299704" y="214141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619744" y="202996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Projektplanung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195560" y="214141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195560" y="214141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789920" y="2141410"/>
            <a:ext cx="960120" cy="237744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789920" y="214141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208264" y="255460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208264" y="2554605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299704" y="2684335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299704" y="268433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619744" y="257289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Finanzplanung und Steuerung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195560" y="268433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195560" y="268433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789920" y="2684335"/>
            <a:ext cx="960120" cy="237744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789920" y="268433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208264" y="309753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208264" y="3097530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299704" y="3227260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299704" y="32272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619744" y="311581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Ressourcenplanung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0195560" y="322726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195560" y="322726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789920" y="3227260"/>
            <a:ext cx="960120" cy="237744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789920" y="32272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208264" y="364045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208264" y="3640455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99704" y="3770185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299704" y="377018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19744" y="365874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Programm Management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0195560" y="377018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195560" y="377018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789920" y="3770185"/>
            <a:ext cx="960120" cy="237744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789920" y="377018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208264" y="418338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208264" y="4183380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8299704" y="4313110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299704" y="431311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9744" y="420166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Zeitaufschreibung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0195560" y="431311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0195560" y="431311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789920" y="4313110"/>
            <a:ext cx="960120" cy="237744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789920" y="431311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208264" y="472630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8264" y="4726305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299704" y="4856035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299704" y="485603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19744" y="474459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Aufgabenmanagement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195560" y="485603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195560" y="485603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0789920" y="4856035"/>
            <a:ext cx="960120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789920" y="485603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208264" y="5269230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208264" y="5269230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299704" y="5398960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299704" y="5398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619744" y="5287518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Risikomanagement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195560" y="5398960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195560" y="539896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0789920" y="5398960"/>
            <a:ext cx="960120" cy="237744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789920" y="53989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8208264" y="5812155"/>
            <a:ext cx="3587495" cy="4972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208264" y="5812155"/>
            <a:ext cx="54864" cy="497204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99704" y="5941885"/>
            <a:ext cx="237744" cy="237744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299704" y="594188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619744" y="5830443"/>
            <a:ext cx="1484375" cy="451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 Reporting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0195560" y="5941885"/>
            <a:ext cx="502920" cy="2377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195560" y="5941885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789920" y="5941885"/>
            <a:ext cx="960120" cy="237744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789920" y="594188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01752" y="6400800"/>
            <a:ext cx="115854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Zusammenfassung  ·  Sehr Hoch: 3  ·  Hoch: 7  ·  Mittel-Hoch: 3  ·  Mittel: 1  ·  na: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Bewertungsergebnis: Prozess-Aehnlichkeit x Tool-Situation -&gt; Harmonisierungspotenzial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4" y="960120"/>
            <a:ext cx="20116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960120"/>
            <a:ext cx="26700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Prozess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2424" y="960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9624" y="960120"/>
            <a:ext cx="97840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Aehnlichkeit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3" y="960120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Tool-Situation heute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3224" y="960120"/>
            <a:ext cx="97840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Potenzial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44784" y="960120"/>
            <a:ext cx="195681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1289304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28930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289304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Strategy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28930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1362456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36245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2893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PowerBI verbreitet, Quellen fragmentiert (PIT, Excel, DAP)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0072" y="1362456"/>
            <a:ext cx="960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1362456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1632" y="1289304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mit Management-Berichten · einheitliche Datenbasis · hoher Nutzen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" y="1673352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1673352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1673352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Demand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167335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22191" y="1746504"/>
            <a:ext cx="932688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1" y="1746504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1673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3 Parallelsysteme: ServiceNow (IT), PIT/Excel (VEW), Excel/MEMPE (MPM)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1746504"/>
            <a:ext cx="960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174650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1673352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Ablose 3 Systeme durch einheitlichen SPM-Demand-Intake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2057400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2057400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2057400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Approval Prozesse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2057400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22191" y="2130552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22191" y="213055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2057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4 parallele Systeme (PowerApp, Lucom, ServiceNow, E-Mail)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20072" y="2130552"/>
            <a:ext cx="960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2" y="2130552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205740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Universelles Prozessmuster · einheitliche SNOW-Approval-Workflows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" y="2441448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2441448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2441448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Ideenmanagement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9272" y="2441448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22191" y="2514600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191" y="251460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24414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Fragmentiert (ServiceNow, PIT, Excel/Planner, MEMPE/SAP-CRD)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20072" y="2514600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20072" y="251460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2441448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Gemeinsamer Intake-Kanal · Ideen-Sichtbarkeit ueber Silos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" y="2825496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28254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2825496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Reporting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9272" y="282549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22191" y="2898648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22191" y="2898648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28032" y="282549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PowerBI verbreitet, Daten aus 4+ Quellen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20072" y="2898648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20072" y="2898648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71632" y="2825496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brauchen Portfolio-Gesamtbild · einheitl. Datenbasis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" y="3209544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320954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3209544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Projektplanung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9272" y="320954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22191" y="3282696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22191" y="328269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28032" y="320954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fast identisch (PIT-Templates), IT muss migrieren (MSPO)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20072" y="3282696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20072" y="3282696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71632" y="3209544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PIT-Standardisierung als Basis · Deep Dive 22.06.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1752" y="3593592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7472" y="3593592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" y="3593592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Finanzplanung und Steuerung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19272" y="359359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22191" y="3666744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22191" y="3666744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28032" y="359359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fast identisch (PIT+SAP+SAC), IT mit Lucom-Zusatz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720072" y="3666744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20072" y="366674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71632" y="3593592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Nahezu gleicher Prozess · hoechste Konvergenz Lieferung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01752" y="3977639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3977639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" y="3977639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Ressourcenplanung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19272" y="3977639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22191" y="4050791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22191" y="4050791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28032" y="3977639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identisch (PIT), IT mit zusaetzl. Systemen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720072" y="4050791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20072" y="4050791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71632" y="3977639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VEW/VPM identisch — einfachste Harmonisierung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01752" y="4361688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7472" y="4361688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648" y="4361688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Risikomanagement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19272" y="4361688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22191" y="4434840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822191" y="443484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28032" y="43616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Excel ueberall vorhanden · VEW mit Governance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720072" y="4434840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20072" y="443484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771632" y="4361688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Aehnliche Struktur · SPM-Risikomodul + Portfolio-Aggregation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01752" y="4745736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7472" y="474573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2648" y="4745736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 Reporting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19272" y="474573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822191" y="4818888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22191" y="4818888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28032" y="474573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fast identisch (PIT+PowerBI via DAP), IT fragmentiert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720072" y="4818888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20072" y="4818888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71632" y="4745736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PEP-Struktur · IT eigenes PPM Reporting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01752" y="5129784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512978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2648" y="5129784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Strategische Planung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512978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22191" y="5202936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822191" y="520293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28032" y="51297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Stark fragmentiert (workpath, Excel/SPP-XLS, PIT, PowerPoint)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720072" y="5202936"/>
            <a:ext cx="960120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720072" y="5202936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771632" y="5129784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Gleiches Ziel · MPM produktspezifisch · SPM als gemeinsamer Rahmen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01752" y="5513832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7472" y="5513832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2648" y="5513832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Kapazitaetsplanung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9272" y="551383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822191" y="5586984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822191" y="5586984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28032" y="55138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Sehr fragmentiert (Alevo, Lucom, PIT, SAP, ServiceNow, PowerApp)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720072" y="5586984"/>
            <a:ext cx="960120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20072" y="558698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71632" y="5513832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Reife-Unterschiede · Potenzial bereichsuebergreifende Kapazitaet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01752" y="5897880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" y="5897880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12648" y="5897880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Programm Management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9272" y="5897880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822191" y="5971032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22191" y="597103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28032" y="5897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PIT bei allen unzureichend · IT: MSPO abgekuendigt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720072" y="5971032"/>
            <a:ext cx="960120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20072" y="5971032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771632" y="589788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Gleiche Anforderung · heute schwach etabliert · SPM schliesst Luecke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01752" y="6281928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47472" y="6281928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2648" y="6281928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Aufgabenmanagement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19272" y="6281928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822191" y="6355080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822191" y="635508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28032" y="628192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Stark fragmentiert (PIT, Jira, Planner, Excel)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720072" y="6355080"/>
            <a:ext cx="960120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20072" y="635508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771632" y="6281928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Grundbedarf gleich · Umsetzung sehr verschieden · CWM als Basis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01752" y="6035040"/>
            <a:ext cx="11585448" cy="36576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01752" y="6035040"/>
            <a:ext cx="73152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38912" y="6035040"/>
            <a:ext cx="113568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1">
                <a:solidFill>
                  <a:srgbClr val="1F2937"/>
                </a:solidFill>
                <a:latin typeface="Calibri"/>
              </a:rPr>
              <a:t>Fazit:  17 von 20 Prozessen mit Harmonisierungspotenzial · 10 davon 'Sehr Hoch' oder 'Hoch' — SEPM hebt hier den groessten Nutzen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Top-Konsolidierungs-Chancen  (10 Prozesse: 'Sehr Hoch' + 'Hoch')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43891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9128" y="1033272"/>
            <a:ext cx="1051560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9128" y="1033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  <a:latin typeface="Calibri"/>
              </a:rPr>
              <a:t>★ SEHR HOCH</a:t>
            </a:r>
          </a:p>
        </p:txBody>
      </p:sp>
      <p:sp>
        <p:nvSpPr>
          <p:cNvPr id="8" name="Oval 7"/>
          <p:cNvSpPr/>
          <p:nvPr/>
        </p:nvSpPr>
        <p:spPr>
          <a:xfrm>
            <a:off x="438912" y="103327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332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996696"/>
            <a:ext cx="2078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Strategy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63040"/>
            <a:ext cx="34960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5/6 Bereiche  ·  Aehnl.: Hoch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709928"/>
            <a:ext cx="34960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Heute:  PowerBI verbreitet, Quellen fragmentiert (PIT, Excel, DAP)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167128"/>
            <a:ext cx="3496056" cy="6858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167128"/>
            <a:ext cx="4572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194560"/>
            <a:ext cx="3313175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Alle mit Management-Berichten · einheitliche Datenbasis · hoher Nutzen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9288" y="960120"/>
            <a:ext cx="377037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9288" y="960120"/>
            <a:ext cx="3770375" cy="43891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36664" y="1033272"/>
            <a:ext cx="1051560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6664" y="1033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  <a:latin typeface="Calibri"/>
              </a:rPr>
              <a:t>★ SEHR HOCH</a:t>
            </a:r>
          </a:p>
        </p:txBody>
      </p:sp>
      <p:sp>
        <p:nvSpPr>
          <p:cNvPr id="20" name="Oval 19"/>
          <p:cNvSpPr/>
          <p:nvPr/>
        </p:nvSpPr>
        <p:spPr>
          <a:xfrm>
            <a:off x="4346448" y="103327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6448" y="10332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2208" y="996696"/>
            <a:ext cx="2078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Demand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6448" y="1463040"/>
            <a:ext cx="34960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5/6 Bereiche  ·  Aehnl.: Mittel-Hoch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6448" y="1709928"/>
            <a:ext cx="34960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Heute:  3 Parallelsysteme: ServiceNow (IT), PIT/Excel (VEW), Excel/MEMPE (MPM)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6448" y="2167128"/>
            <a:ext cx="3496056" cy="6858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6448" y="2167128"/>
            <a:ext cx="4572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3608" y="2194560"/>
            <a:ext cx="3313175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Ablose 3 Systeme durch einheitlichen SPM-Demand-Intake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6824" y="960120"/>
            <a:ext cx="377037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6824" y="960120"/>
            <a:ext cx="3770375" cy="43891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44200" y="1033272"/>
            <a:ext cx="1051560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1033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  <a:latin typeface="Calibri"/>
              </a:rPr>
              <a:t>★ SEHR HOCH</a:t>
            </a:r>
          </a:p>
        </p:txBody>
      </p:sp>
      <p:sp>
        <p:nvSpPr>
          <p:cNvPr id="32" name="Oval 31"/>
          <p:cNvSpPr/>
          <p:nvPr/>
        </p:nvSpPr>
        <p:spPr>
          <a:xfrm>
            <a:off x="8253984" y="103327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3984" y="10332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9744" y="996696"/>
            <a:ext cx="2078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Approval Prozesse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984" y="1463040"/>
            <a:ext cx="34960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6/6 Bereiche  ·  Aehnl.: Hoch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3984" y="1709928"/>
            <a:ext cx="34960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Heute:  4 parallele Systeme (PowerApp, Lucom, ServiceNow, E-Mail)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53984" y="2167128"/>
            <a:ext cx="3496056" cy="6858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53984" y="2167128"/>
            <a:ext cx="4572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1144" y="2194560"/>
            <a:ext cx="3313175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Universelles Prozessmuster · einheitliche SNOW-Approval-Workflows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" y="2871216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66A65A"/>
                </a:solidFill>
                <a:latin typeface="Calibri"/>
              </a:rPr>
              <a:t>Weitere 7 Top-Kandidaten (Bewertung 'Hoch'):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1752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3192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Ideenmanagement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5/6 · Aehnl. Mittel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Gemeinsamer Intake-Kanal · Ideen-Sichtbarkeit ueber Silos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25546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25546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316986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6986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9594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Portfolio Reporting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6986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6/6 · Aehnl. Hoch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6986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Alle brauchen Portfolio-Gesamtbild · einheitl. Datenbasis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49340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49340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40780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0780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3388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Projektplanung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0780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4/6 · Aehnl. Hoch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0780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PIT-Standardisierung als Basis · Deep Dive 22.06.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73134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73134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64574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64574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57182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Finanzplanung und Steuerung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64574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5/6 · Aehnl. Hoch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4574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Nahezu gleicher Prozess · hoechste Konvergenz Lieferung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1752" y="4741164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01752" y="4741164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93192" y="4786884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" y="4786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768596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Ressourcenplanung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" y="5125212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3/6 · Aehnl. Hoch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3192" y="5344668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VEW/VPM identisch — einfachste Harmonisierung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25546" y="4741164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25546" y="4741164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16986" y="4786884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16986" y="4786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09594" y="4768596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Risikomanagement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6986" y="5125212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4/6 · Aehnl. Hoch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6986" y="5344668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Aehnliche Struktur · SPM-Risikomodul + Portfolio-Aggregation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49340" y="4741164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149340" y="4741164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240780" y="4786884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40780" y="4786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33388" y="4768596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 Reporting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0780" y="5125212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4/6 · Aehnl. Hoch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40780" y="5344668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PEP-Struktur · IT eigenes PPM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Alternativen mit aehnlicher Reife: Nachteile im Vergleich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Schluesselprozess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96012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Alternative (Best-of-Breed)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6012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Reife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960120"/>
            <a:ext cx="41330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Wesentliche Nachteile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1289304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89304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Strategisches Portfolio-Mgmt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28930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Planisware, SAP EPPM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74536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79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50024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7768" y="146304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289304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289304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Separates Tool, keine ITSM-Integration, hoehere TCO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1911096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1911096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1911096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Workpath / SharePoint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74536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79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0024" y="208483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87768" y="208483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1911096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1911096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Custom-Bau, kein Standardprodukt, Wartung teuer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2532888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532888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Projekt- &amp; Ressourcenplanung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2532888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 Enterprise</a:t>
            </a:r>
          </a:p>
        </p:txBody>
      </p:sp>
      <p:sp>
        <p:nvSpPr>
          <p:cNvPr id="32" name="Oval 31"/>
          <p:cNvSpPr/>
          <p:nvPr/>
        </p:nvSpPr>
        <p:spPr>
          <a:xfrm>
            <a:off x="6336792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74536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79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50024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87768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2532888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2532888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Sehr maechtig aber personell-hungrig, Insellandschaft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" y="3154680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154680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3592" y="3154680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Power BI + SharePoint</a:t>
            </a:r>
          </a:p>
        </p:txBody>
      </p:sp>
      <p:sp>
        <p:nvSpPr>
          <p:cNvPr id="42" name="Oval 41"/>
          <p:cNvSpPr/>
          <p:nvPr/>
        </p:nvSpPr>
        <p:spPr>
          <a:xfrm>
            <a:off x="6336792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74536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12279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50024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87768" y="3328416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08392" y="3154680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3154680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Nur Dashboarding, keine PPM-Prozess-Integration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" y="3776472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3776472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Entwicklungsprojekte (PEP)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3592" y="3776472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 / Siemens Teamcenter</a:t>
            </a:r>
          </a:p>
        </p:txBody>
      </p:sp>
      <p:sp>
        <p:nvSpPr>
          <p:cNvPr id="52" name="Oval 51"/>
          <p:cNvSpPr/>
          <p:nvPr/>
        </p:nvSpPr>
        <p:spPr>
          <a:xfrm>
            <a:off x="6336792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74536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12279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50024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87768" y="3950208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08392" y="3776472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3776472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Enge Kopplung an PLM, hohe Umstellungskosten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" y="4398264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4398264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3592" y="439826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Lucom + SharePoint</a:t>
            </a:r>
          </a:p>
        </p:txBody>
      </p:sp>
      <p:sp>
        <p:nvSpPr>
          <p:cNvPr id="62" name="Oval 61"/>
          <p:cNvSpPr/>
          <p:nvPr/>
        </p:nvSpPr>
        <p:spPr>
          <a:xfrm>
            <a:off x="6336792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74536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812279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50024" y="457200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87768" y="457200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08392" y="4398264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4398264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Bestand, aber Wartungsvertrag limitiert, Insel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1752" y="5020056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5020056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Application Portfolio Mgmt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93592" y="5020056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LeanIX / eigenes Excel</a:t>
            </a:r>
          </a:p>
        </p:txBody>
      </p:sp>
      <p:sp>
        <p:nvSpPr>
          <p:cNvPr id="72" name="Oval 71"/>
          <p:cNvSpPr/>
          <p:nvPr/>
        </p:nvSpPr>
        <p:spPr>
          <a:xfrm>
            <a:off x="6336792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74536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12279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050024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87768" y="519379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08392" y="5020056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6992" y="5020056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Zusatzliches Tool, kein Anschluss an SPM/Demand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01752" y="5779008"/>
            <a:ext cx="11585448" cy="50292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01752" y="5779008"/>
            <a:ext cx="73152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8912" y="5779008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Kernaussage:  Alternativen haben aehnliche Reife, aber alle bringen Insel-Betrieb, hoehere TCO und fehlende Prozess-Integration mit sich — SNOW ist strategisch ueberlegen.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Governance-Modelle:  A · Vollharmonisiert  ·  B · Foederiert  ·  C · Status quo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Bewertung dreier Governance-Modelle — B (Foederiert) wird empfohlen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645920"/>
            <a:ext cx="11585448" cy="38404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4592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Szenario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64592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Governance-Modell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64592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FTE (laufend)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164592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Komplexitaet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164592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Change (einmalig)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" y="2066544"/>
            <a:ext cx="11585448" cy="10515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" y="2066544"/>
            <a:ext cx="109728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06654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A · Vollharmonisiert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06654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 Standard, comply-or-explain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6872" y="234086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234086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1592" y="234086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159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" y="3163824"/>
            <a:ext cx="11585448" cy="105156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" y="3163824"/>
            <a:ext cx="109728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16382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2E7D32"/>
                </a:solidFill>
                <a:latin typeface="Calibri"/>
              </a:rPr>
              <a:t>B · Foederiert  (Empfehlung)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316382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Standard + wenige def. Varianten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687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423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5159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09960" y="3255264"/>
            <a:ext cx="68580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9960" y="325526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★ EMPF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" y="4261104"/>
            <a:ext cx="11585448" cy="10515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" y="4261104"/>
            <a:ext cx="109728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26110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 · Status quo digitalisiert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426110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je Fachbereich eigenes Modell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6872" y="453542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7687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14232" y="453542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423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51592" y="453542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5159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" y="5449823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FTE-Zahlen werden im Folgeprojekt bottom-up je Governance-Rolle × Fachbereich × Standardisierungsgrad ermittelt.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Bewertung: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73352" y="5788151"/>
            <a:ext cx="219456" cy="16459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596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27832" y="5788151"/>
            <a:ext cx="219456" cy="16459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82312" y="5788151"/>
            <a:ext cx="219456" cy="164592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Was aendert sich pro Schluesselprozess  (Prozess-Governance)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Schluesselprozess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96012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Heute (Rollen · Owner)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032" y="96012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Mit SEPM (Rollen · Owner)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88752" y="960120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Delta / Governance-Anspruch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23192" y="960120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Aufwand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289304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289304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Strat. Portfolio-Mgmt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28930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Excel · dezentral, VS-Sekretariat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28930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SPM · Portfolio-Board (SCD/SEH)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1426464"/>
            <a:ext cx="1097280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142646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6032" y="128930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1947672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947672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19476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SharePoint · manuell je Ressort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19476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Demand · Fachbereich + IT-Demand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43032" y="2084831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43032" y="2084831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86032" y="194767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" y="2606040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606040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Projekt-/Ressourcen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260604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PIT · Ressort-Leitung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260604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PM/RM · zentral + Ressort-Owner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43032" y="2743200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3032" y="27432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86032" y="2606040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264408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64408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Reporting/Dashboards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3592" y="326440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Excel · manuell Zusammenstellen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26440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Live-Dashboards · Self-Service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43032" y="3401568"/>
            <a:ext cx="1097280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43032" y="34015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86032" y="3264408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" y="3922776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922776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Entwicklungs-Projekte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3922776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PIT + Excel · EWW Portfolio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3922776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SPM + App Engine · EWW-Board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43032" y="4059936"/>
            <a:ext cx="1097280" cy="347472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3032" y="405993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86032" y="3922776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B91C1C"/>
                </a:solidFill>
                <a:latin typeface="Calibri"/>
              </a:rPr>
              <a:t>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" y="4581144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581144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3592" y="458114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Lucom + manuelle Freigabe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458114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App-Engine-Workflow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43032" y="4718304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43032" y="471830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86032" y="458114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" y="5239512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5239512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App Portfolio Mgmt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3592" y="5239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kein zentraler Owner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8312" y="5239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APM · IT-Architektur-Board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43032" y="5376672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43032" y="537667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86032" y="523951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" y="59893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1752" y="59893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59893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Prinzip:  Klare Owner-Zuordnung je Prozess-Rolle in einer Plattform — Komplexitaet in der Organisation sinkt.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Benefits durch neue Governance:  Zeit · Qualitaet · Kosten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5943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8912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" y="196596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Idee → Freigabe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6-8 Wochen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1-2 Wochen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− 75 %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" y="301752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Reporting-Zyklus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monatlich manuell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sofort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" y="406908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Governance-Entscheidungen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3-4 Meetings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Meeting +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− 60 %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" y="512064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Onboarding neuer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3-4 Wochen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Woche (Standardrollen)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− 70 %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09288" y="960120"/>
            <a:ext cx="3770375" cy="5943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46448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6448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3648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Qualitaet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0728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6448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3808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9648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8368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0728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00728" y="196596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7888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Datenkonsistenz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3808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Insel-Excels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9648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Datenmodell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7888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100 %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00728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00728" y="301752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7888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Audit-Faehigkeit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3808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manuell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9648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Standard-Reports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888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hoch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00728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00728" y="406908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7888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Fehlerquote Berichte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3808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5-10 %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9648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&lt; 1 %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7888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− 90 %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00728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00728" y="512064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7888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Nachvollziehbarkeit OKR→Projekt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83808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keine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9648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durchgaengig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7888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neu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116824" y="960120"/>
            <a:ext cx="3770375" cy="5943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53984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53984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  <a:latin typeface="Calibri"/>
              </a:rPr>
              <a:t>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11184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Kosten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08264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53984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91344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97184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85904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08264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08264" y="196596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45424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Reporting-Aufwand p.a.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91344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3 FTE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97184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1 FTE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45424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− 260 k€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208264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08264" y="301752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45424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Governance-FTE Ressorts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91344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4-6 FTE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97184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2-3 FTE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45424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− 350 k€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08264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08264" y="406908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45424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Tool-Betrieb (Konsol.)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91344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6 Tools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97184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Plattform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45424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− 950 k€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08264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08264" y="512064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45424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Change-Aufwand Ressorts (einm.)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91344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97184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200 k€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45424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+ 200 k€ einm.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Einmalaufwaende (Training/Enablement) + Betriebsthemen (Fachbereich/IT)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EINMALIGE AUFWAENDE — Training &amp; Enablement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0876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508760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55448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Basis-Training Anwender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78308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400 Personen · 4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057400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e-Learning + Praesenz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8556" y="1764792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8556" y="17647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80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441448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441448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2487168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Power-User-Training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2715768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40 Personen · 2 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990088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SNOW-Standard + STIHL-Prozesse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8556" y="2697480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8556" y="26974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60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3374136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3374136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3419856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Governance-Board-Onboarding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" y="3648456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Ressort · 1 Tag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3922776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SCD/SEH + Fachbereichsleiter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8556" y="3630168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8556" y="3630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30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306824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306824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" y="4352544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Change-Kommunikation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4581144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Kick-off · Roadshow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4855464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internes Marketing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8556" y="4562856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8556" y="456285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50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" y="5239512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" y="5239512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5285232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Prozess-Doku + Playbooks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5513832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30 Dokumente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" y="5788152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Standard first — Anpassung dokumentiert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8556" y="5495544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8556" y="549554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40 k€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" y="617220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" y="6172200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621792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Datenmigration + Bereinigung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" y="644652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PIT → SNOW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" y="6720840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einmalig, mit Data-Owner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8556" y="6428232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48556" y="64282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120 k€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612648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100" b="1" i="0">
                <a:solidFill>
                  <a:srgbClr val="F07F12"/>
                </a:solidFill>
                <a:latin typeface="Calibri"/>
              </a:rPr>
              <a:t>Summe einmalig: ~ 380 k€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5916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85916" y="960120"/>
            <a:ext cx="5701284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BETRIEBSTHEMEN — Fachbereich &amp; 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23076" y="150876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23076" y="150876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41948" y="1563624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1948" y="156362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3236" y="1545336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Prozess-Owner je Schluesselprozess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3236" y="1837943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0,5-1,0 FTE / Ressort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1948" y="2057400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Owner haelt Standard, Fachbereichs-Anpassungen im Rahmen der Foederierung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3076" y="2441448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3076" y="2441448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41948" y="2496312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1948" y="249631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3236" y="2478024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Governance-Boards (SCD/SEH + FB)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3236" y="2770632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quartalsweise 0,5 Tag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1948" y="2990088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Portfolio-Priorisierung, OKR-Alignment, Approvals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3076" y="3374136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3076" y="3374136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441948" y="3429000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1948" y="34290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3236" y="3410712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Anwender-Support 1st Level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3236" y="3703320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0,2 FTE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1948" y="3922776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Fragen Standard-Bedienung, im Ressort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23076" y="4306824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23076" y="4306824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41948" y="4361688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1948" y="4361688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03236" y="4343400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SNOW-Plattform-Admin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03236" y="4636008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1,0 FTE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1948" y="4855464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im bestehenden ITSM-Team, Erweiterung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23076" y="5239512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23076" y="5239512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441948" y="5294376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1948" y="5294376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03236" y="5276088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SPM Business Analyst / SI-Partner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03236" y="5568696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1,0 FTE + Externer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41948" y="5788152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Erweiterungen, App Engine, Prozess-Anpassungen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23076" y="617220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23076" y="6172200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441948" y="6227064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41948" y="622706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03236" y="6208776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Integration / API-Betreuung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03236" y="6501384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0,5 FTE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41948" y="6720840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SAP FI/HCM, PIT-Ausrollung, Monitoring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23076" y="612648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050" b="1" i="0">
                <a:solidFill>
                  <a:srgbClr val="2C3E50"/>
                </a:solidFill>
                <a:latin typeface="Calibri"/>
              </a:rPr>
              <a:t>Gesamt Betriebs-FTE:  ~ 2,5 FTE IT · ~ 0,7 FTE / Ressort Fachbereich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Risikomatrix neu:  Best-of-Breed vs. SNOW als Plattform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Umdenken: heute BoB-Risiken (viele Tools) — kuenftig Plattform-Risiken (eine Plattform)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645920"/>
            <a:ext cx="5701284" cy="4800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" y="1645920"/>
            <a:ext cx="5701284" cy="41148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459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HEUTE — Best-of-Breed-Risiken (~ 6 Tools)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1488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14884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" y="240487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4048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0370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Multi-Vendor-Abhaengigkeit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4963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Tool eigenes Update-/Support-Risiko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292608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292608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" y="318211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1821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98094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Schnittstellen-Bruchgefahr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7355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APIs zwischen Tools brechen bei Upgrades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70332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370332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" y="395935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959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5818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Datenkonsistenz nicht sicher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050791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Insel-Datenmodelle, Aggregation manuell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48056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48056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6072" y="473659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53542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Support-EOL (PIT/MSPO)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82803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Bestandsprodukte werden abgekuendigt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525780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" y="525780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072" y="551383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55138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31266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Hohe Betriebs-FTE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60527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4-6 FTE fuer Multi-Tool-Betrieb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60350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" y="603504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76072" y="629107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2910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608990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Governance-Fragmentierung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63825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Tool eigene Rollen, keine Uebersicht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5916" y="1645920"/>
            <a:ext cx="5701284" cy="4800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85916" y="1645920"/>
            <a:ext cx="570128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16459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MIT SEPM — Plattform-Risiken (1 Plattform)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23076" y="21488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23076" y="214884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60236" y="24048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0236" y="24048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0276" y="220370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Vendor Lock-in SNOW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0276" y="24963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Standard-Config, Migrations-Klauseln, Marktscreening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3076" y="292608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23076" y="292608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60236" y="318211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0236" y="31821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0276" y="298094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Preis-Eskalation Renewal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0276" y="327355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Vertragsklausel 7% nach 4 Jahren (siehe F14)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23076" y="370332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23076" y="370332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60236" y="395935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60236" y="3959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0276" y="375818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Plattform-Ausfall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0276" y="4050791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SLA 99,9%, DC Frankfurt/Duesseldorf, DSGVO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3076" y="448056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3076" y="448056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60236" y="473659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60236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0276" y="453542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Roadmap-Divergenz SNOW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0276" y="482803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 first · halbjaehrliche Roadmap-Reviews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23076" y="525780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23076" y="525780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60236" y="551383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0236" y="55138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0276" y="531266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Kompetenz-Aufbau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0276" y="560527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Erweiterung ITSM-Team +1,5-2 FTE, Ausbildung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23076" y="60350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23076" y="603504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460236" y="62910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60236" y="62910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80276" y="608990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Governance-Zentralismus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0276" y="63825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Foederiertes Modell (Empfehlung B) mildert das 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Lockin Pro/Con  +  Anpassungsaufwaende (Vibe Coding · Beratungsumfeld)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LOCKIN-EFFEKTE — Pro / 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08760"/>
            <a:ext cx="5426964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 — Vorteile der Plattform-Bindung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74519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874519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92023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Ein Datenmodell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10312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durchgaengige Traceability, keine Aggregations-Insel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423160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423160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246887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Einheitliche Rollen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265176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reduzierter Governance-Overhead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971800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2971800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01752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Skaleneffekte Lizenz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320040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Volumen-Rabatte bei mehreren SNOW-Modulen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3657599"/>
            <a:ext cx="5426964" cy="2743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657599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 — Nachteile der Plattform-Bindung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4023359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4023359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406907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Vendor-Abhaengigkeit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4251959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SNOW-Preis-/Roadmap-Diktat moeglich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4571999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" y="4571999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461771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Exit-Kosten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4800599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Migrationsaufwand bei Vendor-Wechsel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120640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" y="5120640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516635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Skalier-Kosten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534924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mit mehr Named Users steigen Lizenzkosten stark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5916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85916" y="960120"/>
            <a:ext cx="5701284" cy="41148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3076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ANPASSUNGSAUFWAENDE — Vibe Coding · Beratungsumfeld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3076" y="1508760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3076" y="150876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1545336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 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1783080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Konfiguration via Now Studio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1948" y="2057400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kein Coding — nur Klicks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1783080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17830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0-5 PT / Prozess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3076" y="2496312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3076" y="2496312"/>
            <a:ext cx="54864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1948" y="2532888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Vibe Coding / App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1948" y="2770632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Low-Code Custom-Apps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1948" y="3044952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F07F12"/>
                </a:solidFill>
                <a:latin typeface="Calibri"/>
              </a:rPr>
              <a:t>eigene Entwickler + SNOW-Zertifizierung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2770632"/>
            <a:ext cx="16002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0" y="27706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5-15 PT / Prozess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3076" y="3483864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23076" y="3483864"/>
            <a:ext cx="54864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1948" y="3520440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Custom-Skripte (Server)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1948" y="3758184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JavaScript/GlideScript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1948" y="4032504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  <a:latin typeface="Calibri"/>
              </a:rPr>
              <a:t>wird moeglichst vermieden — Standard first!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40" y="3758184"/>
            <a:ext cx="1600200" cy="36576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40" y="3758184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10-30 PT / Modul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23076" y="4471416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23076" y="4471416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1948" y="4507992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Beratungsumfeld 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1948" y="4745736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SNOW-Partner (T-Systems, Devoteam, ...)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1948" y="5020056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reifer Markt in Deutschland, Wettbewerb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9840" y="4745736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0" y="474573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800-1500 €/PT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23076" y="5458968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3076" y="5458968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1948" y="5495544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STIHL internes Know-how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1948" y="5733288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ITSM-Team seit 2014 + Ausbau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1948" y="6007608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kein Blackbox-Wissen, gute Basis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49840" y="5733288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49840" y="573328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wachsend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SAP vs. ServiceNow-Vergleich  +  Vertragshistorie mit Erhoehungsklausel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Vergleich Plattform-Abhaengigkeit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28016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801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752" y="128016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SAP (Bestand)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128016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ServiceNow (SEPM)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128016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60934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0934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Lockin-Historie STIHL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60934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seit ~ 25 Jahren, tief verwurzelt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60934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seit 2014, kontrolliert wachsend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84280" y="1664207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166420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" y="202082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02082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Preisentwicklung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02082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regelmaessige Anpassungen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02082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Renewal +7 % nach 4 Jahren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2075688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84280" y="20756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" y="243230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43230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Migrations-Optionen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243230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sehr eingeschraenkt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43230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Standard-Exports, APIs, Migrationstools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384280" y="2487168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284378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84378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Marktreife DACH-Partner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284378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sehr hoch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284378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hoch — Devoteam, T-Systems, 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84280" y="2898648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4280" y="28986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25526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25526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Cloud-Betrieb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25526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S/4HANA-Roadmap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25526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SaaS DE, DSGVO, DC FRA/DUS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84280" y="3310127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84280" y="331012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366674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66674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AI-Faehigkeiten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366674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Joule (im Aufbau)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2" y="366674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Now Assist (produktiv seit 2024)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84280" y="3721607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84280" y="372160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3986784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Vertragshistorie ServiceNow bei STIHL  —  Renewal 2028 mit +7 % Erhoehungsklausel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" y="4261104"/>
            <a:ext cx="11585448" cy="1463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" y="5449824"/>
            <a:ext cx="1094536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5487" y="5271734"/>
            <a:ext cx="292608" cy="17808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30352" y="5180294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-155448" y="497912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180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-155448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39111" y="5192583"/>
            <a:ext cx="292608" cy="2572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093975" y="510114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08175" y="4899975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260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8175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02735" y="5113433"/>
            <a:ext cx="292608" cy="33639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57599" y="502199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1799" y="4820825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340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799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66359" y="5044176"/>
            <a:ext cx="292608" cy="405647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21224" y="4952736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35424" y="475156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410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5424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29983" y="4965025"/>
            <a:ext cx="292608" cy="48479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784848" y="4873585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9048" y="4672417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490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93608" y="4895768"/>
            <a:ext cx="292608" cy="554055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348472" y="4804328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62672" y="460316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560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2672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57232" y="4638528"/>
            <a:ext cx="292608" cy="811295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912096" y="4547088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26296" y="43459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820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26296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420856" y="4581144"/>
            <a:ext cx="292608" cy="86868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75720" y="4489704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89920" y="42885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878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2028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78440" y="4315968"/>
            <a:ext cx="1097280" cy="29260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78440" y="431596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+7 % Klausel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1752" y="5907024"/>
            <a:ext cx="11585448" cy="41148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1752" y="5907024"/>
            <a:ext cx="73152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8912" y="5907024"/>
            <a:ext cx="113568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Fazit: SNOW-Abhaengigkeit strukturell aehnlich SAP — kontrollierbar durch Standard-first + Vertragsklauseln.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Referenzkunden ServiceNow  (Grosskonzerne in Deutschland)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&gt;85 % der Fortune 500 · nahezu alle DAX-Konzerne · fuehrende deutsche Industrieunternehmen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37360"/>
            <a:ext cx="1328166" cy="201168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7078" y="1737360"/>
            <a:ext cx="1328166" cy="201168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7078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7078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2403" y="1737360"/>
            <a:ext cx="1328166" cy="201168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2403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2403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7729" y="1737360"/>
            <a:ext cx="1328166" cy="201168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7729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729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1737360"/>
            <a:ext cx="1328166" cy="201168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5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8381" y="1737360"/>
            <a:ext cx="1328166" cy="201168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8381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8381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Industrie / Auto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3707" y="1737360"/>
            <a:ext cx="1328166" cy="201168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3707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3707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59034" y="1737360"/>
            <a:ext cx="1328166" cy="201168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59034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9034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4297679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Referenz-Use-Cases im Markt (nicht nur IT):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1752" y="4617719"/>
            <a:ext cx="2207361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ITSM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Basis-Modul, seit 10+ Jahren produktiv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46273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46273" y="4617719"/>
            <a:ext cx="2207361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46273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SPM / Portfolio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3433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Wachstumsbereich, viele Bosch/Siemens-Referenzen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90795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90795" y="4617719"/>
            <a:ext cx="2207361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90795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HR Service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7955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Employee Portal, Onboarding-Workflows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35316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35316" y="4617719"/>
            <a:ext cx="2207361" cy="32004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5316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Customer Service Mgmt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2476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Field Service, Kundenprozesse (v.a. Telekom)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79838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79838" y="4617719"/>
            <a:ext cx="2207361" cy="32004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79838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GRC /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6998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Compliance-Automation (v.a. Banking / Insurance)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Qualitative Analyse der Plattform  (5 Dimensionen)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137160" cy="969263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" y="11430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143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0515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Datenintegritaet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173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ein Datenmodell, keine Insel-Aggregation</a:t>
            </a:r>
          </a:p>
        </p:txBody>
      </p:sp>
      <p:sp>
        <p:nvSpPr>
          <p:cNvPr id="10" name="Oval 9"/>
          <p:cNvSpPr/>
          <p:nvPr/>
        </p:nvSpPr>
        <p:spPr>
          <a:xfrm>
            <a:off x="5330952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0136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9320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18504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7688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11430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1097280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 → Portfolio → Projekt → Kosten durchgaengig verfolgbar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2020824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" y="2020824"/>
            <a:ext cx="137160" cy="969263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" y="2203704"/>
            <a:ext cx="548640" cy="54864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2037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21122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KI (Now Assist)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247802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GenAI produktiv seit 2024, Vibe Coding moeglich</a:t>
            </a:r>
          </a:p>
        </p:txBody>
      </p:sp>
      <p:sp>
        <p:nvSpPr>
          <p:cNvPr id="23" name="Oval 22"/>
          <p:cNvSpPr/>
          <p:nvPr/>
        </p:nvSpPr>
        <p:spPr>
          <a:xfrm>
            <a:off x="5330952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0136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89320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18504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2295144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2037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865DE4"/>
                </a:solidFill>
                <a:latin typeface="Calibri"/>
              </a:rPr>
              <a:t>4/5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2157984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Risk-Frueherkennung, Auto-Reports, Chat-Assistent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" y="3081528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" y="3081528"/>
            <a:ext cx="137160" cy="969263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6072" y="3264408"/>
            <a:ext cx="548640" cy="5486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2644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3172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Schnelligkeit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" y="35387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Reporting live, Freigaben in Stunden statt Wochen</a:t>
            </a:r>
          </a:p>
        </p:txBody>
      </p:sp>
      <p:sp>
        <p:nvSpPr>
          <p:cNvPr id="36" name="Oval 35"/>
          <p:cNvSpPr/>
          <p:nvPr/>
        </p:nvSpPr>
        <p:spPr>
          <a:xfrm>
            <a:off x="5330952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0136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89320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18504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47688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326440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5/5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9831" y="3218688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Live-Dashboards, Auto-Approvals nach Regelwerk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" y="4142231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1752" y="4142231"/>
            <a:ext cx="137160" cy="969263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072" y="4325112"/>
            <a:ext cx="548640" cy="54864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3251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7592" y="4233671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Prozesse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7592" y="4599431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Standard-Prozesse SPM Pro + App-Engine-Erweiterungen</a:t>
            </a:r>
          </a:p>
        </p:txBody>
      </p:sp>
      <p:sp>
        <p:nvSpPr>
          <p:cNvPr id="49" name="Oval 48"/>
          <p:cNvSpPr/>
          <p:nvPr/>
        </p:nvSpPr>
        <p:spPr>
          <a:xfrm>
            <a:off x="5330952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60136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989320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18504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647688" y="4416551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2" y="432511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4/5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99831" y="4279392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Standardisiert wo moeglich, foederiert wo noetig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" y="5202936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1752" y="5202936"/>
            <a:ext cx="137160" cy="969263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6072" y="5385816"/>
            <a:ext cx="548640" cy="5486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538581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7592" y="5294375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Transparenz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07592" y="56601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Vorstand sieht Portfolio-Status in Echtzeit</a:t>
            </a:r>
          </a:p>
        </p:txBody>
      </p:sp>
      <p:sp>
        <p:nvSpPr>
          <p:cNvPr id="62" name="Oval 61"/>
          <p:cNvSpPr/>
          <p:nvPr/>
        </p:nvSpPr>
        <p:spPr>
          <a:xfrm>
            <a:off x="5330952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60136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989320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18504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47688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14032" y="5385816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3B6BA5"/>
                </a:solidFill>
                <a:latin typeface="Calibri"/>
              </a:rPr>
              <a:t>5/5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9831" y="5340096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Ampeln, Budget, OKR-Beitrag pro Vorhaben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" y="6309359"/>
            <a:ext cx="115854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1">
                <a:solidFill>
                  <a:srgbClr val="2E7D32"/>
                </a:solidFill>
                <a:latin typeface="Calibri"/>
              </a:rPr>
              <a:t>Gesamt-Bewertung:  4,6 / 5,0  —  reife Plattform, mit klarem Vorteil in allen 5 Dimensionen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Strategische Ausrichtung + neue Geschaeftsfelder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0" i="1">
                <a:solidFill>
                  <a:srgbClr val="4B5563"/>
                </a:solidFill>
                <a:latin typeface="Calibri"/>
              </a:rPr>
              <a:t>Von PPM-Konsolidierung zu einer echten Plattform-Strategie fuer STIHL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417320"/>
            <a:ext cx="11585448" cy="457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Heute 2026 — ITSM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1409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8841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2027 — SEPM 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8499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5931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2028 — SEPM Phase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5588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53020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2029+ — HR/CSM/GRC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42678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0110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Zukunft — Vibe 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" y="2194560"/>
            <a:ext cx="3770375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SEPM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Portfolio · Projekt · Ressourcen ·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Ableitung aus laufendem Business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6208" y="3703320"/>
            <a:ext cx="1508760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6208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Umsetzung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9288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9288" y="2194560"/>
            <a:ext cx="3770375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6448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HR Service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6448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Onboarding, Employee Self-Service, HR-Ticketing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6448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Nutzung SNOW HR-Modul, gemeinsame Plattform mit ITSM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3744" y="3703320"/>
            <a:ext cx="1508760" cy="31089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3744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12-18 Mo Vorlauf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6824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6824" y="2194560"/>
            <a:ext cx="3770375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3984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Customer Service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3984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Field Service Techniker, Ersatzteil-Case-Mgmt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984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SNOW CSM/FSM — Bindeglied zu Aftersales &amp; Handel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3703320"/>
            <a:ext cx="1508760" cy="310896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Potenzial gross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1752" y="4251960"/>
            <a:ext cx="3770375" cy="384048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GRC / Risk-Mgmt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Compliance-Automation, DSGVO, Audit-Trails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SNOW GRC — Ergaenzung zu SAP-Kernprozessen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6208" y="5760720"/>
            <a:ext cx="1508760" cy="310896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26208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Mittelfristig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9288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09288" y="4251960"/>
            <a:ext cx="3770375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6448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 Solutions (App Engine)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6448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Vibe Coding fuer STIHL-spezifische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6448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Interne Loesungen ohne 3rd-Party-Tool, schneller als Custom Coding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33744" y="5760720"/>
            <a:ext cx="150876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3744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Ab Jahr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6824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16824" y="4251960"/>
            <a:ext cx="3770375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3984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KI / Now Assist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53984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Generative KI ueber alle Bereiche hinweg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53984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STIHL-eigene GPT-Anwendungen auf SNOW-Datenbasis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41280" y="5760720"/>
            <a:ext cx="1508760" cy="31089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41280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Zukunft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TCO und Betrieb  (kompakte Zusammenfassung)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2793492" cy="29260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5-Jahres-TCO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  <a:latin typeface="Calibri"/>
              </a:rPr>
              <a:t>~ 7,0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einmalig + laufend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2404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32404" y="960120"/>
            <a:ext cx="2793492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2404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Nutzen (5 J.)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2404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22,7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2404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Konsol.+Value+Flanking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960120"/>
            <a:ext cx="2793492" cy="29260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Netto-Effekt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+15,7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Cash Flow ueber 5 Jahre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3708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3708" y="960120"/>
            <a:ext cx="2793492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3708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Betriebs-FTE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708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3B6BA5"/>
                </a:solidFill>
                <a:latin typeface="Calibri"/>
              </a:rPr>
              <a:t>~ 2,5 FTE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708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im Endzustand, Erweiterung ITSM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46888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Zusammensetzung TCO und Nutzen (5 Jahre kumuliert, Base Case)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788920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80720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— Implementierung + Change (einmalig)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2807208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- 3,0 M€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3172968"/>
            <a:ext cx="11585448" cy="34747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191256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— Lizenz + Betrieb + Weiterentwicklung (5 J.)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3191256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- 4,0 M€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557016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75304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Konsolidierung Tools &amp; Schnittstellen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3575304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+ 5,8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941064"/>
            <a:ext cx="11585448" cy="34747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959352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Business Value (Effizienz, TTM, Governance)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3959352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+ 11,6 M€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4325112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343400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Flankierende Prozesse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4343400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+ 5,3 M€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4709160"/>
            <a:ext cx="11585448" cy="347472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7274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NETTO 5 Jahre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4727448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400" b="1" i="0">
                <a:solidFill>
                  <a:srgbClr val="F07F12"/>
                </a:solidFill>
                <a:latin typeface="Calibri"/>
              </a:rPr>
              <a:t>+ 15,7 M€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Umsetzungsvorschlag Szenario 1 &amp;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05840"/>
            <a:ext cx="378104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SZENARIO 1 — Full Scope 24 Monate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6" y="1051560"/>
            <a:ext cx="1600200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5676" y="10515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★ EMPFEHLUNG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60020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" y="160020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367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6367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Alle Module Phase 1 (Demand · Strategy · Portfolio · Reporting) + Phase 2 (PM · Ress.)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219456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" y="219456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311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Zeit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22311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24 Monate ab Kickoff (Nov 2026)  ·  Go-Live Phase 1 Q1/2028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278892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" y="278892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2549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Kosten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282549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~ 3,0 M€ einmalig  ·  ~ 0,8 M€ p.a. Steady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" y="338328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" y="338328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41985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Milestones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341985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Q4/26 Kickoff · Q3/27 Phase 1 UAT · Q1/28 Go-Live · Q3/28 Phase 2 GL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" y="3977639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" y="3977639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014215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Quickwins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4014215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Demand-Backlog (Q2/27) · Live-Portfolio-Dashboard (Q3/27) · OKR-Cascade (Q4/27)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" y="457200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" y="457200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6085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0512" y="46085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Investitionsbeschluss zur Jahresplanung 2027 (Q3/2026)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" y="516636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3192" y="516636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2029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Risiko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0512" y="52029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Mittel — Change-intensiv, ausreichende Ressourcen noetig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5916" y="960120"/>
            <a:ext cx="5701284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5916" y="960120"/>
            <a:ext cx="5701284" cy="502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3076" y="1005840"/>
            <a:ext cx="378104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SZENARIO 2 — Extended Ramp 36 Monate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1051560"/>
            <a:ext cx="1600200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10515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3B6BA5"/>
                </a:solidFill>
                <a:latin typeface="Calibri"/>
              </a:rPr>
              <a:t>Konservativ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77356" y="160020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77356" y="160020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4516" y="16367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Scope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4676" y="16367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Alle Module verteilt auf 3 Jahre — Phase 1 in 18 Mo, Phase 2 danach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7356" y="219456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77356" y="219456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4516" y="22311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Zeit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4676" y="22311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36 Monate ab Kickoff  ·  Go-Live Phase 1 Q3/2028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77356" y="278892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77356" y="278892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4516" y="282549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Kosten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4676" y="282549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~ 2,7 M€ einmalig  ·  ~ 0,75 M€ p.a. Steady State (spaeter)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77356" y="338328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77356" y="338328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4516" y="341985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Milestones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4676" y="341985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Q4/26 Kickoff · Q1/28 Phase 1 UAT · Q3/28 Go-Live · Q4/29 Phase 2 GL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77356" y="3977639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77356" y="3977639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4516" y="4014215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Quickwins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4676" y="4014215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Demand-Backlog erst Q3/27 · Dashboards Q1/28 · Full Portfolio Q3/28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77356" y="457200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77356" y="457200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4516" y="46085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EV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4676" y="46085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Zweistufig: Rahmen 2027, Vollbudget 2028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77356" y="516636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77356" y="516636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4516" y="52029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Risiko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4676" y="52029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Niedrig — mehr Puffer, aber laengerer Payback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1752" y="6080760"/>
            <a:ext cx="11585448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4632" y="6080760"/>
            <a:ext cx="112196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Empfehlung:  Szenario 1 — Full Scope 24 Monate. Deutlich schnellerer Payback + hoehere Nutzen-Kumulation.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Empfehlung + Entscheidungsvorlage (EV)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85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960120"/>
            <a:ext cx="11219688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★ BESCHLUSSVORSCHLAG:  Umsetzung Szenario 1 (Full Scope 24 Mo) · Governance-Modell B (Foederiert)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1828800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" y="1828800"/>
            <a:ext cx="5724144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865376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1 — Was wird beschlossen?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2441448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Investitionsentscheidung SEPM (Szenario 1) fuer Jahresplanung 2027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825496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Governance-Modell B (Foederiert) — Standard first, definierte Varianten je Ressort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" y="3209544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09981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SI-Partner-Auswahl per RFP im Q4/2026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" y="3593591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48386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Kickoff Detail-Konzept Q4/2026, Umsetzungs-Start Q1/2027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828800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3056" y="1828800"/>
            <a:ext cx="5724144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865376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2 — Was ist zu erwarten?</a:t>
            </a:r>
          </a:p>
        </p:txBody>
      </p:sp>
      <p:sp>
        <p:nvSpPr>
          <p:cNvPr id="20" name="Oval 19"/>
          <p:cNvSpPr/>
          <p:nvPr/>
        </p:nvSpPr>
        <p:spPr>
          <a:xfrm>
            <a:off x="6345936" y="2441448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331720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TCO ~ 7,0 M€ ueber 5 Jahre  ·  Netto-Effekt ~ + 15,7 M€</a:t>
            </a:r>
          </a:p>
        </p:txBody>
      </p:sp>
      <p:sp>
        <p:nvSpPr>
          <p:cNvPr id="22" name="Oval 21"/>
          <p:cNvSpPr/>
          <p:nvPr/>
        </p:nvSpPr>
        <p:spPr>
          <a:xfrm>
            <a:off x="6345936" y="2825496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2715768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Payback ~ 3,5 Jahre  ·  IRR ~ 32 %  ·  NPV ~ + 8,5 M€</a:t>
            </a:r>
          </a:p>
        </p:txBody>
      </p:sp>
      <p:sp>
        <p:nvSpPr>
          <p:cNvPr id="24" name="Oval 23"/>
          <p:cNvSpPr/>
          <p:nvPr/>
        </p:nvSpPr>
        <p:spPr>
          <a:xfrm>
            <a:off x="6345936" y="3209544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09981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Konsolidierung von 6+ Tools · Ablose PIT im Rahmen Phase 1/2</a:t>
            </a:r>
          </a:p>
        </p:txBody>
      </p:sp>
      <p:sp>
        <p:nvSpPr>
          <p:cNvPr id="26" name="Oval 25"/>
          <p:cNvSpPr/>
          <p:nvPr/>
        </p:nvSpPr>
        <p:spPr>
          <a:xfrm>
            <a:off x="6345936" y="3593591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348386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Foederiertes Governance-Modell — Komplexitaet mittel gehalten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069079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" y="4069079"/>
            <a:ext cx="5724144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105655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 — Welche Ressourcen sind noetig?</a:t>
            </a:r>
          </a:p>
        </p:txBody>
      </p:sp>
      <p:sp>
        <p:nvSpPr>
          <p:cNvPr id="31" name="Oval 30"/>
          <p:cNvSpPr/>
          <p:nvPr/>
        </p:nvSpPr>
        <p:spPr>
          <a:xfrm>
            <a:off x="484632" y="4681727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571999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 FTE intern (Phase 1+2) · ~ 2,5 FTE Steady State</a:t>
            </a:r>
          </a:p>
        </p:txBody>
      </p:sp>
      <p:sp>
        <p:nvSpPr>
          <p:cNvPr id="33" name="Oval 32"/>
          <p:cNvSpPr/>
          <p:nvPr/>
        </p:nvSpPr>
        <p:spPr>
          <a:xfrm>
            <a:off x="484632" y="5065775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956047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SI-Partner (SNOW-zertifiziert) · Retainer + T&amp;M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" y="5449823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34009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Change-Programm + Trainings (~ 380 k€ einmalig)</a:t>
            </a:r>
          </a:p>
        </p:txBody>
      </p:sp>
      <p:sp>
        <p:nvSpPr>
          <p:cNvPr id="37" name="Oval 36"/>
          <p:cNvSpPr/>
          <p:nvPr/>
        </p:nvSpPr>
        <p:spPr>
          <a:xfrm>
            <a:off x="484632" y="5833871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72414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Governance-Board etablieren (Q4/2026)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4069079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63056" y="4069079"/>
            <a:ext cx="5724144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216" y="4105655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4 — Wann und wie geht es weiter?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4681727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74536" y="4571999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Q3/2026: EV zur Jahresplanung (Vorstand)</a:t>
            </a:r>
          </a:p>
        </p:txBody>
      </p:sp>
      <p:sp>
        <p:nvSpPr>
          <p:cNvPr id="44" name="Oval 43"/>
          <p:cNvSpPr/>
          <p:nvPr/>
        </p:nvSpPr>
        <p:spPr>
          <a:xfrm>
            <a:off x="6345936" y="5065775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74536" y="4956047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Q4/2026: SI-Auswahl + Detail-Konzept</a:t>
            </a:r>
          </a:p>
        </p:txBody>
      </p:sp>
      <p:sp>
        <p:nvSpPr>
          <p:cNvPr id="46" name="Oval 45"/>
          <p:cNvSpPr/>
          <p:nvPr/>
        </p:nvSpPr>
        <p:spPr>
          <a:xfrm>
            <a:off x="6345936" y="5449823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4536" y="534009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Q1/2027: Kickoff Umsetzung Phase 1</a:t>
            </a:r>
          </a:p>
        </p:txBody>
      </p:sp>
      <p:sp>
        <p:nvSpPr>
          <p:cNvPr id="48" name="Oval 47"/>
          <p:cNvSpPr/>
          <p:nvPr/>
        </p:nvSpPr>
        <p:spPr>
          <a:xfrm>
            <a:off x="6345936" y="5833871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74536" y="572414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Q1/2028: Go-Live Phase 1 (Demand, Portfolio, Strategy)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Vielen Dank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1C1C579840D48AC999B396FE66310" ma:contentTypeVersion="12" ma:contentTypeDescription="Create a new document." ma:contentTypeScope="" ma:versionID="646d29713344052343ad324215fc0f96">
  <xsd:schema xmlns:xsd="http://www.w3.org/2001/XMLSchema" xmlns:xs="http://www.w3.org/2001/XMLSchema" xmlns:p="http://schemas.microsoft.com/office/2006/metadata/properties" xmlns:ns2="523280cd-a023-47fb-9c6b-d00b9095b7ab" xmlns:ns3="1449935d-50da-41e9-87a8-3306d78bd466" targetNamespace="http://schemas.microsoft.com/office/2006/metadata/properties" ma:root="true" ma:fieldsID="7a04719490a9881a1c9c6d2c79e269f8" ns2:_="" ns3:_="">
    <xsd:import namespace="523280cd-a023-47fb-9c6b-d00b9095b7ab"/>
    <xsd:import namespace="1449935d-50da-41e9-87a8-3306d78bd4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3280cd-a023-47fb-9c6b-d00b9095b7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9935d-50da-41e9-87a8-3306d78bd4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1aa8117-7af4-4a81-9c32-6097d7e72bd7}" ma:internalName="TaxCatchAll" ma:showField="CatchAllData" ma:web="1449935d-50da-41e9-87a8-3306d78bd4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49935d-50da-41e9-87a8-3306d78bd466" xsi:nil="true"/>
    <lcf76f155ced4ddcb4097134ff3c332f xmlns="523280cd-a023-47fb-9c6b-d00b9095b7a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E7DB3-A956-4506-AAD6-F0A62C6F1C01}">
  <ds:schemaRefs>
    <ds:schemaRef ds:uri="1449935d-50da-41e9-87a8-3306d78bd466"/>
    <ds:schemaRef ds:uri="523280cd-a023-47fb-9c6b-d00b9095b7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1449935d-50da-41e9-87a8-3306d78bd466"/>
    <ds:schemaRef ds:uri="2f256423-360f-43c8-9cc5-edab87e38065"/>
    <ds:schemaRef ds:uri="523280cd-a023-47fb-9c6b-d00b9095b7ab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677</Words>
  <Application>Microsoft Office PowerPoint</Application>
  <PresentationFormat>Breitbild</PresentationFormat>
  <Paragraphs>132</Paragraphs>
  <Slides>6</Slides>
  <Notes>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Arial</vt:lpstr>
      <vt:lpstr>Calibri</vt:lpstr>
      <vt:lpstr>STIHL Contraface Display Title</vt:lpstr>
      <vt:lpstr>STIHL Contraface Text</vt:lpstr>
      <vt:lpstr>Symbol</vt:lpstr>
      <vt:lpstr>STIHL EN 16:9</vt:lpstr>
      <vt:lpstr>think-cell Slide</vt:lpstr>
      <vt:lpstr>think-cell Folie</vt:lpstr>
      <vt:lpstr>SEPM Weiteres Vorgehen  ƒ</vt:lpstr>
      <vt:lpstr>Weiteres Vorgehen </vt:lpstr>
      <vt:lpstr>Vorstandsprotokoll SEPM </vt:lpstr>
      <vt:lpstr>Vorgänge </vt:lpstr>
      <vt:lpstr>Detail-Terminierung</vt:lpstr>
      <vt:lpstr>PowerPoint-Präsentation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</cp:revision>
  <dcterms:created xsi:type="dcterms:W3CDTF">2025-07-07T10:08:27Z</dcterms:created>
  <dcterms:modified xsi:type="dcterms:W3CDTF">2026-07-01T14:46:47Z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0x0101003681C1C579840D48AC999B396FE66310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