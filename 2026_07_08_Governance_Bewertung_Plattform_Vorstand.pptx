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24000"/>
            <a:ext cx="103632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1200" b="1" i="0">
                <a:solidFill>
                  <a:srgbClr val="F07F12"/>
                </a:solidFill>
                <a:latin typeface="Calibri"/>
              </a:rPr>
              <a:t>PLATTFORMEINFÜHRUNG · GOVERNANCE-BEWERTUNG · VORLAGE VORSTAND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81200"/>
            <a:ext cx="10515600" cy="15240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Die Plattform ist nur so gut</a:t>
            </a:r>
          </a:p>
          <a:p>
            <a:pPr algn="l"/>
            <a:r>
              <a:rPr sz="3600" b="1" i="0">
                <a:solidFill>
                  <a:srgbClr val="F07F12"/>
                </a:solidFill>
                <a:latin typeface="Calibri"/>
              </a:rPr>
              <a:t>wie die Governance darunter.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10000"/>
            <a:ext cx="100584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C7CDD4"/>
                </a:solidFill>
                <a:latin typeface="Calibri"/>
              </a:rPr>
              <a:t>Neben der Software müssen die Governance-Strukturen in den Fachbereichen bewertet werden — sonst digitalisieren wir bestehende Komplexität und zahlen sie dauerhaft in Prozess und FTE. Der resultierende Bedarf wird im Folgeprojekt bewertet.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029200"/>
            <a:ext cx="10363200" cy="914400"/>
          </a:xfrm>
          <a:prstGeom prst="roundRect">
            <a:avLst>
              <a:gd name="adj" fmla="val 8000"/>
            </a:avLst>
          </a:prstGeom>
          <a:solidFill>
            <a:srgbClr val="27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5029200"/>
            <a:ext cx="68580" cy="9144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5029200"/>
            <a:ext cx="99060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07F12"/>
                </a:solidFill>
                <a:latin typeface="Calibri"/>
              </a:rPr>
              <a:t>Leitprinzip:  </a:t>
            </a:r>
            <a:r>
              <a:rPr sz="1400" b="1" i="1">
                <a:solidFill>
                  <a:srgbClr val="FFFFFF"/>
                </a:solidFill>
                <a:latin typeface="Calibri"/>
              </a:rPr>
              <a:t>„Harmonize before you digitize.“  </a:t>
            </a:r>
            <a:r>
              <a:rPr sz="1300" b="0" i="0">
                <a:solidFill>
                  <a:srgbClr val="C7CDD4"/>
                </a:solidFill>
                <a:latin typeface="Calibri"/>
              </a:rPr>
              <a:t>Standard als Default, lokale Varianten nur mit Begründung (comply-or-explain).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" cy="68580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3400" y="381000"/>
            <a:ext cx="9906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1100" b="1" i="0">
                <a:solidFill>
                  <a:srgbClr val="F07F12"/>
                </a:solidFill>
                <a:latin typeface="Calibri"/>
              </a:rPr>
              <a:t>WARUM DER VORSTAND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647700"/>
            <a:ext cx="111252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2200" b="1" i="0">
                <a:solidFill>
                  <a:srgbClr val="1F2937"/>
                </a:solidFill>
                <a:latin typeface="Calibri"/>
              </a:rPr>
              <a:t>Ohne Governance-Bewertung digitalisieren wir Komplexität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1333500"/>
            <a:ext cx="11125200" cy="9144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389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r"/>
            <a:r>
              <a:rPr sz="1000" b="0" i="0">
                <a:solidFill>
                  <a:srgbClr val="D1D5DB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6438900"/>
            <a:ext cx="8382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900" b="0" i="0">
                <a:solidFill>
                  <a:srgbClr val="D1D5DB"/>
                </a:solidFill>
                <a:latin typeface="Calibri"/>
              </a:rPr>
              <a:t>Governance-Bewertung Plattformeinführung · Vorlage Vorstand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1485900"/>
            <a:ext cx="111252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B5563"/>
                </a:solidFill>
                <a:latin typeface="Calibri"/>
              </a:rPr>
              <a:t>Eine Plattform (z. B. ServiceNow SPM) setzt ein Prozess- und Rollenmodell voraus. Laufen in den Fachbereichen heute N unterschiedliche Governance-Modelle, entstehen zwei Wege: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3400" y="2057400"/>
            <a:ext cx="54483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3400" y="2057400"/>
            <a:ext cx="5448300" cy="381000"/>
          </a:xfrm>
          <a:prstGeom prst="rect">
            <a:avLst/>
          </a:prstGeom>
          <a:solidFill>
            <a:srgbClr val="FB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0560" y="2057400"/>
            <a:ext cx="51816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1200" b="1" i="0">
                <a:solidFill>
                  <a:srgbClr val="B91C1C"/>
                </a:solidFill>
                <a:latin typeface="Calibri"/>
              </a:rPr>
              <a:t>✗  Governance NICHT bewerten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514600"/>
            <a:ext cx="5181600" cy="12954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1F2937"/>
                </a:solidFill>
                <a:latin typeface="Calibri"/>
              </a:rPr>
              <a:t>•  N Fachbereichs-Modelle 1:1 im Tool abgebildet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1F2937"/>
                </a:solidFill>
                <a:latin typeface="Calibri"/>
              </a:rPr>
              <a:t>•  Dauerhafte Konfigurations- &amp; Betriebskomplexität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1F2937"/>
                </a:solidFill>
                <a:latin typeface="Calibri"/>
              </a:rPr>
              <a:t>•  Höherer, versteckter FTE-Bedarf (je Variante)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1F2937"/>
                </a:solidFill>
                <a:latin typeface="Calibri"/>
              </a:rPr>
              <a:t>•  Schlechte Datenqualität, keine Vergleichbarkeit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1F2937"/>
                </a:solidFill>
                <a:latin typeface="Calibri"/>
              </a:rPr>
              <a:t>•  „Automatisiertes Chaos“ statt Steuerbarkeit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0300" y="2057400"/>
            <a:ext cx="54483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0300" y="2057400"/>
            <a:ext cx="5448300" cy="381000"/>
          </a:xfrm>
          <a:prstGeom prst="rect">
            <a:avLst/>
          </a:prstGeom>
          <a:solidFill>
            <a:srgbClr val="E3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7460" y="2057400"/>
            <a:ext cx="51816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✓  Governance bewerten &amp; harmonisieren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2700" y="2514600"/>
            <a:ext cx="5181600" cy="12954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1F2937"/>
                </a:solidFill>
                <a:latin typeface="Calibri"/>
              </a:rPr>
              <a:t>•  Ein Standardprozess, wenige begründete Varianten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1F2937"/>
                </a:solidFill>
                <a:latin typeface="Calibri"/>
              </a:rPr>
              <a:t>•  Geringere Betriebskomplexität &amp; -kosten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1F2937"/>
                </a:solidFill>
                <a:latin typeface="Calibri"/>
              </a:rPr>
              <a:t>•  Transparenter, planbarer FTE-Bedarf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1F2937"/>
                </a:solidFill>
                <a:latin typeface="Calibri"/>
              </a:rPr>
              <a:t>•  Konsistente Daten → verlässliche Steuerung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1F2937"/>
                </a:solidFill>
                <a:latin typeface="Calibri"/>
              </a:rPr>
              <a:t>•  Plattform hebt echten Nutzen statt Altlasten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3400" y="4114800"/>
            <a:ext cx="11125200" cy="762000"/>
          </a:xfrm>
          <a:prstGeom prst="roundRect">
            <a:avLst>
              <a:gd name="adj" fmla="val 8000"/>
            </a:avLst>
          </a:prstGeom>
          <a:solidFill>
            <a:srgbClr val="FD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3400" y="4114800"/>
            <a:ext cx="76200" cy="7620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900" y="4175760"/>
            <a:ext cx="108204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F2937"/>
                </a:solidFill>
                <a:latin typeface="Calibri"/>
              </a:rPr>
              <a:t>Die Vorstands-Frage lautet nicht „welches Tool“, sondern:  </a:t>
            </a:r>
            <a:r>
              <a:rPr sz="1200" b="1" i="0">
                <a:solidFill>
                  <a:srgbClr val="1F2937"/>
                </a:solidFill>
                <a:latin typeface="Calibri"/>
              </a:rPr>
              <a:t>Wollen wir die heutige Governance-Vielfalt zementieren — oder sie im Zuge der Plattform harmonisieren?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  Diese Entscheidung determiniert Komplexität, Prozess und FTE für Jahre.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400" y="5067300"/>
            <a:ext cx="111252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Betroffene Governance-Bereiche (Scope der Bewertung)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3400" y="5372100"/>
            <a:ext cx="3581400" cy="419100"/>
          </a:xfrm>
          <a:prstGeom prst="roundRect">
            <a:avLst>
              <a:gd name="adj" fmla="val 8000"/>
            </a:avLst>
          </a:prstGeom>
          <a:solidFill>
            <a:srgbClr val="E4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3400" y="5372100"/>
            <a:ext cx="3581400" cy="419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1000" b="1" i="0">
                <a:solidFill>
                  <a:srgbClr val="2E5A8F"/>
                </a:solidFill>
                <a:latin typeface="Calibri"/>
              </a:rPr>
              <a:t>Demand / Intake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67200" y="5372100"/>
            <a:ext cx="3581400" cy="419100"/>
          </a:xfrm>
          <a:prstGeom prst="roundRect">
            <a:avLst>
              <a:gd name="adj" fmla="val 8000"/>
            </a:avLst>
          </a:prstGeom>
          <a:solidFill>
            <a:srgbClr val="E4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67200" y="5372100"/>
            <a:ext cx="3581400" cy="419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1000" b="1" i="0">
                <a:solidFill>
                  <a:srgbClr val="2E5A8F"/>
                </a:solidFill>
                <a:latin typeface="Calibri"/>
              </a:rPr>
              <a:t>Portfolio-Priorisierung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5372100"/>
            <a:ext cx="3581400" cy="419100"/>
          </a:xfrm>
          <a:prstGeom prst="roundRect">
            <a:avLst>
              <a:gd name="adj" fmla="val 8000"/>
            </a:avLst>
          </a:prstGeom>
          <a:solidFill>
            <a:srgbClr val="E4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01000" y="5372100"/>
            <a:ext cx="3581400" cy="419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1000" b="1" i="0">
                <a:solidFill>
                  <a:srgbClr val="2E5A8F"/>
                </a:solidFill>
                <a:latin typeface="Calibri"/>
              </a:rPr>
              <a:t>Projekt-/Stage-Gate-Governance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3400" y="5867400"/>
            <a:ext cx="3581400" cy="419100"/>
          </a:xfrm>
          <a:prstGeom prst="roundRect">
            <a:avLst>
              <a:gd name="adj" fmla="val 8000"/>
            </a:avLst>
          </a:prstGeom>
          <a:solidFill>
            <a:srgbClr val="E4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3400" y="5867400"/>
            <a:ext cx="3581400" cy="419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1000" b="1" i="0">
                <a:solidFill>
                  <a:srgbClr val="2E5A8F"/>
                </a:solidFill>
                <a:latin typeface="Calibri"/>
              </a:rPr>
              <a:t>Ressourcen- &amp; Kapazitätsmgmt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67200" y="5867400"/>
            <a:ext cx="3581400" cy="419100"/>
          </a:xfrm>
          <a:prstGeom prst="roundRect">
            <a:avLst>
              <a:gd name="adj" fmla="val 8000"/>
            </a:avLst>
          </a:prstGeom>
          <a:solidFill>
            <a:srgbClr val="E4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67200" y="5867400"/>
            <a:ext cx="3581400" cy="419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1000" b="1" i="0">
                <a:solidFill>
                  <a:srgbClr val="2E5A8F"/>
                </a:solidFill>
                <a:latin typeface="Calibri"/>
              </a:rPr>
              <a:t>Reporting &amp; KPIs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01000" y="5867400"/>
            <a:ext cx="3581400" cy="419100"/>
          </a:xfrm>
          <a:prstGeom prst="roundRect">
            <a:avLst>
              <a:gd name="adj" fmla="val 8000"/>
            </a:avLst>
          </a:prstGeom>
          <a:solidFill>
            <a:srgbClr val="E4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01000" y="5867400"/>
            <a:ext cx="3581400" cy="419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1000" b="1" i="0">
                <a:solidFill>
                  <a:srgbClr val="2E5A8F"/>
                </a:solidFill>
                <a:latin typeface="Calibri"/>
              </a:rPr>
              <a:t>Rollen &amp; Gremien (RACI)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" cy="68580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3400" y="381000"/>
            <a:ext cx="9906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1100" b="1" i="0">
                <a:solidFill>
                  <a:srgbClr val="F07F12"/>
                </a:solidFill>
                <a:latin typeface="Calibri"/>
              </a:rPr>
              <a:t>WIE ERARBEITEN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647700"/>
            <a:ext cx="111252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2200" b="1" i="0">
                <a:solidFill>
                  <a:srgbClr val="1F2937"/>
                </a:solidFill>
                <a:latin typeface="Calibri"/>
              </a:rPr>
              <a:t>Fünf Schritte — vom Ist der Fachbereiche zum FTE-Bedarf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1333500"/>
            <a:ext cx="11125200" cy="9144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389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r"/>
            <a:r>
              <a:rPr sz="1000" b="0" i="0">
                <a:solidFill>
                  <a:srgbClr val="D1D5DB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6438900"/>
            <a:ext cx="8382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900" b="0" i="0">
                <a:solidFill>
                  <a:srgbClr val="D1D5DB"/>
                </a:solidFill>
                <a:latin typeface="Calibri"/>
              </a:rPr>
              <a:t>Governance-Bewertung Plattformeinführung · Vorlage Vorstand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3400" y="1828800"/>
            <a:ext cx="2171700" cy="3352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33400" y="1828800"/>
            <a:ext cx="2171700" cy="609600"/>
          </a:xfrm>
          <a:prstGeom prst="roundRect">
            <a:avLst>
              <a:gd name="adj" fmla="val 8000"/>
            </a:avLst>
          </a:prstGeom>
          <a:solidFill>
            <a:srgbClr val="2E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3400" y="2057400"/>
            <a:ext cx="2171700" cy="381000"/>
          </a:xfrm>
          <a:prstGeom prst="rect">
            <a:avLst/>
          </a:prstGeom>
          <a:solidFill>
            <a:srgbClr val="2E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3400" y="1828800"/>
            <a:ext cx="21717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Schritt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14600"/>
            <a:ext cx="19583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F2937"/>
                </a:solidFill>
                <a:latin typeface="Calibri"/>
              </a:rPr>
              <a:t>Governance-Ist je Fachbereich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48000"/>
            <a:ext cx="1958340" cy="20574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10000"/>
              </a:lnSpc>
            </a:pPr>
            <a:r>
              <a:rPr sz="860" b="0" i="0">
                <a:solidFill>
                  <a:srgbClr val="4B5563"/>
                </a:solidFill>
                <a:latin typeface="Calibri"/>
              </a:rPr>
              <a:t>Wie steuert jeder Fachbereich heute Demand, Portfolio, Projekte, Ressourcen, Reporting? Rollen, Gremien, Tools, Reifegrad — per Assessment-Raster.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67000" y="335280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ctr"/>
            <a:r>
              <a:rPr sz="1600" b="1" i="0">
                <a:solidFill>
                  <a:srgbClr val="F07F12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11780" y="1828800"/>
            <a:ext cx="2171700" cy="3352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811780" y="1828800"/>
            <a:ext cx="2171700" cy="609600"/>
          </a:xfrm>
          <a:prstGeom prst="roundRect">
            <a:avLst>
              <a:gd name="adj" fmla="val 8000"/>
            </a:avLst>
          </a:prstGeom>
          <a:solidFill>
            <a:srgbClr val="2E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11780" y="2057400"/>
            <a:ext cx="2171700" cy="381000"/>
          </a:xfrm>
          <a:prstGeom prst="rect">
            <a:avLst/>
          </a:prstGeom>
          <a:solidFill>
            <a:srgbClr val="2E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11780" y="1828800"/>
            <a:ext cx="21717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Schritt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18460" y="2514600"/>
            <a:ext cx="19583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F2937"/>
                </a:solidFill>
                <a:latin typeface="Calibri"/>
              </a:rPr>
              <a:t>Plattform-Standard (Soll)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18460" y="3048000"/>
            <a:ext cx="1958340" cy="20574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10000"/>
              </a:lnSpc>
            </a:pPr>
            <a:r>
              <a:rPr sz="860" b="0" i="0">
                <a:solidFill>
                  <a:srgbClr val="4B5563"/>
                </a:solidFill>
                <a:latin typeface="Calibri"/>
              </a:rPr>
              <a:t>Welches Prozess-, Rollen- und Datenmodell setzt die Plattform voraus bzw. ermöglicht sie? Referenz-Governance definieren.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45380" y="335280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ctr"/>
            <a:r>
              <a:rPr sz="1600" b="1" i="0">
                <a:solidFill>
                  <a:srgbClr val="F07F12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90160" y="1828800"/>
            <a:ext cx="2171700" cy="3352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90160" y="1828800"/>
            <a:ext cx="2171700" cy="609600"/>
          </a:xfrm>
          <a:prstGeom prst="roundRect">
            <a:avLst>
              <a:gd name="adj" fmla="val 8000"/>
            </a:avLst>
          </a:prstGeom>
          <a:solidFill>
            <a:srgbClr val="2E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90160" y="2057400"/>
            <a:ext cx="2171700" cy="381000"/>
          </a:xfrm>
          <a:prstGeom prst="rect">
            <a:avLst/>
          </a:prstGeom>
          <a:solidFill>
            <a:srgbClr val="2E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90160" y="1828800"/>
            <a:ext cx="21717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Schritt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96840" y="2514600"/>
            <a:ext cx="19583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F2937"/>
                </a:solidFill>
                <a:latin typeface="Calibri"/>
              </a:rPr>
              <a:t>Gap- &amp; Komplexitätsanalyse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96840" y="3048000"/>
            <a:ext cx="1958340" cy="20574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10000"/>
              </a:lnSpc>
            </a:pPr>
            <a:r>
              <a:rPr sz="860" b="0" i="0">
                <a:solidFill>
                  <a:srgbClr val="4B5563"/>
                </a:solidFill>
                <a:latin typeface="Calibri"/>
              </a:rPr>
              <a:t>Delta Ist ↔ Soll je Fachbereich. Wo Standard möglich (harmonisieren) vs. wo begründete lokale Varianz? Komplexitäts-Heatmap.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335280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ctr"/>
            <a:r>
              <a:rPr sz="1600" b="1" i="0">
                <a:solidFill>
                  <a:srgbClr val="F07F12"/>
                </a:solidFill>
                <a:latin typeface="Calibr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68539" y="1828800"/>
            <a:ext cx="2171700" cy="3352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68539" y="1828800"/>
            <a:ext cx="2171700" cy="609600"/>
          </a:xfrm>
          <a:prstGeom prst="roundRect">
            <a:avLst>
              <a:gd name="adj" fmla="val 8000"/>
            </a:avLst>
          </a:prstGeom>
          <a:solidFill>
            <a:srgbClr val="2E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68539" y="2057400"/>
            <a:ext cx="2171700" cy="381000"/>
          </a:xfrm>
          <a:prstGeom prst="rect">
            <a:avLst/>
          </a:prstGeom>
          <a:solidFill>
            <a:srgbClr val="2E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68539" y="1828800"/>
            <a:ext cx="21717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Schritt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75220" y="2514600"/>
            <a:ext cx="19583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F2937"/>
                </a:solidFill>
                <a:latin typeface="Calibri"/>
              </a:rPr>
              <a:t>Prozess- &amp; Rollen-Zielbild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5220" y="3048000"/>
            <a:ext cx="1958340" cy="20574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10000"/>
              </a:lnSpc>
            </a:pPr>
            <a:r>
              <a:rPr sz="860" b="0" i="0">
                <a:solidFill>
                  <a:srgbClr val="4B5563"/>
                </a:solidFill>
                <a:latin typeface="Calibri"/>
              </a:rPr>
              <a:t>Standardprozesse + Governance-Rollen (Demand-, Portfolio-Mgr, PMO, Ressourcen-Mgmt) ableiten; Harmonisierungs-Entscheidungen treffen.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2140" y="335280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ctr"/>
            <a:r>
              <a:rPr sz="1600" b="1" i="0">
                <a:solidFill>
                  <a:srgbClr val="F07F12"/>
                </a:solidFill>
                <a:latin typeface="Calibri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46920" y="1828800"/>
            <a:ext cx="2171700" cy="3352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646920" y="1828800"/>
            <a:ext cx="2171700" cy="609600"/>
          </a:xfrm>
          <a:prstGeom prst="roundRect">
            <a:avLst>
              <a:gd name="adj" fmla="val 8000"/>
            </a:avLst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646920" y="2057400"/>
            <a:ext cx="2171700" cy="3810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46920" y="1828800"/>
            <a:ext cx="21717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Schritt 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53600" y="2514600"/>
            <a:ext cx="19583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F2937"/>
                </a:solidFill>
                <a:latin typeface="Calibri"/>
              </a:rPr>
              <a:t>Aufwands- &amp; FTE-Bewertung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53600" y="3048000"/>
            <a:ext cx="1958340" cy="20574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10000"/>
              </a:lnSpc>
            </a:pPr>
            <a:r>
              <a:rPr sz="860" b="0" i="0">
                <a:solidFill>
                  <a:srgbClr val="4B5563"/>
                </a:solidFill>
                <a:latin typeface="Calibri"/>
              </a:rPr>
              <a:t>FTE für Betrieb der Governance-Rollen + einmaliger Change-Aufwand; Szenarien harmonisiert ↔ föderiert ↔ Status quo.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33400" y="5410200"/>
            <a:ext cx="11125200" cy="914400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5486400"/>
            <a:ext cx="108204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Bewertungsdimensionen je Fachbereich (Rating: Reifegrad · Harmonisierungspotenzial · Komplexitätsrisiko)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5775960"/>
            <a:ext cx="108204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B5563"/>
                </a:solidFill>
                <a:latin typeface="Calibri"/>
              </a:rPr>
              <a:t>Demand/Intake  ·  Portfolio-Priorisierung  ·  Projekt-/Stage-Gate  ·  Ressourcen/Kapazität  ·  Reporting/KPI &amp; Datenqualität  ·  Rollen &amp; Gremien (RACI)  ·  Standardisierungs-/Toolnutzungsgrad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" cy="68580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3400" y="381000"/>
            <a:ext cx="9906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1100" b="1" i="0">
                <a:solidFill>
                  <a:srgbClr val="F07F12"/>
                </a:solidFill>
                <a:latin typeface="Calibri"/>
              </a:rPr>
              <a:t>ERGEBNISFORM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647700"/>
            <a:ext cx="111252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2200" b="1" i="0">
                <a:solidFill>
                  <a:srgbClr val="1F2937"/>
                </a:solidFill>
                <a:latin typeface="Calibri"/>
              </a:rPr>
              <a:t>So sieht das Ergebnis aus: eine Komplexitäts-Heatmap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1333500"/>
            <a:ext cx="11125200" cy="9144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389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r"/>
            <a:r>
              <a:rPr sz="1000" b="0" i="0">
                <a:solidFill>
                  <a:srgbClr val="D1D5DB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6438900"/>
            <a:ext cx="8382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900" b="0" i="0">
                <a:solidFill>
                  <a:srgbClr val="D1D5DB"/>
                </a:solidFill>
                <a:latin typeface="Calibri"/>
              </a:rPr>
              <a:t>Governance-Bewertung Plattformeinführung · Vorlage Vorstand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1485900"/>
            <a:ext cx="111252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B5563"/>
                </a:solidFill>
                <a:latin typeface="Calibri"/>
              </a:rPr>
              <a:t>Je Fachbereich × Governance-Dimension: harmonisierbar, begründete Varianz oder Klärungsbedarf. Macht Komplexitätstreiber und Harmonisierungspotenzial sichtbar. (Darstellung illustrativ — im Folgeprojekt zu erheben.)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3400" y="1981200"/>
            <a:ext cx="19812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9120" y="1981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Fachbereich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14600" y="1981200"/>
            <a:ext cx="1524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600" y="1981200"/>
            <a:ext cx="1524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Demand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38600" y="1981200"/>
            <a:ext cx="1524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38600" y="1981200"/>
            <a:ext cx="1524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Portfolio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62600" y="1981200"/>
            <a:ext cx="1524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62600" y="1981200"/>
            <a:ext cx="1524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Stage-Gate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86600" y="1981200"/>
            <a:ext cx="1524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600" y="1981200"/>
            <a:ext cx="1524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Ressourcen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10600" y="1981200"/>
            <a:ext cx="1524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10600" y="1981200"/>
            <a:ext cx="1524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Reporting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34600" y="1981200"/>
            <a:ext cx="1524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34600" y="1981200"/>
            <a:ext cx="1524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Rollen/RACI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3400" y="2438400"/>
            <a:ext cx="1981200" cy="472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438400"/>
            <a:ext cx="1905000" cy="472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30" b="1" i="0">
                <a:solidFill>
                  <a:srgbClr val="1F2937"/>
                </a:solidFill>
                <a:latin typeface="Calibri"/>
              </a:rPr>
              <a:t>Fachbereich 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45080" y="2468880"/>
            <a:ext cx="1463040" cy="411480"/>
          </a:xfrm>
          <a:prstGeom prst="roundRect">
            <a:avLst>
              <a:gd name="adj" fmla="val 8000"/>
            </a:avLst>
          </a:prstGeom>
          <a:solidFill>
            <a:srgbClr val="E3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14600" y="2438400"/>
            <a:ext cx="1524000" cy="472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  <a:latin typeface="Calibri"/>
              </a:rPr>
              <a:t>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69080" y="2468880"/>
            <a:ext cx="1463040" cy="411480"/>
          </a:xfrm>
          <a:prstGeom prst="roundRect">
            <a:avLst>
              <a:gd name="adj" fmla="val 8000"/>
            </a:avLst>
          </a:prstGeom>
          <a:solidFill>
            <a:srgbClr val="E3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38600" y="2438400"/>
            <a:ext cx="1524000" cy="472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  <a:latin typeface="Calibri"/>
              </a:rPr>
              <a:t>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93080" y="2468880"/>
            <a:ext cx="1463040" cy="411480"/>
          </a:xfrm>
          <a:prstGeom prst="roundRect">
            <a:avLst>
              <a:gd name="adj" fmla="val 8000"/>
            </a:avLst>
          </a:prstGeom>
          <a:solidFill>
            <a:srgbClr val="FBE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62600" y="2438400"/>
            <a:ext cx="1524000" cy="472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00" b="1" i="0">
                <a:solidFill>
                  <a:srgbClr val="B47609"/>
                </a:solidFill>
                <a:latin typeface="Calibri"/>
              </a:rPr>
              <a:t>V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17080" y="2468880"/>
            <a:ext cx="1463040" cy="411480"/>
          </a:xfrm>
          <a:prstGeom prst="roundRect">
            <a:avLst>
              <a:gd name="adj" fmla="val 8000"/>
            </a:avLst>
          </a:prstGeom>
          <a:solidFill>
            <a:srgbClr val="E3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86600" y="2438400"/>
            <a:ext cx="1524000" cy="472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  <a:latin typeface="Calibri"/>
              </a:rPr>
              <a:t>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41080" y="2468880"/>
            <a:ext cx="1463040" cy="411480"/>
          </a:xfrm>
          <a:prstGeom prst="roundRect">
            <a:avLst>
              <a:gd name="adj" fmla="val 8000"/>
            </a:avLst>
          </a:prstGeom>
          <a:solidFill>
            <a:srgbClr val="FBE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10600" y="2438400"/>
            <a:ext cx="1524000" cy="472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00" b="1" i="0">
                <a:solidFill>
                  <a:srgbClr val="B47609"/>
                </a:solidFill>
                <a:latin typeface="Calibri"/>
              </a:rPr>
              <a:t>V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65080" y="2468880"/>
            <a:ext cx="1463040" cy="411480"/>
          </a:xfrm>
          <a:prstGeom prst="roundRect">
            <a:avLst>
              <a:gd name="adj" fmla="val 8000"/>
            </a:avLst>
          </a:prstGeom>
          <a:solidFill>
            <a:srgbClr val="E3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34600" y="2438400"/>
            <a:ext cx="1524000" cy="472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  <a:latin typeface="Calibri"/>
              </a:rPr>
              <a:t>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3400" y="2910840"/>
            <a:ext cx="1981200" cy="4724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2910840"/>
            <a:ext cx="1905000" cy="472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30" b="1" i="0">
                <a:solidFill>
                  <a:srgbClr val="1F2937"/>
                </a:solidFill>
                <a:latin typeface="Calibri"/>
              </a:rPr>
              <a:t>Fachbereich B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545080" y="2941320"/>
            <a:ext cx="1463040" cy="411480"/>
          </a:xfrm>
          <a:prstGeom prst="roundRect">
            <a:avLst>
              <a:gd name="adj" fmla="val 8000"/>
            </a:avLst>
          </a:prstGeom>
          <a:solidFill>
            <a:srgbClr val="E3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14600" y="2910840"/>
            <a:ext cx="1524000" cy="472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  <a:latin typeface="Calibri"/>
              </a:rPr>
              <a:t>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069080" y="2941320"/>
            <a:ext cx="1463040" cy="411480"/>
          </a:xfrm>
          <a:prstGeom prst="roundRect">
            <a:avLst>
              <a:gd name="adj" fmla="val 8000"/>
            </a:avLst>
          </a:prstGeom>
          <a:solidFill>
            <a:srgbClr val="FBE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38600" y="2910840"/>
            <a:ext cx="1524000" cy="472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00" b="1" i="0">
                <a:solidFill>
                  <a:srgbClr val="B47609"/>
                </a:solidFill>
                <a:latin typeface="Calibri"/>
              </a:rPr>
              <a:t>V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593080" y="2941320"/>
            <a:ext cx="1463040" cy="411480"/>
          </a:xfrm>
          <a:prstGeom prst="roundRect">
            <a:avLst>
              <a:gd name="adj" fmla="val 8000"/>
            </a:avLst>
          </a:prstGeom>
          <a:solidFill>
            <a:srgbClr val="FBE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562600" y="2910840"/>
            <a:ext cx="1524000" cy="472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00" b="1" i="0">
                <a:solidFill>
                  <a:srgbClr val="B47609"/>
                </a:solidFill>
                <a:latin typeface="Calibri"/>
              </a:rPr>
              <a:t>V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117080" y="2941320"/>
            <a:ext cx="1463040" cy="411480"/>
          </a:xfrm>
          <a:prstGeom prst="roundRect">
            <a:avLst>
              <a:gd name="adj" fmla="val 8000"/>
            </a:avLst>
          </a:prstGeom>
          <a:solidFill>
            <a:srgbClr val="FB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86600" y="2910840"/>
            <a:ext cx="1524000" cy="472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00" b="1" i="0">
                <a:solidFill>
                  <a:srgbClr val="B91C1C"/>
                </a:solidFill>
                <a:latin typeface="Calibri"/>
              </a:rPr>
              <a:t>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41080" y="2941320"/>
            <a:ext cx="1463040" cy="411480"/>
          </a:xfrm>
          <a:prstGeom prst="roundRect">
            <a:avLst>
              <a:gd name="adj" fmla="val 8000"/>
            </a:avLst>
          </a:prstGeom>
          <a:solidFill>
            <a:srgbClr val="FBE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10600" y="2910840"/>
            <a:ext cx="1524000" cy="472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00" b="1" i="0">
                <a:solidFill>
                  <a:srgbClr val="B47609"/>
                </a:solidFill>
                <a:latin typeface="Calibri"/>
              </a:rPr>
              <a:t>V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165080" y="2941320"/>
            <a:ext cx="1463040" cy="411480"/>
          </a:xfrm>
          <a:prstGeom prst="roundRect">
            <a:avLst>
              <a:gd name="adj" fmla="val 8000"/>
            </a:avLst>
          </a:prstGeom>
          <a:solidFill>
            <a:srgbClr val="FBE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134600" y="2910840"/>
            <a:ext cx="1524000" cy="472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00" b="1" i="0">
                <a:solidFill>
                  <a:srgbClr val="B47609"/>
                </a:solidFill>
                <a:latin typeface="Calibri"/>
              </a:rPr>
              <a:t>V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3400" y="3383280"/>
            <a:ext cx="1981200" cy="472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3383280"/>
            <a:ext cx="1905000" cy="472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30" b="1" i="0">
                <a:solidFill>
                  <a:srgbClr val="1F2937"/>
                </a:solidFill>
                <a:latin typeface="Calibri"/>
              </a:rPr>
              <a:t>Fachbereich C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545080" y="3413760"/>
            <a:ext cx="1463040" cy="411480"/>
          </a:xfrm>
          <a:prstGeom prst="roundRect">
            <a:avLst>
              <a:gd name="adj" fmla="val 8000"/>
            </a:avLst>
          </a:prstGeom>
          <a:solidFill>
            <a:srgbClr val="E3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514600" y="3383280"/>
            <a:ext cx="1524000" cy="472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  <a:latin typeface="Calibri"/>
              </a:rPr>
              <a:t>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069080" y="3413760"/>
            <a:ext cx="1463040" cy="411480"/>
          </a:xfrm>
          <a:prstGeom prst="roundRect">
            <a:avLst>
              <a:gd name="adj" fmla="val 8000"/>
            </a:avLst>
          </a:prstGeom>
          <a:solidFill>
            <a:srgbClr val="E3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038600" y="3383280"/>
            <a:ext cx="1524000" cy="472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  <a:latin typeface="Calibri"/>
              </a:rPr>
              <a:t>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593080" y="3413760"/>
            <a:ext cx="1463040" cy="411480"/>
          </a:xfrm>
          <a:prstGeom prst="roundRect">
            <a:avLst>
              <a:gd name="adj" fmla="val 8000"/>
            </a:avLst>
          </a:prstGeom>
          <a:solidFill>
            <a:srgbClr val="E3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62600" y="3383280"/>
            <a:ext cx="1524000" cy="472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  <a:latin typeface="Calibri"/>
              </a:rPr>
              <a:t>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117080" y="3413760"/>
            <a:ext cx="1463040" cy="411480"/>
          </a:xfrm>
          <a:prstGeom prst="roundRect">
            <a:avLst>
              <a:gd name="adj" fmla="val 8000"/>
            </a:avLst>
          </a:prstGeom>
          <a:solidFill>
            <a:srgbClr val="FBE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086600" y="3383280"/>
            <a:ext cx="1524000" cy="472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00" b="1" i="0">
                <a:solidFill>
                  <a:srgbClr val="B47609"/>
                </a:solidFill>
                <a:latin typeface="Calibri"/>
              </a:rPr>
              <a:t>V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641080" y="3413760"/>
            <a:ext cx="1463040" cy="411480"/>
          </a:xfrm>
          <a:prstGeom prst="roundRect">
            <a:avLst>
              <a:gd name="adj" fmla="val 8000"/>
            </a:avLst>
          </a:prstGeom>
          <a:solidFill>
            <a:srgbClr val="E3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610600" y="3383280"/>
            <a:ext cx="1524000" cy="472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  <a:latin typeface="Calibri"/>
              </a:rPr>
              <a:t>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165080" y="3413760"/>
            <a:ext cx="1463040" cy="411480"/>
          </a:xfrm>
          <a:prstGeom prst="roundRect">
            <a:avLst>
              <a:gd name="adj" fmla="val 8000"/>
            </a:avLst>
          </a:prstGeom>
          <a:solidFill>
            <a:srgbClr val="E3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134600" y="3383280"/>
            <a:ext cx="1524000" cy="472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  <a:latin typeface="Calibri"/>
              </a:rPr>
              <a:t>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33400" y="3855720"/>
            <a:ext cx="1981200" cy="4724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94360" y="3855720"/>
            <a:ext cx="1905000" cy="472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30" b="1" i="0">
                <a:solidFill>
                  <a:srgbClr val="1F2937"/>
                </a:solidFill>
                <a:latin typeface="Calibri"/>
              </a:rPr>
              <a:t>Fachbereich D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545080" y="3886200"/>
            <a:ext cx="1463040" cy="411480"/>
          </a:xfrm>
          <a:prstGeom prst="roundRect">
            <a:avLst>
              <a:gd name="adj" fmla="val 8000"/>
            </a:avLst>
          </a:prstGeom>
          <a:solidFill>
            <a:srgbClr val="FBE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514600" y="3855720"/>
            <a:ext cx="1524000" cy="472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00" b="1" i="0">
                <a:solidFill>
                  <a:srgbClr val="B47609"/>
                </a:solidFill>
                <a:latin typeface="Calibri"/>
              </a:rPr>
              <a:t>V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069080" y="3886200"/>
            <a:ext cx="1463040" cy="411480"/>
          </a:xfrm>
          <a:prstGeom prst="roundRect">
            <a:avLst>
              <a:gd name="adj" fmla="val 8000"/>
            </a:avLst>
          </a:prstGeom>
          <a:solidFill>
            <a:srgbClr val="FB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038600" y="3855720"/>
            <a:ext cx="1524000" cy="472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00" b="1" i="0">
                <a:solidFill>
                  <a:srgbClr val="B91C1C"/>
                </a:solidFill>
                <a:latin typeface="Calibri"/>
              </a:rPr>
              <a:t>L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593080" y="3886200"/>
            <a:ext cx="1463040" cy="411480"/>
          </a:xfrm>
          <a:prstGeom prst="roundRect">
            <a:avLst>
              <a:gd name="adj" fmla="val 8000"/>
            </a:avLst>
          </a:prstGeom>
          <a:solidFill>
            <a:srgbClr val="FB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562600" y="3855720"/>
            <a:ext cx="1524000" cy="472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00" b="1" i="0">
                <a:solidFill>
                  <a:srgbClr val="B91C1C"/>
                </a:solidFill>
                <a:latin typeface="Calibri"/>
              </a:rPr>
              <a:t>L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117080" y="3886200"/>
            <a:ext cx="1463040" cy="411480"/>
          </a:xfrm>
          <a:prstGeom prst="roundRect">
            <a:avLst>
              <a:gd name="adj" fmla="val 8000"/>
            </a:avLst>
          </a:prstGeom>
          <a:solidFill>
            <a:srgbClr val="FB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086600" y="3855720"/>
            <a:ext cx="1524000" cy="472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00" b="1" i="0">
                <a:solidFill>
                  <a:srgbClr val="B91C1C"/>
                </a:solidFill>
                <a:latin typeface="Calibri"/>
              </a:rPr>
              <a:t>L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641080" y="3886200"/>
            <a:ext cx="1463040" cy="411480"/>
          </a:xfrm>
          <a:prstGeom prst="roundRect">
            <a:avLst>
              <a:gd name="adj" fmla="val 8000"/>
            </a:avLst>
          </a:prstGeom>
          <a:solidFill>
            <a:srgbClr val="FB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610600" y="3855720"/>
            <a:ext cx="1524000" cy="472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00" b="1" i="0">
                <a:solidFill>
                  <a:srgbClr val="B91C1C"/>
                </a:solidFill>
                <a:latin typeface="Calibri"/>
              </a:rPr>
              <a:t>L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0165080" y="3886200"/>
            <a:ext cx="1463040" cy="411480"/>
          </a:xfrm>
          <a:prstGeom prst="roundRect">
            <a:avLst>
              <a:gd name="adj" fmla="val 8000"/>
            </a:avLst>
          </a:prstGeom>
          <a:solidFill>
            <a:srgbClr val="FBE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134600" y="3855720"/>
            <a:ext cx="1524000" cy="472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00" b="1" i="0">
                <a:solidFill>
                  <a:srgbClr val="B47609"/>
                </a:solidFill>
                <a:latin typeface="Calibri"/>
              </a:rPr>
              <a:t>V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33400" y="4328160"/>
            <a:ext cx="1981200" cy="472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94360" y="4328160"/>
            <a:ext cx="1905000" cy="472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30" b="1" i="0">
                <a:solidFill>
                  <a:srgbClr val="1F2937"/>
                </a:solidFill>
                <a:latin typeface="Calibri"/>
              </a:rPr>
              <a:t>Fachbereich E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2545080" y="4358640"/>
            <a:ext cx="1463040" cy="411480"/>
          </a:xfrm>
          <a:prstGeom prst="roundRect">
            <a:avLst>
              <a:gd name="adj" fmla="val 8000"/>
            </a:avLst>
          </a:prstGeom>
          <a:solidFill>
            <a:srgbClr val="E3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514600" y="4328160"/>
            <a:ext cx="1524000" cy="472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  <a:latin typeface="Calibri"/>
              </a:rPr>
              <a:t>S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4069080" y="4358640"/>
            <a:ext cx="1463040" cy="411480"/>
          </a:xfrm>
          <a:prstGeom prst="roundRect">
            <a:avLst>
              <a:gd name="adj" fmla="val 8000"/>
            </a:avLst>
          </a:prstGeom>
          <a:solidFill>
            <a:srgbClr val="FBE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038600" y="4328160"/>
            <a:ext cx="1524000" cy="472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00" b="1" i="0">
                <a:solidFill>
                  <a:srgbClr val="B47609"/>
                </a:solidFill>
                <a:latin typeface="Calibri"/>
              </a:rPr>
              <a:t>V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593080" y="4358640"/>
            <a:ext cx="1463040" cy="411480"/>
          </a:xfrm>
          <a:prstGeom prst="roundRect">
            <a:avLst>
              <a:gd name="adj" fmla="val 8000"/>
            </a:avLst>
          </a:prstGeom>
          <a:solidFill>
            <a:srgbClr val="E3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562600" y="4328160"/>
            <a:ext cx="1524000" cy="472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  <a:latin typeface="Calibri"/>
              </a:rPr>
              <a:t>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117080" y="4358640"/>
            <a:ext cx="1463040" cy="411480"/>
          </a:xfrm>
          <a:prstGeom prst="roundRect">
            <a:avLst>
              <a:gd name="adj" fmla="val 8000"/>
            </a:avLst>
          </a:prstGeom>
          <a:solidFill>
            <a:srgbClr val="FBE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086600" y="4328160"/>
            <a:ext cx="1524000" cy="472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00" b="1" i="0">
                <a:solidFill>
                  <a:srgbClr val="B47609"/>
                </a:solidFill>
                <a:latin typeface="Calibri"/>
              </a:rPr>
              <a:t>V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641080" y="4358640"/>
            <a:ext cx="1463040" cy="411480"/>
          </a:xfrm>
          <a:prstGeom prst="roundRect">
            <a:avLst>
              <a:gd name="adj" fmla="val 8000"/>
            </a:avLst>
          </a:prstGeom>
          <a:solidFill>
            <a:srgbClr val="FBE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610600" y="4328160"/>
            <a:ext cx="1524000" cy="472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00" b="1" i="0">
                <a:solidFill>
                  <a:srgbClr val="B47609"/>
                </a:solidFill>
                <a:latin typeface="Calibri"/>
              </a:rPr>
              <a:t>V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0165080" y="4358640"/>
            <a:ext cx="1463040" cy="411480"/>
          </a:xfrm>
          <a:prstGeom prst="roundRect">
            <a:avLst>
              <a:gd name="adj" fmla="val 8000"/>
            </a:avLst>
          </a:prstGeom>
          <a:solidFill>
            <a:srgbClr val="E3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134600" y="4328160"/>
            <a:ext cx="1524000" cy="472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  <a:latin typeface="Calibri"/>
              </a:rPr>
              <a:t>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33400" y="4800600"/>
            <a:ext cx="1981200" cy="4724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94360" y="4800600"/>
            <a:ext cx="1905000" cy="472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30" b="1" i="0">
                <a:solidFill>
                  <a:srgbClr val="1F2937"/>
                </a:solidFill>
                <a:latin typeface="Calibri"/>
              </a:rPr>
              <a:t>Fachbereich F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2545080" y="4831080"/>
            <a:ext cx="1463040" cy="411480"/>
          </a:xfrm>
          <a:prstGeom prst="roundRect">
            <a:avLst>
              <a:gd name="adj" fmla="val 8000"/>
            </a:avLst>
          </a:prstGeom>
          <a:solidFill>
            <a:srgbClr val="FBE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514600" y="4800600"/>
            <a:ext cx="1524000" cy="472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00" b="1" i="0">
                <a:solidFill>
                  <a:srgbClr val="B47609"/>
                </a:solidFill>
                <a:latin typeface="Calibri"/>
              </a:rPr>
              <a:t>V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069080" y="4831080"/>
            <a:ext cx="1463040" cy="411480"/>
          </a:xfrm>
          <a:prstGeom prst="roundRect">
            <a:avLst>
              <a:gd name="adj" fmla="val 8000"/>
            </a:avLst>
          </a:prstGeom>
          <a:solidFill>
            <a:srgbClr val="FBE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038600" y="4800600"/>
            <a:ext cx="1524000" cy="472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00" b="1" i="0">
                <a:solidFill>
                  <a:srgbClr val="B47609"/>
                </a:solidFill>
                <a:latin typeface="Calibri"/>
              </a:rPr>
              <a:t>V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5593080" y="4831080"/>
            <a:ext cx="1463040" cy="411480"/>
          </a:xfrm>
          <a:prstGeom prst="roundRect">
            <a:avLst>
              <a:gd name="adj" fmla="val 8000"/>
            </a:avLst>
          </a:prstGeom>
          <a:solidFill>
            <a:srgbClr val="FB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562600" y="4800600"/>
            <a:ext cx="1524000" cy="472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00" b="1" i="0">
                <a:solidFill>
                  <a:srgbClr val="B91C1C"/>
                </a:solidFill>
                <a:latin typeface="Calibri"/>
              </a:rPr>
              <a:t>L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7117080" y="4831080"/>
            <a:ext cx="1463040" cy="411480"/>
          </a:xfrm>
          <a:prstGeom prst="roundRect">
            <a:avLst>
              <a:gd name="adj" fmla="val 8000"/>
            </a:avLst>
          </a:prstGeom>
          <a:solidFill>
            <a:srgbClr val="FBE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086600" y="4800600"/>
            <a:ext cx="1524000" cy="472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00" b="1" i="0">
                <a:solidFill>
                  <a:srgbClr val="B47609"/>
                </a:solidFill>
                <a:latin typeface="Calibri"/>
              </a:rPr>
              <a:t>V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8641080" y="4831080"/>
            <a:ext cx="1463040" cy="411480"/>
          </a:xfrm>
          <a:prstGeom prst="roundRect">
            <a:avLst>
              <a:gd name="adj" fmla="val 8000"/>
            </a:avLst>
          </a:prstGeom>
          <a:solidFill>
            <a:srgbClr val="FB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610600" y="4800600"/>
            <a:ext cx="1524000" cy="472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00" b="1" i="0">
                <a:solidFill>
                  <a:srgbClr val="B91C1C"/>
                </a:solidFill>
                <a:latin typeface="Calibri"/>
              </a:rPr>
              <a:t>L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0165080" y="4831080"/>
            <a:ext cx="1463040" cy="411480"/>
          </a:xfrm>
          <a:prstGeom prst="roundRect">
            <a:avLst>
              <a:gd name="adj" fmla="val 8000"/>
            </a:avLst>
          </a:prstGeom>
          <a:solidFill>
            <a:srgbClr val="FB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134600" y="4800600"/>
            <a:ext cx="1524000" cy="472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00" b="1" i="0">
                <a:solidFill>
                  <a:srgbClr val="B91C1C"/>
                </a:solidFill>
                <a:latin typeface="Calibri"/>
              </a:rPr>
              <a:t>L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533400" y="5425440"/>
            <a:ext cx="304800" cy="304800"/>
          </a:xfrm>
          <a:prstGeom prst="roundRect">
            <a:avLst>
              <a:gd name="adj" fmla="val 8000"/>
            </a:avLst>
          </a:prstGeom>
          <a:solidFill>
            <a:srgbClr val="E3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33400" y="542544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  <a:latin typeface="Calibri"/>
              </a:rPr>
              <a:t>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1540" y="5394960"/>
            <a:ext cx="3200400" cy="3505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Standard-fähig (harmonisieren)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4267200" y="5425440"/>
            <a:ext cx="304800" cy="304800"/>
          </a:xfrm>
          <a:prstGeom prst="roundRect">
            <a:avLst>
              <a:gd name="adj" fmla="val 8000"/>
            </a:avLst>
          </a:prstGeom>
          <a:solidFill>
            <a:srgbClr val="FBE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267200" y="542544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00" b="1" i="0">
                <a:solidFill>
                  <a:srgbClr val="B47609"/>
                </a:solidFill>
                <a:latin typeface="Calibri"/>
              </a:rPr>
              <a:t>V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25340" y="5394960"/>
            <a:ext cx="3200400" cy="3505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begründete lokale Varianz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8001000" y="5425440"/>
            <a:ext cx="304800" cy="304800"/>
          </a:xfrm>
          <a:prstGeom prst="roundRect">
            <a:avLst>
              <a:gd name="adj" fmla="val 8000"/>
            </a:avLst>
          </a:prstGeom>
          <a:solidFill>
            <a:srgbClr val="FB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001000" y="542544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00" b="1" i="0">
                <a:solidFill>
                  <a:srgbClr val="B91C1C"/>
                </a:solidFill>
                <a:latin typeface="Calibri"/>
              </a:rPr>
              <a:t>L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359140" y="5394960"/>
            <a:ext cx="3200400" cy="3505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Lücke / Klärungsbedarf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533400" y="5920740"/>
            <a:ext cx="11125200" cy="647700"/>
          </a:xfrm>
          <a:prstGeom prst="roundRect">
            <a:avLst>
              <a:gd name="adj" fmla="val 8000"/>
            </a:avLst>
          </a:prstGeom>
          <a:solidFill>
            <a:srgbClr val="FD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33400" y="5920740"/>
            <a:ext cx="76200" cy="6477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723900" y="5920740"/>
            <a:ext cx="10820400" cy="647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07F12"/>
                </a:solidFill>
                <a:latin typeface="Calibri"/>
              </a:rPr>
              <a:t>Ablesbar:  </a:t>
            </a:r>
            <a:r>
              <a:rPr sz="1100" b="0" i="0">
                <a:solidFill>
                  <a:srgbClr val="1F2937"/>
                </a:solidFill>
                <a:latin typeface="Calibri"/>
              </a:rPr>
              <a:t>Viel Grün = harmonisierbar (Standard einführen). Rote/gelbe Häufungen (z. B. Fachbereich D) = Komplexitätstreiber → gezielt entscheiden: harmonisieren oder bewusst als Varianz zulassen und die Kosten (FTE, Konfig) transparent tragen.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" cy="68580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3400" y="381000"/>
            <a:ext cx="9906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1100" b="1" i="0">
                <a:solidFill>
                  <a:srgbClr val="F07F12"/>
                </a:solidFill>
                <a:latin typeface="Calibri"/>
              </a:rPr>
              <a:t>ENTSCHEIDUNG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647700"/>
            <a:ext cx="111252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2200" b="1" i="0">
                <a:solidFill>
                  <a:srgbClr val="1F2937"/>
                </a:solidFill>
                <a:latin typeface="Calibri"/>
              </a:rPr>
              <a:t>Drei Szenarien — und was wir vom Vorstand brauchen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1333500"/>
            <a:ext cx="11125200" cy="9144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389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r"/>
            <a:r>
              <a:rPr sz="1000" b="0" i="0">
                <a:solidFill>
                  <a:srgbClr val="D1D5DB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6438900"/>
            <a:ext cx="8382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900" b="0" i="0">
                <a:solidFill>
                  <a:srgbClr val="D1D5DB"/>
                </a:solidFill>
                <a:latin typeface="Calibri"/>
              </a:rPr>
              <a:t>Governance-Bewertung Plattformeinführung · Vorlage Vorstand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1485900"/>
            <a:ext cx="111252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4B5563"/>
                </a:solidFill>
                <a:latin typeface="Calibri"/>
              </a:rPr>
              <a:t>Der Trade-off, den der Vorstand entscheidet: Harmonisierung senkt dauerhafte FTE &amp; Komplexität, kostet aber einmaligen Change.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3400" y="1828800"/>
            <a:ext cx="11125200" cy="4191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9120" y="1828800"/>
            <a:ext cx="2514600" cy="419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Szenario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9920" y="1828800"/>
            <a:ext cx="3429000" cy="419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Governance-Modell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828800"/>
            <a:ext cx="1600200" cy="419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FTE (laufend)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1520" y="1828800"/>
            <a:ext cx="1600200" cy="419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Komplexität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27920" y="1828800"/>
            <a:ext cx="1600200" cy="419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Change (einmalig)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" y="2247900"/>
            <a:ext cx="11125200" cy="571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3400" y="2247900"/>
            <a:ext cx="53340" cy="57150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840" y="2247900"/>
            <a:ext cx="2514600" cy="571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80" b="1" i="0">
                <a:solidFill>
                  <a:srgbClr val="1F2937"/>
                </a:solidFill>
                <a:latin typeface="Calibri"/>
              </a:rPr>
              <a:t>A · Vollharmonisiert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69920" y="2247900"/>
            <a:ext cx="3429000" cy="571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1 Standard, comply-or-explain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247900"/>
            <a:ext cx="1676400" cy="571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50" b="1" i="0">
                <a:solidFill>
                  <a:srgbClr val="2E7D32"/>
                </a:solidFill>
                <a:latin typeface="Calibri"/>
              </a:rPr>
              <a:t>niedrig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5800" y="2247900"/>
            <a:ext cx="1676400" cy="571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50" b="1" i="0">
                <a:solidFill>
                  <a:srgbClr val="2E7D32"/>
                </a:solidFill>
                <a:latin typeface="Calibri"/>
              </a:rPr>
              <a:t>niedrig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82200" y="2247900"/>
            <a:ext cx="1676400" cy="571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50" b="1" i="0">
                <a:solidFill>
                  <a:srgbClr val="B91C1C"/>
                </a:solidFill>
                <a:latin typeface="Calibri"/>
              </a:rPr>
              <a:t>hoch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3400" y="2819400"/>
            <a:ext cx="11125200" cy="57150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3400" y="2819400"/>
            <a:ext cx="11125200" cy="571500"/>
          </a:xfrm>
          <a:prstGeom prst="rect">
            <a:avLst/>
          </a:prstGeom>
          <a:solidFill>
            <a:srgbClr val="E3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3400" y="2819400"/>
            <a:ext cx="53340" cy="5715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4840" y="2819400"/>
            <a:ext cx="2514600" cy="571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80" b="1" i="0">
                <a:solidFill>
                  <a:srgbClr val="1F2937"/>
                </a:solidFill>
                <a:latin typeface="Calibri"/>
              </a:rPr>
              <a:t>B · Föderiert (Empfehlung)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69920" y="2819400"/>
            <a:ext cx="3429000" cy="571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Standard + wenige def. Varianten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2819400"/>
            <a:ext cx="1676400" cy="571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50" b="1" i="0">
                <a:solidFill>
                  <a:srgbClr val="B47609"/>
                </a:solidFill>
                <a:latin typeface="Calibri"/>
              </a:rPr>
              <a:t>mittel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5800" y="2819400"/>
            <a:ext cx="1676400" cy="571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50" b="1" i="0">
                <a:solidFill>
                  <a:srgbClr val="B47609"/>
                </a:solidFill>
                <a:latin typeface="Calibri"/>
              </a:rPr>
              <a:t>mittel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82200" y="2819400"/>
            <a:ext cx="1676400" cy="571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50" b="1" i="0">
                <a:solidFill>
                  <a:srgbClr val="B47609"/>
                </a:solidFill>
                <a:latin typeface="Calibri"/>
              </a:rPr>
              <a:t>mittel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3400" y="3390900"/>
            <a:ext cx="11125200" cy="571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3400" y="3390900"/>
            <a:ext cx="53340" cy="57150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4840" y="3390900"/>
            <a:ext cx="2514600" cy="571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80" b="1" i="0">
                <a:solidFill>
                  <a:srgbClr val="1F2937"/>
                </a:solidFill>
                <a:latin typeface="Calibri"/>
              </a:rPr>
              <a:t>C · Status quo digitalisiert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69920" y="3390900"/>
            <a:ext cx="3429000" cy="571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je Fachbereich eigenes Modell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390900"/>
            <a:ext cx="1676400" cy="571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50" b="1" i="0">
                <a:solidFill>
                  <a:srgbClr val="B91C1C"/>
                </a:solidFill>
                <a:latin typeface="Calibri"/>
              </a:rPr>
              <a:t>hoch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5800" y="3390900"/>
            <a:ext cx="1676400" cy="571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50" b="1" i="0">
                <a:solidFill>
                  <a:srgbClr val="B91C1C"/>
                </a:solidFill>
                <a:latin typeface="Calibri"/>
              </a:rPr>
              <a:t>hoch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82200" y="3390900"/>
            <a:ext cx="1676400" cy="571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50" b="1" i="0">
                <a:solidFill>
                  <a:srgbClr val="2E7D32"/>
                </a:solidFill>
                <a:latin typeface="Calibri"/>
              </a:rPr>
              <a:t>niedrig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3400" y="1828800"/>
            <a:ext cx="11125200" cy="2133600"/>
          </a:xfrm>
          <a:prstGeom prst="rect">
            <a:avLst/>
          </a:prstGeom>
          <a:noFill/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3400" y="4023360"/>
            <a:ext cx="1112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850" b="0" i="1">
                <a:solidFill>
                  <a:srgbClr val="D1D5DB"/>
                </a:solidFill>
                <a:latin typeface="Calibri"/>
              </a:rPr>
              <a:t>FTE-Zahlen werden im Folgeprojekt bottom-up je Governance-Rolle × Fachbereich × Standardisierungsgrad ermittelt.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33400" y="4610100"/>
            <a:ext cx="11125200" cy="1714500"/>
          </a:xfrm>
          <a:prstGeom prst="roundRect">
            <a:avLst>
              <a:gd name="adj" fmla="val 8000"/>
            </a:avLst>
          </a:prstGeom>
          <a:solidFill>
            <a:srgbClr val="E3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33400" y="4610100"/>
            <a:ext cx="91440" cy="17145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3900" y="4671060"/>
            <a:ext cx="108204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Der Ask an den Vorstand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23900" y="4991100"/>
            <a:ext cx="5257800" cy="571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0580" y="502920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Mandat &amp; Budget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0580" y="5265420"/>
            <a:ext cx="50292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02000"/>
              </a:lnSpc>
            </a:pPr>
            <a:r>
              <a:rPr sz="830" b="0" i="0">
                <a:solidFill>
                  <a:srgbClr val="4B5563"/>
                </a:solidFill>
                <a:latin typeface="Calibri"/>
              </a:rPr>
              <a:t>Beauftragung des Folgeprojekts „Governance-Assessment &amp; Zielprozess-Design“ (Bewertung Prozess + FTE).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0300" y="4991100"/>
            <a:ext cx="5257800" cy="571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16980" y="502920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Grundsatzentscheid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16980" y="5265420"/>
            <a:ext cx="50292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02000"/>
              </a:lnSpc>
            </a:pPr>
            <a:r>
              <a:rPr sz="830" b="0" i="0">
                <a:solidFill>
                  <a:srgbClr val="4B5563"/>
                </a:solidFill>
                <a:latin typeface="Calibri"/>
              </a:rPr>
              <a:t>„Standard first / comply-or-explain“ als verbindliches Leitprinzip der Plattformeinführung.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23900" y="5638800"/>
            <a:ext cx="5257800" cy="571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0580" y="567690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Governance-Sponsor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0580" y="5913120"/>
            <a:ext cx="50292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02000"/>
              </a:lnSpc>
            </a:pPr>
            <a:r>
              <a:rPr sz="830" b="0" i="0">
                <a:solidFill>
                  <a:srgbClr val="4B5563"/>
                </a:solidFill>
                <a:latin typeface="Calibri"/>
              </a:rPr>
              <a:t>Benennung eines Vorstands-Sponsors, der Harmonisierung gegen Partikularinteressen absichert.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10300" y="5638800"/>
            <a:ext cx="5257800" cy="571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16980" y="567690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Entscheidungspunkt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16980" y="5913120"/>
            <a:ext cx="50292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02000"/>
              </a:lnSpc>
            </a:pPr>
            <a:r>
              <a:rPr sz="830" b="0" i="0">
                <a:solidFill>
                  <a:srgbClr val="4B5563"/>
                </a:solidFill>
                <a:latin typeface="Calibri"/>
              </a:rPr>
              <a:t>Szenario-Wahl (A/B/C) nach Vorliegen der Heatmap &amp; FTE-Bewertung — als Gate vor dem Rollout.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