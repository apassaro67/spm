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comments/modernComment_117_2A9E6AB6.xml" ContentType="application/vnd.ms-powerpoint.comments+xml"/>
  <Override PartName="/ppt/comments/modernComment_234_104226BA.xml" ContentType="application/vnd.ms-powerpoint.comments+xml"/>
  <Override PartName="/ppt/embeddings/Microsoft_Excel_Binary_23B_D398B549.xlsb" ContentType="application/vnd.ms-excel.sheet.binary.macroEnabled.12"/>
  <Override PartName="/ppt/embeddings/Microsoft_Excel_Binary_23B_D398B5491.xlsb" ContentType="application/vnd.ms-excel.sheet.binary.macroEnabled.12"/>
  <Override PartName="/ppt/embeddings/Microsoft_Excel_Binary_23B_D398B5492.xlsb" ContentType="application/vnd.ms-excel.sheet.binary.macroEnabled.12"/>
  <Override PartName="/ppt/embeddings/Microsoft_Excel_Binary_23B_D398B5493.xlsb" ContentType="application/vnd.ms-excel.sheet.binary.macroEnabled.12"/>
  <Override PartName="/ppt/embeddings/Microsoft_Excel_Binary_23B_D398B5494.xlsb" ContentType="application/vnd.ms-excel.sheet.binary.macroEnabled.12"/>
  <Override PartName="/ppt/embeddings/Microsoft_Excel_Binary_23B_D398B5495.xlsb" ContentType="application/vnd.ms-excel.sheet.binary.macroEnabled.12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20.svg" ContentType="image/svg+xml"/>
  <Override PartName="/ppt/media/image28.svg" ContentType="image/svg+xml"/>
  <Override PartName="/ppt/media/image29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9"/>
  </p:notesMasterIdLst>
  <p:sldIdLst>
    <p:sldId id="285" r:id="rId5"/>
    <p:sldId id="279" r:id="rId6"/>
    <p:sldId id="564" r:id="rId7"/>
    <p:sldId id="575" r:id="rId8"/>
    <p:sldId id="565" r:id="rId9"/>
    <p:sldId id="566" r:id="rId10"/>
    <p:sldId id="567" r:id="rId11"/>
    <p:sldId id="573" r:id="rId12"/>
    <p:sldId id="2147483632" r:id="rId38"/>
    <p:sldId id="571" r:id="rId13"/>
    <p:sldId id="572" r:id="rId14"/>
    <p:sldId id="569" r:id="rId15"/>
    <p:sldId id="570" r:id="rId16"/>
    <p:sldId id="2147483631" r:id="rId17"/>
    <p:sldId id="258" r:id="rId18"/>
    <p:sldId id="260" r:id="rId19"/>
    <p:sldId id="288" r:id="rId20"/>
    <p:sldId id="286" r:id="rId21"/>
    <p:sldId id="287" r:id="rId22"/>
    <p:sldId id="563" r:id="rId23"/>
    <p:sldId id="282" r:id="rId24"/>
    <p:sldId id="283" r:id="rId25"/>
    <p:sldId id="278" r:id="rId26"/>
    <p:sldId id="284" r:id="rId27"/>
    <p:sldId id="574" r:id="rId28"/>
  </p:sldIdLst>
  <p:sldSz cx="12192000" cy="6858000"/>
  <p:notesSz cx="6858000" cy="9144000"/>
  <p:custDataLst>
    <p:tags r:id="rId3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CB713-3EAF-176B-B9EC-D0F7BD9631A2}" v="74" dt="2026-05-06T12:29:34.745"/>
    <p1510:client id="{F35E99A9-E9DF-281A-FFBC-4F918C780A55}" v="8" dt="2026-05-07T07:38:1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notesMaster" Target="notesMasters/notesMaster1.xml"/><Relationship Id="rId30" Type="http://schemas.openxmlformats.org/officeDocument/2006/relationships/tags" Target="tags/tag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5/10/relationships/revisionInfo" Target="revisionInfo.xml"/><Relationship Id="rId37" Type="http://schemas.microsoft.com/office/2018/10/relationships/authors" Target="authors.xml"/><Relationship Id="rId38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.xlsb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1.xlsb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2.xlsb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3.xlsb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4.xlsb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89A-4434-9EEB-67451F575BC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89A-4434-9EEB-67451F575BCF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9A-4434-9EEB-67451F575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809-4115-AD2F-F541BE653E5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809-4115-AD2F-F541BE653E52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9-4115-AD2F-F541BE653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830-401D-B8F5-5A5D214A63D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830-401D-B8F5-5A5D214A63D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30-401D-B8F5-5A5D214A6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DC3-40C3-901C-473FA1573DE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DC3-40C3-901C-473FA1573DE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C3-40C3-901C-473FA1573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B67-40A2-AFE8-4EF52C6FE8C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67-40A2-AFE8-4EF52C6FE8CD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67-40A2-AFE8-4EF52C6FE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8C9-499C-9060-4FB9E5E4AB64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8C9-499C-9060-4FB9E5E4AB64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C9-499C-9060-4FB9E5E4A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omments/modernComment_117_2A9E6A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592CA8-3EAA-4F20-9192-47ACEF90495E}" authorId="{178703C2-CE7A-A6E6-F672-41AF8EBE77F5}" created="2026-04-29T06:34:12.5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5025078" sldId="279"/>
      <ac:graphicFrameMk id="5" creationId="{00000000-0000-0000-0000-000000000000}"/>
      <ac:tblMk/>
      <ac:tcMk rowId="2944717367" colId="2029461099"/>
      <ac:txMk cp="82" len="64">
        <ac:context len="147" hash="1908071303"/>
      </ac:txMk>
    </ac:txMkLst>
    <p188:pos x="10240710" y="1082467"/>
    <p188:txBody>
      <a:bodyPr/>
      <a:lstStyle/>
      <a:p>
        <a:r>
          <a:rPr lang="en-US"/>
          <a:t>weiter fassen ... Produktroadmap, Multi- und Einzelprojektmanagement</a:t>
        </a:r>
      </a:p>
    </p188:txBody>
  </p188:cm>
</p188:cmLst>
</file>

<file path=ppt/comments/modernComment_234_104226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425782-5129-4A59-9338-D3554D12CBFF}" authorId="{178703C2-CE7A-A6E6-F672-41AF8EBE77F5}" created="2026-04-29T06:40:29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2770746" sldId="564"/>
      <ac:spMk id="37" creationId="{22C2A15A-8976-64F3-CE10-BB090D55C659}"/>
      <ac:txMk cp="0" len="13">
        <ac:context len="23" hash="3772339426"/>
      </ac:txMk>
    </ac:txMkLst>
    <p188:pos x="1825112" y="116758"/>
    <p188:txBody>
      <a:bodyPr/>
      <a:lstStyle/>
      <a:p>
        <a:r>
          <a:rPr lang="en-US"/>
          <a:t>Operations-Projekte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07.05.2026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3D4D-46BB-46D5-153A-F8068B5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077E62-85F0-314F-2E87-F665719B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7B9C08-5CD0-F71F-4140-3561EFDE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E6CAE7-7374-68C2-D937-C0734F073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77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AC16B-7AAB-FDAA-30F4-CB2ED7271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5E91200-C058-D632-7C08-45DB7D18E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C3F2DAC-6C10-16B9-E149-9B3D5B8BA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4FEB33-2714-06BC-031E-11E2698DA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340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EC0D7-1D21-5EDA-732D-7C39AA15D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B656C38-471A-A1CA-E81B-3C14455CF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407153A-AAD6-14D1-2FED-DB0FB08BE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78C1F0-20CC-F2DE-5026-24432EBBE7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19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958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9831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329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2" y="502821"/>
            <a:ext cx="1385810" cy="2874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2400" y="2113200"/>
            <a:ext cx="8640000" cy="32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48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70F68-AAEF-6EC4-A4BD-F3AAFC20BE10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5" name="Grafik 4" descr="Ein Bild, das Kunst, Kreis, Grafiken, Bernstein enthält.&#10;&#10;Automatisch generierte Beschreibung">
            <a:extLst>
              <a:ext uri="{FF2B5EF4-FFF2-40B4-BE49-F238E27FC236}">
                <a16:creationId xmlns:a16="http://schemas.microsoft.com/office/drawing/2014/main" id="{F6843835-CB15-66DE-11FE-87078B37653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332" y="503545"/>
            <a:ext cx="715973" cy="2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de-DE"/>
              <a:t>Subheadline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6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4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669256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08" imgH="408" progId="TCLayout.ActiveDocument.1">
                  <p:embed/>
                </p:oleObj>
              </mc:Choice>
              <mc:Fallback>
                <p:oleObj name="think-cell Slide" r:id="rId31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‹#›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1" r:id="rId25"/>
    <p:sldLayoutId id="2147483712" r:id="rId26"/>
    <p:sldLayoutId id="2147483713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e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9.bin"/><Relationship Id="rId7" Type="http://schemas.openxmlformats.org/officeDocument/2006/relationships/image" Target="../media/image3.emf"/><Relationship Id="rId8" Type="http://schemas.openxmlformats.org/officeDocument/2006/relationships/hyperlink" Target="file:///C:\Program%20Files%20(x86)\STIHL\PPT%20Images" TargetMode="External"/><Relationship Id="rId9" Type="http://schemas.openxmlformats.org/officeDocument/2006/relationships/hyperlink" Target="https://dam.stihl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4.xml"/><Relationship Id="rId3" Type="http://schemas.microsoft.com/office/2018/10/relationships/comments" Target="../comments/modernComment_117_2A9E6AB6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8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5.xml"/><Relationship Id="rId3" Type="http://schemas.microsoft.com/office/2018/10/relationships/comments" Target="../comments/modernComment_234_104226BA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jpe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5.emf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Relationship Id="rId5" Type="http://schemas.openxmlformats.org/officeDocument/2006/relationships/image" Target="../media/image20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5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tags" Target="../tags/tag56.xml"/><Relationship Id="rId3" Type="http://schemas.openxmlformats.org/officeDocument/2006/relationships/tags" Target="../tags/tag57.xml"/><Relationship Id="rId4" Type="http://schemas.openxmlformats.org/officeDocument/2006/relationships/tags" Target="../tags/tag58.xml"/><Relationship Id="rId5" Type="http://schemas.openxmlformats.org/officeDocument/2006/relationships/tags" Target="../tags/tag59.xml"/><Relationship Id="rId6" Type="http://schemas.openxmlformats.org/officeDocument/2006/relationships/tags" Target="../tags/tag60.xml"/><Relationship Id="rId7" Type="http://schemas.openxmlformats.org/officeDocument/2006/relationships/tags" Target="../tags/tag61.xml"/><Relationship Id="rId8" Type="http://schemas.openxmlformats.org/officeDocument/2006/relationships/tags" Target="../tags/tag62.xml"/><Relationship Id="rId9" Type="http://schemas.openxmlformats.org/officeDocument/2006/relationships/tags" Target="../tags/tag63.xml"/><Relationship Id="rId10" Type="http://schemas.openxmlformats.org/officeDocument/2006/relationships/tags" Target="../tags/tag64.xml"/><Relationship Id="rId11" Type="http://schemas.openxmlformats.org/officeDocument/2006/relationships/tags" Target="../tags/tag65.xml"/><Relationship Id="rId12" Type="http://schemas.openxmlformats.org/officeDocument/2006/relationships/tags" Target="../tags/tag66.xml"/><Relationship Id="rId13" Type="http://schemas.openxmlformats.org/officeDocument/2006/relationships/tags" Target="../tags/tag67.xml"/><Relationship Id="rId14" Type="http://schemas.openxmlformats.org/officeDocument/2006/relationships/slideLayout" Target="../slideLayouts/slideLayout5.xml"/><Relationship Id="rId15" Type="http://schemas.openxmlformats.org/officeDocument/2006/relationships/oleObject" Target="../embeddings/oleObject26.bin"/><Relationship Id="rId16" Type="http://schemas.openxmlformats.org/officeDocument/2006/relationships/image" Target="../media/image1.emf"/><Relationship Id="rId17" Type="http://schemas.openxmlformats.org/officeDocument/2006/relationships/chart" Target="../charts/chart1.xml"/><Relationship Id="rId18" Type="http://schemas.openxmlformats.org/officeDocument/2006/relationships/chart" Target="../charts/chart2.xml"/><Relationship Id="rId19" Type="http://schemas.openxmlformats.org/officeDocument/2006/relationships/chart" Target="../charts/chart3.xml"/><Relationship Id="rId20" Type="http://schemas.openxmlformats.org/officeDocument/2006/relationships/chart" Target="../charts/chart4.xml"/><Relationship Id="rId21" Type="http://schemas.openxmlformats.org/officeDocument/2006/relationships/chart" Target="../charts/chart5.xml"/><Relationship Id="rId2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1.emf"/><Relationship Id="rId5" Type="http://schemas.openxmlformats.org/officeDocument/2006/relationships/image" Target="../media/image16.png"/><Relationship Id="rId6" Type="http://schemas.openxmlformats.org/officeDocument/2006/relationships/image" Target="../media/image25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7.jpeg"/><Relationship Id="rId5" Type="http://schemas.openxmlformats.org/officeDocument/2006/relationships/oleObject" Target="../embeddings/oleObject28.bin"/><Relationship Id="rId6" Type="http://schemas.openxmlformats.org/officeDocument/2006/relationships/image" Target="../media/image3.emf"/><Relationship Id="rId7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3.emf"/><Relationship Id="rId5" Type="http://schemas.openxmlformats.org/officeDocument/2006/relationships/image" Target="../media/image27.png"/><Relationship Id="rId6" Type="http://schemas.microsoft.com/office/2007/relationships/hdphoto" Target="../media/hdphoto1.wdp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sv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tags" Target="../tags/tag76.xml"/><Relationship Id="rId5" Type="http://schemas.openxmlformats.org/officeDocument/2006/relationships/tags" Target="../tags/tag77.xml"/><Relationship Id="rId6" Type="http://schemas.openxmlformats.org/officeDocument/2006/relationships/slideLayout" Target="../slideLayouts/slideLayout6.xml"/><Relationship Id="rId7" Type="http://schemas.openxmlformats.org/officeDocument/2006/relationships/oleObject" Target="../embeddings/oleObject30.bin"/><Relationship Id="rId8" Type="http://schemas.openxmlformats.org/officeDocument/2006/relationships/image" Target="../media/image1.emf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67ADED95-A341-88FA-93D5-04C24922C40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pic>
        <p:nvPicPr>
          <p:cNvPr id="41" name="Grafik 40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D4CC56FD-D5B5-DDAF-F190-6DD59F631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70" imgH="371" progId="TCLayout.ActiveDocument.1">
                  <p:embed/>
                </p:oleObj>
              </mc:Choice>
              <mc:Fallback>
                <p:oleObj name="think-cell Slide" r:id="rId6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Subline</a:t>
            </a: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IPS, EWW, SCD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18.05.2026</a:t>
            </a:r>
          </a:p>
        </p:txBody>
      </p: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 vert="horz" rIns="288000"/>
          <a:lstStyle/>
          <a:p>
            <a:r>
              <a:rPr lang="de-DE"/>
              <a:t>Überblick PPM@STIHL und </a:t>
            </a:r>
            <a:r>
              <a:rPr lang="de-DE" err="1"/>
              <a:t>zwischenstand</a:t>
            </a:r>
            <a:r>
              <a:rPr lang="de-DE"/>
              <a:t> </a:t>
            </a:r>
            <a:r>
              <a:rPr lang="de-DE" err="1"/>
              <a:t>servicenow</a:t>
            </a:r>
            <a:r>
              <a:rPr lang="de-DE"/>
              <a:t> </a:t>
            </a:r>
            <a:r>
              <a:rPr lang="de-DE" err="1"/>
              <a:t>plattform</a:t>
            </a:r>
            <a:r>
              <a:rPr lang="de-DE"/>
              <a:t> 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27AC647-7874-08CC-25F1-E75A6D61D8A7}"/>
              </a:ext>
            </a:extLst>
          </p:cNvPr>
          <p:cNvSpPr>
            <a:spLocks/>
          </p:cNvSpPr>
          <p:nvPr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  <a:hlinkClick r:id="rId8" action="ppaction://hlinkfile"/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9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</p:spTree>
    <p:extLst>
      <p:ext uri="{BB962C8B-B14F-4D97-AF65-F5344CB8AC3E}">
        <p14:creationId xmlns:p14="http://schemas.microsoft.com/office/powerpoint/2010/main" val="40111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25191A-2DCE-0CE2-A929-F222DCAFF7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76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5191A-2DCE-0CE2-A929-F222DCAFF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Informationen zur Vorstandsvorlage</a:t>
            </a:r>
            <a:br>
              <a:rPr lang="de-DE"/>
            </a:br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34578780"/>
              </p:ext>
            </p:extLst>
          </p:nvPr>
        </p:nvGraphicFramePr>
        <p:xfrm>
          <a:off x="479425" y="1603375"/>
          <a:ext cx="11233150" cy="44636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78759">
                  <a:extLst>
                    <a:ext uri="{9D8B030D-6E8A-4147-A177-3AD203B41FA5}">
                      <a16:colId xmlns:a16="http://schemas.microsoft.com/office/drawing/2014/main" val="1912416164"/>
                    </a:ext>
                  </a:extLst>
                </a:gridCol>
                <a:gridCol w="7954391">
                  <a:extLst>
                    <a:ext uri="{9D8B030D-6E8A-4147-A177-3AD203B41FA5}">
                      <a16:colId xmlns:a16="http://schemas.microsoft.com/office/drawing/2014/main" val="2029461099"/>
                    </a:ext>
                  </a:extLst>
                </a:gridCol>
              </a:tblGrid>
              <a:tr h="555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Vorstandsbereich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>
                          <a:solidFill>
                            <a:schemeClr val="tx1"/>
                          </a:solidFill>
                          <a:latin typeface="+mn-lt"/>
                        </a:rPr>
                        <a:t>VFI, VVM, VEW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75265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Thema/ TOP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Herausforderungen im Projektportfoliomanagement bei STIHL sowie Zwischenstand zur </a:t>
                      </a:r>
                      <a:r>
                        <a:rPr lang="de-DE" sz="1800" b="0" i="0" u="none" strike="noStrike" noProof="0"/>
                        <a:t>Ausarbeitung und Prüfung einer Plattformstrategie mit ServiceNow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1736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Ziel</a:t>
                      </a:r>
                    </a:p>
                  </a:txBody>
                  <a:tcPr marL="0" anchor="ctr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      Beschlussvorlage (B)           </a:t>
                      </a:r>
                      <a:r>
                        <a:rPr lang="de-DE" sz="1800" b="0" i="0" baseline="0">
                          <a:latin typeface="+mn-lt"/>
                        </a:rPr>
                        <a:t>Information (I)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09132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TOP Verantwortlicher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 baseline="0">
                          <a:latin typeface="+mn-lt"/>
                        </a:rPr>
                        <a:t>8/ODS – Alexander </a:t>
                      </a:r>
                      <a:r>
                        <a:rPr lang="de-DE" sz="1800" b="0" i="0" baseline="0" err="1">
                          <a:latin typeface="+mn-lt"/>
                        </a:rPr>
                        <a:t>Passaro</a:t>
                      </a:r>
                    </a:p>
                    <a:p>
                      <a:r>
                        <a:rPr lang="de-DE" sz="1800" b="0" i="0" baseline="0">
                          <a:latin typeface="+mn-lt"/>
                        </a:rPr>
                        <a:t>1/SEH – Torsten Zahn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7174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Zusätzliche Teilnehmer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Dirk Hauke, Jonas Schimanek, Dr. Dennis Rödel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466670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[In Bearbeitung/ Final]</a:t>
                      </a:r>
                      <a:r>
                        <a:rPr lang="de-DE" sz="1800" b="0" i="0" baseline="0">
                          <a:latin typeface="+mn-lt"/>
                        </a:rPr>
                        <a:t> – Präsentation in der Sitzung vom 18.05.2026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32111"/>
                  </a:ext>
                </a:extLst>
              </a:tr>
              <a:tr h="959618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Mitwirkung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[Aufzählung der mitwirkenden Fachabteilungen und/ oder der mitwirkenden Personen]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857357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3866896" y="325845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" name="Rechteck 6"/>
          <p:cNvSpPr/>
          <p:nvPr/>
        </p:nvSpPr>
        <p:spPr>
          <a:xfrm>
            <a:off x="6518656" y="324548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15025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65C-FD0F-78B2-11F8-67404EC7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3A3FE1F-5C9F-1625-A892-4AE047025E9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1519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3FE1F-5C9F-1625-A892-4AE047025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FAE0050-0FEB-5C7C-E04E-A16AB83C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Projekte und Projektportfoliomanagement bei STIHL</a:t>
            </a:r>
            <a:endParaRPr lang="de-DE" b="0"/>
          </a:p>
        </p:txBody>
      </p:sp>
      <p:sp>
        <p:nvSpPr>
          <p:cNvPr id="4" name="Title1515">
            <a:extLst>
              <a:ext uri="{FF2B5EF4-FFF2-40B4-BE49-F238E27FC236}">
                <a16:creationId xmlns:a16="http://schemas.microsoft.com/office/drawing/2014/main" id="{B2F0EA75-7603-F609-780C-C6D8B8F81996}"/>
              </a:ext>
            </a:extLst>
          </p:cNvPr>
          <p:cNvSpPr txBox="1"/>
          <p:nvPr/>
        </p:nvSpPr>
        <p:spPr>
          <a:xfrm>
            <a:off x="2483535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Produkt-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4C03F64-E5E3-2E71-8F1F-383FD9801083}"/>
              </a:ext>
            </a:extLst>
          </p:cNvPr>
          <p:cNvSpPr/>
          <p:nvPr/>
        </p:nvSpPr>
        <p:spPr>
          <a:xfrm>
            <a:off x="2163481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Title1515">
            <a:extLst>
              <a:ext uri="{FF2B5EF4-FFF2-40B4-BE49-F238E27FC236}">
                <a16:creationId xmlns:a16="http://schemas.microsoft.com/office/drawing/2014/main" id="{22C2A15A-8976-64F3-CE10-BB090D55C659}"/>
              </a:ext>
            </a:extLst>
          </p:cNvPr>
          <p:cNvSpPr txBox="1"/>
          <p:nvPr/>
        </p:nvSpPr>
        <p:spPr>
          <a:xfrm>
            <a:off x="4949080" y="1612974"/>
            <a:ext cx="1893679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Infrastruktur-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EF0262-C5DE-4F25-18CC-8CD263A031E1}"/>
              </a:ext>
            </a:extLst>
          </p:cNvPr>
          <p:cNvSpPr/>
          <p:nvPr/>
        </p:nvSpPr>
        <p:spPr>
          <a:xfrm>
            <a:off x="4629027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" name="Title1515">
            <a:extLst>
              <a:ext uri="{FF2B5EF4-FFF2-40B4-BE49-F238E27FC236}">
                <a16:creationId xmlns:a16="http://schemas.microsoft.com/office/drawing/2014/main" id="{F4A32356-2E21-8858-6A37-F9FD59CD2A8D}"/>
              </a:ext>
            </a:extLst>
          </p:cNvPr>
          <p:cNvSpPr txBox="1"/>
          <p:nvPr/>
        </p:nvSpPr>
        <p:spPr>
          <a:xfrm>
            <a:off x="7414627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Operations-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03C092C-A272-2B3C-D710-82CD3B12AB96}"/>
              </a:ext>
            </a:extLst>
          </p:cNvPr>
          <p:cNvSpPr/>
          <p:nvPr/>
        </p:nvSpPr>
        <p:spPr>
          <a:xfrm>
            <a:off x="7094573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Title1515">
            <a:extLst>
              <a:ext uri="{FF2B5EF4-FFF2-40B4-BE49-F238E27FC236}">
                <a16:creationId xmlns:a16="http://schemas.microsoft.com/office/drawing/2014/main" id="{F64918E5-9C98-4A19-2957-E205A8F487A8}"/>
              </a:ext>
            </a:extLst>
          </p:cNvPr>
          <p:cNvSpPr txBox="1"/>
          <p:nvPr/>
        </p:nvSpPr>
        <p:spPr>
          <a:xfrm>
            <a:off x="9880173" y="1428308"/>
            <a:ext cx="1833990" cy="713460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Sonder-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 </a:t>
            </a:r>
            <a:endParaRPr lang="de-DE" sz="1600" b="1" baseline="30000">
              <a:solidFill>
                <a:srgbClr val="000000"/>
              </a:solidFill>
              <a:latin typeface="STIHL Contraface Display Medium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de-DE" sz="1200">
                <a:solidFill>
                  <a:srgbClr val="000000"/>
                </a:solidFill>
                <a:latin typeface="STIHL Contraface Display Title"/>
              </a:rPr>
              <a:t>(</a:t>
            </a:r>
            <a:r>
              <a:rPr lang="de-DE" sz="1200" b="1">
                <a:solidFill>
                  <a:srgbClr val="000000"/>
                </a:solidFill>
                <a:latin typeface="STIHL Contraface Display Title"/>
              </a:rPr>
              <a:t>IT-</a:t>
            </a:r>
            <a:r>
              <a:rPr lang="de-DE" sz="1200" b="1">
                <a:solidFill>
                  <a:srgbClr val="000000"/>
                </a:solidFill>
                <a:latin typeface="STIHL Contraface Display Medium"/>
              </a:rPr>
              <a:t>projekte)</a:t>
            </a:r>
            <a:endParaRPr lang="de-DE" sz="12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187EA57-F9AB-2A34-2190-A011D814B44E}"/>
              </a:ext>
            </a:extLst>
          </p:cNvPr>
          <p:cNvGrpSpPr/>
          <p:nvPr/>
        </p:nvGrpSpPr>
        <p:grpSpPr>
          <a:xfrm>
            <a:off x="2157525" y="2160328"/>
            <a:ext cx="9552842" cy="0"/>
            <a:chOff x="2157525" y="1912678"/>
            <a:chExt cx="9552842" cy="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E02909E-4326-3DBA-1F0F-1183FD93A8F4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D19BB763-74A8-22A2-82BF-70A3F96B82D2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79C211DD-CC97-A1AA-728E-DCAF2940FC7F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22D9913-5DBC-779A-AFF2-04DBD2268D80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76846720-55AB-2308-5C68-23CBBDFF870B}"/>
              </a:ext>
            </a:extLst>
          </p:cNvPr>
          <p:cNvSpPr/>
          <p:nvPr/>
        </p:nvSpPr>
        <p:spPr>
          <a:xfrm>
            <a:off x="9560119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3319214-934F-086B-3C15-1771710860B1}"/>
              </a:ext>
            </a:extLst>
          </p:cNvPr>
          <p:cNvGrpSpPr/>
          <p:nvPr/>
        </p:nvGrpSpPr>
        <p:grpSpPr>
          <a:xfrm>
            <a:off x="479427" y="2477248"/>
            <a:ext cx="11234736" cy="221599"/>
            <a:chOff x="479427" y="2229598"/>
            <a:chExt cx="11234736" cy="221599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8B899059-0697-40B7-9F4C-02F1D915C48D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# Projekte p.a.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7310000E-4287-4E04-7485-A34C12DEB2D9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6FF86DD-665D-8F69-4EA6-4DCA0035F5A0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60BC78C-3C3B-4F81-F56E-EC627527E7AB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E6D5EFB4-70D3-47B6-06E9-DDA878A3083B}"/>
                </a:ext>
              </a:extLst>
            </p:cNvPr>
            <p:cNvSpPr txBox="1"/>
            <p:nvPr/>
          </p:nvSpPr>
          <p:spPr>
            <a:xfrm>
              <a:off x="9554163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95 (21)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3B5E22A-F20E-CC26-88DE-75D5689F60C1}"/>
              </a:ext>
            </a:extLst>
          </p:cNvPr>
          <p:cNvGrpSpPr/>
          <p:nvPr/>
        </p:nvGrpSpPr>
        <p:grpSpPr>
          <a:xfrm>
            <a:off x="479426" y="2924772"/>
            <a:ext cx="11230941" cy="0"/>
            <a:chOff x="479426" y="1912678"/>
            <a:chExt cx="11230941" cy="0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4E7BB17-21C1-C77F-F7B6-666F619DF77D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1448DC4-02D3-298B-3D10-B4CCBDB7E5CB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513F20EB-F9EE-7CD9-70DD-AC983C19F5B9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2DB2F38C-AF99-482A-89C4-8EB821E0FBD5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958C9290-4F90-96B0-C902-4DDC3B7F761C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A563D7D-E13E-7723-C177-2DB145CADF1C}"/>
              </a:ext>
            </a:extLst>
          </p:cNvPr>
          <p:cNvGrpSpPr/>
          <p:nvPr/>
        </p:nvGrpSpPr>
        <p:grpSpPr>
          <a:xfrm>
            <a:off x="479427" y="3039898"/>
            <a:ext cx="11525328" cy="443198"/>
            <a:chOff x="479427" y="2118799"/>
            <a:chExt cx="11525328" cy="443198"/>
          </a:xfrm>
        </p:grpSpPr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47F6C3E1-2DB6-DF6C-FFC5-E903F8414027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Aufwand</a:t>
              </a:r>
              <a:r>
                <a:rPr lang="en-US" sz="1600"/>
                <a:t> p.a.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FDD62BA9-127B-257C-5F1C-871C9C070CBC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C419B7E-6D07-599A-69A4-3C9DF3D42B39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E46D7D0E-B7D3-D20E-A564-09D25C896B7E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E57CC22B-DE01-A986-4398-644F7F7ECA68}"/>
                </a:ext>
              </a:extLst>
            </p:cNvPr>
            <p:cNvSpPr txBox="1"/>
            <p:nvPr/>
          </p:nvSpPr>
          <p:spPr>
            <a:xfrm>
              <a:off x="9560620" y="2118799"/>
              <a:ext cx="2444135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SaKo</a:t>
              </a:r>
              <a:r>
                <a:rPr lang="en-US" sz="1600"/>
                <a:t> 2026 </a:t>
              </a:r>
              <a:br>
                <a:rPr lang="en-US" sz="1600"/>
              </a:br>
              <a:r>
                <a:rPr lang="en-US" sz="1600"/>
                <a:t>ca. 28.8 MEUR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1E95F99-5FF2-1143-378C-7398F08F04AF}"/>
              </a:ext>
            </a:extLst>
          </p:cNvPr>
          <p:cNvGrpSpPr/>
          <p:nvPr/>
        </p:nvGrpSpPr>
        <p:grpSpPr>
          <a:xfrm>
            <a:off x="479426" y="3598221"/>
            <a:ext cx="11230941" cy="0"/>
            <a:chOff x="479426" y="1912678"/>
            <a:chExt cx="11230941" cy="0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E28D3D2B-1F15-B5EF-7A06-E0F87263D6EB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C28E5327-8836-B260-9920-EBA23214CBF9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A194BC98-4B01-B3DB-A760-13CB4F6797D6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A49C8C19-9C85-2610-06B9-B3273E8F51B9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E06CCB89-C240-9BE3-0CD1-D240556C6635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feld 83">
            <a:extLst>
              <a:ext uri="{FF2B5EF4-FFF2-40B4-BE49-F238E27FC236}">
                <a16:creationId xmlns:a16="http://schemas.microsoft.com/office/drawing/2014/main" id="{4F8D12B0-EDEE-EEA5-8B82-D2368CF7431F}"/>
              </a:ext>
            </a:extLst>
          </p:cNvPr>
          <p:cNvSpPr txBox="1"/>
          <p:nvPr/>
        </p:nvSpPr>
        <p:spPr>
          <a:xfrm>
            <a:off x="479427" y="3824146"/>
            <a:ext cx="1393824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Software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59CAB9DF-CCC8-9464-42A6-43267AD7BBB1}"/>
              </a:ext>
            </a:extLst>
          </p:cNvPr>
          <p:cNvSpPr txBox="1"/>
          <p:nvPr/>
        </p:nvSpPr>
        <p:spPr>
          <a:xfrm>
            <a:off x="9554163" y="3824146"/>
            <a:ext cx="21600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Text</a:t>
            </a: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FAB03DE3-B3A0-7076-B507-179F79B7F73D}"/>
              </a:ext>
            </a:extLst>
          </p:cNvPr>
          <p:cNvGrpSpPr/>
          <p:nvPr/>
        </p:nvGrpSpPr>
        <p:grpSpPr>
          <a:xfrm>
            <a:off x="477838" y="4578350"/>
            <a:ext cx="11232529" cy="763588"/>
            <a:chOff x="477838" y="4191000"/>
            <a:chExt cx="11232529" cy="763588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FF7E29F0-E4FF-38BC-524D-018A173E4907}"/>
                </a:ext>
              </a:extLst>
            </p:cNvPr>
            <p:cNvSpPr/>
            <p:nvPr/>
          </p:nvSpPr>
          <p:spPr>
            <a:xfrm>
              <a:off x="477838" y="4191000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0" name="Title1515">
              <a:extLst>
                <a:ext uri="{FF2B5EF4-FFF2-40B4-BE49-F238E27FC236}">
                  <a16:creationId xmlns:a16="http://schemas.microsoft.com/office/drawing/2014/main" id="{CF21D1A9-1DF6-611C-2E66-1943859F6AD7}"/>
                </a:ext>
              </a:extLst>
            </p:cNvPr>
            <p:cNvSpPr txBox="1"/>
            <p:nvPr/>
          </p:nvSpPr>
          <p:spPr>
            <a:xfrm>
              <a:off x="857935" y="4308397"/>
              <a:ext cx="1833990" cy="528794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IT-Demand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Management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EE8BE49-CA1E-FFCE-FB23-3AD3C2845133}"/>
                </a:ext>
              </a:extLst>
            </p:cNvPr>
            <p:cNvSpPr/>
            <p:nvPr/>
          </p:nvSpPr>
          <p:spPr>
            <a:xfrm>
              <a:off x="537881" y="4325975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AB2E3073-95D1-36A2-8625-F6AD93A35915}"/>
              </a:ext>
            </a:extLst>
          </p:cNvPr>
          <p:cNvGrpSpPr/>
          <p:nvPr/>
        </p:nvGrpSpPr>
        <p:grpSpPr>
          <a:xfrm>
            <a:off x="477838" y="5498232"/>
            <a:ext cx="11232529" cy="763588"/>
            <a:chOff x="477838" y="5110882"/>
            <a:chExt cx="11232529" cy="763588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2424E087-444F-6123-1274-DFF9FFEA7545}"/>
                </a:ext>
              </a:extLst>
            </p:cNvPr>
            <p:cNvSpPr/>
            <p:nvPr/>
          </p:nvSpPr>
          <p:spPr>
            <a:xfrm>
              <a:off x="477838" y="5110882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5" name="Title1515">
              <a:extLst>
                <a:ext uri="{FF2B5EF4-FFF2-40B4-BE49-F238E27FC236}">
                  <a16:creationId xmlns:a16="http://schemas.microsoft.com/office/drawing/2014/main" id="{B55ADC19-02C7-165C-6F5E-28A38DB90901}"/>
                </a:ext>
              </a:extLst>
            </p:cNvPr>
            <p:cNvSpPr txBox="1"/>
            <p:nvPr/>
          </p:nvSpPr>
          <p:spPr>
            <a:xfrm>
              <a:off x="857935" y="5351390"/>
              <a:ext cx="1833990" cy="282573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EV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Prozess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37A168F3-F8A1-E6E7-CA1B-11D9DF0EE8CB}"/>
                </a:ext>
              </a:extLst>
            </p:cNvPr>
            <p:cNvSpPr/>
            <p:nvPr/>
          </p:nvSpPr>
          <p:spPr>
            <a:xfrm>
              <a:off x="537881" y="5245857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6</a:t>
              </a:r>
            </a:p>
          </p:txBody>
        </p:sp>
      </p:grpSp>
      <p:pic>
        <p:nvPicPr>
          <p:cNvPr id="98" name="Grafik 97">
            <a:extLst>
              <a:ext uri="{FF2B5EF4-FFF2-40B4-BE49-F238E27FC236}">
                <a16:creationId xmlns:a16="http://schemas.microsoft.com/office/drawing/2014/main" id="{E95D7DF7-D2A1-9422-1CA6-F54D752DB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5861" y="4845050"/>
            <a:ext cx="1277833" cy="242242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2A9FF052-C809-EF3D-2098-D454FE9F9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178" y="3760290"/>
            <a:ext cx="1251210" cy="405367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51E9107-62F5-DC91-4AAB-B7713B6847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177" y="4114014"/>
            <a:ext cx="1191923" cy="342412"/>
          </a:xfrm>
          <a:prstGeom prst="rect">
            <a:avLst/>
          </a:prstGeom>
        </p:spPr>
      </p:pic>
      <p:pic>
        <p:nvPicPr>
          <p:cNvPr id="107" name="Grafik 106" descr="Lucom GmbH | LinkedIn">
            <a:extLst>
              <a:ext uri="{FF2B5EF4-FFF2-40B4-BE49-F238E27FC236}">
                <a16:creationId xmlns:a16="http://schemas.microsoft.com/office/drawing/2014/main" id="{4061ABA9-11AF-4C48-A082-9BCE50B414A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2405" b="32405"/>
          <a:stretch>
            <a:fillRect/>
          </a:stretch>
        </p:blipFill>
        <p:spPr>
          <a:xfrm>
            <a:off x="10215358" y="5631498"/>
            <a:ext cx="1298336" cy="4568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F4850-6080-D449-EE47-AE70F87D13E0}"/>
              </a:ext>
            </a:extLst>
          </p:cNvPr>
          <p:cNvSpPr txBox="1"/>
          <p:nvPr/>
        </p:nvSpPr>
        <p:spPr>
          <a:xfrm>
            <a:off x="2178797" y="2980331"/>
            <a:ext cx="2153543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Angefragt</a:t>
            </a:r>
            <a:r>
              <a:rPr lang="en-US" sz="1600"/>
              <a:t> </a:t>
            </a:r>
            <a:r>
              <a:rPr lang="en-US" sz="1600" err="1"/>
              <a:t>bei</a:t>
            </a:r>
            <a:r>
              <a:rPr lang="en-US" sz="1600"/>
              <a:t> Christian Zimmermann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7A7CC-CDBE-8762-628B-30F457A1A248}"/>
              </a:ext>
            </a:extLst>
          </p:cNvPr>
          <p:cNvSpPr txBox="1"/>
          <p:nvPr/>
        </p:nvSpPr>
        <p:spPr>
          <a:xfrm>
            <a:off x="4644343" y="3073967"/>
            <a:ext cx="4436615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Angefragt </a:t>
            </a:r>
            <a:r>
              <a:rPr lang="en-US" sz="1600" err="1"/>
              <a:t>bei</a:t>
            </a:r>
            <a:r>
              <a:rPr lang="en-US" sz="1600"/>
              <a:t> Thomas Erb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58E8E1-8BF7-ACA1-8572-0612F25A1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797" y="3725395"/>
            <a:ext cx="1238250" cy="419100"/>
          </a:xfrm>
          <a:prstGeom prst="rect">
            <a:avLst/>
          </a:prstGeom>
        </p:spPr>
      </p:pic>
      <p:sp>
        <p:nvSpPr>
          <p:cNvPr id="85" name="Textfeld 84">
            <a:extLst>
              <a:ext uri="{FF2B5EF4-FFF2-40B4-BE49-F238E27FC236}">
                <a16:creationId xmlns:a16="http://schemas.microsoft.com/office/drawing/2014/main" id="{CF4028A1-5DEE-E253-8CCB-640AC538E90E}"/>
              </a:ext>
            </a:extLst>
          </p:cNvPr>
          <p:cNvSpPr txBox="1"/>
          <p:nvPr/>
        </p:nvSpPr>
        <p:spPr>
          <a:xfrm>
            <a:off x="2483535" y="4084142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96715C-6693-BFB3-6778-C3383F243F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2390" y="3722880"/>
            <a:ext cx="1238250" cy="419100"/>
          </a:xfrm>
          <a:prstGeom prst="rect">
            <a:avLst/>
          </a:prstGeom>
        </p:spPr>
      </p:pic>
      <p:sp>
        <p:nvSpPr>
          <p:cNvPr id="12" name="Textfeld 84">
            <a:extLst>
              <a:ext uri="{FF2B5EF4-FFF2-40B4-BE49-F238E27FC236}">
                <a16:creationId xmlns:a16="http://schemas.microsoft.com/office/drawing/2014/main" id="{D8D3912D-3278-9D69-AA49-5F9CB6F48077}"/>
              </a:ext>
            </a:extLst>
          </p:cNvPr>
          <p:cNvSpPr txBox="1"/>
          <p:nvPr/>
        </p:nvSpPr>
        <p:spPr>
          <a:xfrm>
            <a:off x="493712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EB7164-4932-C0D0-85F4-801502CBFD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570" y="3722880"/>
            <a:ext cx="1238250" cy="419100"/>
          </a:xfrm>
          <a:prstGeom prst="rect">
            <a:avLst/>
          </a:prstGeom>
        </p:spPr>
      </p:pic>
      <p:sp>
        <p:nvSpPr>
          <p:cNvPr id="14" name="Textfeld 84">
            <a:extLst>
              <a:ext uri="{FF2B5EF4-FFF2-40B4-BE49-F238E27FC236}">
                <a16:creationId xmlns:a16="http://schemas.microsoft.com/office/drawing/2014/main" id="{C6B0692E-6204-A916-ACEB-7D9385F2898F}"/>
              </a:ext>
            </a:extLst>
          </p:cNvPr>
          <p:cNvSpPr txBox="1"/>
          <p:nvPr/>
        </p:nvSpPr>
        <p:spPr>
          <a:xfrm>
            <a:off x="740530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ED2547-1825-647D-D3E7-7A451AB91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3520" y="3660321"/>
            <a:ext cx="1238250" cy="419100"/>
          </a:xfrm>
          <a:prstGeom prst="rect">
            <a:avLst/>
          </a:prstGeom>
        </p:spPr>
      </p:pic>
      <p:sp>
        <p:nvSpPr>
          <p:cNvPr id="16" name="Textfeld 84">
            <a:extLst>
              <a:ext uri="{FF2B5EF4-FFF2-40B4-BE49-F238E27FC236}">
                <a16:creationId xmlns:a16="http://schemas.microsoft.com/office/drawing/2014/main" id="{CFE73DC9-29C2-5D8D-5401-C06507B864B9}"/>
              </a:ext>
            </a:extLst>
          </p:cNvPr>
          <p:cNvSpPr txBox="1"/>
          <p:nvPr/>
        </p:nvSpPr>
        <p:spPr>
          <a:xfrm>
            <a:off x="10913677" y="4117391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8709D-70FA-36D3-56C2-B2B077F6B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3760838"/>
            <a:ext cx="1339646" cy="1364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2682FE-AA5B-9160-DC83-2D7C97355BD2}"/>
              </a:ext>
            </a:extLst>
          </p:cNvPr>
          <p:cNvSpPr txBox="1"/>
          <p:nvPr/>
        </p:nvSpPr>
        <p:spPr>
          <a:xfrm>
            <a:off x="9360151" y="463830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Sonderprojekte</a:t>
            </a:r>
            <a:r>
              <a:rPr lang="en-US" sz="1600"/>
              <a:t> in </a:t>
            </a:r>
            <a:r>
              <a:rPr lang="en-US" sz="1600" err="1"/>
              <a:t>Planung</a:t>
            </a:r>
            <a:r>
              <a:rPr lang="en-US" sz="1600"/>
              <a:t> </a:t>
            </a:r>
            <a:r>
              <a:rPr lang="en-US" sz="1600" err="1"/>
              <a:t>oder</a:t>
            </a:r>
            <a:r>
              <a:rPr lang="en-US" sz="1600"/>
              <a:t> in </a:t>
            </a:r>
            <a:r>
              <a:rPr lang="en-US" sz="1600" err="1"/>
              <a:t>Umsetzung</a:t>
            </a:r>
            <a:r>
              <a:rPr lang="en-US" sz="1600"/>
              <a:t> (</a:t>
            </a:r>
            <a:r>
              <a:rPr lang="en-US" sz="1600" err="1"/>
              <a:t>basierend</a:t>
            </a:r>
            <a:r>
              <a:rPr lang="en-US" sz="1600"/>
              <a:t> auf SAP und EV)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9A4E3-A7AB-8A93-0D00-ED5DF7319E1F}"/>
              </a:ext>
            </a:extLst>
          </p:cNvPr>
          <p:cNvSpPr txBox="1"/>
          <p:nvPr/>
        </p:nvSpPr>
        <p:spPr>
          <a:xfrm>
            <a:off x="110419" y="4248252"/>
            <a:ext cx="2153543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Zusatzzeile</a:t>
            </a:r>
            <a:r>
              <a:rPr lang="en-US" sz="1600"/>
              <a:t>: </a:t>
            </a:r>
            <a:r>
              <a:rPr lang="en-US" sz="1600" err="1"/>
              <a:t>Anzahl</a:t>
            </a:r>
            <a:r>
              <a:rPr lang="en-US" sz="1600"/>
              <a:t> 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62EE4-C89A-1174-E226-C33DECCB904F}"/>
              </a:ext>
            </a:extLst>
          </p:cNvPr>
          <p:cNvSpPr txBox="1"/>
          <p:nvPr/>
        </p:nvSpPr>
        <p:spPr>
          <a:xfrm>
            <a:off x="3007615" y="4285220"/>
            <a:ext cx="2153543" cy="1246939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4.400 PIT </a:t>
            </a:r>
            <a:r>
              <a:rPr lang="en-US" sz="1600" err="1">
                <a:sym typeface="Wingdings" panose="05000000000000000000" pitchFamily="2" charset="2"/>
              </a:rPr>
              <a:t>davon</a:t>
            </a:r>
            <a:r>
              <a:rPr lang="en-US" sz="1600">
                <a:sym typeface="Wingdings" panose="05000000000000000000" pitchFamily="2" charset="2"/>
              </a:rPr>
              <a:t> 200 IT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600 MSPO (IT und BR)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300 </a:t>
            </a:r>
            <a:r>
              <a:rPr lang="en-US" sz="1600" err="1">
                <a:sym typeface="Wingdings" panose="05000000000000000000" pitchFamily="2" charset="2"/>
              </a:rPr>
              <a:t>PowerApp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D8241-226C-DA03-0C55-CE720CE37234}"/>
              </a:ext>
            </a:extLst>
          </p:cNvPr>
          <p:cNvSpPr txBox="1"/>
          <p:nvPr/>
        </p:nvSpPr>
        <p:spPr>
          <a:xfrm>
            <a:off x="500667" y="795393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Differenzierung</a:t>
            </a:r>
            <a:r>
              <a:rPr lang="en-US" sz="1600"/>
              <a:t> </a:t>
            </a:r>
            <a:r>
              <a:rPr lang="en-US" sz="1600" err="1"/>
              <a:t>Projektmanagement</a:t>
            </a:r>
            <a:r>
              <a:rPr lang="en-US" sz="1600"/>
              <a:t> und </a:t>
            </a:r>
            <a:r>
              <a:rPr lang="en-US" sz="1600" err="1"/>
              <a:t>Portfoliomanagement</a:t>
            </a:r>
            <a:r>
              <a:rPr lang="en-US" sz="1600"/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7D551-149E-89DE-D995-52B322254399}"/>
              </a:ext>
            </a:extLst>
          </p:cNvPr>
          <p:cNvSpPr txBox="1"/>
          <p:nvPr/>
        </p:nvSpPr>
        <p:spPr>
          <a:xfrm>
            <a:off x="6040680" y="4831168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37E41-398D-A976-A167-48CF31585CAE}"/>
              </a:ext>
            </a:extLst>
          </p:cNvPr>
          <p:cNvSpPr txBox="1"/>
          <p:nvPr/>
        </p:nvSpPr>
        <p:spPr>
          <a:xfrm>
            <a:off x="6094102" y="5770505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r>
              <a:rPr lang="en-US" sz="1600"/>
              <a:t> – Projekt EV- </a:t>
            </a:r>
            <a:r>
              <a:rPr lang="en-US" sz="1600" err="1"/>
              <a:t>liefert</a:t>
            </a:r>
            <a:r>
              <a:rPr lang="en-US" sz="1600"/>
              <a:t> Sandra Keca </a:t>
            </a:r>
            <a:r>
              <a:rPr lang="en-US" sz="1600" err="1"/>
              <a:t>zu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2770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38B683B-21DD-C0DE-3F0B-2D0D05E257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23776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06" imgH="608" progId="TCLayout.ActiveDocument.1">
                  <p:embed/>
                </p:oleObj>
              </mc:Choice>
              <mc:Fallback>
                <p:oleObj name="think-cell Slide" r:id="rId3" imgW="606" imgH="60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8B683B-21DD-C0DE-3F0B-2D0D05E257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DB4122F-455F-4C06-E4F6-B22B5C90A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Von der </a:t>
            </a:r>
            <a:r>
              <a:rPr lang="en-US" err="1"/>
              <a:t>Strategie</a:t>
            </a:r>
            <a:r>
              <a:rPr lang="en-US"/>
              <a:t> </a:t>
            </a:r>
            <a:r>
              <a:rPr lang="en-US" err="1"/>
              <a:t>zur</a:t>
            </a:r>
            <a:r>
              <a:rPr lang="en-US"/>
              <a:t> </a:t>
            </a:r>
            <a:r>
              <a:rPr lang="en-US" err="1"/>
              <a:t>Umsetzung</a:t>
            </a:r>
            <a:r>
              <a:rPr lang="en-US"/>
              <a:t> – Alternative </a:t>
            </a:r>
            <a:r>
              <a:rPr lang="en-US" err="1"/>
              <a:t>zu</a:t>
            </a:r>
            <a:r>
              <a:rPr lang="en-US"/>
              <a:t> Folie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2E2C1-53B3-260C-AD0B-816F2A7A6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14663-DD2A-0A5B-4BDD-43F8D1DA1C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67" y="1545104"/>
            <a:ext cx="4875245" cy="2596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BBEA9B-EA89-9BFF-F986-75D1EBE13580}"/>
              </a:ext>
            </a:extLst>
          </p:cNvPr>
          <p:cNvSpPr txBox="1"/>
          <p:nvPr/>
        </p:nvSpPr>
        <p:spPr>
          <a:xfrm>
            <a:off x="6096000" y="1545104"/>
            <a:ext cx="4875245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Darstellung</a:t>
            </a:r>
            <a:r>
              <a:rPr lang="en-US" sz="1600"/>
              <a:t> des </a:t>
            </a:r>
            <a:r>
              <a:rPr lang="en-US" sz="1600" err="1"/>
              <a:t>Prozesses</a:t>
            </a:r>
            <a:r>
              <a:rPr lang="en-US" sz="1600"/>
              <a:t> in der </a:t>
            </a:r>
            <a:r>
              <a:rPr lang="en-US" sz="1600" err="1"/>
              <a:t>Tabellenform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Software und </a:t>
            </a:r>
            <a:r>
              <a:rPr lang="en-US" sz="1600" err="1"/>
              <a:t>Mengenangaben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358613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11A9-E2CD-6C66-1269-5F5D941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EFFDBAF-85F0-6612-2D08-2A8099F98E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62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FFDBAF-85F0-6612-2D08-2A8099F98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77F361-B21B-1A43-53ED-0F1D1AF5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Herausforderungen im Status Quo</a:t>
            </a:r>
            <a:endParaRPr lang="de-DE" b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08BC5A2-1D99-A6C2-8F54-DF1038A989A6}"/>
              </a:ext>
            </a:extLst>
          </p:cNvPr>
          <p:cNvGrpSpPr/>
          <p:nvPr/>
        </p:nvGrpSpPr>
        <p:grpSpPr>
          <a:xfrm>
            <a:off x="535528" y="1296926"/>
            <a:ext cx="3878565" cy="2539437"/>
            <a:chOff x="400276" y="1423040"/>
            <a:chExt cx="6815864" cy="4520560"/>
          </a:xfrm>
        </p:grpSpPr>
        <p:pic>
          <p:nvPicPr>
            <p:cNvPr id="6" name="Picture 2" descr="Ipad PNGs zum kostenlosen Download">
              <a:extLst>
                <a:ext uri="{FF2B5EF4-FFF2-40B4-BE49-F238E27FC236}">
                  <a16:creationId xmlns:a16="http://schemas.microsoft.com/office/drawing/2014/main" id="{88601911-0384-C0B0-3F65-AFD6067FE9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479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0F22F91-45E0-C55F-8F04-2F70DBC45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745" y="1761817"/>
              <a:ext cx="6095875" cy="3863672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A77F6A-22B9-0C75-B9FB-6B212B459230}"/>
              </a:ext>
            </a:extLst>
          </p:cNvPr>
          <p:cNvGrpSpPr/>
          <p:nvPr/>
        </p:nvGrpSpPr>
        <p:grpSpPr>
          <a:xfrm>
            <a:off x="7768082" y="1772469"/>
            <a:ext cx="3940843" cy="747897"/>
            <a:chOff x="7768082" y="1772469"/>
            <a:chExt cx="3940843" cy="747897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521DDB4-BC15-9C32-6FF4-37D1B35AAC18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13" name="HarveyBase">
                <a:extLst>
                  <a:ext uri="{FF2B5EF4-FFF2-40B4-BE49-F238E27FC236}">
                    <a16:creationId xmlns:a16="http://schemas.microsoft.com/office/drawing/2014/main" id="{AD5486F1-FB88-A03E-0A40-6F7203D5AB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9" name="Freeform 236">
                <a:extLst>
                  <a:ext uri="{FF2B5EF4-FFF2-40B4-BE49-F238E27FC236}">
                    <a16:creationId xmlns:a16="http://schemas.microsoft.com/office/drawing/2014/main" id="{DE79A149-C1BB-7240-EBFE-9D231B15891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D33BE0E-A9A9-66D8-9839-3746F80A9670}"/>
                </a:ext>
              </a:extLst>
            </p:cNvPr>
            <p:cNvSpPr txBox="1"/>
            <p:nvPr/>
          </p:nvSpPr>
          <p:spPr>
            <a:xfrm>
              <a:off x="8339102" y="1772469"/>
              <a:ext cx="3369823" cy="7478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lvl="2">
                <a:lnSpc>
                  <a:spcPct val="90000"/>
                </a:lnSpc>
                <a:spcBef>
                  <a:spcPts val="1200"/>
                </a:spcBef>
              </a:pPr>
              <a:r>
                <a:rPr lang="en-US" err="1"/>
                <a:t>Zeitlich</a:t>
              </a:r>
              <a:r>
                <a:rPr lang="en-US"/>
                <a:t> und </a:t>
              </a:r>
              <a:r>
                <a:rPr lang="en-US" err="1"/>
                <a:t>inhaltlich</a:t>
              </a:r>
              <a:r>
                <a:rPr lang="en-US"/>
                <a:t> </a:t>
              </a:r>
              <a:r>
                <a:rPr lang="en-US" b="1" err="1"/>
                <a:t>unabgestimmte</a:t>
              </a:r>
              <a:r>
                <a:rPr lang="en-US" b="1"/>
                <a:t>, </a:t>
              </a:r>
              <a:r>
                <a:rPr lang="en-US" b="1" err="1"/>
                <a:t>manuelle</a:t>
              </a:r>
              <a:r>
                <a:rPr lang="en-US" b="1"/>
                <a:t> Parallel-</a:t>
              </a:r>
              <a:r>
                <a:rPr lang="en-US" b="1" err="1"/>
                <a:t>Prozesse</a:t>
              </a:r>
              <a:r>
                <a:rPr lang="en-US" b="1"/>
                <a:t> 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1211042-7491-40F4-A0DD-8D6711624249}"/>
              </a:ext>
            </a:extLst>
          </p:cNvPr>
          <p:cNvGrpSpPr/>
          <p:nvPr/>
        </p:nvGrpSpPr>
        <p:grpSpPr>
          <a:xfrm>
            <a:off x="7768082" y="2657016"/>
            <a:ext cx="3940843" cy="664797"/>
            <a:chOff x="7768082" y="1814019"/>
            <a:chExt cx="3940843" cy="66479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2384FA7-6226-3E22-12F1-5FAED82F17A3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0" name="HarveyBase">
                <a:extLst>
                  <a:ext uri="{FF2B5EF4-FFF2-40B4-BE49-F238E27FC236}">
                    <a16:creationId xmlns:a16="http://schemas.microsoft.com/office/drawing/2014/main" id="{C51BCB12-BCA2-4213-7B39-C9BAB1EAE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1" name="Freeform 236">
                <a:extLst>
                  <a:ext uri="{FF2B5EF4-FFF2-40B4-BE49-F238E27FC236}">
                    <a16:creationId xmlns:a16="http://schemas.microsoft.com/office/drawing/2014/main" id="{CBA23343-9E1A-383E-71EA-3BD560602A4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F074E0E5-ACEB-9516-058B-9F6A5957CD57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/>
                <a:t>Medien- und </a:t>
              </a:r>
              <a:r>
                <a:rPr lang="en-US" sz="1600" b="1" err="1"/>
                <a:t>Systembrüche</a:t>
              </a:r>
              <a:r>
                <a:rPr lang="en-US" sz="1600" b="1"/>
                <a:t> </a:t>
              </a:r>
              <a:r>
                <a:rPr lang="en-US" sz="1600" err="1"/>
                <a:t>verursachen</a:t>
              </a:r>
              <a:r>
                <a:rPr lang="en-US" sz="1600"/>
                <a:t> </a:t>
              </a:r>
              <a:r>
                <a:rPr lang="en-US" sz="1600" b="1" err="1"/>
                <a:t>aufwendige</a:t>
              </a:r>
              <a:r>
                <a:rPr lang="en-US" sz="1600"/>
                <a:t> </a:t>
              </a:r>
              <a:r>
                <a:rPr lang="en-US" sz="1600" err="1"/>
                <a:t>Datenhaltung</a:t>
              </a:r>
              <a:endParaRPr lang="en-US" sz="160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870064-9541-22E4-CE66-D37E0F4784CA}"/>
              </a:ext>
            </a:extLst>
          </p:cNvPr>
          <p:cNvGrpSpPr/>
          <p:nvPr/>
        </p:nvGrpSpPr>
        <p:grpSpPr>
          <a:xfrm>
            <a:off x="7768082" y="3610812"/>
            <a:ext cx="3940843" cy="443198"/>
            <a:chOff x="7768082" y="1924818"/>
            <a:chExt cx="3940843" cy="443198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E9B2FE7-013C-9022-9398-D5F248384C7E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5" name="HarveyBase">
                <a:extLst>
                  <a:ext uri="{FF2B5EF4-FFF2-40B4-BE49-F238E27FC236}">
                    <a16:creationId xmlns:a16="http://schemas.microsoft.com/office/drawing/2014/main" id="{927C19DC-F047-545F-0512-A0E4BA0716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6" name="Freeform 236">
                <a:extLst>
                  <a:ext uri="{FF2B5EF4-FFF2-40B4-BE49-F238E27FC236}">
                    <a16:creationId xmlns:a16="http://schemas.microsoft.com/office/drawing/2014/main" id="{C6E7F9E6-7EB1-DF98-86E5-CB1EB851017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AAF7598-0007-D687-C1F8-92A8B14B353D}"/>
                </a:ext>
              </a:extLst>
            </p:cNvPr>
            <p:cNvSpPr txBox="1"/>
            <p:nvPr/>
          </p:nvSpPr>
          <p:spPr>
            <a:xfrm>
              <a:off x="8339102" y="1924818"/>
              <a:ext cx="3369823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Unheitliche</a:t>
              </a:r>
              <a:r>
                <a:rPr lang="en-US" sz="1600"/>
                <a:t> </a:t>
              </a:r>
              <a:r>
                <a:rPr lang="en-US" sz="1600" b="1" err="1"/>
                <a:t>Datenstrukturen</a:t>
              </a:r>
              <a:r>
                <a:rPr lang="en-US" sz="1600"/>
                <a:t> / </a:t>
              </a:r>
              <a:r>
                <a:rPr lang="en-US" sz="1600" err="1"/>
                <a:t>fehlende</a:t>
              </a:r>
              <a:r>
                <a:rPr lang="en-US" sz="1600"/>
                <a:t> </a:t>
              </a:r>
              <a:r>
                <a:rPr lang="en-US" sz="1600" b="1" err="1"/>
                <a:t>Datenbanken</a:t>
              </a:r>
              <a:endParaRPr lang="en-US" sz="1600" b="1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103521E-039C-E6EF-44F6-AD3AEF004AB1}"/>
              </a:ext>
            </a:extLst>
          </p:cNvPr>
          <p:cNvGrpSpPr/>
          <p:nvPr/>
        </p:nvGrpSpPr>
        <p:grpSpPr>
          <a:xfrm>
            <a:off x="7768082" y="4343010"/>
            <a:ext cx="3940843" cy="664797"/>
            <a:chOff x="7768082" y="1814019"/>
            <a:chExt cx="3940843" cy="664797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5A51C00-5511-C807-14FF-6E5EF99942F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0" name="HarveyBase">
                <a:extLst>
                  <a:ext uri="{FF2B5EF4-FFF2-40B4-BE49-F238E27FC236}">
                    <a16:creationId xmlns:a16="http://schemas.microsoft.com/office/drawing/2014/main" id="{4AD7858C-C69E-0F6B-6FA6-8B8B27863A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1" name="Freeform 236">
                <a:extLst>
                  <a:ext uri="{FF2B5EF4-FFF2-40B4-BE49-F238E27FC236}">
                    <a16:creationId xmlns:a16="http://schemas.microsoft.com/office/drawing/2014/main" id="{7BDBCB6D-32CF-49BB-EA6F-5F19076CA2F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32F8B86-DAF9-3145-BA53-4BF6AE70A16F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err="1"/>
                <a:t>Intransparenz</a:t>
              </a:r>
              <a:r>
                <a:rPr lang="en-US" sz="1600"/>
                <a:t> in </a:t>
              </a:r>
              <a:r>
                <a:rPr lang="en-US" sz="1600" err="1"/>
                <a:t>bereichsübergreifenden</a:t>
              </a:r>
              <a:r>
                <a:rPr lang="en-US" sz="1600"/>
                <a:t> Status für </a:t>
              </a:r>
              <a:r>
                <a:rPr lang="en-US" sz="1600" err="1"/>
                <a:t>Ressourcen</a:t>
              </a:r>
              <a:r>
                <a:rPr lang="en-US" sz="1600"/>
                <a:t> und Kosten 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3CD1520-8390-210E-D97B-6D971B9271DE}"/>
              </a:ext>
            </a:extLst>
          </p:cNvPr>
          <p:cNvGrpSpPr/>
          <p:nvPr/>
        </p:nvGrpSpPr>
        <p:grpSpPr>
          <a:xfrm>
            <a:off x="7768082" y="5025964"/>
            <a:ext cx="3940843" cy="984885"/>
            <a:chOff x="7768082" y="1653975"/>
            <a:chExt cx="3940843" cy="984885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588A8BF0-4636-9503-60E3-72D2004C673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5" name="HarveyBase">
                <a:extLst>
                  <a:ext uri="{FF2B5EF4-FFF2-40B4-BE49-F238E27FC236}">
                    <a16:creationId xmlns:a16="http://schemas.microsoft.com/office/drawing/2014/main" id="{20EF357C-8B80-F33C-7599-3D9A8A86E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6" name="Freeform 236">
                <a:extLst>
                  <a:ext uri="{FF2B5EF4-FFF2-40B4-BE49-F238E27FC236}">
                    <a16:creationId xmlns:a16="http://schemas.microsoft.com/office/drawing/2014/main" id="{8239D445-081F-1B09-F9A1-46396C8D954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0AC76CF-8518-2E43-E31B-F1D36AC597D5}"/>
                </a:ext>
              </a:extLst>
            </p:cNvPr>
            <p:cNvSpPr txBox="1"/>
            <p:nvPr/>
          </p:nvSpPr>
          <p:spPr>
            <a:xfrm>
              <a:off x="8339102" y="1653975"/>
              <a:ext cx="3369823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88900" lvl="1">
                <a:buClr>
                  <a:schemeClr val="accent2"/>
                </a:buClr>
              </a:pPr>
              <a:r>
                <a:rPr lang="de-DE" sz="1600" b="1"/>
                <a:t>Abgekündigte</a:t>
              </a:r>
              <a:r>
                <a:rPr lang="de-DE" sz="1600"/>
                <a:t> / </a:t>
              </a:r>
              <a:r>
                <a:rPr lang="de-DE" sz="1600" b="1"/>
                <a:t>nicht mehr supportete Tools</a:t>
              </a:r>
              <a:br>
                <a:rPr lang="de-DE" sz="1600"/>
              </a:br>
              <a:r>
                <a:rPr lang="de-DE" sz="1600"/>
                <a:t>(PIT xx/xx </a:t>
              </a:r>
              <a:br>
                <a:rPr lang="de-DE" sz="1600"/>
              </a:br>
              <a:r>
                <a:rPr lang="de-DE" sz="1600"/>
                <a:t>Microsoft Project Online 10/26)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C59000-6939-A396-92B4-91D77D31DB88}"/>
              </a:ext>
            </a:extLst>
          </p:cNvPr>
          <p:cNvGrpSpPr/>
          <p:nvPr/>
        </p:nvGrpSpPr>
        <p:grpSpPr>
          <a:xfrm>
            <a:off x="2950980" y="3324496"/>
            <a:ext cx="4234746" cy="2856167"/>
            <a:chOff x="438376" y="1423040"/>
            <a:chExt cx="6815864" cy="4520560"/>
          </a:xfrm>
        </p:grpSpPr>
        <p:pic>
          <p:nvPicPr>
            <p:cNvPr id="11" name="Picture 2" descr="Ipad PNGs zum kostenlosen Download">
              <a:extLst>
                <a:ext uri="{FF2B5EF4-FFF2-40B4-BE49-F238E27FC236}">
                  <a16:creationId xmlns:a16="http://schemas.microsoft.com/office/drawing/2014/main" id="{2137FC22-B623-38FC-1174-6F2EB60EF8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860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Grafik 4">
              <a:extLst>
                <a:ext uri="{FF2B5EF4-FFF2-40B4-BE49-F238E27FC236}">
                  <a16:creationId xmlns:a16="http://schemas.microsoft.com/office/drawing/2014/main" id="{D151F65E-DB6D-E8CE-492F-B2EF59516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6"/>
            <a:stretch>
              <a:fillRect/>
            </a:stretch>
          </p:blipFill>
          <p:spPr>
            <a:xfrm>
              <a:off x="789411" y="2177501"/>
              <a:ext cx="6142399" cy="311633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83AA403-60D4-2F89-09FD-9F0D5A939CB2}"/>
              </a:ext>
            </a:extLst>
          </p:cNvPr>
          <p:cNvSpPr txBox="1"/>
          <p:nvPr/>
        </p:nvSpPr>
        <p:spPr>
          <a:xfrm>
            <a:off x="590146" y="3836363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Prozessschaubild</a:t>
            </a:r>
            <a:r>
              <a:rPr lang="en-US" sz="1000" i="1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0961F-AB5F-BD75-A71E-19B1C72BD1C0}"/>
              </a:ext>
            </a:extLst>
          </p:cNvPr>
          <p:cNvSpPr txBox="1"/>
          <p:nvPr/>
        </p:nvSpPr>
        <p:spPr>
          <a:xfrm>
            <a:off x="3022315" y="6173914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Systemschaubild</a:t>
            </a:r>
            <a:r>
              <a:rPr lang="en-US" sz="1000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02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44A7-AC92-C849-8475-06101177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850B5B-13A0-62DD-2688-3C7C07F299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850B5B-13A0-62DD-2688-3C7C07F29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32CF36E-C444-BE16-78C1-050016AD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Vorgehen / Ansatz / Prämissen</a:t>
            </a:r>
            <a:endParaRPr lang="de-DE" b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C4B8393-D82C-6643-9125-25C55F2B30AA}"/>
              </a:ext>
            </a:extLst>
          </p:cNvPr>
          <p:cNvGrpSpPr/>
          <p:nvPr/>
        </p:nvGrpSpPr>
        <p:grpSpPr>
          <a:xfrm>
            <a:off x="479426" y="2739732"/>
            <a:ext cx="5092699" cy="313200"/>
            <a:chOff x="479426" y="1653882"/>
            <a:chExt cx="5092699" cy="3132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18D6BF3E-7811-0A07-5736-1431D25F2AB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Standardisierte, </a:t>
              </a:r>
              <a:r>
                <a:rPr lang="de-DE" err="1"/>
                <a:t>releasefähige</a:t>
              </a:r>
              <a:r>
                <a:rPr lang="de-DE"/>
                <a:t> Software</a:t>
              </a:r>
            </a:p>
          </p:txBody>
        </p:sp>
        <p:grpSp>
          <p:nvGrpSpPr>
            <p:cNvPr id="8" name="Group 182">
              <a:extLst>
                <a:ext uri="{FF2B5EF4-FFF2-40B4-BE49-F238E27FC236}">
                  <a16:creationId xmlns:a16="http://schemas.microsoft.com/office/drawing/2014/main" id="{5DF3F981-DF43-B70B-AA48-4A25C9EA63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9" name="Oval 183">
                <a:extLst>
                  <a:ext uri="{FF2B5EF4-FFF2-40B4-BE49-F238E27FC236}">
                    <a16:creationId xmlns:a16="http://schemas.microsoft.com/office/drawing/2014/main" id="{DCF6E96C-6FEE-6ECF-7AAF-AB9D407728A1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Graphic 148">
                <a:extLst>
                  <a:ext uri="{FF2B5EF4-FFF2-40B4-BE49-F238E27FC236}">
                    <a16:creationId xmlns:a16="http://schemas.microsoft.com/office/drawing/2014/main" id="{0F1F7EB4-7BDE-1ADF-68E7-4182FBC1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042300F-97B7-04E5-701D-CE384AD25B1E}"/>
              </a:ext>
            </a:extLst>
          </p:cNvPr>
          <p:cNvGrpSpPr/>
          <p:nvPr/>
        </p:nvGrpSpPr>
        <p:grpSpPr>
          <a:xfrm>
            <a:off x="479426" y="3353118"/>
            <a:ext cx="5092699" cy="313200"/>
            <a:chOff x="479426" y="1653882"/>
            <a:chExt cx="5092699" cy="3132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68531C1-E204-CEB3-8BA0-695BD9720867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Eigenentwicklung</a:t>
              </a:r>
            </a:p>
          </p:txBody>
        </p:sp>
        <p:grpSp>
          <p:nvGrpSpPr>
            <p:cNvPr id="13" name="Group 182">
              <a:extLst>
                <a:ext uri="{FF2B5EF4-FFF2-40B4-BE49-F238E27FC236}">
                  <a16:creationId xmlns:a16="http://schemas.microsoft.com/office/drawing/2014/main" id="{C474BEA1-FFDD-54F3-5723-3A3D8234D1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4" name="Oval 183">
                <a:extLst>
                  <a:ext uri="{FF2B5EF4-FFF2-40B4-BE49-F238E27FC236}">
                    <a16:creationId xmlns:a16="http://schemas.microsoft.com/office/drawing/2014/main" id="{4856CE53-55CE-2F1F-196F-3B97787E1347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5" name="Graphic 148">
                <a:extLst>
                  <a:ext uri="{FF2B5EF4-FFF2-40B4-BE49-F238E27FC236}">
                    <a16:creationId xmlns:a16="http://schemas.microsoft.com/office/drawing/2014/main" id="{50577C30-61D8-4AC2-5E4D-D237D3A5A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F7D10F2-6013-E328-725B-90383206A76B}"/>
              </a:ext>
            </a:extLst>
          </p:cNvPr>
          <p:cNvGrpSpPr/>
          <p:nvPr/>
        </p:nvGrpSpPr>
        <p:grpSpPr>
          <a:xfrm>
            <a:off x="479426" y="3966504"/>
            <a:ext cx="5092699" cy="313200"/>
            <a:chOff x="479426" y="1653882"/>
            <a:chExt cx="5092699" cy="31320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C48C9BD-4FBE-24E5-794C-DAC84DFC8D10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18" name="Group 182">
              <a:extLst>
                <a:ext uri="{FF2B5EF4-FFF2-40B4-BE49-F238E27FC236}">
                  <a16:creationId xmlns:a16="http://schemas.microsoft.com/office/drawing/2014/main" id="{82B53572-85AB-D8C8-D4CE-174B9577D0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9" name="Oval 183">
                <a:extLst>
                  <a:ext uri="{FF2B5EF4-FFF2-40B4-BE49-F238E27FC236}">
                    <a16:creationId xmlns:a16="http://schemas.microsoft.com/office/drawing/2014/main" id="{7E7FB989-AAE1-5506-9B2B-9A605336665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Graphic 148">
                <a:extLst>
                  <a:ext uri="{FF2B5EF4-FFF2-40B4-BE49-F238E27FC236}">
                    <a16:creationId xmlns:a16="http://schemas.microsoft.com/office/drawing/2014/main" id="{608D1611-E4DE-2D76-4850-A7D44505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2F263DD-E83D-5215-ED67-6FA28A7B73C5}"/>
              </a:ext>
            </a:extLst>
          </p:cNvPr>
          <p:cNvGrpSpPr/>
          <p:nvPr/>
        </p:nvGrpSpPr>
        <p:grpSpPr>
          <a:xfrm>
            <a:off x="479426" y="4579890"/>
            <a:ext cx="5092699" cy="313200"/>
            <a:chOff x="479426" y="1653882"/>
            <a:chExt cx="5092699" cy="313200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DA184FD-8CAA-4B07-97DA-44F8F70E3C2C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3" name="Group 182">
              <a:extLst>
                <a:ext uri="{FF2B5EF4-FFF2-40B4-BE49-F238E27FC236}">
                  <a16:creationId xmlns:a16="http://schemas.microsoft.com/office/drawing/2014/main" id="{E3E60E8A-6E28-46F0-7170-647673BD26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4" name="Oval 183">
                <a:extLst>
                  <a:ext uri="{FF2B5EF4-FFF2-40B4-BE49-F238E27FC236}">
                    <a16:creationId xmlns:a16="http://schemas.microsoft.com/office/drawing/2014/main" id="{0A267940-E870-0F34-DCA9-559E9BC6ADF5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Graphic 148">
                <a:extLst>
                  <a:ext uri="{FF2B5EF4-FFF2-40B4-BE49-F238E27FC236}">
                    <a16:creationId xmlns:a16="http://schemas.microsoft.com/office/drawing/2014/main" id="{60C9101C-559E-7703-9E98-BDA8A105FD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1DC73BB-C5A8-F8CF-6962-CDE01E6E5691}"/>
              </a:ext>
            </a:extLst>
          </p:cNvPr>
          <p:cNvGrpSpPr/>
          <p:nvPr/>
        </p:nvGrpSpPr>
        <p:grpSpPr>
          <a:xfrm>
            <a:off x="479426" y="5193275"/>
            <a:ext cx="5092699" cy="313200"/>
            <a:chOff x="479426" y="1653882"/>
            <a:chExt cx="5092699" cy="3132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8CCF0E1-13BA-1697-E581-B8527C9ACBC4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8" name="Group 182">
              <a:extLst>
                <a:ext uri="{FF2B5EF4-FFF2-40B4-BE49-F238E27FC236}">
                  <a16:creationId xmlns:a16="http://schemas.microsoft.com/office/drawing/2014/main" id="{C22305B8-F063-B2DF-4043-57ABCDD174F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9" name="Oval 183">
                <a:extLst>
                  <a:ext uri="{FF2B5EF4-FFF2-40B4-BE49-F238E27FC236}">
                    <a16:creationId xmlns:a16="http://schemas.microsoft.com/office/drawing/2014/main" id="{EC2968FB-4466-3B39-54C7-E0251C01EA4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0" name="Graphic 148">
                <a:extLst>
                  <a:ext uri="{FF2B5EF4-FFF2-40B4-BE49-F238E27FC236}">
                    <a16:creationId xmlns:a16="http://schemas.microsoft.com/office/drawing/2014/main" id="{6F1C5C3A-6141-FC6E-8057-D225FD80C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D0E389E-122B-D5E9-EC0E-0C79825B65E4}"/>
              </a:ext>
            </a:extLst>
          </p:cNvPr>
          <p:cNvGrpSpPr/>
          <p:nvPr/>
        </p:nvGrpSpPr>
        <p:grpSpPr>
          <a:xfrm>
            <a:off x="6621464" y="2739732"/>
            <a:ext cx="5092699" cy="313200"/>
            <a:chOff x="479426" y="1653882"/>
            <a:chExt cx="5092699" cy="313200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69E1696-194E-F36E-5AED-05CF287D26C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aufwendige Überverwaltung</a:t>
              </a:r>
            </a:p>
          </p:txBody>
        </p:sp>
        <p:grpSp>
          <p:nvGrpSpPr>
            <p:cNvPr id="33" name="Group 182">
              <a:extLst>
                <a:ext uri="{FF2B5EF4-FFF2-40B4-BE49-F238E27FC236}">
                  <a16:creationId xmlns:a16="http://schemas.microsoft.com/office/drawing/2014/main" id="{7A7AE393-7DE6-3AE5-4E70-46884275FE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873F7B97-0C5C-554C-81A4-C76AF16838B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5" name="Graphic 148">
                <a:extLst>
                  <a:ext uri="{FF2B5EF4-FFF2-40B4-BE49-F238E27FC236}">
                    <a16:creationId xmlns:a16="http://schemas.microsoft.com/office/drawing/2014/main" id="{5DC811ED-7EC1-4401-1B5B-5CB598621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F0C707A-14BB-0A33-7B94-CC10BDC805B7}"/>
              </a:ext>
            </a:extLst>
          </p:cNvPr>
          <p:cNvGrpSpPr/>
          <p:nvPr/>
        </p:nvGrpSpPr>
        <p:grpSpPr>
          <a:xfrm>
            <a:off x="6621464" y="3353118"/>
            <a:ext cx="5092699" cy="553998"/>
            <a:chOff x="479426" y="1653882"/>
            <a:chExt cx="5092699" cy="553998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D8F26AA0-B20F-83DE-4EB1-CE430AB2FA6A}"/>
                </a:ext>
              </a:extLst>
            </p:cNvPr>
            <p:cNvSpPr/>
            <p:nvPr/>
          </p:nvSpPr>
          <p:spPr>
            <a:xfrm>
              <a:off x="910770" y="1653882"/>
              <a:ext cx="4661355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Orientierung am Industriestandard /  Best Practice</a:t>
              </a:r>
            </a:p>
          </p:txBody>
        </p:sp>
        <p:grpSp>
          <p:nvGrpSpPr>
            <p:cNvPr id="38" name="Group 182">
              <a:extLst>
                <a:ext uri="{FF2B5EF4-FFF2-40B4-BE49-F238E27FC236}">
                  <a16:creationId xmlns:a16="http://schemas.microsoft.com/office/drawing/2014/main" id="{E3C97295-65BF-5525-0B70-4208F83E1F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9" name="Oval 183">
                <a:extLst>
                  <a:ext uri="{FF2B5EF4-FFF2-40B4-BE49-F238E27FC236}">
                    <a16:creationId xmlns:a16="http://schemas.microsoft.com/office/drawing/2014/main" id="{5359FF2B-65BA-6938-A0E2-7C5E24C3EFAE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0" name="Graphic 148">
                <a:extLst>
                  <a:ext uri="{FF2B5EF4-FFF2-40B4-BE49-F238E27FC236}">
                    <a16:creationId xmlns:a16="http://schemas.microsoft.com/office/drawing/2014/main" id="{BDE6F54A-A06B-228F-C309-DCB3789BE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749E0D28-D99A-3695-2522-59D621E44ED4}"/>
              </a:ext>
            </a:extLst>
          </p:cNvPr>
          <p:cNvGrpSpPr/>
          <p:nvPr/>
        </p:nvGrpSpPr>
        <p:grpSpPr>
          <a:xfrm>
            <a:off x="6621464" y="3966504"/>
            <a:ext cx="5092699" cy="313200"/>
            <a:chOff x="479426" y="1653882"/>
            <a:chExt cx="5092699" cy="313200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7594237-35E6-9AAA-EBE8-F0C5B657A54B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Klare Verantwortlichkeiten</a:t>
              </a:r>
            </a:p>
          </p:txBody>
        </p:sp>
        <p:grpSp>
          <p:nvGrpSpPr>
            <p:cNvPr id="43" name="Group 182">
              <a:extLst>
                <a:ext uri="{FF2B5EF4-FFF2-40B4-BE49-F238E27FC236}">
                  <a16:creationId xmlns:a16="http://schemas.microsoft.com/office/drawing/2014/main" id="{7CDD8E08-03DB-1C29-C2B6-8070146A05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4" name="Oval 183">
                <a:extLst>
                  <a:ext uri="{FF2B5EF4-FFF2-40B4-BE49-F238E27FC236}">
                    <a16:creationId xmlns:a16="http://schemas.microsoft.com/office/drawing/2014/main" id="{2AAA9C23-20E2-CA56-E1ED-21351DA0976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5" name="Graphic 148">
                <a:extLst>
                  <a:ext uri="{FF2B5EF4-FFF2-40B4-BE49-F238E27FC236}">
                    <a16:creationId xmlns:a16="http://schemas.microsoft.com/office/drawing/2014/main" id="{6BA91677-F2D6-C061-F8E3-541DD17C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9AB0A57-66E9-B9CE-8FB3-AE5CD2872C61}"/>
              </a:ext>
            </a:extLst>
          </p:cNvPr>
          <p:cNvGrpSpPr/>
          <p:nvPr/>
        </p:nvGrpSpPr>
        <p:grpSpPr>
          <a:xfrm>
            <a:off x="6621464" y="4579890"/>
            <a:ext cx="5092699" cy="313200"/>
            <a:chOff x="479426" y="1653882"/>
            <a:chExt cx="5092699" cy="313200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4EC37065-ABD0-0C22-E9E8-779F8FE5CE8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Etablierte und gelebte Kultur</a:t>
              </a:r>
            </a:p>
          </p:txBody>
        </p:sp>
        <p:grpSp>
          <p:nvGrpSpPr>
            <p:cNvPr id="48" name="Group 182">
              <a:extLst>
                <a:ext uri="{FF2B5EF4-FFF2-40B4-BE49-F238E27FC236}">
                  <a16:creationId xmlns:a16="http://schemas.microsoft.com/office/drawing/2014/main" id="{501D94E2-8D62-0ED8-A149-D6143C7A10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9" name="Oval 183">
                <a:extLst>
                  <a:ext uri="{FF2B5EF4-FFF2-40B4-BE49-F238E27FC236}">
                    <a16:creationId xmlns:a16="http://schemas.microsoft.com/office/drawing/2014/main" id="{D3BFA291-66E2-9436-9995-51A89572C01C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0" name="Graphic 148">
                <a:extLst>
                  <a:ext uri="{FF2B5EF4-FFF2-40B4-BE49-F238E27FC236}">
                    <a16:creationId xmlns:a16="http://schemas.microsoft.com/office/drawing/2014/main" id="{06F8194C-69FC-00F9-F03D-1FB238B29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EBA4D88-890B-B591-AA83-E8F8B8DF7FD5}"/>
              </a:ext>
            </a:extLst>
          </p:cNvPr>
          <p:cNvGrpSpPr/>
          <p:nvPr/>
        </p:nvGrpSpPr>
        <p:grpSpPr>
          <a:xfrm>
            <a:off x="6621464" y="5193275"/>
            <a:ext cx="5092699" cy="313200"/>
            <a:chOff x="479426" y="1653882"/>
            <a:chExt cx="5092699" cy="313200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D3B2A1C2-D2F7-88A7-414D-97C964B50FF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53" name="Group 182">
              <a:extLst>
                <a:ext uri="{FF2B5EF4-FFF2-40B4-BE49-F238E27FC236}">
                  <a16:creationId xmlns:a16="http://schemas.microsoft.com/office/drawing/2014/main" id="{11531A35-7860-FFE1-161E-71E77936F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54" name="Oval 183">
                <a:extLst>
                  <a:ext uri="{FF2B5EF4-FFF2-40B4-BE49-F238E27FC236}">
                    <a16:creationId xmlns:a16="http://schemas.microsoft.com/office/drawing/2014/main" id="{8F149A27-11F0-AFD9-1DCC-E5436AAC89DA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Graphic 148">
                <a:extLst>
                  <a:ext uri="{FF2B5EF4-FFF2-40B4-BE49-F238E27FC236}">
                    <a16:creationId xmlns:a16="http://schemas.microsoft.com/office/drawing/2014/main" id="{FD370D0B-8C34-91A5-6EBC-D48C0BF56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sp>
        <p:nvSpPr>
          <p:cNvPr id="56" name="RbLeanShape Right U-Shape 17">
            <a:extLst>
              <a:ext uri="{FF2B5EF4-FFF2-40B4-BE49-F238E27FC236}">
                <a16:creationId xmlns:a16="http://schemas.microsoft.com/office/drawing/2014/main" id="{9E661E89-1AC8-1B3C-BFFA-9B5790A8C41E}"/>
              </a:ext>
            </a:extLst>
          </p:cNvPr>
          <p:cNvSpPr>
            <a:spLocks/>
          </p:cNvSpPr>
          <p:nvPr/>
        </p:nvSpPr>
        <p:spPr>
          <a:xfrm>
            <a:off x="6216650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57" name="RbLeanShape Right U-Shape 17">
            <a:extLst>
              <a:ext uri="{FF2B5EF4-FFF2-40B4-BE49-F238E27FC236}">
                <a16:creationId xmlns:a16="http://schemas.microsoft.com/office/drawing/2014/main" id="{E00F47B4-DAD4-09E8-2BD6-82C2B06D3C63}"/>
              </a:ext>
            </a:extLst>
          </p:cNvPr>
          <p:cNvSpPr>
            <a:spLocks/>
          </p:cNvSpPr>
          <p:nvPr/>
        </p:nvSpPr>
        <p:spPr>
          <a:xfrm flipH="1">
            <a:off x="479426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61" name="ListLeanHorizontalTextDetail2">
            <a:extLst>
              <a:ext uri="{FF2B5EF4-FFF2-40B4-BE49-F238E27FC236}">
                <a16:creationId xmlns:a16="http://schemas.microsoft.com/office/drawing/2014/main" id="{AEF86CE4-6D00-6407-4349-A11EC1C7F9A2}"/>
              </a:ext>
            </a:extLst>
          </p:cNvPr>
          <p:cNvSpPr txBox="1">
            <a:spLocks/>
          </p:cNvSpPr>
          <p:nvPr/>
        </p:nvSpPr>
        <p:spPr>
          <a:xfrm>
            <a:off x="7068607" y="1944602"/>
            <a:ext cx="4643967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 err="1">
                <a:latin typeface="STIHL Contraface Display Title" panose="02000600040000020004" pitchFamily="50" charset="0"/>
              </a:rPr>
              <a:t>Prozess</a:t>
            </a:r>
            <a:r>
              <a:rPr lang="en-US" sz="2400" b="1">
                <a:latin typeface="STIHL Contraface Display Title" panose="02000600040000020004" pitchFamily="50" charset="0"/>
              </a:rPr>
              <a:t> &amp; governance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58" name="ListLeanHorizontalTextDetail2">
            <a:extLst>
              <a:ext uri="{FF2B5EF4-FFF2-40B4-BE49-F238E27FC236}">
                <a16:creationId xmlns:a16="http://schemas.microsoft.com/office/drawing/2014/main" id="{FF287C19-A269-C0AB-71CE-CD8FB4A8EAFF}"/>
              </a:ext>
            </a:extLst>
          </p:cNvPr>
          <p:cNvSpPr txBox="1">
            <a:spLocks/>
          </p:cNvSpPr>
          <p:nvPr/>
        </p:nvSpPr>
        <p:spPr>
          <a:xfrm>
            <a:off x="981145" y="1944602"/>
            <a:ext cx="3349495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latin typeface="STIHL Contraface Display Title" panose="02000600040000020004" pitchFamily="50" charset="0"/>
              </a:rPr>
              <a:t>SOFTWARE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62" name="ListLeanHorizontalTextDetail2">
            <a:extLst>
              <a:ext uri="{FF2B5EF4-FFF2-40B4-BE49-F238E27FC236}">
                <a16:creationId xmlns:a16="http://schemas.microsoft.com/office/drawing/2014/main" id="{4EDDDF80-17A4-82CB-D4CC-0ED42098FE8E}"/>
              </a:ext>
            </a:extLst>
          </p:cNvPr>
          <p:cNvSpPr txBox="1">
            <a:spLocks/>
          </p:cNvSpPr>
          <p:nvPr/>
        </p:nvSpPr>
        <p:spPr>
          <a:xfrm>
            <a:off x="479426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63" name="ListLeanHorizontalTextDetail2">
            <a:extLst>
              <a:ext uri="{FF2B5EF4-FFF2-40B4-BE49-F238E27FC236}">
                <a16:creationId xmlns:a16="http://schemas.microsoft.com/office/drawing/2014/main" id="{CB2CDAE3-4F76-BEA6-7F2F-0F94BDB91A5C}"/>
              </a:ext>
            </a:extLst>
          </p:cNvPr>
          <p:cNvSpPr txBox="1">
            <a:spLocks/>
          </p:cNvSpPr>
          <p:nvPr/>
        </p:nvSpPr>
        <p:spPr>
          <a:xfrm>
            <a:off x="6621464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B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9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E327-4776-E6CB-065D-FD93039E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F0C6F4-554A-EBBB-3CC2-1100573FE7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471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F0C6F4-554A-EBBB-3CC2-1100573FE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EEF5E8F-E7E6-6BFC-89D5-28456653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en-US" sz="2400"/>
              <a:t>Vorprojekt SNOW – </a:t>
            </a:r>
            <a:r>
              <a:rPr lang="en-US" sz="2400">
                <a:solidFill>
                  <a:schemeClr val="accent2"/>
                </a:solidFill>
              </a:rPr>
              <a:t>Überblick</a:t>
            </a:r>
            <a:endParaRPr lang="en-US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10CEE9D7-C502-5404-46DB-E9C53CDE23A0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D1F170-D581-C10C-237A-3BF1731414EE}"/>
              </a:ext>
            </a:extLst>
          </p:cNvPr>
          <p:cNvSpPr/>
          <p:nvPr/>
        </p:nvSpPr>
        <p:spPr>
          <a:xfrm>
            <a:off x="479426" y="1603375"/>
            <a:ext cx="3240000" cy="3311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5AD424-F22A-D9C3-9969-9F66DA02C828}"/>
              </a:ext>
            </a:extLst>
          </p:cNvPr>
          <p:cNvSpPr/>
          <p:nvPr/>
        </p:nvSpPr>
        <p:spPr>
          <a:xfrm>
            <a:off x="8472574" y="1603375"/>
            <a:ext cx="3240000" cy="48514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668B76-0FF5-2F76-F91B-BAD84739529B}"/>
              </a:ext>
            </a:extLst>
          </p:cNvPr>
          <p:cNvSpPr/>
          <p:nvPr/>
        </p:nvSpPr>
        <p:spPr>
          <a:xfrm>
            <a:off x="3954780" y="1603375"/>
            <a:ext cx="4294187" cy="4851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C94B4B-CF48-532F-CE3A-611563F07E08}"/>
              </a:ext>
            </a:extLst>
          </p:cNvPr>
          <p:cNvSpPr/>
          <p:nvPr/>
        </p:nvSpPr>
        <p:spPr>
          <a:xfrm>
            <a:off x="479426" y="5135880"/>
            <a:ext cx="3240000" cy="13188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D92FC-610E-8F71-E629-9A2544D5D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105" y="1737360"/>
            <a:ext cx="2436809" cy="46195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7F566D8-AF3E-2229-19FF-67C6C52E4327}"/>
              </a:ext>
            </a:extLst>
          </p:cNvPr>
          <p:cNvSpPr txBox="1"/>
          <p:nvPr/>
        </p:nvSpPr>
        <p:spPr>
          <a:xfrm>
            <a:off x="8709660" y="2956900"/>
            <a:ext cx="2804159" cy="10402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080061-DA54-0177-A3CF-F9C03FE03ABA}"/>
              </a:ext>
            </a:extLst>
          </p:cNvPr>
          <p:cNvSpPr/>
          <p:nvPr/>
        </p:nvSpPr>
        <p:spPr>
          <a:xfrm>
            <a:off x="606314" y="171611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Zielsetzung: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4DF227-CCA8-54FC-2822-E8E226818300}"/>
              </a:ext>
            </a:extLst>
          </p:cNvPr>
          <p:cNvSpPr/>
          <p:nvPr/>
        </p:nvSpPr>
        <p:spPr>
          <a:xfrm>
            <a:off x="606314" y="2119972"/>
            <a:ext cx="2986224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1600" b="1" err="1"/>
              <a:t>Erarbeitung</a:t>
            </a:r>
            <a:r>
              <a:rPr lang="en-US" sz="1600" b="1"/>
              <a:t> </a:t>
            </a:r>
            <a:r>
              <a:rPr lang="en-US" sz="1600" err="1"/>
              <a:t>eines</a:t>
            </a:r>
            <a:r>
              <a:rPr lang="en-US" sz="1600" b="1"/>
              <a:t> Zielbildes „Strategy to Execution Portfolio/Project Management” </a:t>
            </a:r>
            <a:r>
              <a:rPr lang="en-US" sz="1600" err="1"/>
              <a:t>durch</a:t>
            </a:r>
            <a:r>
              <a:rPr lang="en-US" sz="1600"/>
              <a:t> Collaboration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BB571B-8FBA-58EF-D69E-D60CE804A82A}"/>
              </a:ext>
            </a:extLst>
          </p:cNvPr>
          <p:cNvSpPr/>
          <p:nvPr/>
        </p:nvSpPr>
        <p:spPr>
          <a:xfrm>
            <a:off x="606314" y="525179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 err="1"/>
              <a:t>Zeitleiste</a:t>
            </a:r>
            <a:r>
              <a:rPr lang="en-US" b="1"/>
              <a:t>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A5560B-1B52-0CF2-0CDF-7093E8C754C6}"/>
              </a:ext>
            </a:extLst>
          </p:cNvPr>
          <p:cNvSpPr/>
          <p:nvPr/>
        </p:nvSpPr>
        <p:spPr>
          <a:xfrm>
            <a:off x="606314" y="5749771"/>
            <a:ext cx="2986224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01 /2026 - 04 /2026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2132586-AB17-ABC5-147C-4CFCBA156520}"/>
              </a:ext>
            </a:extLst>
          </p:cNvPr>
          <p:cNvSpPr/>
          <p:nvPr/>
        </p:nvSpPr>
        <p:spPr>
          <a:xfrm>
            <a:off x="4111410" y="1716112"/>
            <a:ext cx="3980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Umfang: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BFCDF41-0112-321C-884C-8ADF2B4A3E5A}"/>
              </a:ext>
            </a:extLst>
          </p:cNvPr>
          <p:cNvSpPr/>
          <p:nvPr/>
        </p:nvSpPr>
        <p:spPr>
          <a:xfrm>
            <a:off x="4111410" y="2119972"/>
            <a:ext cx="3980926" cy="19697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Prüfung sämtlicher Perspektiven:</a:t>
            </a:r>
          </a:p>
          <a:p>
            <a:pPr marL="342900" indent="-342900">
              <a:buFont typeface="STIHL Contraface Text"/>
              <a:buAutoNum type="arabicPeriod"/>
            </a:pPr>
            <a:r>
              <a:rPr lang="en-US" sz="1600"/>
              <a:t>Strategische Produktplanung</a:t>
            </a:r>
          </a:p>
          <a:p>
            <a:pPr marL="342900" indent="-342900">
              <a:buAutoNum type="arabicPeriod"/>
            </a:pPr>
            <a:r>
              <a:rPr lang="en-US" sz="1600"/>
              <a:t>Produktprojekte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Infrastruktur-Projekte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Sonderprojekte</a:t>
            </a:r>
          </a:p>
          <a:p>
            <a:pPr marL="342900" indent="-342900">
              <a:buAutoNum type="arabicPeriod"/>
            </a:pPr>
            <a:r>
              <a:rPr lang="en-US" sz="1600"/>
              <a:t>Strategische Verzielung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IT-Projekte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EV-Prozess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6772F8-733D-DB31-84CA-9EC0171BF5B0}"/>
              </a:ext>
            </a:extLst>
          </p:cNvPr>
          <p:cNvSpPr txBox="1"/>
          <p:nvPr/>
        </p:nvSpPr>
        <p:spPr>
          <a:xfrm>
            <a:off x="8709660" y="4650021"/>
            <a:ext cx="2804159" cy="2492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b="1" err="1"/>
              <a:t>Referenzen</a:t>
            </a:r>
            <a:r>
              <a:rPr lang="en-US" b="1"/>
              <a:t>:</a:t>
            </a:r>
          </a:p>
        </p:txBody>
      </p:sp>
      <p:sp>
        <p:nvSpPr>
          <p:cNvPr id="23" name="Rechteck 11">
            <a:extLst>
              <a:ext uri="{FF2B5EF4-FFF2-40B4-BE49-F238E27FC236}">
                <a16:creationId xmlns:a16="http://schemas.microsoft.com/office/drawing/2014/main" id="{3BB50875-B87D-24B7-A618-B6373E449281}"/>
              </a:ext>
            </a:extLst>
          </p:cNvPr>
          <p:cNvSpPr/>
          <p:nvPr/>
        </p:nvSpPr>
        <p:spPr>
          <a:xfrm>
            <a:off x="606314" y="3220769"/>
            <a:ext cx="29862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1600" err="1"/>
              <a:t>Umsetzung</a:t>
            </a:r>
            <a:r>
              <a:rPr lang="en-US" sz="1600"/>
              <a:t> </a:t>
            </a:r>
            <a:r>
              <a:rPr lang="en-US" sz="1600" err="1"/>
              <a:t>eines</a:t>
            </a:r>
            <a:r>
              <a:rPr lang="en-US" sz="1600"/>
              <a:t> </a:t>
            </a:r>
            <a:r>
              <a:rPr lang="en-US" sz="1600" b="1" err="1"/>
              <a:t>Prüfauftrages</a:t>
            </a:r>
            <a:r>
              <a:rPr lang="en-US" sz="1600" b="1"/>
              <a:t> </a:t>
            </a:r>
            <a:r>
              <a:rPr lang="en-US" sz="1600"/>
              <a:t>für die </a:t>
            </a:r>
            <a:r>
              <a:rPr lang="en-US" sz="1600" b="1" err="1"/>
              <a:t>Konsolidierung</a:t>
            </a:r>
            <a:r>
              <a:rPr lang="en-US" sz="1600" b="1"/>
              <a:t> von </a:t>
            </a:r>
            <a:r>
              <a:rPr lang="en-US" sz="1600" b="1" err="1"/>
              <a:t>Einzellösungen</a:t>
            </a:r>
            <a:r>
              <a:rPr lang="en-US" sz="1600"/>
              <a:t> in </a:t>
            </a:r>
            <a:r>
              <a:rPr lang="en-US" sz="1600" err="1"/>
              <a:t>eine</a:t>
            </a:r>
            <a:r>
              <a:rPr lang="en-US" sz="1600"/>
              <a:t> </a:t>
            </a:r>
          </a:p>
          <a:p>
            <a:pPr lvl="0">
              <a:defRPr/>
            </a:pPr>
            <a:r>
              <a:rPr lang="en-US" sz="1600" err="1"/>
              <a:t>strategische</a:t>
            </a:r>
            <a:r>
              <a:rPr lang="en-US" sz="1600"/>
              <a:t> </a:t>
            </a:r>
            <a:r>
              <a:rPr lang="en-US" sz="1600" err="1"/>
              <a:t>Plattform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</a:t>
            </a:r>
            <a:r>
              <a:rPr lang="en-US" sz="1600" b="1"/>
              <a:t>ServiceNow</a:t>
            </a:r>
          </a:p>
        </p:txBody>
      </p:sp>
      <p:pic>
        <p:nvPicPr>
          <p:cNvPr id="24" name="Grafik 9">
            <a:extLst>
              <a:ext uri="{FF2B5EF4-FFF2-40B4-BE49-F238E27FC236}">
                <a16:creationId xmlns:a16="http://schemas.microsoft.com/office/drawing/2014/main" id="{F7ED6A9B-2B20-82A1-B2A6-C07344154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338" y="2248068"/>
            <a:ext cx="2412000" cy="3841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2FB42-53A8-3B38-6B26-FE92FCFE8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536" y="4994275"/>
            <a:ext cx="2721429" cy="525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954225-519D-353D-C5EB-B8784E445B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855" y="5682342"/>
            <a:ext cx="1552575" cy="609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CD86D7-2C82-B1E0-F948-F9D1B5399E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9139" y="5684157"/>
            <a:ext cx="1363436" cy="23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 SPM – Eine Plattform von der Strategie bis zur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300" b="0" i="1">
                <a:solidFill>
                  <a:srgbClr val="D1D5DB"/>
                </a:solidFill>
                <a:latin typeface="Calibri"/>
              </a:rPr>
              <a:t>Integrierter Leistungsumfang zur Ablösung fragmentierter Einzeltools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" y="647700"/>
            <a:ext cx="2834640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8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Ziele setzen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30880" y="647700"/>
            <a:ext cx="2834640" cy="4191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Priorisieren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02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647700"/>
            <a:ext cx="2834640" cy="41910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Umsetzen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458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22080" y="647700"/>
            <a:ext cx="2834640" cy="419100"/>
          </a:xfrm>
          <a:prstGeom prst="round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16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DELIVER &amp;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Wertbeitrag sichern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10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Strategic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10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Goal Framework / OKR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0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Investment Funding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66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66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Demand Management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66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766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Portfolio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766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Innovation / Idea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Project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Resource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Agile / SAFe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8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78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Application Portfolio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678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678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Benefits / 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8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678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" y="254508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000" b="0" i="1">
                <a:solidFill>
                  <a:srgbClr val="F07F12"/>
                </a:solidFill>
                <a:latin typeface="Calibri"/>
              </a:rPr>
              <a:t>★ Demand = Connector zwischen Backlog und Portfolio  (vgl. Zielbild PPM, Folie 22)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800" y="2743200"/>
            <a:ext cx="11582400" cy="4191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300" y="2781300"/>
            <a:ext cx="304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Plattform-Fundament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2948940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Eine Datenbasis  ·  Workflows  ·  Rollenmodell  ·  Dashboards  ·  KI / Now Assist  ·  Integrationen (SAP, PIT, EV)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800" y="3276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Was leistet ServiceNow SPM – und welchen STIHL-Pain-Point löst 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04800" y="3474720"/>
            <a:ext cx="68580" cy="563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67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7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Strategische Ziele, OKRs und Investitionsrahmen direkt mit dem Portfolio verknüpft.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7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keine durchgängige Priorisierungslogik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72200" y="3474720"/>
            <a:ext cx="68580" cy="563880"/>
          </a:xfrm>
          <a:prstGeom prst="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941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41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Demands, Ideen und Projekte zentral erfassen, bewerten und priorisieren.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41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Parallel-Prozesse, intransparente Gremien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8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04800" y="4114800"/>
            <a:ext cx="68580" cy="56388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67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Execute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7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Klassisches, agiles und hybrides PM inkl. Ressourcen- und Finanzsteuerung in einem System.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67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PIT / MSPO abgekündigt, manuelle Datenhaltung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2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4114800"/>
            <a:ext cx="68580" cy="563880"/>
          </a:xfrm>
          <a:prstGeom prst="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941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Deliver &amp; Run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41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Nutzen-Tracking, Anwendungsportfolio und Live-Reporting für Vorstand und Bereiche.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41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bereichsübergreifende Intransparenz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800" y="48768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57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8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End-to-end statt Insellösung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8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Durchgängiger Prozess von Strategie bis Betrieb – ohne Medienbrüche.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37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2646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37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Standard statt Eigenbau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37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Releasefähige Module, Best-Practice-Workflows; Phase 1: Demand, Strategy, MDM, Portfolio.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026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163559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26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Plattform statt Tool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226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Gemeinsame Datenbasis mit ITSM, EV, Workflows – ausbaubar auf weitere Geschäftsthemen.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Quelle: ServiceNow SPM Pro/Enterprise – Modul-Detail siehe Backup   |   Gartner Magic Quadrant SPM: Leader 2024 / 2025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20758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BC8-C207-B875-E1CE-477F7CA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B845D5-92C4-387E-924E-A9F1C185FD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1425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B845D5-92C4-387E-924E-A9F1C185F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3A5BEF6-C762-0404-DD2D-0EEB3C37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(1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A3A3798C-EF78-A279-9C14-6790F0FF98DD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C0E8782-61AB-06C4-D6E0-11DC652F628C}"/>
              </a:ext>
            </a:extLst>
          </p:cNvPr>
          <p:cNvSpPr/>
          <p:nvPr/>
        </p:nvSpPr>
        <p:spPr>
          <a:xfrm>
            <a:off x="477837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2F8B2E2-45B2-9FC3-366E-88A6C729283F}"/>
              </a:ext>
            </a:extLst>
          </p:cNvPr>
          <p:cNvSpPr/>
          <p:nvPr/>
        </p:nvSpPr>
        <p:spPr>
          <a:xfrm>
            <a:off x="618526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Entwicklung (EWW):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B2F266B-7C93-5F6B-6C2E-D8B8F0BA8673}"/>
              </a:ext>
            </a:extLst>
          </p:cNvPr>
          <p:cNvSpPr/>
          <p:nvPr/>
        </p:nvSpPr>
        <p:spPr>
          <a:xfrm>
            <a:off x="4299801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F2026F5-9182-CE36-D6F9-8ED45D473ECB}"/>
              </a:ext>
            </a:extLst>
          </p:cNvPr>
          <p:cNvSpPr/>
          <p:nvPr/>
        </p:nvSpPr>
        <p:spPr>
          <a:xfrm>
            <a:off x="4440490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Produktion (TGG):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EC924BA-75D1-3D0C-8341-F8800B6DDF3D}"/>
              </a:ext>
            </a:extLst>
          </p:cNvPr>
          <p:cNvSpPr/>
          <p:nvPr/>
        </p:nvSpPr>
        <p:spPr>
          <a:xfrm>
            <a:off x="8121765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769F664-AB94-63F4-A05E-F84253C69F19}"/>
              </a:ext>
            </a:extLst>
          </p:cNvPr>
          <p:cNvSpPr/>
          <p:nvPr/>
        </p:nvSpPr>
        <p:spPr>
          <a:xfrm>
            <a:off x="8262454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IT (VFI):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0C68599-2108-922D-2DE6-BEB8C582DACF}"/>
              </a:ext>
            </a:extLst>
          </p:cNvPr>
          <p:cNvSpPr/>
          <p:nvPr/>
        </p:nvSpPr>
        <p:spPr>
          <a:xfrm>
            <a:off x="477837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1133DD0-6457-B9E5-A408-4C914607CDAB}"/>
              </a:ext>
            </a:extLst>
          </p:cNvPr>
          <p:cNvSpPr/>
          <p:nvPr/>
        </p:nvSpPr>
        <p:spPr>
          <a:xfrm>
            <a:off x="618526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Strategie (SCD):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7BED71-9EF5-B3E7-EDD1-9AEC7AC81D05}"/>
              </a:ext>
            </a:extLst>
          </p:cNvPr>
          <p:cNvSpPr/>
          <p:nvPr/>
        </p:nvSpPr>
        <p:spPr>
          <a:xfrm>
            <a:off x="4299801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8DE8B37-443D-D9C8-C52A-59B4C6F32DB2}"/>
              </a:ext>
            </a:extLst>
          </p:cNvPr>
          <p:cNvSpPr/>
          <p:nvPr/>
        </p:nvSpPr>
        <p:spPr>
          <a:xfrm>
            <a:off x="4440490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Produktmanagement (MPM):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E143F0-01F5-FC80-97BB-EFCBF2CFA8FB}"/>
              </a:ext>
            </a:extLst>
          </p:cNvPr>
          <p:cNvSpPr/>
          <p:nvPr/>
        </p:nvSpPr>
        <p:spPr>
          <a:xfrm>
            <a:off x="8121765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BE85C31-DC0E-35E2-7957-0F81A2168E4A}"/>
              </a:ext>
            </a:extLst>
          </p:cNvPr>
          <p:cNvSpPr/>
          <p:nvPr/>
        </p:nvSpPr>
        <p:spPr>
          <a:xfrm>
            <a:off x="8262454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Finanzen (VFI):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30C497-8CEE-C7D1-A5AB-ECBE9A286C5C}"/>
              </a:ext>
            </a:extLst>
          </p:cNvPr>
          <p:cNvSpPr/>
          <p:nvPr/>
        </p:nvSpPr>
        <p:spPr>
          <a:xfrm>
            <a:off x="618526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Produktprojekte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4E5CD0-1CD9-976E-2C22-01E897951BAE}"/>
              </a:ext>
            </a:extLst>
          </p:cNvPr>
          <p:cNvSpPr/>
          <p:nvPr/>
        </p:nvSpPr>
        <p:spPr>
          <a:xfrm>
            <a:off x="4440490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Infrastrukturprojekte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9C01173-2AB3-EA85-A77A-57B5EAADA04C}"/>
              </a:ext>
            </a:extLst>
          </p:cNvPr>
          <p:cNvSpPr/>
          <p:nvPr/>
        </p:nvSpPr>
        <p:spPr>
          <a:xfrm>
            <a:off x="8262454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IT-Projekte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36AE2DC-A864-60FD-30F1-F929BFBB1612}"/>
              </a:ext>
            </a:extLst>
          </p:cNvPr>
          <p:cNvSpPr/>
          <p:nvPr/>
        </p:nvSpPr>
        <p:spPr>
          <a:xfrm>
            <a:off x="618526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Sonderprojekte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83F7AB9-6956-5BC3-F580-BC1157E50332}"/>
              </a:ext>
            </a:extLst>
          </p:cNvPr>
          <p:cNvSpPr/>
          <p:nvPr/>
        </p:nvSpPr>
        <p:spPr>
          <a:xfrm>
            <a:off x="4440490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Strategische Produktplanung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E11BF2-1401-90F8-CB3E-2EDCF30378C1}"/>
              </a:ext>
            </a:extLst>
          </p:cNvPr>
          <p:cNvSpPr/>
          <p:nvPr/>
        </p:nvSpPr>
        <p:spPr>
          <a:xfrm>
            <a:off x="8262454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EV-Prozess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1160A0F-B740-C57F-144A-49BB9C4BA2C8}"/>
              </a:ext>
            </a:extLst>
          </p:cNvPr>
          <p:cNvSpPr/>
          <p:nvPr/>
        </p:nvSpPr>
        <p:spPr>
          <a:xfrm>
            <a:off x="618527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 (unter Umständen)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Schwerpunkt Ressourcen- &amp; Finanzplanung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Anbietervergleich notwendig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1EA0921-E422-4C75-C91C-3ADBBFF9CF02}"/>
              </a:ext>
            </a:extLst>
          </p:cNvPr>
          <p:cNvSpPr/>
          <p:nvPr/>
        </p:nvSpPr>
        <p:spPr>
          <a:xfrm>
            <a:off x="4440491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Starker Implementierungspartner nötig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E97D1D-1899-E96B-6EAB-11C527696EBD}"/>
              </a:ext>
            </a:extLst>
          </p:cNvPr>
          <p:cNvSpPr/>
          <p:nvPr/>
        </p:nvSpPr>
        <p:spPr>
          <a:xfrm>
            <a:off x="8262455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IT-Szenario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Hohes Potenzial der SNOW-Plattform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Detail-Klärung zur Jahresplanung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6F09F31-EBEC-6467-99F6-B6AD9A1B458C}"/>
              </a:ext>
            </a:extLst>
          </p:cNvPr>
          <p:cNvSpPr/>
          <p:nvPr/>
        </p:nvSpPr>
        <p:spPr>
          <a:xfrm>
            <a:off x="618527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SPM (Portfolio &amp; OKR)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Sauberes Scope- &amp; Rollout-Mgmt nötig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Potenzial: zentrale Datenbasis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D1207F8-8F29-184E-2086-1D86D5ADCE77}"/>
              </a:ext>
            </a:extLst>
          </p:cNvPr>
          <p:cNvSpPr/>
          <p:nvPr/>
        </p:nvSpPr>
        <p:spPr>
          <a:xfrm>
            <a:off x="4440491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SPP Gantt &amp; Bottom-up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Integration LH/CRD → Steckbrief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Durchgängige Kette Strategie → Projekt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96EAE5B-FA08-1DC0-904C-36941BE5AA47}"/>
              </a:ext>
            </a:extLst>
          </p:cNvPr>
          <p:cNvSpPr/>
          <p:nvPr/>
        </p:nvSpPr>
        <p:spPr>
          <a:xfrm>
            <a:off x="8262455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Folge-Workshops zur Schärfung</a:t>
            </a:r>
          </a:p>
        </p:txBody>
      </p:sp>
      <p:graphicFrame>
        <p:nvGraphicFramePr>
          <p:cNvPr id="79" name="Chart 3">
            <a:extLst>
              <a:ext uri="{FF2B5EF4-FFF2-40B4-BE49-F238E27FC236}">
                <a16:creationId xmlns:a16="http://schemas.microsoft.com/office/drawing/2014/main" id="{90813B86-2ABD-C3B0-E533-64F62D1F75E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44053069"/>
              </p:ext>
            </p:extLst>
          </p:nvPr>
        </p:nvGraphicFramePr>
        <p:xfrm>
          <a:off x="2786063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71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31067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2" name="Chart 3">
            <a:extLst>
              <a:ext uri="{FF2B5EF4-FFF2-40B4-BE49-F238E27FC236}">
                <a16:creationId xmlns:a16="http://schemas.microsoft.com/office/drawing/2014/main" id="{E0EC806A-0740-34B8-B983-C4781C26B94A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37267368"/>
              </p:ext>
            </p:extLst>
          </p:nvPr>
        </p:nvGraphicFramePr>
        <p:xfrm>
          <a:off x="6611938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81" name="Textplatzhalter 5">
            <a:extLst>
              <a:ext uri="{FF2B5EF4-FFF2-40B4-BE49-F238E27FC236}">
                <a16:creationId xmlns:a16="http://schemas.microsoft.com/office/drawing/2014/main" id="{27EBA1D3-6048-486A-0B43-6FD37D8F143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932613" y="30813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5" name="Chart 3">
            <a:extLst>
              <a:ext uri="{FF2B5EF4-FFF2-40B4-BE49-F238E27FC236}">
                <a16:creationId xmlns:a16="http://schemas.microsoft.com/office/drawing/2014/main" id="{8D65FA2A-6DBB-4324-6DD2-04DD0332EE45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89157383"/>
              </p:ext>
            </p:extLst>
          </p:nvPr>
        </p:nvGraphicFramePr>
        <p:xfrm>
          <a:off x="10442575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84" name="Textplatzhalter 5">
            <a:extLst>
              <a:ext uri="{FF2B5EF4-FFF2-40B4-BE49-F238E27FC236}">
                <a16:creationId xmlns:a16="http://schemas.microsoft.com/office/drawing/2014/main" id="{C90544E8-D92A-00A7-07B3-D0A46CAD206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07648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2" name="Chart 3">
            <a:extLst>
              <a:ext uri="{FF2B5EF4-FFF2-40B4-BE49-F238E27FC236}">
                <a16:creationId xmlns:a16="http://schemas.microsoft.com/office/drawing/2014/main" id="{A77457C3-80DB-4D36-81AF-C992E31874A5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951138949"/>
              </p:ext>
            </p:extLst>
          </p:nvPr>
        </p:nvGraphicFramePr>
        <p:xfrm>
          <a:off x="2786063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87" name="Textplatzhalter 5">
            <a:extLst>
              <a:ext uri="{FF2B5EF4-FFF2-40B4-BE49-F238E27FC236}">
                <a16:creationId xmlns:a16="http://schemas.microsoft.com/office/drawing/2014/main" id="{2316FF2A-5F8F-2839-7445-11D21671999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31067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3" name="Chart 3">
            <a:extLst>
              <a:ext uri="{FF2B5EF4-FFF2-40B4-BE49-F238E27FC236}">
                <a16:creationId xmlns:a16="http://schemas.microsoft.com/office/drawing/2014/main" id="{362AE09E-DF90-0BE0-C9E9-3BD671613469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695982014"/>
              </p:ext>
            </p:extLst>
          </p:nvPr>
        </p:nvGraphicFramePr>
        <p:xfrm>
          <a:off x="6611938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89" name="Textplatzhalter 5">
            <a:extLst>
              <a:ext uri="{FF2B5EF4-FFF2-40B4-BE49-F238E27FC236}">
                <a16:creationId xmlns:a16="http://schemas.microsoft.com/office/drawing/2014/main" id="{DEB2647E-B5F9-75DC-A6D7-E01E7E35E19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6932613" y="56340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4" name="Chart 3">
            <a:extLst>
              <a:ext uri="{FF2B5EF4-FFF2-40B4-BE49-F238E27FC236}">
                <a16:creationId xmlns:a16="http://schemas.microsoft.com/office/drawing/2014/main" id="{1BD0B514-4E03-3F28-74ED-EC2B620CED84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010025857"/>
              </p:ext>
            </p:extLst>
          </p:nvPr>
        </p:nvGraphicFramePr>
        <p:xfrm>
          <a:off x="10442575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91" name="Textplatzhalter 5">
            <a:extLst>
              <a:ext uri="{FF2B5EF4-FFF2-40B4-BE49-F238E27FC236}">
                <a16:creationId xmlns:a16="http://schemas.microsoft.com/office/drawing/2014/main" id="{B0EBBBF1-DD16-CF51-61F0-8201CBB13DC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07648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60%</a:t>
            </a:r>
            <a:endParaRPr lang="en-US" sz="1600" b="1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000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E5E5-88EB-0C9D-28E4-A87FE014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9D9BFA4-DA9E-D1CA-AFA7-32989077D5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76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D9BFA4-DA9E-D1CA-AFA7-32989077D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17B2F0-BF16-C8D6-FA5A-68FB980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(2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FA105433-185D-3B7E-7DCB-BDB742145204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74ED4-D8CF-5CC8-29B4-2D3C993CA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45" y="3429000"/>
            <a:ext cx="4207416" cy="224117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44498F-074B-437E-414C-4E6ED9286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105" y="2189453"/>
            <a:ext cx="6598920" cy="7467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C03FE41-1C56-1AAE-8205-C37138512625}"/>
              </a:ext>
            </a:extLst>
          </p:cNvPr>
          <p:cNvSpPr/>
          <p:nvPr/>
        </p:nvSpPr>
        <p:spPr>
          <a:xfrm>
            <a:off x="1805940" y="1503144"/>
            <a:ext cx="8580120" cy="387043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 err="1">
                <a:solidFill>
                  <a:schemeClr val="tx1"/>
                </a:solidFill>
              </a:rPr>
              <a:t>Gegenüberstellung</a:t>
            </a:r>
            <a:r>
              <a:rPr lang="en-US" sz="1200" i="1">
                <a:solidFill>
                  <a:schemeClr val="tx1"/>
                </a:solidFill>
              </a:rPr>
              <a:t> SNOW vs B-o-B-Ansatz </a:t>
            </a:r>
            <a:r>
              <a:rPr lang="en-US" sz="1200" i="1" err="1">
                <a:solidFill>
                  <a:schemeClr val="tx1"/>
                </a:solidFill>
              </a:rPr>
              <a:t>inkl</a:t>
            </a:r>
            <a:r>
              <a:rPr lang="en-US" sz="1200" i="1">
                <a:solidFill>
                  <a:schemeClr val="tx1"/>
                </a:solidFill>
              </a:rPr>
              <a:t>. </a:t>
            </a:r>
            <a:r>
              <a:rPr lang="en-US" sz="1200" i="1" err="1">
                <a:solidFill>
                  <a:schemeClr val="tx1"/>
                </a:solidFill>
              </a:rPr>
              <a:t>Finanzielle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Bewertung</a:t>
            </a:r>
            <a:endParaRPr lang="en-US" sz="1200" i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1715-41A3-0225-D6E4-834527716F0E}"/>
              </a:ext>
            </a:extLst>
          </p:cNvPr>
          <p:cNvSpPr txBox="1"/>
          <p:nvPr/>
        </p:nvSpPr>
        <p:spPr>
          <a:xfrm>
            <a:off x="6096000" y="342900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Hinzubringen</a:t>
            </a:r>
            <a:r>
              <a:rPr lang="en-US" sz="1600"/>
              <a:t> der </a:t>
            </a:r>
            <a:r>
              <a:rPr lang="en-US" sz="1600" err="1"/>
              <a:t>externen</a:t>
            </a:r>
            <a:r>
              <a:rPr lang="en-US" sz="1600"/>
              <a:t> </a:t>
            </a:r>
            <a:r>
              <a:rPr lang="en-US" sz="1600" err="1"/>
              <a:t>Analystenmeinung</a:t>
            </a:r>
            <a:r>
              <a:rPr lang="en-US" sz="1600"/>
              <a:t> (Gartner)</a:t>
            </a:r>
          </a:p>
        </p:txBody>
      </p:sp>
    </p:spTree>
    <p:extLst>
      <p:ext uri="{BB962C8B-B14F-4D97-AF65-F5344CB8AC3E}">
        <p14:creationId xmlns:p14="http://schemas.microsoft.com/office/powerpoint/2010/main" val="14558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D0F9DC-0A29-E489-0679-7676DA0636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D0F9DC-0A29-E489-0679-7676DA063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4A9664E-4538-43A0-8D24-AF2F3142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 err="1"/>
              <a:t>Lessons</a:t>
            </a:r>
            <a:r>
              <a:rPr lang="de-DE" sz="2400"/>
              <a:t> Learned MSPO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75EBB-BBF1-CB01-ED89-6DD953D6596D}"/>
              </a:ext>
            </a:extLst>
          </p:cNvPr>
          <p:cNvSpPr txBox="1"/>
          <p:nvPr/>
        </p:nvSpPr>
        <p:spPr>
          <a:xfrm>
            <a:off x="479426" y="1603375"/>
            <a:ext cx="62127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/>
              <a:t>"Mit MS Project Online haben wir versucht, die Organisation und ihre historisch gewachsenen Prozesse mit einem </a:t>
            </a:r>
            <a:r>
              <a:rPr lang="de-DE" sz="1800" b="1"/>
              <a:t>starren Projekt Management Tool </a:t>
            </a:r>
            <a:r>
              <a:rPr lang="de-DE" sz="1800"/>
              <a:t>umzusetzen.</a:t>
            </a:r>
          </a:p>
          <a:p>
            <a:br>
              <a:rPr lang="de-DE" sz="1800"/>
            </a:br>
            <a:r>
              <a:rPr lang="de-DE" sz="1800"/>
              <a:t>Mit ServiceNow gehen wir mit einer</a:t>
            </a:r>
            <a:r>
              <a:rPr lang="de-DE" sz="1800" b="1"/>
              <a:t> flexiblen Plattform </a:t>
            </a:r>
            <a:r>
              <a:rPr lang="de-DE" sz="1800"/>
              <a:t>schrittweise nach </a:t>
            </a:r>
            <a:r>
              <a:rPr lang="de-DE" sz="1800" b="1"/>
              <a:t>Best-Practice Prozessen </a:t>
            </a:r>
            <a:r>
              <a:rPr lang="de-DE" sz="1800"/>
              <a:t>von der </a:t>
            </a:r>
            <a:r>
              <a:rPr lang="de-DE" sz="1800" b="1"/>
              <a:t>strategischen Planung über </a:t>
            </a:r>
            <a:r>
              <a:rPr lang="de-DE" sz="1800"/>
              <a:t>das </a:t>
            </a:r>
            <a:r>
              <a:rPr lang="de-DE" sz="1800" b="1"/>
              <a:t>Produkt / Projekt Portfolio Management </a:t>
            </a:r>
            <a:r>
              <a:rPr lang="de-DE" sz="1800"/>
              <a:t>zum </a:t>
            </a:r>
            <a:r>
              <a:rPr lang="de-DE" sz="1800" b="1"/>
              <a:t>Projekt Management </a:t>
            </a:r>
            <a:r>
              <a:rPr lang="de-DE" sz="1800"/>
              <a:t>. </a:t>
            </a:r>
            <a:br>
              <a:rPr lang="de-DE" sz="1800"/>
            </a:br>
            <a:endParaRPr lang="de-DE" sz="1800"/>
          </a:p>
          <a:p>
            <a:r>
              <a:rPr lang="de-DE" sz="1800"/>
              <a:t>Wir starten dort, wo der größte Mehrwert liegt </a:t>
            </a:r>
            <a:r>
              <a:rPr lang="de-DE" sz="1800" b="1"/>
              <a:t>(Transparenz &amp; Strategie)</a:t>
            </a:r>
            <a:r>
              <a:rPr lang="de-DE" sz="1800"/>
              <a:t>, und lösen das komplexe Projekt und Ressourcenthema prozessual auf dem Weg mit einer schrittweisen Ablöse der bisherigen Einzelsysteme"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E47EC-2999-75CE-045A-0E41901B9646}"/>
              </a:ext>
            </a:extLst>
          </p:cNvPr>
          <p:cNvSpPr txBox="1"/>
          <p:nvPr/>
        </p:nvSpPr>
        <p:spPr>
          <a:xfrm>
            <a:off x="4143983" y="264607"/>
            <a:ext cx="3904034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Ausarbeitung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Workshop am 04.05.2026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EF780-F23F-C545-5801-859E005B07D1}"/>
              </a:ext>
            </a:extLst>
          </p:cNvPr>
          <p:cNvSpPr txBox="1"/>
          <p:nvPr/>
        </p:nvSpPr>
        <p:spPr>
          <a:xfrm>
            <a:off x="6692158" y="1917638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Starres</a:t>
            </a:r>
            <a:r>
              <a:rPr lang="en-US" sz="1600"/>
              <a:t> Tool vs. </a:t>
            </a:r>
            <a:r>
              <a:rPr lang="en-US" sz="1600" err="1"/>
              <a:t>flexibe</a:t>
            </a:r>
            <a:r>
              <a:rPr lang="en-US" sz="1600"/>
              <a:t> </a:t>
            </a:r>
            <a:r>
              <a:rPr lang="en-US" sz="1600" err="1"/>
              <a:t>Workflowplattform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E9C23-CC68-57AA-3202-E00BFDADFDF5}"/>
              </a:ext>
            </a:extLst>
          </p:cNvPr>
          <p:cNvSpPr txBox="1"/>
          <p:nvPr/>
        </p:nvSpPr>
        <p:spPr>
          <a:xfrm>
            <a:off x="6692158" y="294945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Übergreifende</a:t>
            </a:r>
            <a:r>
              <a:rPr lang="en-US" sz="1600"/>
              <a:t> </a:t>
            </a:r>
            <a:r>
              <a:rPr lang="en-US" sz="1600" err="1"/>
              <a:t>Bereitschaft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</a:t>
            </a:r>
            <a:r>
              <a:rPr lang="en-US" sz="1600" err="1"/>
              <a:t>Unternehmen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24D68-FFF6-D289-FF51-8F117A3A769E}"/>
              </a:ext>
            </a:extLst>
          </p:cNvPr>
          <p:cNvSpPr txBox="1"/>
          <p:nvPr/>
        </p:nvSpPr>
        <p:spPr>
          <a:xfrm>
            <a:off x="6692158" y="3643522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Kompletter</a:t>
            </a:r>
            <a:r>
              <a:rPr lang="en-US" sz="1600"/>
              <a:t> </a:t>
            </a:r>
            <a:r>
              <a:rPr lang="en-US" sz="1600" err="1"/>
              <a:t>Prozess</a:t>
            </a:r>
            <a:r>
              <a:rPr lang="en-US" sz="1600"/>
              <a:t> </a:t>
            </a:r>
            <a:r>
              <a:rPr lang="en-US" sz="1600">
                <a:sym typeface="Wingdings" panose="05000000000000000000" pitchFamily="2" charset="2"/>
              </a:rPr>
              <a:t> </a:t>
            </a:r>
            <a:r>
              <a:rPr lang="en-US" sz="1600" err="1">
                <a:sym typeface="Wingdings" panose="05000000000000000000" pitchFamily="2" charset="2"/>
              </a:rPr>
              <a:t>Vorgehen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70467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EF4B-BEF7-F53E-9B0D-B94E1FFA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82F1C-E5A9-D66D-474B-A64B10A2E0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82F1C-E5A9-D66D-474B-A64B10A2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EB0D8A-7A7F-B77D-E2D0-FE2F32E3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Weiteres Vorgehen SNOW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E83CB1-2967-1798-18CF-6E670DBA0AC7}"/>
              </a:ext>
            </a:extLst>
          </p:cNvPr>
          <p:cNvSpPr/>
          <p:nvPr/>
        </p:nvSpPr>
        <p:spPr>
          <a:xfrm>
            <a:off x="479426" y="1603375"/>
            <a:ext cx="780351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GANTT Chart für </a:t>
            </a:r>
            <a:r>
              <a:rPr lang="en-US" sz="1200" i="1" err="1">
                <a:solidFill>
                  <a:schemeClr val="tx1"/>
                </a:solidFill>
              </a:rPr>
              <a:t>Folgeprojekt</a:t>
            </a:r>
            <a:r>
              <a:rPr lang="en-US" sz="1200" i="1">
                <a:solidFill>
                  <a:schemeClr val="tx1"/>
                </a:solidFill>
              </a:rPr>
              <a:t> SNOW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ECC553-C386-E85E-7366-FAB0D129AF29}"/>
              </a:ext>
            </a:extLst>
          </p:cNvPr>
          <p:cNvSpPr/>
          <p:nvPr/>
        </p:nvSpPr>
        <p:spPr>
          <a:xfrm>
            <a:off x="8968740" y="1603375"/>
            <a:ext cx="274383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“</a:t>
            </a:r>
            <a:r>
              <a:rPr lang="en-US" sz="1200" i="1" err="1">
                <a:solidFill>
                  <a:schemeClr val="tx1"/>
                </a:solidFill>
              </a:rPr>
              <a:t>Beschlussvorlage</a:t>
            </a:r>
            <a:r>
              <a:rPr lang="en-US" sz="1200" i="1">
                <a:solidFill>
                  <a:schemeClr val="tx1"/>
                </a:solidFill>
              </a:rPr>
              <a:t>” </a:t>
            </a:r>
            <a:r>
              <a:rPr lang="en-US" sz="1200" i="1" err="1">
                <a:solidFill>
                  <a:schemeClr val="tx1"/>
                </a:solidFill>
              </a:rPr>
              <a:t>mit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Empfehlung</a:t>
            </a:r>
            <a:r>
              <a:rPr lang="en-US" sz="1200" i="1">
                <a:solidFill>
                  <a:schemeClr val="tx1"/>
                </a:solidFill>
              </a:rPr>
              <a:t>, dies 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beauftragen</a:t>
            </a:r>
            <a:r>
              <a:rPr lang="en-US" sz="1200" i="1">
                <a:solidFill>
                  <a:schemeClr val="tx1"/>
                </a:solidFill>
              </a:rPr>
              <a:t>/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tun</a:t>
            </a:r>
          </a:p>
        </p:txBody>
      </p:sp>
    </p:spTree>
    <p:extLst>
      <p:ext uri="{BB962C8B-B14F-4D97-AF65-F5344CB8AC3E}">
        <p14:creationId xmlns:p14="http://schemas.microsoft.com/office/powerpoint/2010/main" val="2750378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C3F3-5067-1BE9-55CC-DABF7394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094872D-196C-2387-D8DE-EFB4DF6D145F}"/>
              </a:ext>
            </a:extLst>
          </p:cNvPr>
          <p:cNvSpPr/>
          <p:nvPr/>
        </p:nvSpPr>
        <p:spPr>
          <a:xfrm>
            <a:off x="479426" y="1497454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2026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E8FF355-9C34-9543-E070-23265AD29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97BA85A9-289C-44B3-4F60-40374F8953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7" name="Stern: 5 Zacken 6">
            <a:extLst>
              <a:ext uri="{FF2B5EF4-FFF2-40B4-BE49-F238E27FC236}">
                <a16:creationId xmlns:a16="http://schemas.microsoft.com/office/drawing/2014/main" id="{D3702B8A-09C6-5DD7-AC34-232AF37DBDF8}"/>
              </a:ext>
            </a:extLst>
          </p:cNvPr>
          <p:cNvSpPr/>
          <p:nvPr/>
        </p:nvSpPr>
        <p:spPr>
          <a:xfrm>
            <a:off x="908708" y="212510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5F09A99-8CA0-2F60-E3D5-7A1F57C07D65}"/>
              </a:ext>
            </a:extLst>
          </p:cNvPr>
          <p:cNvSpPr txBox="1"/>
          <p:nvPr/>
        </p:nvSpPr>
        <p:spPr>
          <a:xfrm>
            <a:off x="615519" y="2442945"/>
            <a:ext cx="1210945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PPB 08.04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4FF74684-0881-AFD7-5B67-531217B8F902}"/>
              </a:ext>
            </a:extLst>
          </p:cNvPr>
          <p:cNvSpPr txBox="1"/>
          <p:nvPr/>
        </p:nvSpPr>
        <p:spPr>
          <a:xfrm>
            <a:off x="7282081" y="4478093"/>
            <a:ext cx="1549045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Kick-off</a:t>
            </a:r>
            <a:br>
              <a:rPr lang="de-DE" sz="1600" b="1">
                <a:solidFill>
                  <a:prstClr val="black"/>
                </a:solidFill>
                <a:latin typeface="STIHL Contraface Text"/>
              </a:rPr>
            </a:br>
            <a:r>
              <a:rPr lang="de-DE" sz="1600" b="1">
                <a:solidFill>
                  <a:prstClr val="black"/>
                </a:solidFill>
                <a:latin typeface="STIHL Contraface Text"/>
              </a:rPr>
              <a:t>Project Phase 1 Q3/Q4</a:t>
            </a: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31" name="Pfeil nach oben 18">
            <a:extLst>
              <a:ext uri="{FF2B5EF4-FFF2-40B4-BE49-F238E27FC236}">
                <a16:creationId xmlns:a16="http://schemas.microsoft.com/office/drawing/2014/main" id="{53CA70BA-2FB4-00C4-0D2C-FF699B34EAE8}"/>
              </a:ext>
            </a:extLst>
          </p:cNvPr>
          <p:cNvSpPr/>
          <p:nvPr/>
        </p:nvSpPr>
        <p:spPr>
          <a:xfrm>
            <a:off x="7908187" y="4185921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2" name="Chevron 14">
            <a:extLst>
              <a:ext uri="{FF2B5EF4-FFF2-40B4-BE49-F238E27FC236}">
                <a16:creationId xmlns:a16="http://schemas.microsoft.com/office/drawing/2014/main" id="{6658A6D1-AE27-B3DB-4A01-CCF0283B0BE0}"/>
              </a:ext>
            </a:extLst>
          </p:cNvPr>
          <p:cNvSpPr/>
          <p:nvPr/>
        </p:nvSpPr>
        <p:spPr>
          <a:xfrm>
            <a:off x="4447974" y="2648824"/>
            <a:ext cx="1706559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Stakeholder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Management&amp;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Entscheidung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3" name="Chevron 14">
            <a:extLst>
              <a:ext uri="{FF2B5EF4-FFF2-40B4-BE49-F238E27FC236}">
                <a16:creationId xmlns:a16="http://schemas.microsoft.com/office/drawing/2014/main" id="{0608F847-0FF3-0572-AC79-44B3CDD7DDA1}"/>
              </a:ext>
            </a:extLst>
          </p:cNvPr>
          <p:cNvSpPr/>
          <p:nvPr/>
        </p:nvSpPr>
        <p:spPr>
          <a:xfrm>
            <a:off x="1101213" y="2638847"/>
            <a:ext cx="3557551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Auftragsklärung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Planung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der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Phasen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und Kosten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4" name="Stern: 5 Zacken 43">
            <a:extLst>
              <a:ext uri="{FF2B5EF4-FFF2-40B4-BE49-F238E27FC236}">
                <a16:creationId xmlns:a16="http://schemas.microsoft.com/office/drawing/2014/main" id="{C68D4119-E451-7BB9-183F-42870641D14F}"/>
              </a:ext>
            </a:extLst>
          </p:cNvPr>
          <p:cNvSpPr/>
          <p:nvPr/>
        </p:nvSpPr>
        <p:spPr>
          <a:xfrm>
            <a:off x="7079550" y="213651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C19101E6-D84D-1EB2-4FB7-C2CF82B06824}"/>
              </a:ext>
            </a:extLst>
          </p:cNvPr>
          <p:cNvSpPr txBox="1"/>
          <p:nvPr/>
        </p:nvSpPr>
        <p:spPr>
          <a:xfrm>
            <a:off x="5785569" y="2450481"/>
            <a:ext cx="2603868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Jahres –Planung 01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.0</a:t>
            </a:r>
            <a:r>
              <a:rPr lang="de-DE" sz="1600" b="1">
                <a:solidFill>
                  <a:prstClr val="black"/>
                </a:solidFill>
                <a:latin typeface="STIHL Contraface Text"/>
              </a:rPr>
              <a:t>9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.2026</a:t>
            </a:r>
          </a:p>
        </p:txBody>
      </p:sp>
      <p:sp>
        <p:nvSpPr>
          <p:cNvPr id="46" name="Chevron 14">
            <a:extLst>
              <a:ext uri="{FF2B5EF4-FFF2-40B4-BE49-F238E27FC236}">
                <a16:creationId xmlns:a16="http://schemas.microsoft.com/office/drawing/2014/main" id="{06D80502-AC64-A986-C35A-C0B500464283}"/>
              </a:ext>
            </a:extLst>
          </p:cNvPr>
          <p:cNvSpPr/>
          <p:nvPr/>
        </p:nvSpPr>
        <p:spPr>
          <a:xfrm>
            <a:off x="8056605" y="3417615"/>
            <a:ext cx="3386801" cy="591027"/>
          </a:xfrm>
          <a:prstGeom prst="chevron">
            <a:avLst/>
          </a:prstGeom>
          <a:solidFill>
            <a:srgbClr val="92D050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1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 err="1">
                <a:solidFill>
                  <a:prstClr val="white"/>
                </a:solidFill>
              </a:rPr>
              <a:t>Konzeption</a:t>
            </a:r>
            <a:r>
              <a:rPr lang="en-US" sz="1050">
                <a:solidFill>
                  <a:prstClr val="white"/>
                </a:solidFill>
              </a:rPr>
              <a:t> &amp; </a:t>
            </a:r>
            <a:r>
              <a:rPr lang="en-US" sz="1050" err="1">
                <a:solidFill>
                  <a:prstClr val="white"/>
                </a:solidFill>
              </a:rPr>
              <a:t>Umsetzung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>
                <a:solidFill>
                  <a:prstClr val="white"/>
                </a:solidFill>
              </a:rPr>
              <a:t> </a:t>
            </a:r>
            <a:r>
              <a:rPr lang="en-US" sz="1050" err="1">
                <a:solidFill>
                  <a:prstClr val="white"/>
                </a:solidFill>
              </a:rPr>
              <a:t>Demand,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Strategy,MDM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,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Portfolio,Workflows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8" name="Chevron 14">
            <a:extLst>
              <a:ext uri="{FF2B5EF4-FFF2-40B4-BE49-F238E27FC236}">
                <a16:creationId xmlns:a16="http://schemas.microsoft.com/office/drawing/2014/main" id="{EC685A8F-E499-1E22-AA7C-9D5E3AB2052E}"/>
              </a:ext>
            </a:extLst>
          </p:cNvPr>
          <p:cNvSpPr/>
          <p:nvPr/>
        </p:nvSpPr>
        <p:spPr>
          <a:xfrm>
            <a:off x="5961416" y="5341576"/>
            <a:ext cx="1706559" cy="591027"/>
          </a:xfrm>
          <a:prstGeom prst="chevron">
            <a:avLst/>
          </a:prstGeom>
          <a:solidFill>
            <a:schemeClr val="tx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ServiceNow Budgetierung</a:t>
            </a: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446BC23D-8AE6-3AE6-E88B-D614EDE0B0C1}"/>
              </a:ext>
            </a:extLst>
          </p:cNvPr>
          <p:cNvSpPr/>
          <p:nvPr/>
        </p:nvSpPr>
        <p:spPr>
          <a:xfrm>
            <a:off x="7462685" y="5341576"/>
            <a:ext cx="3535472" cy="591027"/>
          </a:xfrm>
          <a:prstGeom prst="chevron">
            <a:avLst/>
          </a:prstGeom>
          <a:solidFill>
            <a:schemeClr val="tx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ServiceNow Contract Renewal</a:t>
            </a:r>
          </a:p>
        </p:txBody>
      </p:sp>
      <p:sp>
        <p:nvSpPr>
          <p:cNvPr id="50" name="Chevron 14">
            <a:extLst>
              <a:ext uri="{FF2B5EF4-FFF2-40B4-BE49-F238E27FC236}">
                <a16:creationId xmlns:a16="http://schemas.microsoft.com/office/drawing/2014/main" id="{BA0006F6-8720-9137-1A5A-4278B8D18D68}"/>
              </a:ext>
            </a:extLst>
          </p:cNvPr>
          <p:cNvSpPr/>
          <p:nvPr/>
        </p:nvSpPr>
        <p:spPr>
          <a:xfrm>
            <a:off x="5943120" y="2653688"/>
            <a:ext cx="1405367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Budget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Planung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51" name="Chevron 14">
            <a:extLst>
              <a:ext uri="{FF2B5EF4-FFF2-40B4-BE49-F238E27FC236}">
                <a16:creationId xmlns:a16="http://schemas.microsoft.com/office/drawing/2014/main" id="{AC4BCA12-7E2F-87CF-3A39-88B32A9075D3}"/>
              </a:ext>
            </a:extLst>
          </p:cNvPr>
          <p:cNvSpPr/>
          <p:nvPr/>
        </p:nvSpPr>
        <p:spPr>
          <a:xfrm>
            <a:off x="4216842" y="3414690"/>
            <a:ext cx="2168822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Partnerauswahl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(ServiceNow SPM)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52" name="Chevron 14">
            <a:extLst>
              <a:ext uri="{FF2B5EF4-FFF2-40B4-BE49-F238E27FC236}">
                <a16:creationId xmlns:a16="http://schemas.microsoft.com/office/drawing/2014/main" id="{4311418E-0396-BD3B-033A-D810C3959D2A}"/>
              </a:ext>
            </a:extLst>
          </p:cNvPr>
          <p:cNvSpPr/>
          <p:nvPr/>
        </p:nvSpPr>
        <p:spPr>
          <a:xfrm>
            <a:off x="1405531" y="4284503"/>
            <a:ext cx="4384913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Alternative Projekt Management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Plattform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>
                <a:solidFill>
                  <a:prstClr val="white"/>
                </a:solidFill>
                <a:latin typeface="STIHL Contraface Text"/>
              </a:rPr>
              <a:t>(VEW, VPM)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3" name="Stern: 5 Zacken 2">
            <a:extLst>
              <a:ext uri="{FF2B5EF4-FFF2-40B4-BE49-F238E27FC236}">
                <a16:creationId xmlns:a16="http://schemas.microsoft.com/office/drawing/2014/main" id="{3D7A00C7-AD82-5AF8-E97D-B18F1B89FBA8}"/>
              </a:ext>
            </a:extLst>
          </p:cNvPr>
          <p:cNvSpPr/>
          <p:nvPr/>
        </p:nvSpPr>
        <p:spPr>
          <a:xfrm>
            <a:off x="3293767" y="216639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AF6CB83-1C24-2413-7E83-544C1E0FD44A}"/>
              </a:ext>
            </a:extLst>
          </p:cNvPr>
          <p:cNvSpPr txBox="1"/>
          <p:nvPr/>
        </p:nvSpPr>
        <p:spPr>
          <a:xfrm>
            <a:off x="3611369" y="2363185"/>
            <a:ext cx="1210945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VS 18.05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1266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EF763-00AC-AFD5-FB35-2DBDB22AC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B6E3A34B-D8D9-91E8-65EC-DB22B310E2C2}"/>
              </a:ext>
            </a:extLst>
          </p:cNvPr>
          <p:cNvSpPr/>
          <p:nvPr/>
        </p:nvSpPr>
        <p:spPr>
          <a:xfrm>
            <a:off x="479426" y="1531087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2027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E36681-9627-33D7-1FE8-8AC28349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F1B7F023-C26E-E39D-69D4-4F7C9082B5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46" name="Chevron 14">
            <a:extLst>
              <a:ext uri="{FF2B5EF4-FFF2-40B4-BE49-F238E27FC236}">
                <a16:creationId xmlns:a16="http://schemas.microsoft.com/office/drawing/2014/main" id="{4ECC3A73-A8C6-334C-18B1-838E3A39E66D}"/>
              </a:ext>
            </a:extLst>
          </p:cNvPr>
          <p:cNvSpPr/>
          <p:nvPr/>
        </p:nvSpPr>
        <p:spPr>
          <a:xfrm>
            <a:off x="617553" y="2337440"/>
            <a:ext cx="5960228" cy="591027"/>
          </a:xfrm>
          <a:prstGeom prst="chevron">
            <a:avLst/>
          </a:prstGeom>
          <a:solidFill>
            <a:srgbClr val="92D050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1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 err="1">
                <a:solidFill>
                  <a:prstClr val="white"/>
                </a:solidFill>
              </a:rPr>
              <a:t>Umsetzung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>
                <a:solidFill>
                  <a:prstClr val="white"/>
                </a:solidFill>
                <a:latin typeface="STIHL Contraface Text"/>
              </a:rPr>
              <a:t>Demand, MDM, Strategy, Portfolio, Workflows</a:t>
            </a:r>
            <a:r>
              <a:rPr lang="en-US" sz="1050">
                <a:solidFill>
                  <a:srgbClr val="FF0000"/>
                </a:solidFill>
                <a:latin typeface="STIHL Contraface Text"/>
              </a:rPr>
              <a:t>, PIT-</a:t>
            </a:r>
            <a:r>
              <a:rPr lang="en-US" sz="1050" err="1">
                <a:solidFill>
                  <a:srgbClr val="FF0000"/>
                </a:solidFill>
                <a:latin typeface="STIHL Contraface Text"/>
              </a:rPr>
              <a:t>Schnittstelle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E89847A3-6EFB-2796-CB1D-EEB725E29DFA}"/>
              </a:ext>
            </a:extLst>
          </p:cNvPr>
          <p:cNvSpPr/>
          <p:nvPr/>
        </p:nvSpPr>
        <p:spPr>
          <a:xfrm>
            <a:off x="4991878" y="3338507"/>
            <a:ext cx="6128406" cy="591027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2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Konzeption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&amp;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Umsetzung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Project Management (Org-Projekte, PEP, VPM, Portfolio)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B2DEB63-E7A0-0C37-63C7-C59BA69166D1}"/>
              </a:ext>
            </a:extLst>
          </p:cNvPr>
          <p:cNvSpPr txBox="1"/>
          <p:nvPr/>
        </p:nvSpPr>
        <p:spPr>
          <a:xfrm>
            <a:off x="7986921" y="4200917"/>
            <a:ext cx="1549045" cy="443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Go Live</a:t>
            </a:r>
            <a:b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de-DE" sz="16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Org</a:t>
            </a:r>
            <a:r>
              <a:rPr lang="de-DE" sz="1600" b="1">
                <a:solidFill>
                  <a:prstClr val="black"/>
                </a:solidFill>
                <a:latin typeface="STIHL Contraface Text"/>
              </a:rPr>
              <a:t>+IT Projekte</a:t>
            </a: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" name="Pfeil nach oben 18">
            <a:extLst>
              <a:ext uri="{FF2B5EF4-FFF2-40B4-BE49-F238E27FC236}">
                <a16:creationId xmlns:a16="http://schemas.microsoft.com/office/drawing/2014/main" id="{A353EE3A-38A7-429C-5BA8-051CAD0204C0}"/>
              </a:ext>
            </a:extLst>
          </p:cNvPr>
          <p:cNvSpPr/>
          <p:nvPr/>
        </p:nvSpPr>
        <p:spPr>
          <a:xfrm>
            <a:off x="8613027" y="3929534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2814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47358-71C1-13FF-F052-602B50E8F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2224B03D-BD14-908C-A8F5-785D7A41B0FD}"/>
              </a:ext>
            </a:extLst>
          </p:cNvPr>
          <p:cNvSpPr/>
          <p:nvPr/>
        </p:nvSpPr>
        <p:spPr>
          <a:xfrm>
            <a:off x="479426" y="1531087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2028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ED0382-F54D-BA1B-1F8F-237A16EBA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17BCD696-D5A0-AA34-1971-6D3DBEA0AF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54A47D6C-8435-A74D-535A-67724100826A}"/>
              </a:ext>
            </a:extLst>
          </p:cNvPr>
          <p:cNvSpPr/>
          <p:nvPr/>
        </p:nvSpPr>
        <p:spPr>
          <a:xfrm>
            <a:off x="399209" y="2431348"/>
            <a:ext cx="6561428" cy="591027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2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Konzeption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&amp;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Umsetzung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Project Management (PEP, VPM, Portfolio) +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Zusatzthemen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(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Maßnahmen-Managemt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….)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5E5E01B-FC0C-D18B-595A-AF2F2303A992}"/>
              </a:ext>
            </a:extLst>
          </p:cNvPr>
          <p:cNvSpPr txBox="1"/>
          <p:nvPr/>
        </p:nvSpPr>
        <p:spPr>
          <a:xfrm>
            <a:off x="6186113" y="3700383"/>
            <a:ext cx="1549045" cy="443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Go Live</a:t>
            </a:r>
            <a:b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VEW/VPM</a:t>
            </a:r>
          </a:p>
        </p:txBody>
      </p:sp>
      <p:sp>
        <p:nvSpPr>
          <p:cNvPr id="4" name="Pfeil nach oben 18">
            <a:extLst>
              <a:ext uri="{FF2B5EF4-FFF2-40B4-BE49-F238E27FC236}">
                <a16:creationId xmlns:a16="http://schemas.microsoft.com/office/drawing/2014/main" id="{14FE66C2-7303-34AB-B315-0C97E554B302}"/>
              </a:ext>
            </a:extLst>
          </p:cNvPr>
          <p:cNvSpPr/>
          <p:nvPr/>
        </p:nvSpPr>
        <p:spPr>
          <a:xfrm>
            <a:off x="6812219" y="3429000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664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C1877D97-8BFD-8283-1981-2250D5B57A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70" imgH="371" progId="TCLayout.ActiveDocument.1">
                  <p:embed/>
                </p:oleObj>
              </mc:Choice>
              <mc:Fallback>
                <p:oleObj name="think-cell Slide" r:id="rId5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410E87-BFFA-41C1-BE52-E67DD581A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5499656"/>
            <a:ext cx="7812088" cy="671274"/>
          </a:xfrm>
        </p:spPr>
        <p:txBody>
          <a:bodyPr/>
          <a:lstStyle/>
          <a:p>
            <a:r>
              <a:rPr lang="de-DE"/>
              <a:t>Vielen Dank</a:t>
            </a:r>
          </a:p>
        </p:txBody>
      </p:sp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CF4DCC0-6205-DA53-CC3B-7CAA3EBBB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77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B34AF4-2270-F99D-2A26-82D1E588A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972CF5-26F3-88BE-98C6-7F379B488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F6FE75-A0BC-9256-E90F-2450989E8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25A8F2-D526-370B-79C8-F3F2C62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Ein Bild, das Screenshot, Kunst, Muster, Design enthält.&#10;&#10;Automatisch generierte Beschreibung">
            <a:extLst>
              <a:ext uri="{FF2B5EF4-FFF2-40B4-BE49-F238E27FC236}">
                <a16:creationId xmlns:a16="http://schemas.microsoft.com/office/drawing/2014/main" id="{F9F59998-C27D-727C-FDD0-13F6C93030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2043186"/>
            <a:ext cx="7648899" cy="481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75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426" y="503546"/>
            <a:ext cx="8664574" cy="304699"/>
          </a:xfrm>
        </p:spPr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197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kt 28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9" name="Objek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err="1"/>
              <a:t>Zielsetzung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A421FE-8A25-4769-A39E-2146C9832413}"/>
              </a:ext>
            </a:extLst>
          </p:cNvPr>
          <p:cNvSpPr txBox="1"/>
          <p:nvPr/>
        </p:nvSpPr>
        <p:spPr>
          <a:xfrm>
            <a:off x="479426" y="6340250"/>
            <a:ext cx="1317668" cy="11080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① </a:t>
            </a:r>
            <a:r>
              <a:rPr lang="de-DE" sz="800" err="1"/>
              <a:t>Please</a:t>
            </a:r>
            <a:r>
              <a:rPr lang="de-DE" sz="800"/>
              <a:t> </a:t>
            </a:r>
            <a:r>
              <a:rPr lang="de-DE" sz="800" err="1"/>
              <a:t>insert</a:t>
            </a:r>
            <a:r>
              <a:rPr lang="de-DE" sz="800"/>
              <a:t> </a:t>
            </a:r>
            <a:r>
              <a:rPr lang="de-DE" sz="800" err="1"/>
              <a:t>footnote</a:t>
            </a:r>
            <a:r>
              <a:rPr lang="de-DE" sz="800"/>
              <a:t> </a:t>
            </a:r>
            <a:r>
              <a:rPr lang="de-DE" sz="800" err="1"/>
              <a:t>here</a:t>
            </a:r>
            <a:endParaRPr lang="de-DE" sz="800"/>
          </a:p>
        </p:txBody>
      </p:sp>
      <p:sp>
        <p:nvSpPr>
          <p:cNvPr id="5" name="RbLeanShape Left U-Shape 13"/>
          <p:cNvSpPr/>
          <p:nvPr/>
        </p:nvSpPr>
        <p:spPr>
          <a:xfrm flipH="1">
            <a:off x="4305307" y="1612900"/>
            <a:ext cx="7408856" cy="454025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2222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fontAlgn="ctr">
              <a:lnSpc>
                <a:spcPct val="90000"/>
              </a:lnSpc>
              <a:spcBef>
                <a:spcPts val="600"/>
              </a:spcBef>
            </a:pPr>
            <a:endParaRPr lang="de-DE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Rectangle 17"/>
          <p:cNvSpPr/>
          <p:nvPr/>
        </p:nvSpPr>
        <p:spPr>
          <a:xfrm flipH="1">
            <a:off x="4215024" y="2435427"/>
            <a:ext cx="178265" cy="289519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10800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de-DE" sz="1400" b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354" r="11368" b="15876"/>
          <a:stretch/>
        </p:blipFill>
        <p:spPr>
          <a:xfrm>
            <a:off x="479425" y="2608834"/>
            <a:ext cx="3984999" cy="2548382"/>
          </a:xfrm>
          <a:prstGeom prst="rect">
            <a:avLst/>
          </a:prstGeom>
        </p:spPr>
      </p:pic>
      <p:sp>
        <p:nvSpPr>
          <p:cNvPr id="9" name="Textframe 5"/>
          <p:cNvSpPr txBox="1"/>
          <p:nvPr/>
        </p:nvSpPr>
        <p:spPr>
          <a:xfrm>
            <a:off x="4837613" y="2606304"/>
            <a:ext cx="6874960" cy="44319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de-DE" sz="3200" b="1">
                <a:solidFill>
                  <a:schemeClr val="accent2"/>
                </a:solidFill>
                <a:latin typeface="+mj-lt"/>
                <a:cs typeface="Arial Narrow" pitchFamily="34" charset="0"/>
              </a:rPr>
              <a:t>Zielsetzung des heutigen Termins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37614" y="3305750"/>
            <a:ext cx="6876549" cy="747897"/>
            <a:chOff x="4837614" y="2589536"/>
            <a:chExt cx="6876549" cy="747897"/>
          </a:xfrm>
        </p:grpSpPr>
        <p:sp>
          <p:nvSpPr>
            <p:cNvPr id="11" name="Textframe 10"/>
            <p:cNvSpPr txBox="1"/>
            <p:nvPr/>
          </p:nvSpPr>
          <p:spPr>
            <a:xfrm>
              <a:off x="4837614" y="2741884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1</a:t>
              </a:r>
            </a:p>
          </p:txBody>
        </p:sp>
        <p:sp>
          <p:nvSpPr>
            <p:cNvPr id="12" name="Textframe 10"/>
            <p:cNvSpPr txBox="1"/>
            <p:nvPr/>
          </p:nvSpPr>
          <p:spPr>
            <a:xfrm>
              <a:off x="5293178" y="2589536"/>
              <a:ext cx="6420985" cy="74789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de-DE"/>
                <a:t>Gemeinsames Verständnis zu den Herausforderungen im Strategischen Projektportfolio Management (für Sonderprojekte in der STIHL Gruppe) schaffen.</a:t>
              </a:r>
            </a:p>
          </p:txBody>
        </p:sp>
      </p:grpSp>
      <p:cxnSp>
        <p:nvCxnSpPr>
          <p:cNvPr id="16" name="Straight Connector 22"/>
          <p:cNvCxnSpPr>
            <a:cxnSpLocks/>
          </p:cNvCxnSpPr>
          <p:nvPr/>
        </p:nvCxnSpPr>
        <p:spPr>
          <a:xfrm>
            <a:off x="5293178" y="4309895"/>
            <a:ext cx="642098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/>
        </p:nvGrpSpPr>
        <p:grpSpPr>
          <a:xfrm>
            <a:off x="4837614" y="4566142"/>
            <a:ext cx="6876549" cy="498598"/>
            <a:chOff x="4837614" y="3649159"/>
            <a:chExt cx="6876549" cy="498598"/>
          </a:xfrm>
        </p:grpSpPr>
        <p:sp>
          <p:nvSpPr>
            <p:cNvPr id="18" name="Textframe 10"/>
            <p:cNvSpPr txBox="1"/>
            <p:nvPr/>
          </p:nvSpPr>
          <p:spPr>
            <a:xfrm>
              <a:off x="4837614" y="3676858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2</a:t>
              </a:r>
            </a:p>
          </p:txBody>
        </p:sp>
        <p:sp>
          <p:nvSpPr>
            <p:cNvPr id="19" name="Textframe 10"/>
            <p:cNvSpPr txBox="1"/>
            <p:nvPr/>
          </p:nvSpPr>
          <p:spPr>
            <a:xfrm>
              <a:off x="5293178" y="3649159"/>
              <a:ext cx="6420985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buSzPct val="100000"/>
              </a:pPr>
              <a:r>
                <a:rPr lang="de-DE"/>
                <a:t>Überblick zur Einführung der Software-Plattform </a:t>
              </a:r>
              <a:r>
                <a:rPr lang="de-DE" err="1"/>
                <a:t>servicenow</a:t>
              </a:r>
              <a:r>
                <a:rPr lang="de-DE"/>
                <a:t> geben.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284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hteck 84">
            <a:extLst>
              <a:ext uri="{FF2B5EF4-FFF2-40B4-BE49-F238E27FC236}">
                <a16:creationId xmlns:a16="http://schemas.microsoft.com/office/drawing/2014/main" id="{3B8867A5-287F-7288-D886-5F9C82B95DBC}"/>
              </a:ext>
            </a:extLst>
          </p:cNvPr>
          <p:cNvSpPr/>
          <p:nvPr/>
        </p:nvSpPr>
        <p:spPr>
          <a:xfrm>
            <a:off x="4909253" y="5683842"/>
            <a:ext cx="4336348" cy="10522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75D601FE-0E3B-2296-C4D5-16DBA17A9543}"/>
              </a:ext>
            </a:extLst>
          </p:cNvPr>
          <p:cNvSpPr/>
          <p:nvPr/>
        </p:nvSpPr>
        <p:spPr>
          <a:xfrm>
            <a:off x="156434" y="4153649"/>
            <a:ext cx="9075152" cy="1283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F51B70-074D-3DB2-5003-C6EA184B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</a:t>
            </a:r>
          </a:p>
        </p:txBody>
      </p:sp>
      <p:sp>
        <p:nvSpPr>
          <p:cNvPr id="174" name="Freihandform: Form 173">
            <a:extLst>
              <a:ext uri="{FF2B5EF4-FFF2-40B4-BE49-F238E27FC236}">
                <a16:creationId xmlns:a16="http://schemas.microsoft.com/office/drawing/2014/main" id="{9AD1DB6D-DC5E-6069-007C-63726EA2F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448" y="1206441"/>
            <a:ext cx="9075152" cy="1656000"/>
          </a:xfrm>
          <a:custGeom>
            <a:avLst/>
            <a:gdLst>
              <a:gd name="csX0" fmla="*/ 0 w 9075152"/>
              <a:gd name="csY0" fmla="*/ 0 h 1656000"/>
              <a:gd name="csX1" fmla="*/ 9075152 w 9075152"/>
              <a:gd name="csY1" fmla="*/ 0 h 1656000"/>
              <a:gd name="csX2" fmla="*/ 9075152 w 9075152"/>
              <a:gd name="csY2" fmla="*/ 1074601 h 1656000"/>
              <a:gd name="csX3" fmla="*/ 3963159 w 9075152"/>
              <a:gd name="csY3" fmla="*/ 1074601 h 1656000"/>
              <a:gd name="csX4" fmla="*/ 3963159 w 9075152"/>
              <a:gd name="csY4" fmla="*/ 1656000 h 1656000"/>
              <a:gd name="csX5" fmla="*/ 0 w 9075152"/>
              <a:gd name="csY5" fmla="*/ 1656000 h 165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075152" h="1656000">
                <a:moveTo>
                  <a:pt x="0" y="0"/>
                </a:moveTo>
                <a:lnTo>
                  <a:pt x="9075152" y="0"/>
                </a:lnTo>
                <a:lnTo>
                  <a:pt x="9075152" y="1074601"/>
                </a:lnTo>
                <a:lnTo>
                  <a:pt x="3963159" y="1074601"/>
                </a:lnTo>
                <a:lnTo>
                  <a:pt x="3963159" y="1656000"/>
                </a:lnTo>
                <a:lnTo>
                  <a:pt x="0" y="1656000"/>
                </a:lnTo>
                <a:close/>
              </a:path>
            </a:pathLst>
          </a:cu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lIns="28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A69976B-347B-F22F-F308-07E7896756EE}"/>
              </a:ext>
            </a:extLst>
          </p:cNvPr>
          <p:cNvSpPr/>
          <p:nvPr/>
        </p:nvSpPr>
        <p:spPr>
          <a:xfrm>
            <a:off x="938148" y="1618360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/>
            <a:r>
              <a:rPr lang="de-DE" sz="1100" kern="0" err="1">
                <a:latin typeface="+mj-lt"/>
              </a:rPr>
              <a:t>Submitting</a:t>
            </a:r>
            <a:endParaRPr lang="de-DE" sz="1100" kern="0">
              <a:latin typeface="+mj-lt"/>
            </a:endParaRPr>
          </a:p>
          <a:p>
            <a:pPr algn="ctr"/>
            <a:r>
              <a:rPr lang="de-DE" sz="1100" kern="0">
                <a:latin typeface="+mj-lt"/>
              </a:rPr>
              <a:t>Phase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56EB07-9697-FF0C-B39A-8B34B8920B37}"/>
              </a:ext>
            </a:extLst>
          </p:cNvPr>
          <p:cNvSpPr/>
          <p:nvPr/>
        </p:nvSpPr>
        <p:spPr>
          <a:xfrm>
            <a:off x="2508601" y="1618360"/>
            <a:ext cx="869731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Qualifying </a:t>
            </a:r>
            <a:b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98AE72-D59F-91A2-9F53-13223EA6C25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982148" y="1836772"/>
            <a:ext cx="52645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74E26B5-01CC-1FDF-012A-5AD9936D2287}"/>
              </a:ext>
            </a:extLst>
          </p:cNvPr>
          <p:cNvSpPr/>
          <p:nvPr/>
        </p:nvSpPr>
        <p:spPr>
          <a:xfrm>
            <a:off x="2512637" y="4674702"/>
            <a:ext cx="2382602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latin typeface="+mj-lt"/>
              </a:rPr>
              <a:t>Initiation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6445840-FFB8-6C94-8EAA-078CA8A44959}"/>
              </a:ext>
            </a:extLst>
          </p:cNvPr>
          <p:cNvSpPr/>
          <p:nvPr/>
        </p:nvSpPr>
        <p:spPr>
          <a:xfrm>
            <a:off x="5779021" y="4670322"/>
            <a:ext cx="86970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 err="1">
                <a:latin typeface="+mj-lt"/>
              </a:rPr>
              <a:t>Planning</a:t>
            </a:r>
            <a:endParaRPr lang="de-DE" sz="1000" kern="0">
              <a:latin typeface="+mj-lt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EF066A3-12A0-BF12-5D1F-F90CA9D19467}"/>
              </a:ext>
            </a:extLst>
          </p:cNvPr>
          <p:cNvSpPr/>
          <p:nvPr/>
        </p:nvSpPr>
        <p:spPr>
          <a:xfrm>
            <a:off x="4387254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Approving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Phase 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BF7135-F1A3-8214-4E1B-AAC7F168D6CB}"/>
              </a:ext>
            </a:extLst>
          </p:cNvPr>
          <p:cNvSpPr/>
          <p:nvPr/>
        </p:nvSpPr>
        <p:spPr>
          <a:xfrm>
            <a:off x="7227066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Implementation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C9B298F-2E23-8494-BCB4-A6F35E248A73}"/>
              </a:ext>
            </a:extLst>
          </p:cNvPr>
          <p:cNvSpPr/>
          <p:nvPr/>
        </p:nvSpPr>
        <p:spPr>
          <a:xfrm>
            <a:off x="5787455" y="1625806"/>
            <a:ext cx="87528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Scheduling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6EA4E59-2EB3-D770-8078-F9BE4829AA4D}"/>
              </a:ext>
            </a:extLst>
          </p:cNvPr>
          <p:cNvCxnSpPr>
            <a:cxnSpLocks/>
            <a:stCxn id="24" idx="3"/>
            <a:endCxn id="33" idx="1"/>
          </p:cNvCxnSpPr>
          <p:nvPr/>
        </p:nvCxnSpPr>
        <p:spPr>
          <a:xfrm>
            <a:off x="5431254" y="1844218"/>
            <a:ext cx="35620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8419F8E-EE52-AE89-B95F-3034E68DEE2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662738" y="1844218"/>
            <a:ext cx="56432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046F1DE4-7292-F753-D69C-17540D29DC55}"/>
              </a:ext>
            </a:extLst>
          </p:cNvPr>
          <p:cNvSpPr txBox="1"/>
          <p:nvPr/>
        </p:nvSpPr>
        <p:spPr>
          <a:xfrm>
            <a:off x="3716190" y="1492702"/>
            <a:ext cx="427484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Demand </a:t>
            </a:r>
            <a:br>
              <a:rPr lang="de-DE" sz="800"/>
            </a:br>
            <a:r>
              <a:rPr lang="de-DE" sz="800"/>
              <a:t>&gt; 50 PT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A3F95E7-8B56-A370-8C6F-9B3FA47E191D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3378332" y="1836772"/>
            <a:ext cx="1008922" cy="7446"/>
          </a:xfrm>
          <a:prstGeom prst="bentConnector3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6" name="Raute 45">
            <a:extLst>
              <a:ext uri="{FF2B5EF4-FFF2-40B4-BE49-F238E27FC236}">
                <a16:creationId xmlns:a16="http://schemas.microsoft.com/office/drawing/2014/main" id="{B4538FA2-D282-9D1F-32D8-D11A88EB5E19}"/>
              </a:ext>
            </a:extLst>
          </p:cNvPr>
          <p:cNvSpPr/>
          <p:nvPr/>
        </p:nvSpPr>
        <p:spPr>
          <a:xfrm>
            <a:off x="3787061" y="1718334"/>
            <a:ext cx="275621" cy="23687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B536666-5B60-B3A5-D57E-0DC512F61C08}"/>
              </a:ext>
            </a:extLst>
          </p:cNvPr>
          <p:cNvSpPr txBox="1"/>
          <p:nvPr/>
        </p:nvSpPr>
        <p:spPr>
          <a:xfrm>
            <a:off x="232851" y="2031120"/>
            <a:ext cx="51885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IT-Demand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5C4FC50-BC2D-6FCF-783F-80EE6373E61F}"/>
              </a:ext>
            </a:extLst>
          </p:cNvPr>
          <p:cNvSpPr/>
          <p:nvPr/>
        </p:nvSpPr>
        <p:spPr>
          <a:xfrm>
            <a:off x="375656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2D81D7E-1947-6066-BBE4-E52735D413AB}"/>
              </a:ext>
            </a:extLst>
          </p:cNvPr>
          <p:cNvCxnSpPr>
            <a:cxnSpLocks/>
            <a:stCxn id="50" idx="6"/>
            <a:endCxn id="12" idx="1"/>
          </p:cNvCxnSpPr>
          <p:nvPr/>
        </p:nvCxnSpPr>
        <p:spPr>
          <a:xfrm>
            <a:off x="638941" y="1836290"/>
            <a:ext cx="299207" cy="4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58E1DC76-DA35-E0F0-E639-5A1794DB2463}"/>
              </a:ext>
            </a:extLst>
          </p:cNvPr>
          <p:cNvSpPr txBox="1"/>
          <p:nvPr/>
        </p:nvSpPr>
        <p:spPr>
          <a:xfrm>
            <a:off x="4105529" y="1722104"/>
            <a:ext cx="14695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no</a:t>
            </a:r>
            <a:endParaRPr lang="de-DE" sz="800" i="1"/>
          </a:p>
        </p:txBody>
      </p: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5ECA665F-C57A-B817-627B-401149EF115C}"/>
              </a:ext>
            </a:extLst>
          </p:cNvPr>
          <p:cNvCxnSpPr>
            <a:cxnSpLocks/>
            <a:stCxn id="46" idx="2"/>
            <a:endCxn id="55" idx="1"/>
          </p:cNvCxnSpPr>
          <p:nvPr/>
        </p:nvCxnSpPr>
        <p:spPr>
          <a:xfrm rot="16200000" flipH="1">
            <a:off x="3843286" y="2036796"/>
            <a:ext cx="625555" cy="462382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ED6C3829-1B2D-A526-06F0-EF65EC99485C}"/>
              </a:ext>
            </a:extLst>
          </p:cNvPr>
          <p:cNvSpPr txBox="1"/>
          <p:nvPr/>
        </p:nvSpPr>
        <p:spPr>
          <a:xfrm>
            <a:off x="3968129" y="2423209"/>
            <a:ext cx="17901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yes</a:t>
            </a:r>
            <a:endParaRPr lang="de-DE" sz="800" i="1"/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F5703CD-085C-9105-EF71-7706EFFD0B59}"/>
              </a:ext>
            </a:extLst>
          </p:cNvPr>
          <p:cNvCxnSpPr>
            <a:cxnSpLocks/>
          </p:cNvCxnSpPr>
          <p:nvPr/>
        </p:nvCxnSpPr>
        <p:spPr>
          <a:xfrm>
            <a:off x="2208451" y="1185439"/>
            <a:ext cx="0" cy="500062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C6719D24-29A1-083C-2AD3-078B17BAAEE2}"/>
              </a:ext>
            </a:extLst>
          </p:cNvPr>
          <p:cNvSpPr txBox="1"/>
          <p:nvPr/>
        </p:nvSpPr>
        <p:spPr>
          <a:xfrm>
            <a:off x="900555" y="1261545"/>
            <a:ext cx="112639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Business </a:t>
            </a:r>
            <a:r>
              <a:rPr lang="de-DE" sz="1050" err="1"/>
              <a:t>unit</a:t>
            </a:r>
            <a:endParaRPr lang="de-DE" sz="105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B7BC49D-7606-5F59-96D8-ED4C5C6788B4}"/>
              </a:ext>
            </a:extLst>
          </p:cNvPr>
          <p:cNvSpPr txBox="1"/>
          <p:nvPr/>
        </p:nvSpPr>
        <p:spPr>
          <a:xfrm>
            <a:off x="2628319" y="1265304"/>
            <a:ext cx="49641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IT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41079EA0-1A40-0B0D-EB0E-3669BD499414}"/>
              </a:ext>
            </a:extLst>
          </p:cNvPr>
          <p:cNvSpPr txBox="1"/>
          <p:nvPr/>
        </p:nvSpPr>
        <p:spPr>
          <a:xfrm>
            <a:off x="301393" y="5087945"/>
            <a:ext cx="35374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Project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824DE8E0-5561-8C42-2E81-FB644EE37C8C}"/>
              </a:ext>
            </a:extLst>
          </p:cNvPr>
          <p:cNvSpPr/>
          <p:nvPr/>
        </p:nvSpPr>
        <p:spPr>
          <a:xfrm>
            <a:off x="361642" y="4761472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5E87E906-7125-44D4-5D36-68C777A70834}"/>
              </a:ext>
            </a:extLst>
          </p:cNvPr>
          <p:cNvSpPr/>
          <p:nvPr/>
        </p:nvSpPr>
        <p:spPr>
          <a:xfrm>
            <a:off x="886541" y="4674702"/>
            <a:ext cx="108159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900" kern="0">
                <a:latin typeface="+mj-lt"/>
              </a:rPr>
              <a:t>Create </a:t>
            </a:r>
            <a:r>
              <a:rPr lang="de-DE" sz="900" kern="0" err="1">
                <a:latin typeface="+mj-lt"/>
              </a:rPr>
              <a:t>project</a:t>
            </a:r>
            <a:r>
              <a:rPr lang="de-DE" sz="900" kern="0">
                <a:latin typeface="+mj-lt"/>
              </a:rPr>
              <a:t> in portfolio (PIT: VEW, VPM, IT, App: Rest)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C4F007F-82B8-3948-FB20-F1456218D9DE}"/>
              </a:ext>
            </a:extLst>
          </p:cNvPr>
          <p:cNvCxnSpPr>
            <a:cxnSpLocks/>
          </p:cNvCxnSpPr>
          <p:nvPr/>
        </p:nvCxnSpPr>
        <p:spPr>
          <a:xfrm>
            <a:off x="1319284" y="2043202"/>
            <a:ext cx="0" cy="262712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66ACB7AE-856B-C598-AB38-C8B7C268E67D}"/>
              </a:ext>
            </a:extLst>
          </p:cNvPr>
          <p:cNvSpPr txBox="1"/>
          <p:nvPr/>
        </p:nvSpPr>
        <p:spPr>
          <a:xfrm>
            <a:off x="331160" y="3110212"/>
            <a:ext cx="913194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</a:t>
            </a:r>
            <a:br>
              <a:rPr lang="de-DE" sz="800"/>
            </a:br>
            <a:r>
              <a:rPr lang="de-DE" sz="800"/>
              <a:t>IT-Demand -</a:t>
            </a:r>
            <a:br>
              <a:rPr lang="de-DE" sz="800"/>
            </a:br>
            <a:r>
              <a:rPr lang="de-DE" sz="800"/>
              <a:t>ID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3B48725B-2BAB-6131-6E40-78C28BE5A442}"/>
              </a:ext>
            </a:extLst>
          </p:cNvPr>
          <p:cNvCxnSpPr>
            <a:cxnSpLocks/>
            <a:stCxn id="75" idx="6"/>
            <a:endCxn id="76" idx="1"/>
          </p:cNvCxnSpPr>
          <p:nvPr/>
        </p:nvCxnSpPr>
        <p:spPr>
          <a:xfrm flipV="1">
            <a:off x="624927" y="4893114"/>
            <a:ext cx="261614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0F1EA24-33F9-FEB9-3DB9-3B21F8D13190}"/>
              </a:ext>
            </a:extLst>
          </p:cNvPr>
          <p:cNvCxnSpPr>
            <a:cxnSpLocks/>
          </p:cNvCxnSpPr>
          <p:nvPr/>
        </p:nvCxnSpPr>
        <p:spPr>
          <a:xfrm flipV="1">
            <a:off x="1600200" y="2056520"/>
            <a:ext cx="0" cy="26138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5F4222D9-D923-133E-BFAC-71184B8CBD5A}"/>
              </a:ext>
            </a:extLst>
          </p:cNvPr>
          <p:cNvSpPr txBox="1"/>
          <p:nvPr/>
        </p:nvSpPr>
        <p:spPr>
          <a:xfrm>
            <a:off x="1675929" y="3743880"/>
            <a:ext cx="1200597" cy="368750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 Portfolio-</a:t>
            </a:r>
            <a:br>
              <a:rPr lang="de-DE" sz="800"/>
            </a:br>
            <a:r>
              <a:rPr lang="de-DE" sz="800"/>
              <a:t>ID, Project-ID</a:t>
            </a: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8B31A662-764C-6839-7365-4AA5F9737E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968134" y="4893114"/>
            <a:ext cx="54450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43243841-107C-8736-C603-A71615B10D8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895239" y="4888734"/>
            <a:ext cx="883782" cy="438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1" name="Rechteck 90">
            <a:extLst>
              <a:ext uri="{FF2B5EF4-FFF2-40B4-BE49-F238E27FC236}">
                <a16:creationId xmlns:a16="http://schemas.microsoft.com/office/drawing/2014/main" id="{0ACF31E0-53D1-F497-9F80-EB1B9386BFF5}"/>
              </a:ext>
            </a:extLst>
          </p:cNvPr>
          <p:cNvSpPr/>
          <p:nvPr/>
        </p:nvSpPr>
        <p:spPr>
          <a:xfrm>
            <a:off x="7207845" y="4670322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lvl="0" algn="ctr">
              <a:defRPr/>
            </a:pPr>
            <a:r>
              <a:rPr lang="de-DE" sz="1100" kern="0" err="1">
                <a:solidFill>
                  <a:prstClr val="black"/>
                </a:solidFill>
              </a:rPr>
              <a:t>Execution</a:t>
            </a:r>
            <a:endParaRPr lang="de-DE" sz="1100" kern="0">
              <a:solidFill>
                <a:prstClr val="black"/>
              </a:solidFill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DC0B42B8-ECCF-F2B7-7780-5D327B28AB3B}"/>
              </a:ext>
            </a:extLst>
          </p:cNvPr>
          <p:cNvCxnSpPr>
            <a:cxnSpLocks/>
            <a:stCxn id="19" idx="3"/>
            <a:endCxn id="91" idx="1"/>
          </p:cNvCxnSpPr>
          <p:nvPr/>
        </p:nvCxnSpPr>
        <p:spPr>
          <a:xfrm>
            <a:off x="6648724" y="4888734"/>
            <a:ext cx="55912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4" name="Raute 93">
            <a:extLst>
              <a:ext uri="{FF2B5EF4-FFF2-40B4-BE49-F238E27FC236}">
                <a16:creationId xmlns:a16="http://schemas.microsoft.com/office/drawing/2014/main" id="{FA2650F2-A9E2-AF83-907A-B143634CC5EF}"/>
              </a:ext>
            </a:extLst>
          </p:cNvPr>
          <p:cNvSpPr/>
          <p:nvPr/>
        </p:nvSpPr>
        <p:spPr>
          <a:xfrm>
            <a:off x="6813374" y="4789782"/>
            <a:ext cx="215052" cy="197808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E1AF92E7-5B3B-4E1B-64CA-805D5205B69A}"/>
              </a:ext>
            </a:extLst>
          </p:cNvPr>
          <p:cNvCxnSpPr>
            <a:cxnSpLocks/>
            <a:stCxn id="55" idx="0"/>
            <a:endCxn id="24" idx="2"/>
          </p:cNvCxnSpPr>
          <p:nvPr/>
        </p:nvCxnSpPr>
        <p:spPr>
          <a:xfrm flipV="1">
            <a:off x="4909253" y="2062630"/>
            <a:ext cx="1" cy="29972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1" name="Flussdiagramm: Vordefinierter Prozess 170">
            <a:extLst>
              <a:ext uri="{FF2B5EF4-FFF2-40B4-BE49-F238E27FC236}">
                <a16:creationId xmlns:a16="http://schemas.microsoft.com/office/drawing/2014/main" id="{BC405BA7-3E66-62C0-81C9-F4E94F3102B7}"/>
              </a:ext>
            </a:extLst>
          </p:cNvPr>
          <p:cNvSpPr/>
          <p:nvPr/>
        </p:nvSpPr>
        <p:spPr>
          <a:xfrm>
            <a:off x="5060620" y="4766806"/>
            <a:ext cx="479307" cy="257951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solidFill>
                  <a:schemeClr val="tx1"/>
                </a:solidFill>
                <a:latin typeface="+mj-lt"/>
              </a:rPr>
              <a:t>JP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E69FB7EB-C6BF-918A-644B-FB00A5E43923}"/>
              </a:ext>
            </a:extLst>
          </p:cNvPr>
          <p:cNvSpPr txBox="1"/>
          <p:nvPr/>
        </p:nvSpPr>
        <p:spPr>
          <a:xfrm>
            <a:off x="170448" y="1044990"/>
            <a:ext cx="1661797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ServiceNow: IT Demand</a:t>
            </a:r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CDECC35-C5CC-0645-DC5C-680DA97292E3}"/>
              </a:ext>
            </a:extLst>
          </p:cNvPr>
          <p:cNvSpPr txBox="1"/>
          <p:nvPr/>
        </p:nvSpPr>
        <p:spPr>
          <a:xfrm>
            <a:off x="138156" y="3997803"/>
            <a:ext cx="125463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Project Portfolios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36594CDF-F169-46C4-BA97-06B617C4D84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271066" y="1844218"/>
            <a:ext cx="367035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D175FC6D-CACD-3940-A466-3658A1F38A3D}"/>
              </a:ext>
            </a:extLst>
          </p:cNvPr>
          <p:cNvCxnSpPr>
            <a:cxnSpLocks/>
            <a:stCxn id="91" idx="3"/>
            <a:endCxn id="179" idx="2"/>
          </p:cNvCxnSpPr>
          <p:nvPr/>
        </p:nvCxnSpPr>
        <p:spPr>
          <a:xfrm flipV="1">
            <a:off x="8251845" y="4888686"/>
            <a:ext cx="358228" cy="4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8" name="Ellipse 177">
            <a:extLst>
              <a:ext uri="{FF2B5EF4-FFF2-40B4-BE49-F238E27FC236}">
                <a16:creationId xmlns:a16="http://schemas.microsoft.com/office/drawing/2014/main" id="{5BEB9E8B-7B30-02D5-B00C-88999ACCF182}"/>
              </a:ext>
            </a:extLst>
          </p:cNvPr>
          <p:cNvSpPr/>
          <p:nvPr/>
        </p:nvSpPr>
        <p:spPr>
          <a:xfrm>
            <a:off x="8638101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D47AEB5A-1652-EE77-4755-A5DD74F1064E}"/>
              </a:ext>
            </a:extLst>
          </p:cNvPr>
          <p:cNvSpPr/>
          <p:nvPr/>
        </p:nvSpPr>
        <p:spPr>
          <a:xfrm>
            <a:off x="8610073" y="4757043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F868093A-46E7-6A16-740F-163D602F21E7}"/>
              </a:ext>
            </a:extLst>
          </p:cNvPr>
          <p:cNvSpPr txBox="1"/>
          <p:nvPr/>
        </p:nvSpPr>
        <p:spPr>
          <a:xfrm>
            <a:off x="8601297" y="1986873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57DCB0FB-B939-8077-DE91-6495AD98DE7F}"/>
              </a:ext>
            </a:extLst>
          </p:cNvPr>
          <p:cNvSpPr txBox="1"/>
          <p:nvPr/>
        </p:nvSpPr>
        <p:spPr>
          <a:xfrm>
            <a:off x="8587283" y="5084771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98" name="Raute 197">
            <a:extLst>
              <a:ext uri="{FF2B5EF4-FFF2-40B4-BE49-F238E27FC236}">
                <a16:creationId xmlns:a16="http://schemas.microsoft.com/office/drawing/2014/main" id="{50EE4227-296E-1200-638D-628960619256}"/>
              </a:ext>
            </a:extLst>
          </p:cNvPr>
          <p:cNvSpPr/>
          <p:nvPr/>
        </p:nvSpPr>
        <p:spPr>
          <a:xfrm>
            <a:off x="2067807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QG0</a:t>
            </a:r>
          </a:p>
        </p:txBody>
      </p:sp>
      <p:sp>
        <p:nvSpPr>
          <p:cNvPr id="201" name="Raute 200">
            <a:extLst>
              <a:ext uri="{FF2B5EF4-FFF2-40B4-BE49-F238E27FC236}">
                <a16:creationId xmlns:a16="http://schemas.microsoft.com/office/drawing/2014/main" id="{B026515A-9A4E-2B9B-B25D-7CC63FD64848}"/>
              </a:ext>
            </a:extLst>
          </p:cNvPr>
          <p:cNvSpPr/>
          <p:nvPr/>
        </p:nvSpPr>
        <p:spPr>
          <a:xfrm>
            <a:off x="3456921" y="1718334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QG1</a:t>
            </a:r>
          </a:p>
        </p:txBody>
      </p:sp>
      <p:sp>
        <p:nvSpPr>
          <p:cNvPr id="202" name="Raute 201">
            <a:extLst>
              <a:ext uri="{FF2B5EF4-FFF2-40B4-BE49-F238E27FC236}">
                <a16:creationId xmlns:a16="http://schemas.microsoft.com/office/drawing/2014/main" id="{6AFADA02-6A39-CC78-3916-2A18CA211566}"/>
              </a:ext>
            </a:extLst>
          </p:cNvPr>
          <p:cNvSpPr/>
          <p:nvPr/>
        </p:nvSpPr>
        <p:spPr>
          <a:xfrm>
            <a:off x="6784471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QG2</a:t>
            </a:r>
          </a:p>
        </p:txBody>
      </p:sp>
      <p:sp>
        <p:nvSpPr>
          <p:cNvPr id="224" name="Runde Klammer links/rechts 223">
            <a:extLst>
              <a:ext uri="{FF2B5EF4-FFF2-40B4-BE49-F238E27FC236}">
                <a16:creationId xmlns:a16="http://schemas.microsoft.com/office/drawing/2014/main" id="{12FB1363-E8CB-D2AF-938E-2B184D8A667A}"/>
              </a:ext>
            </a:extLst>
          </p:cNvPr>
          <p:cNvSpPr/>
          <p:nvPr/>
        </p:nvSpPr>
        <p:spPr>
          <a:xfrm>
            <a:off x="4967980" y="4670322"/>
            <a:ext cx="646390" cy="4269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D1C001D-20FD-9879-067C-0C7D03FCB09D}"/>
              </a:ext>
            </a:extLst>
          </p:cNvPr>
          <p:cNvCxnSpPr>
            <a:cxnSpLocks/>
            <a:stCxn id="171" idx="0"/>
          </p:cNvCxnSpPr>
          <p:nvPr/>
        </p:nvCxnSpPr>
        <p:spPr>
          <a:xfrm flipH="1" flipV="1">
            <a:off x="5285685" y="2062630"/>
            <a:ext cx="14589" cy="270417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B639B89-51E5-A5B6-07A5-5CE604566C1D}"/>
              </a:ext>
            </a:extLst>
          </p:cNvPr>
          <p:cNvCxnSpPr>
            <a:cxnSpLocks/>
            <a:stCxn id="94" idx="0"/>
            <a:endCxn id="202" idx="2"/>
          </p:cNvCxnSpPr>
          <p:nvPr/>
        </p:nvCxnSpPr>
        <p:spPr>
          <a:xfrm flipH="1" flipV="1">
            <a:off x="6906316" y="1954911"/>
            <a:ext cx="14584" cy="283487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DB9F3788-7BFD-938F-2C28-21B907C6EF17}"/>
              </a:ext>
            </a:extLst>
          </p:cNvPr>
          <p:cNvSpPr/>
          <p:nvPr/>
        </p:nvSpPr>
        <p:spPr>
          <a:xfrm>
            <a:off x="1768759" y="2937620"/>
            <a:ext cx="1342705" cy="6539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Minimal-Ziel: Abbildung in beiden Systemen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E6ABE64-FD0E-36B9-7241-7FA2300403C2}"/>
              </a:ext>
            </a:extLst>
          </p:cNvPr>
          <p:cNvSpPr/>
          <p:nvPr/>
        </p:nvSpPr>
        <p:spPr>
          <a:xfrm>
            <a:off x="5406491" y="2937620"/>
            <a:ext cx="1056633" cy="10119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JP: Sehr hoher manueller Aufwand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Parallel-Prozesse, teilweise abgestimmt;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Orientierung 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„IT-</a:t>
            </a:r>
            <a:r>
              <a:rPr lang="de-DE" sz="800" b="1" err="1">
                <a:solidFill>
                  <a:schemeClr val="tx1"/>
                </a:solidFill>
              </a:rPr>
              <a:t>Innobudget</a:t>
            </a:r>
            <a:r>
              <a:rPr lang="de-DE" sz="800" b="1">
                <a:solidFill>
                  <a:schemeClr val="tx1"/>
                </a:solidFill>
              </a:rPr>
              <a:t>“</a:t>
            </a:r>
          </a:p>
          <a:p>
            <a:pPr>
              <a:lnSpc>
                <a:spcPct val="90000"/>
              </a:lnSpc>
            </a:pP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F0F759D-5E60-64BE-D6F5-B785485AD8D3}"/>
              </a:ext>
            </a:extLst>
          </p:cNvPr>
          <p:cNvSpPr/>
          <p:nvPr/>
        </p:nvSpPr>
        <p:spPr>
          <a:xfrm>
            <a:off x="7030469" y="2937620"/>
            <a:ext cx="870206" cy="10277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Prozess, diverse Gremien und Umsetzungsfreigaben (IT, PPB, EV)</a:t>
            </a: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2" name="RbLeanShape Right U-Shape 17">
            <a:extLst>
              <a:ext uri="{FF2B5EF4-FFF2-40B4-BE49-F238E27FC236}">
                <a16:creationId xmlns:a16="http://schemas.microsoft.com/office/drawing/2014/main" id="{A71E937B-3A17-48C5-D631-A0DEFD853DB8}"/>
              </a:ext>
            </a:extLst>
          </p:cNvPr>
          <p:cNvSpPr>
            <a:spLocks/>
          </p:cNvSpPr>
          <p:nvPr/>
        </p:nvSpPr>
        <p:spPr>
          <a:xfrm>
            <a:off x="9383411" y="1206441"/>
            <a:ext cx="2328684" cy="514260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28" name="ListLeanHorizontalTextDetail0">
            <a:extLst>
              <a:ext uri="{FF2B5EF4-FFF2-40B4-BE49-F238E27FC236}">
                <a16:creationId xmlns:a16="http://schemas.microsoft.com/office/drawing/2014/main" id="{7C1AB734-1390-5AEC-E178-0C88035F0CB7}"/>
              </a:ext>
            </a:extLst>
          </p:cNvPr>
          <p:cNvSpPr txBox="1">
            <a:spLocks/>
          </p:cNvSpPr>
          <p:nvPr/>
        </p:nvSpPr>
        <p:spPr>
          <a:xfrm>
            <a:off x="9520644" y="1491262"/>
            <a:ext cx="2606166" cy="40934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Zeitlich</a:t>
            </a:r>
            <a:r>
              <a:rPr lang="en-US" sz="1600"/>
              <a:t> und </a:t>
            </a:r>
            <a:r>
              <a:rPr lang="en-US" sz="1600" err="1"/>
              <a:t>inhaltlich</a:t>
            </a:r>
            <a:r>
              <a:rPr lang="en-US" sz="1600"/>
              <a:t> </a:t>
            </a:r>
            <a:r>
              <a:rPr lang="en-US" sz="1600" b="1" err="1"/>
              <a:t>unabgestimmte</a:t>
            </a:r>
            <a:r>
              <a:rPr lang="en-US" sz="1600" b="1"/>
              <a:t> Parallel-</a:t>
            </a:r>
            <a:r>
              <a:rPr lang="en-US" sz="1600" b="1" err="1"/>
              <a:t>Prozesse</a:t>
            </a:r>
            <a:r>
              <a:rPr lang="en-US" sz="1600" b="1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Zuständigkeiten</a:t>
            </a:r>
            <a:r>
              <a:rPr lang="en-US" sz="1600" b="1"/>
              <a:t> und diverse </a:t>
            </a:r>
            <a:r>
              <a:rPr lang="en-US" sz="1600" b="1" err="1"/>
              <a:t>Gremien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Aufwändige</a:t>
            </a:r>
            <a:r>
              <a:rPr lang="en-US" sz="1600"/>
              <a:t> </a:t>
            </a:r>
            <a:r>
              <a:rPr lang="en-US" sz="1600" err="1"/>
              <a:t>Datenhaltung</a:t>
            </a:r>
            <a:r>
              <a:rPr lang="en-US" sz="1600"/>
              <a:t> in </a:t>
            </a:r>
            <a:r>
              <a:rPr lang="en-US" sz="1600" err="1"/>
              <a:t>mehreren</a:t>
            </a:r>
            <a:r>
              <a:rPr lang="en-US" sz="1600"/>
              <a:t> </a:t>
            </a:r>
            <a:r>
              <a:rPr lang="en-US" sz="1600" err="1"/>
              <a:t>Systemen</a:t>
            </a:r>
            <a:r>
              <a:rPr lang="en-US" sz="1600"/>
              <a:t> (</a:t>
            </a:r>
            <a:r>
              <a:rPr lang="en-US" sz="1600" err="1"/>
              <a:t>Systembrüche</a:t>
            </a:r>
            <a:r>
              <a:rPr lang="en-US" sz="1600"/>
              <a:t>)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hoher</a:t>
            </a:r>
            <a:r>
              <a:rPr lang="en-US" sz="1600" b="1"/>
              <a:t> </a:t>
            </a:r>
            <a:r>
              <a:rPr lang="en-US" sz="1600" b="1" err="1"/>
              <a:t>manueller</a:t>
            </a:r>
            <a:r>
              <a:rPr lang="en-US" sz="1600" b="1"/>
              <a:t> </a:t>
            </a:r>
            <a:r>
              <a:rPr lang="en-US" sz="1600" b="1" err="1"/>
              <a:t>Aufwand</a:t>
            </a:r>
            <a:r>
              <a:rPr lang="en-US" sz="1600" b="1"/>
              <a:t>,</a:t>
            </a:r>
            <a:r>
              <a:rPr lang="en-US" sz="1600"/>
              <a:t> </a:t>
            </a:r>
            <a:r>
              <a:rPr lang="en-US" sz="1600" err="1"/>
              <a:t>unvollständige</a:t>
            </a:r>
            <a:r>
              <a:rPr lang="en-US" sz="1600"/>
              <a:t> und nicht </a:t>
            </a:r>
            <a:r>
              <a:rPr lang="en-US" sz="1600" err="1"/>
              <a:t>aktuelle</a:t>
            </a:r>
            <a:r>
              <a:rPr lang="en-US" sz="1600"/>
              <a:t> </a:t>
            </a:r>
            <a:r>
              <a:rPr lang="en-US" sz="1600" err="1"/>
              <a:t>Daten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Eskalationsmechanismen</a:t>
            </a:r>
            <a:r>
              <a:rPr lang="en-US" sz="1600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/>
              <a:t>Keine </a:t>
            </a:r>
            <a:r>
              <a:rPr lang="en-US" sz="1600" err="1"/>
              <a:t>durchgehende</a:t>
            </a:r>
            <a:r>
              <a:rPr lang="en-US" sz="1600"/>
              <a:t> </a:t>
            </a:r>
            <a:r>
              <a:rPr lang="en-US" sz="1600" b="1" err="1"/>
              <a:t>Priorisierungslogik</a:t>
            </a:r>
            <a:r>
              <a:rPr lang="en-US" sz="1600"/>
              <a:t> </a:t>
            </a:r>
          </a:p>
        </p:txBody>
      </p:sp>
      <p:sp>
        <p:nvSpPr>
          <p:cNvPr id="29" name="ListLeanHorizontalTextTopic0">
            <a:extLst>
              <a:ext uri="{FF2B5EF4-FFF2-40B4-BE49-F238E27FC236}">
                <a16:creationId xmlns:a16="http://schemas.microsoft.com/office/drawing/2014/main" id="{45E7B2F1-DBD7-43AB-503D-8EA5CC657EE2}"/>
              </a:ext>
            </a:extLst>
          </p:cNvPr>
          <p:cNvSpPr txBox="1">
            <a:spLocks/>
          </p:cNvSpPr>
          <p:nvPr/>
        </p:nvSpPr>
        <p:spPr>
          <a:xfrm>
            <a:off x="9383411" y="976927"/>
            <a:ext cx="3124347" cy="296482"/>
          </a:xfrm>
          <a:prstGeom prst="rect">
            <a:avLst/>
          </a:prstGeom>
          <a:noFill/>
        </p:spPr>
        <p:txBody>
          <a:bodyPr vert="horz" wrap="square" lIns="0" tIns="0" rIns="0" bIns="72000" rtlCol="0" anchor="b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sz="1600" b="1" err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PainPoints</a:t>
            </a:r>
            <a:endParaRPr lang="en-US" sz="16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80F400D-72F2-0F48-760B-D2876057F28F}"/>
              </a:ext>
            </a:extLst>
          </p:cNvPr>
          <p:cNvCxnSpPr>
            <a:cxnSpLocks/>
          </p:cNvCxnSpPr>
          <p:nvPr/>
        </p:nvCxnSpPr>
        <p:spPr>
          <a:xfrm>
            <a:off x="5055251" y="5969041"/>
            <a:ext cx="387868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4C171C3-59B8-3F58-B56B-FC2B2805BD16}"/>
              </a:ext>
            </a:extLst>
          </p:cNvPr>
          <p:cNvSpPr/>
          <p:nvPr/>
        </p:nvSpPr>
        <p:spPr>
          <a:xfrm>
            <a:off x="5133466" y="5854183"/>
            <a:ext cx="563001" cy="2271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kern="0">
                <a:latin typeface="+mj-lt"/>
              </a:rPr>
              <a:t>S</a:t>
            </a:r>
            <a:r>
              <a:rPr kumimoji="0" lang="de-DE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ubmit</a:t>
            </a:r>
            <a:endParaRPr lang="de-DE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ADB842-9814-9C39-AA66-BEF5ABD29574}"/>
              </a:ext>
            </a:extLst>
          </p:cNvPr>
          <p:cNvSpPr txBox="1"/>
          <p:nvPr/>
        </p:nvSpPr>
        <p:spPr>
          <a:xfrm>
            <a:off x="5126142" y="6120864"/>
            <a:ext cx="555725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Incl. </a:t>
            </a:r>
            <a:r>
              <a:rPr lang="de-DE" sz="800" err="1"/>
              <a:t>project</a:t>
            </a:r>
            <a:br>
              <a:rPr lang="de-DE" sz="800"/>
            </a:br>
            <a:r>
              <a:rPr lang="de-DE" sz="800" err="1"/>
              <a:t>charter</a:t>
            </a:r>
            <a:r>
              <a:rPr lang="de-DE" sz="800"/>
              <a:t>, </a:t>
            </a:r>
            <a:br>
              <a:rPr lang="de-DE" sz="800"/>
            </a:br>
            <a:r>
              <a:rPr lang="de-DE" sz="800" err="1"/>
              <a:t>opt</a:t>
            </a:r>
            <a:r>
              <a:rPr lang="de-DE" sz="800"/>
              <a:t>. WIRE</a:t>
            </a:r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18F29798-CFA1-D5FC-3BF4-37B743A20B10}"/>
              </a:ext>
            </a:extLst>
          </p:cNvPr>
          <p:cNvSpPr/>
          <p:nvPr/>
        </p:nvSpPr>
        <p:spPr>
          <a:xfrm>
            <a:off x="6499348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 err="1">
                <a:solidFill>
                  <a:schemeClr val="tx1"/>
                </a:solidFill>
              </a:rPr>
              <a:t>FaB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1D386C5F-5424-01C4-00CB-894D2FDD7852}"/>
              </a:ext>
            </a:extLst>
          </p:cNvPr>
          <p:cNvSpPr/>
          <p:nvPr/>
        </p:nvSpPr>
        <p:spPr>
          <a:xfrm>
            <a:off x="5727189" y="5831933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CO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aute 30">
            <a:extLst>
              <a:ext uri="{FF2B5EF4-FFF2-40B4-BE49-F238E27FC236}">
                <a16:creationId xmlns:a16="http://schemas.microsoft.com/office/drawing/2014/main" id="{A67AF17D-1481-8D49-E34D-22E918E75646}"/>
              </a:ext>
            </a:extLst>
          </p:cNvPr>
          <p:cNvSpPr/>
          <p:nvPr/>
        </p:nvSpPr>
        <p:spPr>
          <a:xfrm>
            <a:off x="6872467" y="5831206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88544C02-2CCF-2F7A-83F9-9360863C0B36}"/>
              </a:ext>
            </a:extLst>
          </p:cNvPr>
          <p:cNvSpPr/>
          <p:nvPr/>
        </p:nvSpPr>
        <p:spPr>
          <a:xfrm>
            <a:off x="7227519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SP1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aute 34">
            <a:extLst>
              <a:ext uri="{FF2B5EF4-FFF2-40B4-BE49-F238E27FC236}">
                <a16:creationId xmlns:a16="http://schemas.microsoft.com/office/drawing/2014/main" id="{8FC5A555-63FF-9787-18A0-6AA46CAAB464}"/>
              </a:ext>
            </a:extLst>
          </p:cNvPr>
          <p:cNvSpPr/>
          <p:nvPr/>
        </p:nvSpPr>
        <p:spPr>
          <a:xfrm>
            <a:off x="7980953" y="583044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FCI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aute 37">
            <a:extLst>
              <a:ext uri="{FF2B5EF4-FFF2-40B4-BE49-F238E27FC236}">
                <a16:creationId xmlns:a16="http://schemas.microsoft.com/office/drawing/2014/main" id="{3F4D9DC6-A746-C0E3-2301-DEB75031ABDD}"/>
              </a:ext>
            </a:extLst>
          </p:cNvPr>
          <p:cNvSpPr/>
          <p:nvPr/>
        </p:nvSpPr>
        <p:spPr>
          <a:xfrm>
            <a:off x="8389652" y="5837481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RV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FBAA605-45EA-6ED6-E06F-09BCAD9C598B}"/>
              </a:ext>
            </a:extLst>
          </p:cNvPr>
          <p:cNvSpPr/>
          <p:nvPr/>
        </p:nvSpPr>
        <p:spPr>
          <a:xfrm>
            <a:off x="7653780" y="5849145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WF2</a:t>
            </a:r>
          </a:p>
        </p:txBody>
      </p:sp>
      <p:sp>
        <p:nvSpPr>
          <p:cNvPr id="41" name="Runde Klammer links/rechts 40">
            <a:extLst>
              <a:ext uri="{FF2B5EF4-FFF2-40B4-BE49-F238E27FC236}">
                <a16:creationId xmlns:a16="http://schemas.microsoft.com/office/drawing/2014/main" id="{C7FFD01F-24A2-BE89-F917-86F37902E534}"/>
              </a:ext>
            </a:extLst>
          </p:cNvPr>
          <p:cNvSpPr/>
          <p:nvPr/>
        </p:nvSpPr>
        <p:spPr>
          <a:xfrm>
            <a:off x="6863182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1F93E36-06B9-8488-A035-F95FB4F5DCBA}"/>
              </a:ext>
            </a:extLst>
          </p:cNvPr>
          <p:cNvSpPr/>
          <p:nvPr/>
        </p:nvSpPr>
        <p:spPr>
          <a:xfrm>
            <a:off x="6169054" y="5842109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WF1</a:t>
            </a:r>
          </a:p>
        </p:txBody>
      </p:sp>
      <p:sp>
        <p:nvSpPr>
          <p:cNvPr id="2" name="Raute 1">
            <a:extLst>
              <a:ext uri="{FF2B5EF4-FFF2-40B4-BE49-F238E27FC236}">
                <a16:creationId xmlns:a16="http://schemas.microsoft.com/office/drawing/2014/main" id="{1EE6968C-7345-F440-4C45-41BFA8E11623}"/>
              </a:ext>
            </a:extLst>
          </p:cNvPr>
          <p:cNvSpPr/>
          <p:nvPr/>
        </p:nvSpPr>
        <p:spPr>
          <a:xfrm>
            <a:off x="6737873" y="6185998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IPS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3EC170AE-BE74-DDA3-7876-14BC230FFCCD}"/>
              </a:ext>
            </a:extLst>
          </p:cNvPr>
          <p:cNvSpPr/>
          <p:nvPr/>
        </p:nvSpPr>
        <p:spPr>
          <a:xfrm>
            <a:off x="6309467" y="642307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IT-BP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D32A397-1F40-5B44-BF1B-9CDD87AFE23E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flipH="1">
            <a:off x="6914509" y="6106155"/>
            <a:ext cx="134594" cy="7984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06DB907-A1D1-C862-0723-CD97A61DBB80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>
            <a:off x="6662738" y="6460947"/>
            <a:ext cx="251771" cy="9960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5AC6D85-73F0-8CAF-8257-D1B3299BC591}"/>
              </a:ext>
            </a:extLst>
          </p:cNvPr>
          <p:cNvCxnSpPr>
            <a:cxnSpLocks/>
            <a:stCxn id="8" idx="0"/>
            <a:endCxn id="2" idx="1"/>
          </p:cNvCxnSpPr>
          <p:nvPr/>
        </p:nvCxnSpPr>
        <p:spPr>
          <a:xfrm flipV="1">
            <a:off x="6486103" y="6323473"/>
            <a:ext cx="251770" cy="996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unde Klammer links/rechts 61">
            <a:extLst>
              <a:ext uri="{FF2B5EF4-FFF2-40B4-BE49-F238E27FC236}">
                <a16:creationId xmlns:a16="http://schemas.microsoft.com/office/drawing/2014/main" id="{57785123-0E93-5A51-9922-B606AE08FC41}"/>
              </a:ext>
            </a:extLst>
          </p:cNvPr>
          <p:cNvSpPr/>
          <p:nvPr/>
        </p:nvSpPr>
        <p:spPr>
          <a:xfrm>
            <a:off x="7225738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F07E436-52AA-F034-C224-B4183C0A68A7}"/>
              </a:ext>
            </a:extLst>
          </p:cNvPr>
          <p:cNvSpPr txBox="1"/>
          <p:nvPr/>
        </p:nvSpPr>
        <p:spPr>
          <a:xfrm>
            <a:off x="7231616" y="6102033"/>
            <a:ext cx="347335" cy="32720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700" err="1"/>
              <a:t>only</a:t>
            </a:r>
            <a:r>
              <a:rPr lang="de-DE" sz="700"/>
              <a:t> </a:t>
            </a:r>
            <a:br>
              <a:rPr lang="de-DE" sz="700"/>
            </a:br>
            <a:r>
              <a:rPr lang="de-DE" sz="700" err="1"/>
              <a:t>special</a:t>
            </a:r>
            <a:br>
              <a:rPr lang="de-DE" sz="700"/>
            </a:br>
            <a:r>
              <a:rPr lang="de-DE" sz="700" err="1"/>
              <a:t>projects</a:t>
            </a:r>
            <a:endParaRPr lang="de-DE" sz="700"/>
          </a:p>
        </p:txBody>
      </p:sp>
      <p:pic>
        <p:nvPicPr>
          <p:cNvPr id="5" name="Grafik 4" descr="Marke Fragezeichen mit einfarbiger Füllung">
            <a:extLst>
              <a:ext uri="{FF2B5EF4-FFF2-40B4-BE49-F238E27FC236}">
                <a16:creationId xmlns:a16="http://schemas.microsoft.com/office/drawing/2014/main" id="{FAAF1B51-EA7A-FD1E-0E41-D9D3D2856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5227" y="2783415"/>
            <a:ext cx="267267" cy="267267"/>
          </a:xfrm>
          <a:prstGeom prst="rect">
            <a:avLst/>
          </a:prstGeom>
        </p:spPr>
      </p:pic>
      <p:pic>
        <p:nvPicPr>
          <p:cNvPr id="3" name="Grafik 2" descr="Marke Fragezeichen mit einfarbiger Füllung">
            <a:extLst>
              <a:ext uri="{FF2B5EF4-FFF2-40B4-BE49-F238E27FC236}">
                <a16:creationId xmlns:a16="http://schemas.microsoft.com/office/drawing/2014/main" id="{29C97CFF-0B8B-6290-5176-FC21003C0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608" y="2794232"/>
            <a:ext cx="266400" cy="266400"/>
          </a:xfrm>
          <a:prstGeom prst="rect">
            <a:avLst/>
          </a:prstGeom>
        </p:spPr>
      </p:pic>
      <p:pic>
        <p:nvPicPr>
          <p:cNvPr id="4" name="Grafik 3" descr="Marke Fragezeichen mit einfarbiger Füllung">
            <a:extLst>
              <a:ext uri="{FF2B5EF4-FFF2-40B4-BE49-F238E27FC236}">
                <a16:creationId xmlns:a16="http://schemas.microsoft.com/office/drawing/2014/main" id="{324E5370-B580-DD50-AF89-7676D470C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175" y="2804187"/>
            <a:ext cx="266400" cy="266400"/>
          </a:xfrm>
          <a:prstGeom prst="rect">
            <a:avLst/>
          </a:prstGeom>
        </p:spPr>
      </p:pic>
      <p:sp>
        <p:nvSpPr>
          <p:cNvPr id="55" name="Rechteck 54">
            <a:extLst>
              <a:ext uri="{FF2B5EF4-FFF2-40B4-BE49-F238E27FC236}">
                <a16:creationId xmlns:a16="http://schemas.microsoft.com/office/drawing/2014/main" id="{6DA98A74-85BD-5BFF-D064-81FA2C2C01C7}"/>
              </a:ext>
            </a:extLst>
          </p:cNvPr>
          <p:cNvSpPr/>
          <p:nvPr/>
        </p:nvSpPr>
        <p:spPr>
          <a:xfrm>
            <a:off x="4387254" y="2362353"/>
            <a:ext cx="1043998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+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create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PIT-project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</a:t>
            </a:r>
            <a:endParaRPr kumimoji="0" lang="de-DE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3" name="Grafik 72" descr="Blitz mit einfarbiger Füllung">
            <a:extLst>
              <a:ext uri="{FF2B5EF4-FFF2-40B4-BE49-F238E27FC236}">
                <a16:creationId xmlns:a16="http://schemas.microsoft.com/office/drawing/2014/main" id="{2E9F29E5-C6C1-F35B-A07B-3CE2343E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347" y="3772501"/>
            <a:ext cx="249320" cy="311508"/>
          </a:xfrm>
          <a:prstGeom prst="rect">
            <a:avLst/>
          </a:prstGeom>
        </p:spPr>
      </p:pic>
      <p:pic>
        <p:nvPicPr>
          <p:cNvPr id="77" name="Grafik 76" descr="Blitz mit einfarbiger Füllung">
            <a:extLst>
              <a:ext uri="{FF2B5EF4-FFF2-40B4-BE49-F238E27FC236}">
                <a16:creationId xmlns:a16="http://schemas.microsoft.com/office/drawing/2014/main" id="{AED83BD7-72A4-CC6B-EAF6-A40D83A4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206" y="3119791"/>
            <a:ext cx="249320" cy="311508"/>
          </a:xfrm>
          <a:prstGeom prst="rect">
            <a:avLst/>
          </a:prstGeom>
        </p:spPr>
      </p:pic>
      <p:sp>
        <p:nvSpPr>
          <p:cNvPr id="86" name="Textfeld 85">
            <a:extLst>
              <a:ext uri="{FF2B5EF4-FFF2-40B4-BE49-F238E27FC236}">
                <a16:creationId xmlns:a16="http://schemas.microsoft.com/office/drawing/2014/main" id="{2BB80597-8959-9A46-2365-603A7925EDE2}"/>
              </a:ext>
            </a:extLst>
          </p:cNvPr>
          <p:cNvSpPr txBox="1"/>
          <p:nvPr/>
        </p:nvSpPr>
        <p:spPr>
          <a:xfrm>
            <a:off x="4895239" y="5533873"/>
            <a:ext cx="75289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EV/</a:t>
            </a:r>
            <a:r>
              <a:rPr lang="de-DE" sz="1200" err="1"/>
              <a:t>Lucom</a:t>
            </a:r>
            <a:endParaRPr lang="de-DE" sz="1200"/>
          </a:p>
        </p:txBody>
      </p:sp>
      <p:pic>
        <p:nvPicPr>
          <p:cNvPr id="97" name="Grafik 96">
            <a:extLst>
              <a:ext uri="{FF2B5EF4-FFF2-40B4-BE49-F238E27FC236}">
                <a16:creationId xmlns:a16="http://schemas.microsoft.com/office/drawing/2014/main" id="{6F37DC10-B625-A647-AA28-AFC512649F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938043" y="5464399"/>
            <a:ext cx="810371" cy="30006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A5981DA2-3290-BD77-DBA1-2C1E0EBFA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911" y="1031344"/>
            <a:ext cx="861929" cy="163398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6C5FF56B-6FD0-C520-CD11-BDBC1B241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09" y="5816255"/>
            <a:ext cx="843972" cy="273430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99CC7BBE-CD8F-3B3F-041E-86F16C1052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009" y="6149489"/>
            <a:ext cx="803980" cy="230965"/>
          </a:xfrm>
          <a:prstGeom prst="rect">
            <a:avLst/>
          </a:prstGeom>
        </p:spPr>
      </p:pic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5B0FC04-44B8-14A0-63A5-5425F6E127C3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5148448" y="4987590"/>
            <a:ext cx="1772452" cy="82962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DF8444CB-A440-57DA-F13D-154A72BC5742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6920900" y="4987590"/>
            <a:ext cx="1980486" cy="96647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fik 111" descr="Blitz mit einfarbiger Füllung">
            <a:extLst>
              <a:ext uri="{FF2B5EF4-FFF2-40B4-BE49-F238E27FC236}">
                <a16:creationId xmlns:a16="http://schemas.microsoft.com/office/drawing/2014/main" id="{0B04D48B-FB15-9E8E-E8D1-B23B3D0F0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722" y="5211253"/>
            <a:ext cx="249320" cy="311508"/>
          </a:xfrm>
          <a:prstGeom prst="rect">
            <a:avLst/>
          </a:prstGeom>
        </p:spPr>
      </p:pic>
      <p:sp>
        <p:nvSpPr>
          <p:cNvPr id="113" name="Textfeld 112">
            <a:extLst>
              <a:ext uri="{FF2B5EF4-FFF2-40B4-BE49-F238E27FC236}">
                <a16:creationId xmlns:a16="http://schemas.microsoft.com/office/drawing/2014/main" id="{3B5A0264-E0C2-5FA7-133F-0FA709CD5B95}"/>
              </a:ext>
            </a:extLst>
          </p:cNvPr>
          <p:cNvSpPr txBox="1"/>
          <p:nvPr/>
        </p:nvSpPr>
        <p:spPr>
          <a:xfrm>
            <a:off x="6624595" y="5230826"/>
            <a:ext cx="948461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manueller Start </a:t>
            </a:r>
            <a:br>
              <a:rPr lang="de-DE" sz="800"/>
            </a:br>
            <a:r>
              <a:rPr lang="de-DE" sz="800"/>
              <a:t>Prozess EV Freigabe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579CB4EA-5A17-8328-3694-F6514BF28F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b="17297"/>
          <a:stretch>
            <a:fillRect/>
          </a:stretch>
        </p:blipFill>
        <p:spPr>
          <a:xfrm>
            <a:off x="4246310" y="5550552"/>
            <a:ext cx="642751" cy="177189"/>
          </a:xfrm>
          <a:prstGeom prst="rect">
            <a:avLst/>
          </a:prstGeom>
        </p:spPr>
      </p:pic>
      <p:pic>
        <p:nvPicPr>
          <p:cNvPr id="114" name="Grafik 113" descr="Blitz mit einfarbiger Füllung">
            <a:extLst>
              <a:ext uri="{FF2B5EF4-FFF2-40B4-BE49-F238E27FC236}">
                <a16:creationId xmlns:a16="http://schemas.microsoft.com/office/drawing/2014/main" id="{48DA8A0A-2B2E-F22F-35E2-9CA9E0FB2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672" y="3090199"/>
            <a:ext cx="249320" cy="311508"/>
          </a:xfrm>
          <a:prstGeom prst="rect">
            <a:avLst/>
          </a:prstGeom>
        </p:spPr>
      </p:pic>
      <p:pic>
        <p:nvPicPr>
          <p:cNvPr id="115" name="Grafik 114" descr="Blitz mit einfarbiger Füllung">
            <a:extLst>
              <a:ext uri="{FF2B5EF4-FFF2-40B4-BE49-F238E27FC236}">
                <a16:creationId xmlns:a16="http://schemas.microsoft.com/office/drawing/2014/main" id="{A1226798-6B5D-A694-E3F1-503AACF9F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769" y="3113018"/>
            <a:ext cx="249320" cy="31150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958A108-613B-E691-0732-2D63A3BA53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5446835" y="2448095"/>
            <a:ext cx="656460" cy="243072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593209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5E4BA-6D56-DF0C-BC66-00E23F4B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Quo: IT Demand and Project </a:t>
            </a:r>
            <a:r>
              <a:rPr lang="de-DE" err="1"/>
              <a:t>landscape</a:t>
            </a:r>
            <a:r>
              <a:rPr lang="de-DE"/>
              <a:t> </a:t>
            </a:r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CB61E864-FE54-22F2-E327-95FBF604A762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2786658"/>
          <a:ext cx="1462478" cy="166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69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562709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endParaRPr lang="de-DE" sz="900"/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IT PT</a:t>
                      </a: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009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2693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9884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1448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90936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1106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254602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81932"/>
                  </a:ext>
                </a:extLst>
              </a:tr>
            </a:tbl>
          </a:graphicData>
        </a:graphic>
      </p:graphicFrame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8AA6139F-B926-2787-DE6F-D8037BD0E56A}"/>
              </a:ext>
            </a:extLst>
          </p:cNvPr>
          <p:cNvGraphicFramePr>
            <a:graphicFrameLocks noGrp="1"/>
          </p:cNvGraphicFramePr>
          <p:nvPr/>
        </p:nvGraphicFramePr>
        <p:xfrm>
          <a:off x="1343380" y="2818497"/>
          <a:ext cx="1122768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90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280478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  <a:endParaRPr lang="de-DE" sz="7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 err="1"/>
                        <a:t>indep</a:t>
                      </a:r>
                      <a:r>
                        <a:rPr lang="de-DE" sz="800"/>
                        <a:t>. IT-Project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70" name="Textfeld 69">
            <a:extLst>
              <a:ext uri="{FF2B5EF4-FFF2-40B4-BE49-F238E27FC236}">
                <a16:creationId xmlns:a16="http://schemas.microsoft.com/office/drawing/2014/main" id="{358319D1-B549-006A-D7B2-B635508ACB3D}"/>
              </a:ext>
            </a:extLst>
          </p:cNvPr>
          <p:cNvSpPr txBox="1"/>
          <p:nvPr/>
        </p:nvSpPr>
        <p:spPr>
          <a:xfrm>
            <a:off x="1343381" y="2661887"/>
            <a:ext cx="82983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900"/>
              <a:t>PIT: IT-Projects</a:t>
            </a:r>
          </a:p>
        </p:txBody>
      </p:sp>
      <p:graphicFrame>
        <p:nvGraphicFramePr>
          <p:cNvPr id="99" name="Tabelle 98">
            <a:extLst>
              <a:ext uri="{FF2B5EF4-FFF2-40B4-BE49-F238E27FC236}">
                <a16:creationId xmlns:a16="http://schemas.microsoft.com/office/drawing/2014/main" id="{9E4F676B-0CBA-0A5E-2F83-7E2FCC34E33B}"/>
              </a:ext>
            </a:extLst>
          </p:cNvPr>
          <p:cNvGraphicFramePr>
            <a:graphicFrameLocks noGrp="1"/>
          </p:cNvGraphicFramePr>
          <p:nvPr/>
        </p:nvGraphicFramePr>
        <p:xfrm>
          <a:off x="5472530" y="2808591"/>
          <a:ext cx="985617" cy="79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33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64284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66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5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graphicFrame>
        <p:nvGraphicFramePr>
          <p:cNvPr id="100" name="Tabelle 99">
            <a:extLst>
              <a:ext uri="{FF2B5EF4-FFF2-40B4-BE49-F238E27FC236}">
                <a16:creationId xmlns:a16="http://schemas.microsoft.com/office/drawing/2014/main" id="{07BAE0E9-8346-9771-B483-D6FFC56817C7}"/>
              </a:ext>
            </a:extLst>
          </p:cNvPr>
          <p:cNvGraphicFramePr>
            <a:graphicFrameLocks noGrp="1"/>
          </p:cNvGraphicFramePr>
          <p:nvPr/>
        </p:nvGraphicFramePr>
        <p:xfrm>
          <a:off x="7013874" y="2808591"/>
          <a:ext cx="913310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76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31546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101" name="Textfeld 100">
            <a:extLst>
              <a:ext uri="{FF2B5EF4-FFF2-40B4-BE49-F238E27FC236}">
                <a16:creationId xmlns:a16="http://schemas.microsoft.com/office/drawing/2014/main" id="{D5C98117-3B92-E07D-EDCB-7605A1CF3549}"/>
              </a:ext>
            </a:extLst>
          </p:cNvPr>
          <p:cNvSpPr txBox="1"/>
          <p:nvPr/>
        </p:nvSpPr>
        <p:spPr>
          <a:xfrm>
            <a:off x="5402384" y="2661887"/>
            <a:ext cx="934033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VPM-projects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609ACA3-79A3-8D32-37C1-B4C103B82D1E}"/>
              </a:ext>
            </a:extLst>
          </p:cNvPr>
          <p:cNvSpPr txBox="1"/>
          <p:nvPr/>
        </p:nvSpPr>
        <p:spPr>
          <a:xfrm>
            <a:off x="7082002" y="2661887"/>
            <a:ext cx="94525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VEW-projects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E2D9350-4BD1-F4E8-C3EB-D076E93A4692}"/>
              </a:ext>
            </a:extLst>
          </p:cNvPr>
          <p:cNvSpPr txBox="1"/>
          <p:nvPr/>
        </p:nvSpPr>
        <p:spPr>
          <a:xfrm>
            <a:off x="8498532" y="2661887"/>
            <a:ext cx="1273870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App: List special-projects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EE391A1-8357-FB7A-B42F-728C9942F11B}"/>
              </a:ext>
            </a:extLst>
          </p:cNvPr>
          <p:cNvSpPr txBox="1"/>
          <p:nvPr/>
        </p:nvSpPr>
        <p:spPr>
          <a:xfrm>
            <a:off x="1324315" y="3649923"/>
            <a:ext cx="1434170" cy="637542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 err="1"/>
              <a:t>Demands</a:t>
            </a:r>
            <a:r>
              <a:rPr lang="de-DE" sz="900" b="1"/>
              <a:t> &gt; 50 PT</a:t>
            </a:r>
            <a:br>
              <a:rPr lang="de-DE" sz="900" b="1"/>
            </a:br>
            <a:r>
              <a:rPr lang="de-DE" sz="900"/>
              <a:t>As </a:t>
            </a:r>
            <a:r>
              <a:rPr lang="de-DE" sz="900" err="1"/>
              <a:t>part</a:t>
            </a:r>
            <a:r>
              <a:rPr lang="de-DE" sz="900"/>
              <a:t> </a:t>
            </a:r>
            <a:r>
              <a:rPr lang="de-DE" sz="900" err="1"/>
              <a:t>of</a:t>
            </a:r>
            <a:r>
              <a:rPr lang="de-DE" sz="900"/>
              <a:t> a </a:t>
            </a:r>
            <a:r>
              <a:rPr lang="de-DE" sz="900" err="1"/>
              <a:t>business</a:t>
            </a:r>
            <a:r>
              <a:rPr lang="de-DE" sz="900"/>
              <a:t> project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err="1"/>
              <a:t>or</a:t>
            </a:r>
            <a:endParaRPr lang="de-DE" sz="900"/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an </a:t>
            </a:r>
            <a:r>
              <a:rPr lang="de-DE" sz="900" err="1"/>
              <a:t>independent</a:t>
            </a:r>
            <a:r>
              <a:rPr lang="de-DE" sz="900"/>
              <a:t> IT project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782DA232-60C1-31AE-6226-300E44A4CD56}"/>
              </a:ext>
            </a:extLst>
          </p:cNvPr>
          <p:cNvSpPr txBox="1"/>
          <p:nvPr/>
        </p:nvSpPr>
        <p:spPr>
          <a:xfrm>
            <a:off x="3372580" y="2449747"/>
            <a:ext cx="725643" cy="2856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/>
              <a:t>Service </a:t>
            </a:r>
            <a:r>
              <a:rPr lang="de-DE" sz="900" b="1" err="1"/>
              <a:t>Now</a:t>
            </a:r>
            <a:r>
              <a:rPr lang="de-DE" sz="900" b="1"/>
              <a:t>: </a:t>
            </a:r>
            <a:br>
              <a:rPr lang="de-DE" sz="900" b="1"/>
            </a:br>
            <a:r>
              <a:rPr lang="de-DE" sz="900" b="1"/>
              <a:t>IT-</a:t>
            </a:r>
            <a:r>
              <a:rPr lang="de-DE" sz="900" b="1" err="1"/>
              <a:t>Demands</a:t>
            </a:r>
            <a:endParaRPr lang="de-DE" sz="900"/>
          </a:p>
        </p:txBody>
      </p: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77A90D63-32E4-1E32-7465-1F171993B9C6}"/>
              </a:ext>
            </a:extLst>
          </p:cNvPr>
          <p:cNvCxnSpPr>
            <a:cxnSpLocks/>
          </p:cNvCxnSpPr>
          <p:nvPr/>
        </p:nvCxnSpPr>
        <p:spPr>
          <a:xfrm flipH="1" flipV="1">
            <a:off x="2456236" y="3003021"/>
            <a:ext cx="942043" cy="757351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66A2E3F2-0A82-230F-2365-B778C1605583}"/>
              </a:ext>
            </a:extLst>
          </p:cNvPr>
          <p:cNvCxnSpPr>
            <a:cxnSpLocks/>
          </p:cNvCxnSpPr>
          <p:nvPr/>
        </p:nvCxnSpPr>
        <p:spPr>
          <a:xfrm flipH="1" flipV="1">
            <a:off x="2466148" y="3603762"/>
            <a:ext cx="944994" cy="780129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8E3CB375-57A3-6220-AF34-207AB0CF3705}"/>
              </a:ext>
            </a:extLst>
          </p:cNvPr>
          <p:cNvCxnSpPr>
            <a:cxnSpLocks/>
          </p:cNvCxnSpPr>
          <p:nvPr/>
        </p:nvCxnSpPr>
        <p:spPr>
          <a:xfrm flipH="1">
            <a:off x="4825915" y="2981137"/>
            <a:ext cx="665467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2918FC8A-7DB2-C30D-5D40-E31D5F0259C3}"/>
              </a:ext>
            </a:extLst>
          </p:cNvPr>
          <p:cNvCxnSpPr>
            <a:cxnSpLocks/>
          </p:cNvCxnSpPr>
          <p:nvPr/>
        </p:nvCxnSpPr>
        <p:spPr>
          <a:xfrm flipH="1">
            <a:off x="4825915" y="3104155"/>
            <a:ext cx="661202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A7BE1EB5-8862-363B-5A04-DC253B3553A5}"/>
              </a:ext>
            </a:extLst>
          </p:cNvPr>
          <p:cNvCxnSpPr>
            <a:cxnSpLocks/>
          </p:cNvCxnSpPr>
          <p:nvPr/>
        </p:nvCxnSpPr>
        <p:spPr>
          <a:xfrm flipH="1">
            <a:off x="4834332" y="3443353"/>
            <a:ext cx="2185808" cy="53095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12934A8F-937F-4765-DEE7-92AACB0FF3D7}"/>
              </a:ext>
            </a:extLst>
          </p:cNvPr>
          <p:cNvCxnSpPr>
            <a:cxnSpLocks/>
          </p:cNvCxnSpPr>
          <p:nvPr/>
        </p:nvCxnSpPr>
        <p:spPr>
          <a:xfrm flipH="1">
            <a:off x="4834332" y="3586690"/>
            <a:ext cx="2193206" cy="51260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919F219-007F-C633-EFC8-A39024FAEAAF}"/>
              </a:ext>
            </a:extLst>
          </p:cNvPr>
          <p:cNvCxnSpPr>
            <a:cxnSpLocks/>
          </p:cNvCxnSpPr>
          <p:nvPr/>
        </p:nvCxnSpPr>
        <p:spPr>
          <a:xfrm flipH="1">
            <a:off x="4847251" y="3455541"/>
            <a:ext cx="3691701" cy="671165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EDB16928-8578-AEAC-B6FB-8BAA1963712C}"/>
              </a:ext>
            </a:extLst>
          </p:cNvPr>
          <p:cNvCxnSpPr>
            <a:cxnSpLocks/>
          </p:cNvCxnSpPr>
          <p:nvPr/>
        </p:nvCxnSpPr>
        <p:spPr>
          <a:xfrm flipH="1">
            <a:off x="4829394" y="3569758"/>
            <a:ext cx="3764757" cy="69982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feld 162">
            <a:extLst>
              <a:ext uri="{FF2B5EF4-FFF2-40B4-BE49-F238E27FC236}">
                <a16:creationId xmlns:a16="http://schemas.microsoft.com/office/drawing/2014/main" id="{88D72B88-145A-C2D9-98AB-34AE3569EFB7}"/>
              </a:ext>
            </a:extLst>
          </p:cNvPr>
          <p:cNvSpPr txBox="1"/>
          <p:nvPr/>
        </p:nvSpPr>
        <p:spPr>
          <a:xfrm rot="18626663">
            <a:off x="4738043" y="3358649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5A959C67-226C-429A-1030-D1E286C37F01}"/>
              </a:ext>
            </a:extLst>
          </p:cNvPr>
          <p:cNvSpPr txBox="1"/>
          <p:nvPr/>
        </p:nvSpPr>
        <p:spPr>
          <a:xfrm rot="20981616">
            <a:off x="5473063" y="369598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0D38512C-098E-BD7F-3B8C-C6C9E548F725}"/>
              </a:ext>
            </a:extLst>
          </p:cNvPr>
          <p:cNvSpPr txBox="1"/>
          <p:nvPr/>
        </p:nvSpPr>
        <p:spPr>
          <a:xfrm rot="20983576">
            <a:off x="5627520" y="386386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pic>
        <p:nvPicPr>
          <p:cNvPr id="5" name="Grafik 4" descr="Benutzer mit einfarbiger Füllung">
            <a:extLst>
              <a:ext uri="{FF2B5EF4-FFF2-40B4-BE49-F238E27FC236}">
                <a16:creationId xmlns:a16="http://schemas.microsoft.com/office/drawing/2014/main" id="{4179A1DE-F45C-9230-F7B7-B460A1808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8400" y="1236754"/>
            <a:ext cx="779255" cy="77925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B6126-E91B-A390-9382-F524ADA2AC04}"/>
              </a:ext>
            </a:extLst>
          </p:cNvPr>
          <p:cNvCxnSpPr>
            <a:cxnSpLocks/>
          </p:cNvCxnSpPr>
          <p:nvPr/>
        </p:nvCxnSpPr>
        <p:spPr>
          <a:xfrm>
            <a:off x="4018027" y="2062197"/>
            <a:ext cx="0" cy="328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9037A950-6A7D-DCDE-F613-E7840F1E301E}"/>
              </a:ext>
            </a:extLst>
          </p:cNvPr>
          <p:cNvCxnSpPr>
            <a:endCxn id="101" idx="0"/>
          </p:cNvCxnSpPr>
          <p:nvPr/>
        </p:nvCxnSpPr>
        <p:spPr>
          <a:xfrm>
            <a:off x="4018027" y="2059940"/>
            <a:ext cx="1851374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1494FBE0-906F-E5E1-7861-7CA3C5CEE7F4}"/>
              </a:ext>
            </a:extLst>
          </p:cNvPr>
          <p:cNvCxnSpPr>
            <a:cxnSpLocks/>
          </p:cNvCxnSpPr>
          <p:nvPr/>
        </p:nvCxnSpPr>
        <p:spPr>
          <a:xfrm>
            <a:off x="4018026" y="2062197"/>
            <a:ext cx="5052126" cy="609933"/>
          </a:xfrm>
          <a:prstGeom prst="bentConnector3">
            <a:avLst>
              <a:gd name="adj1" fmla="val 1000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9AA1CD77-1AF1-D48C-1DB6-760E4BE05D4D}"/>
              </a:ext>
            </a:extLst>
          </p:cNvPr>
          <p:cNvCxnSpPr/>
          <p:nvPr/>
        </p:nvCxnSpPr>
        <p:spPr>
          <a:xfrm>
            <a:off x="5697304" y="2059703"/>
            <a:ext cx="1851370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44F17F6D-BEE7-BFEA-ABAE-BA96E2CDFE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40574" y="2449747"/>
            <a:ext cx="767050" cy="185102"/>
          </a:xfrm>
          <a:prstGeom prst="bentConnector3">
            <a:avLst>
              <a:gd name="adj1" fmla="val 999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Benutzer mit einfarbiger Füllung">
            <a:extLst>
              <a:ext uri="{FF2B5EF4-FFF2-40B4-BE49-F238E27FC236}">
                <a16:creationId xmlns:a16="http://schemas.microsoft.com/office/drawing/2014/main" id="{088F014B-38E2-0FC8-6228-8D3E9043D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8944" y="2236984"/>
            <a:ext cx="454893" cy="454893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792A68E-F527-F4F9-36B9-8C21883B2979}"/>
              </a:ext>
            </a:extLst>
          </p:cNvPr>
          <p:cNvSpPr txBox="1"/>
          <p:nvPr/>
        </p:nvSpPr>
        <p:spPr>
          <a:xfrm>
            <a:off x="2946547" y="2604882"/>
            <a:ext cx="134134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IT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6152011-2EB8-61CA-02A9-92B741179B3E}"/>
              </a:ext>
            </a:extLst>
          </p:cNvPr>
          <p:cNvSpPr txBox="1"/>
          <p:nvPr/>
        </p:nvSpPr>
        <p:spPr>
          <a:xfrm>
            <a:off x="3696083" y="1848162"/>
            <a:ext cx="64388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Fachbereich</a:t>
            </a:r>
          </a:p>
        </p:txBody>
      </p:sp>
      <p:graphicFrame>
        <p:nvGraphicFramePr>
          <p:cNvPr id="32" name="Tabelle 31">
            <a:extLst>
              <a:ext uri="{FF2B5EF4-FFF2-40B4-BE49-F238E27FC236}">
                <a16:creationId xmlns:a16="http://schemas.microsoft.com/office/drawing/2014/main" id="{677DFA34-DE23-F373-BA74-7A5CE7863EE5}"/>
              </a:ext>
            </a:extLst>
          </p:cNvPr>
          <p:cNvGraphicFramePr>
            <a:graphicFrameLocks noGrp="1"/>
          </p:cNvGraphicFramePr>
          <p:nvPr/>
        </p:nvGraphicFramePr>
        <p:xfrm>
          <a:off x="1076180" y="4645102"/>
          <a:ext cx="1700212" cy="1189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Portfolio</a:t>
                      </a:r>
                    </a:p>
                    <a:p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/>
                        <a:t>IT-Projekte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Special </a:t>
                      </a:r>
                      <a:r>
                        <a:rPr lang="de-DE" sz="900" err="1"/>
                        <a:t>projects</a:t>
                      </a:r>
                      <a:endParaRPr lang="de-DE" sz="900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28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A2CC72A1-9FB2-B367-0D9D-F3A77942A608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4646334"/>
          <a:ext cx="2017611" cy="132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771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1237840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IT-Demand</a:t>
                      </a:r>
                      <a:br>
                        <a:rPr lang="de-DE" sz="900" b="1"/>
                      </a:br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 kern="1200">
                          <a:solidFill>
                            <a:schemeClr val="tx1"/>
                          </a:solidFill>
                        </a:rPr>
                        <a:t>IT-</a:t>
                      </a:r>
                      <a:r>
                        <a:rPr lang="de-DE" sz="900" b="1" kern="1200" err="1">
                          <a:solidFill>
                            <a:schemeClr val="tx1"/>
                          </a:solidFill>
                        </a:rPr>
                        <a:t>Demands</a:t>
                      </a:r>
                      <a:endParaRPr lang="de-DE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381 </a:t>
                      </a:r>
                      <a:br>
                        <a:rPr lang="de-DE" sz="900"/>
                      </a:br>
                      <a:r>
                        <a:rPr lang="de-DE" sz="900"/>
                        <a:t>(235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91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/>
                        <a:t>VPR, VVM, VFI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524 </a:t>
                      </a:r>
                      <a:br>
                        <a:rPr lang="de-DE" sz="900"/>
                      </a:br>
                      <a:r>
                        <a:rPr lang="de-DE" sz="900"/>
                        <a:t>(214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pic>
        <p:nvPicPr>
          <p:cNvPr id="35" name="Grafik 34">
            <a:extLst>
              <a:ext uri="{FF2B5EF4-FFF2-40B4-BE49-F238E27FC236}">
                <a16:creationId xmlns:a16="http://schemas.microsoft.com/office/drawing/2014/main" id="{4AF8AF17-514B-8842-F072-5B6F8BC4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24" y="2469733"/>
            <a:ext cx="795675" cy="150838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A5BFD6C5-45AE-1F85-45AF-18DAE967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5905002" y="2308981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B57F966-416C-2952-4BBA-927A8FC7E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7584275" y="2280325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8244F48-2B48-8E0B-561C-9DD2EDDC7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05" y="2088019"/>
            <a:ext cx="843972" cy="27343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B3CC540B-F762-B676-88D2-1EF8FFAD8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283" y="2375207"/>
            <a:ext cx="803980" cy="230965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2C3E883-FD3C-97B6-B33A-CF012EB2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1151064" y="2296959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103" name="Tabelle 102">
            <a:extLst>
              <a:ext uri="{FF2B5EF4-FFF2-40B4-BE49-F238E27FC236}">
                <a16:creationId xmlns:a16="http://schemas.microsoft.com/office/drawing/2014/main" id="{CB6681F9-451C-E2ED-ACAF-F2814BE0E937}"/>
              </a:ext>
            </a:extLst>
          </p:cNvPr>
          <p:cNvGraphicFramePr>
            <a:graphicFrameLocks noGrp="1"/>
          </p:cNvGraphicFramePr>
          <p:nvPr/>
        </p:nvGraphicFramePr>
        <p:xfrm>
          <a:off x="8512989" y="2808591"/>
          <a:ext cx="961286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72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89562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48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2F8DB34-8C37-92FF-6E38-28B6A3258E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08" imgH="408" progId="TCLayout.ActiveDocument.1">
                  <p:embed/>
                </p:oleObj>
              </mc:Choice>
              <mc:Fallback>
                <p:oleObj name="think-cell Slide" r:id="rId7" imgW="408" imgH="4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F8DB34-8C37-92FF-6E38-28B6A3258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Steuerungs- und Transparenzebenen im Strategischen PPM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Mögliches Zielbild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3C62709-7425-2A42-58D3-F8A5CA6A5524}"/>
              </a:ext>
            </a:extLst>
          </p:cNvPr>
          <p:cNvGrpSpPr/>
          <p:nvPr/>
        </p:nvGrpSpPr>
        <p:grpSpPr>
          <a:xfrm>
            <a:off x="9007463" y="1563977"/>
            <a:ext cx="2595619" cy="4441696"/>
            <a:chOff x="479426" y="1059850"/>
            <a:chExt cx="3152774" cy="5394926"/>
          </a:xfrm>
        </p:grpSpPr>
        <p:sp>
          <p:nvSpPr>
            <p:cNvPr id="14" name="Frame 1035">
              <a:extLst>
                <a:ext uri="{FF2B5EF4-FFF2-40B4-BE49-F238E27FC236}">
                  <a16:creationId xmlns:a16="http://schemas.microsoft.com/office/drawing/2014/main" id="{E0B16674-3270-7335-C781-0D4B3C26088D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ame 1036">
              <a:extLst>
                <a:ext uri="{FF2B5EF4-FFF2-40B4-BE49-F238E27FC236}">
                  <a16:creationId xmlns:a16="http://schemas.microsoft.com/office/drawing/2014/main" id="{3EB83888-A6FF-EA98-3ABD-E8D4433B8643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ame 1037">
              <a:extLst>
                <a:ext uri="{FF2B5EF4-FFF2-40B4-BE49-F238E27FC236}">
                  <a16:creationId xmlns:a16="http://schemas.microsoft.com/office/drawing/2014/main" id="{4F45D64C-F494-8AE1-9F57-04A73964F0C7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ame 1038">
              <a:extLst>
                <a:ext uri="{FF2B5EF4-FFF2-40B4-BE49-F238E27FC236}">
                  <a16:creationId xmlns:a16="http://schemas.microsoft.com/office/drawing/2014/main" id="{68804FE1-77C3-7F5A-05A8-9902F9251FA6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774C311-9845-63B4-995A-0CF51D58645B}"/>
              </a:ext>
            </a:extLst>
          </p:cNvPr>
          <p:cNvGrpSpPr/>
          <p:nvPr/>
        </p:nvGrpSpPr>
        <p:grpSpPr>
          <a:xfrm>
            <a:off x="3507564" y="1593345"/>
            <a:ext cx="2595619" cy="4441696"/>
            <a:chOff x="479426" y="1059850"/>
            <a:chExt cx="3152774" cy="5394926"/>
          </a:xfrm>
        </p:grpSpPr>
        <p:sp>
          <p:nvSpPr>
            <p:cNvPr id="19" name="Frame 1035">
              <a:extLst>
                <a:ext uri="{FF2B5EF4-FFF2-40B4-BE49-F238E27FC236}">
                  <a16:creationId xmlns:a16="http://schemas.microsoft.com/office/drawing/2014/main" id="{2AE917E4-FF9A-0CBF-B6B1-8BF1670D53AA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ame 1036">
              <a:extLst>
                <a:ext uri="{FF2B5EF4-FFF2-40B4-BE49-F238E27FC236}">
                  <a16:creationId xmlns:a16="http://schemas.microsoft.com/office/drawing/2014/main" id="{3B425F85-5688-8155-B530-F3107D83834A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ame 1037">
              <a:extLst>
                <a:ext uri="{FF2B5EF4-FFF2-40B4-BE49-F238E27FC236}">
                  <a16:creationId xmlns:a16="http://schemas.microsoft.com/office/drawing/2014/main" id="{76A71962-E781-1A7F-CF01-59F625A69E1F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ame 1038">
              <a:extLst>
                <a:ext uri="{FF2B5EF4-FFF2-40B4-BE49-F238E27FC236}">
                  <a16:creationId xmlns:a16="http://schemas.microsoft.com/office/drawing/2014/main" id="{7785388A-FDB9-F787-0146-4E34ABBAEF74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724F71D0-6256-E75C-B3DF-360A6665983B}"/>
              </a:ext>
            </a:extLst>
          </p:cNvPr>
          <p:cNvSpPr/>
          <p:nvPr/>
        </p:nvSpPr>
        <p:spPr>
          <a:xfrm>
            <a:off x="8623069" y="1508973"/>
            <a:ext cx="3400113" cy="669600"/>
          </a:xfrm>
          <a:custGeom>
            <a:avLst/>
            <a:gdLst>
              <a:gd name="csX0" fmla="*/ 0 w 3400113"/>
              <a:gd name="csY0" fmla="*/ 0 h 669600"/>
              <a:gd name="csX1" fmla="*/ 714024 w 3400113"/>
              <a:gd name="csY1" fmla="*/ 0 h 669600"/>
              <a:gd name="csX2" fmla="*/ 1360045 w 3400113"/>
              <a:gd name="csY2" fmla="*/ 0 h 669600"/>
              <a:gd name="csX3" fmla="*/ 2040068 w 3400113"/>
              <a:gd name="csY3" fmla="*/ 0 h 669600"/>
              <a:gd name="csX4" fmla="*/ 2652088 w 3400113"/>
              <a:gd name="csY4" fmla="*/ 0 h 669600"/>
              <a:gd name="csX5" fmla="*/ 3400113 w 3400113"/>
              <a:gd name="csY5" fmla="*/ 0 h 669600"/>
              <a:gd name="csX6" fmla="*/ 3400113 w 3400113"/>
              <a:gd name="csY6" fmla="*/ 669600 h 669600"/>
              <a:gd name="csX7" fmla="*/ 2720090 w 3400113"/>
              <a:gd name="csY7" fmla="*/ 669600 h 669600"/>
              <a:gd name="csX8" fmla="*/ 1972066 w 3400113"/>
              <a:gd name="csY8" fmla="*/ 669600 h 669600"/>
              <a:gd name="csX9" fmla="*/ 1394046 w 3400113"/>
              <a:gd name="csY9" fmla="*/ 669600 h 669600"/>
              <a:gd name="csX10" fmla="*/ 782026 w 3400113"/>
              <a:gd name="csY10" fmla="*/ 669600 h 669600"/>
              <a:gd name="csX11" fmla="*/ 0 w 3400113"/>
              <a:gd name="csY11" fmla="*/ 669600 h 669600"/>
              <a:gd name="csX12" fmla="*/ 0 w 3400113"/>
              <a:gd name="csY12" fmla="*/ 0 h 66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9600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367510" y="273310"/>
                  <a:pt x="3392956" y="478077"/>
                  <a:pt x="3400113" y="669600"/>
                </a:cubicBezTo>
                <a:cubicBezTo>
                  <a:pt x="3079102" y="700339"/>
                  <a:pt x="2868779" y="680658"/>
                  <a:pt x="2720090" y="669600"/>
                </a:cubicBezTo>
                <a:cubicBezTo>
                  <a:pt x="2571401" y="658542"/>
                  <a:pt x="2252113" y="640100"/>
                  <a:pt x="1972066" y="669600"/>
                </a:cubicBezTo>
                <a:cubicBezTo>
                  <a:pt x="1692019" y="699100"/>
                  <a:pt x="1537115" y="671484"/>
                  <a:pt x="1394046" y="669600"/>
                </a:cubicBezTo>
                <a:cubicBezTo>
                  <a:pt x="1250977" y="667716"/>
                  <a:pt x="1075808" y="671094"/>
                  <a:pt x="782026" y="669600"/>
                </a:cubicBezTo>
                <a:cubicBezTo>
                  <a:pt x="488244" y="668106"/>
                  <a:pt x="293745" y="694482"/>
                  <a:pt x="0" y="669600"/>
                </a:cubicBezTo>
                <a:cubicBezTo>
                  <a:pt x="-12094" y="444193"/>
                  <a:pt x="23794" y="23118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ISS Backlog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AB35A1-2D8B-BDC5-378F-A63D53F3B8E8}"/>
              </a:ext>
            </a:extLst>
          </p:cNvPr>
          <p:cNvSpPr/>
          <p:nvPr/>
        </p:nvSpPr>
        <p:spPr>
          <a:xfrm>
            <a:off x="3123170" y="1510944"/>
            <a:ext cx="3400113" cy="667629"/>
          </a:xfrm>
          <a:custGeom>
            <a:avLst/>
            <a:gdLst>
              <a:gd name="csX0" fmla="*/ 0 w 3400113"/>
              <a:gd name="csY0" fmla="*/ 0 h 667629"/>
              <a:gd name="csX1" fmla="*/ 714024 w 3400113"/>
              <a:gd name="csY1" fmla="*/ 0 h 667629"/>
              <a:gd name="csX2" fmla="*/ 1360045 w 3400113"/>
              <a:gd name="csY2" fmla="*/ 0 h 667629"/>
              <a:gd name="csX3" fmla="*/ 2040068 w 3400113"/>
              <a:gd name="csY3" fmla="*/ 0 h 667629"/>
              <a:gd name="csX4" fmla="*/ 2652088 w 3400113"/>
              <a:gd name="csY4" fmla="*/ 0 h 667629"/>
              <a:gd name="csX5" fmla="*/ 3400113 w 3400113"/>
              <a:gd name="csY5" fmla="*/ 0 h 667629"/>
              <a:gd name="csX6" fmla="*/ 3400113 w 3400113"/>
              <a:gd name="csY6" fmla="*/ 667629 h 667629"/>
              <a:gd name="csX7" fmla="*/ 2720090 w 3400113"/>
              <a:gd name="csY7" fmla="*/ 667629 h 667629"/>
              <a:gd name="csX8" fmla="*/ 1972066 w 3400113"/>
              <a:gd name="csY8" fmla="*/ 667629 h 667629"/>
              <a:gd name="csX9" fmla="*/ 1394046 w 3400113"/>
              <a:gd name="csY9" fmla="*/ 667629 h 667629"/>
              <a:gd name="csX10" fmla="*/ 782026 w 3400113"/>
              <a:gd name="csY10" fmla="*/ 667629 h 667629"/>
              <a:gd name="csX11" fmla="*/ 0 w 3400113"/>
              <a:gd name="csY11" fmla="*/ 667629 h 667629"/>
              <a:gd name="csX12" fmla="*/ 0 w 3400113"/>
              <a:gd name="csY12" fmla="*/ 0 h 667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7629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426744" y="251787"/>
                  <a:pt x="3369986" y="507081"/>
                  <a:pt x="3400113" y="667629"/>
                </a:cubicBezTo>
                <a:cubicBezTo>
                  <a:pt x="3079102" y="698368"/>
                  <a:pt x="2868779" y="678687"/>
                  <a:pt x="2720090" y="667629"/>
                </a:cubicBezTo>
                <a:cubicBezTo>
                  <a:pt x="2571401" y="656571"/>
                  <a:pt x="2252113" y="638129"/>
                  <a:pt x="1972066" y="667629"/>
                </a:cubicBezTo>
                <a:cubicBezTo>
                  <a:pt x="1692019" y="697129"/>
                  <a:pt x="1537115" y="669513"/>
                  <a:pt x="1394046" y="667629"/>
                </a:cubicBezTo>
                <a:cubicBezTo>
                  <a:pt x="1250977" y="665745"/>
                  <a:pt x="1075808" y="669123"/>
                  <a:pt x="782026" y="667629"/>
                </a:cubicBezTo>
                <a:cubicBezTo>
                  <a:pt x="488244" y="666135"/>
                  <a:pt x="293745" y="692511"/>
                  <a:pt x="0" y="667629"/>
                </a:cubicBezTo>
                <a:cubicBezTo>
                  <a:pt x="-29856" y="525735"/>
                  <a:pt x="-14318" y="294065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Portfolio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DCA726-A9EF-3DCA-E982-055B81B0B254}"/>
              </a:ext>
            </a:extLst>
          </p:cNvPr>
          <p:cNvGrpSpPr/>
          <p:nvPr/>
        </p:nvGrpSpPr>
        <p:grpSpPr>
          <a:xfrm>
            <a:off x="5979793" y="2706983"/>
            <a:ext cx="3138688" cy="2521679"/>
            <a:chOff x="477838" y="1726219"/>
            <a:chExt cx="3430019" cy="2668741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C817B96-719F-2D81-0D03-C1CC81E228C4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1A01835-790D-37D5-C661-F1AE9F6D219C}"/>
                </a:ext>
              </a:extLst>
            </p:cNvPr>
            <p:cNvGrpSpPr/>
            <p:nvPr/>
          </p:nvGrpSpPr>
          <p:grpSpPr>
            <a:xfrm>
              <a:off x="770030" y="1842814"/>
              <a:ext cx="344126" cy="344124"/>
              <a:chOff x="7851517" y="3047957"/>
              <a:chExt cx="344126" cy="344124"/>
            </a:xfrm>
          </p:grpSpPr>
          <p:sp>
            <p:nvSpPr>
              <p:cNvPr id="38" name="Rechteck 37">
                <a:hlinkClick r:id="" action="ppaction://noaction"/>
                <a:extLst>
                  <a:ext uri="{FF2B5EF4-FFF2-40B4-BE49-F238E27FC236}">
                    <a16:creationId xmlns:a16="http://schemas.microsoft.com/office/drawing/2014/main" id="{98C56FCD-AE9F-1214-EE50-4CA113F6853B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906011" y="3096730"/>
                <a:ext cx="203749" cy="246221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!</a:t>
                </a:r>
              </a:p>
            </p:txBody>
          </p:sp>
          <p:sp>
            <p:nvSpPr>
              <p:cNvPr id="39" name="Freeform 150">
                <a:extLst>
                  <a:ext uri="{FF2B5EF4-FFF2-40B4-BE49-F238E27FC236}">
                    <a16:creationId xmlns:a16="http://schemas.microsoft.com/office/drawing/2014/main" id="{55B7B357-892D-E878-02DC-27947CB9B550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51517" y="3047957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5150E25-88A4-300C-E59E-7C0A0F34C5A9}"/>
                </a:ext>
              </a:extLst>
            </p:cNvPr>
            <p:cNvSpPr txBox="1"/>
            <p:nvPr/>
          </p:nvSpPr>
          <p:spPr>
            <a:xfrm>
              <a:off x="1221678" y="1904075"/>
              <a:ext cx="2058256" cy="2215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/>
                <a:t>Demand </a:t>
              </a:r>
              <a:r>
                <a:rPr lang="en-US" sz="1600" b="1" noProof="0" err="1"/>
                <a:t>als</a:t>
              </a:r>
              <a:r>
                <a:rPr lang="en-US" sz="1600" b="1" noProof="0"/>
                <a:t> Connector</a:t>
              </a:r>
            </a:p>
          </p:txBody>
        </p:sp>
      </p:grpSp>
      <p:pic>
        <p:nvPicPr>
          <p:cNvPr id="41" name="Grafik 40">
            <a:extLst>
              <a:ext uri="{FF2B5EF4-FFF2-40B4-BE49-F238E27FC236}">
                <a16:creationId xmlns:a16="http://schemas.microsoft.com/office/drawing/2014/main" id="{555717AD-8CB6-668A-9CC1-26AC184E5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7192" y="3252484"/>
            <a:ext cx="1797971" cy="932308"/>
          </a:xfrm>
          <a:prstGeom prst="rect">
            <a:avLst/>
          </a:prstGeom>
        </p:spPr>
      </p:pic>
      <p:sp>
        <p:nvSpPr>
          <p:cNvPr id="42" name="Rechteck 41">
            <a:hlinkClick r:id="" action="ppaction://noaction"/>
            <a:extLst>
              <a:ext uri="{FF2B5EF4-FFF2-40B4-BE49-F238E27FC236}">
                <a16:creationId xmlns:a16="http://schemas.microsoft.com/office/drawing/2014/main" id="{99F289C6-41C3-D365-41C7-C50E808842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59888" y="1719355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>
                <a:solidFill>
                  <a:schemeClr val="tx1"/>
                </a:solidFill>
              </a:rPr>
              <a:t>1</a:t>
            </a:r>
            <a:endParaRPr lang="en-US" sz="1600" b="1" noProof="0">
              <a:solidFill>
                <a:schemeClr val="tx1"/>
              </a:solidFill>
            </a:endParaRPr>
          </a:p>
        </p:txBody>
      </p:sp>
      <p:sp>
        <p:nvSpPr>
          <p:cNvPr id="43" name="Freeform 150">
            <a:extLst>
              <a:ext uri="{FF2B5EF4-FFF2-40B4-BE49-F238E27FC236}">
                <a16:creationId xmlns:a16="http://schemas.microsoft.com/office/drawing/2014/main" id="{A3C6E60B-02DF-079C-0364-559D5C74BBA8}"/>
              </a:ext>
            </a:extLst>
          </p:cNvPr>
          <p:cNvSpPr>
            <a:spLocks noEditPoints="1"/>
          </p:cNvSpPr>
          <p:nvPr/>
        </p:nvSpPr>
        <p:spPr bwMode="gray">
          <a:xfrm>
            <a:off x="3989700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 43">
            <a:hlinkClick r:id="" action="ppaction://noaction"/>
            <a:extLst>
              <a:ext uri="{FF2B5EF4-FFF2-40B4-BE49-F238E27FC236}">
                <a16:creationId xmlns:a16="http://schemas.microsoft.com/office/drawing/2014/main" id="{6E7837BC-41CE-6B72-21EF-841EAE7CA6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30856" y="1729693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 noProof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Freeform 150">
            <a:extLst>
              <a:ext uri="{FF2B5EF4-FFF2-40B4-BE49-F238E27FC236}">
                <a16:creationId xmlns:a16="http://schemas.microsoft.com/office/drawing/2014/main" id="{AA7861AB-C4C3-4E3F-0FFA-4B31C09D2670}"/>
              </a:ext>
            </a:extLst>
          </p:cNvPr>
          <p:cNvSpPr>
            <a:spLocks noEditPoints="1"/>
          </p:cNvSpPr>
          <p:nvPr/>
        </p:nvSpPr>
        <p:spPr bwMode="gray">
          <a:xfrm>
            <a:off x="9360927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5484D63-760C-B999-D780-DA2A629B9BA0}"/>
              </a:ext>
            </a:extLst>
          </p:cNvPr>
          <p:cNvSpPr txBox="1"/>
          <p:nvPr/>
        </p:nvSpPr>
        <p:spPr>
          <a:xfrm>
            <a:off x="3655434" y="3510428"/>
            <a:ext cx="2127127" cy="2077936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Übersicht / Transparenz </a:t>
            </a:r>
            <a:r>
              <a:rPr lang="de-DE" sz="1400"/>
              <a:t>zu allen geplanten und laufenden (Sonder)-Projekten gemäß Freigaben in der Jahresplanung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Managen / Nachhalten von </a:t>
            </a:r>
            <a:r>
              <a:rPr lang="de-DE" sz="1400" b="1"/>
              <a:t>Abhängigkeiten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Erfassung der </a:t>
            </a:r>
            <a:r>
              <a:rPr lang="de-DE" sz="1400" b="1"/>
              <a:t>Demand-Nr.</a:t>
            </a:r>
            <a:r>
              <a:rPr lang="de-DE" sz="1400"/>
              <a:t>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E32B803-BD65-3A87-E7B9-68EB3B636F8B}"/>
              </a:ext>
            </a:extLst>
          </p:cNvPr>
          <p:cNvSpPr txBox="1"/>
          <p:nvPr/>
        </p:nvSpPr>
        <p:spPr>
          <a:xfrm>
            <a:off x="9326519" y="2572231"/>
            <a:ext cx="2127127" cy="295612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Arbeitsvorrat</a:t>
            </a:r>
            <a:r>
              <a:rPr lang="de-DE" sz="1400"/>
              <a:t> im ISS Kontext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Könnte als Value Streams geclustert werden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Agile Abarbeitung </a:t>
            </a:r>
            <a:r>
              <a:rPr lang="de-DE" sz="1400"/>
              <a:t>partiell möglich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Steuerung von </a:t>
            </a:r>
            <a:r>
              <a:rPr lang="de-DE" sz="1400" b="1"/>
              <a:t>Schlüssel-Ressourcen</a:t>
            </a:r>
            <a:r>
              <a:rPr lang="de-DE" sz="1400"/>
              <a:t> ist Herausforderung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Abwägung der </a:t>
            </a:r>
            <a:r>
              <a:rPr lang="de-DE" sz="1400" b="1"/>
              <a:t>resultierenden Betriebskosten </a:t>
            </a:r>
            <a:r>
              <a:rPr lang="de-DE" sz="1400"/>
              <a:t>bereits bei Projektanbahnung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F5AFC25-9EF9-C5D1-F7AD-E6AE70B35961}"/>
              </a:ext>
            </a:extLst>
          </p:cNvPr>
          <p:cNvGrpSpPr/>
          <p:nvPr/>
        </p:nvGrpSpPr>
        <p:grpSpPr>
          <a:xfrm>
            <a:off x="7247946" y="5396808"/>
            <a:ext cx="628283" cy="599842"/>
            <a:chOff x="6482488" y="2284840"/>
            <a:chExt cx="628283" cy="599842"/>
          </a:xfrm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61835176-7C70-E1A8-18FA-7BDEDB4EBFE6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F17779A3-8BD8-A3CD-024A-40BB1F590F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EF649992-6E22-A9AC-E42C-1FAF2A80E307}"/>
              </a:ext>
            </a:extLst>
          </p:cNvPr>
          <p:cNvGrpSpPr/>
          <p:nvPr/>
        </p:nvGrpSpPr>
        <p:grpSpPr>
          <a:xfrm>
            <a:off x="1528842" y="5373030"/>
            <a:ext cx="628283" cy="599842"/>
            <a:chOff x="6482488" y="2284840"/>
            <a:chExt cx="628283" cy="599842"/>
          </a:xfrm>
        </p:grpSpPr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DE36E804-05DA-5879-6E40-E4FCE2E511EE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CCA44671-5DDC-0563-4890-DB0A097FE9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1E455A3-DBB8-F2D4-4FA8-55C90C3DA7FA}"/>
              </a:ext>
            </a:extLst>
          </p:cNvPr>
          <p:cNvGrpSpPr/>
          <p:nvPr/>
        </p:nvGrpSpPr>
        <p:grpSpPr>
          <a:xfrm>
            <a:off x="475726" y="2706264"/>
            <a:ext cx="3132000" cy="2520000"/>
            <a:chOff x="477838" y="1726219"/>
            <a:chExt cx="3430019" cy="266874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1E14051-8B27-ED1D-7573-786E183ABEC8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E02C89F7-09A6-04E3-659A-DC578713390B}"/>
                </a:ext>
              </a:extLst>
            </p:cNvPr>
            <p:cNvGrpSpPr/>
            <p:nvPr/>
          </p:nvGrpSpPr>
          <p:grpSpPr>
            <a:xfrm>
              <a:off x="791141" y="1843693"/>
              <a:ext cx="344126" cy="344124"/>
              <a:chOff x="7872628" y="3048836"/>
              <a:chExt cx="344126" cy="344124"/>
            </a:xfrm>
          </p:grpSpPr>
          <p:sp>
            <p:nvSpPr>
              <p:cNvPr id="60" name="Rechteck 59">
                <a:hlinkClick r:id="" action="ppaction://noaction"/>
                <a:extLst>
                  <a:ext uri="{FF2B5EF4-FFF2-40B4-BE49-F238E27FC236}">
                    <a16:creationId xmlns:a16="http://schemas.microsoft.com/office/drawing/2014/main" id="{D53D0D64-A13C-D62E-38AE-2295DF19AFA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942815" y="3090521"/>
                <a:ext cx="203749" cy="260754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?</a:t>
                </a:r>
              </a:p>
            </p:txBody>
          </p:sp>
          <p:sp>
            <p:nvSpPr>
              <p:cNvPr id="61" name="Freeform 150">
                <a:extLst>
                  <a:ext uri="{FF2B5EF4-FFF2-40B4-BE49-F238E27FC236}">
                    <a16:creationId xmlns:a16="http://schemas.microsoft.com/office/drawing/2014/main" id="{67F18C15-A8D6-BEC3-6FB2-2BF5E81AD04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72628" y="3048836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86F968A-F5ED-18C5-62E2-B2DAC9F9E269}"/>
                </a:ext>
              </a:extLst>
            </p:cNvPr>
            <p:cNvSpPr txBox="1"/>
            <p:nvPr/>
          </p:nvSpPr>
          <p:spPr>
            <a:xfrm>
              <a:off x="1242788" y="1904955"/>
              <a:ext cx="2046951" cy="2346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 err="1"/>
                <a:t>Vorarbeit</a:t>
              </a:r>
              <a:r>
                <a:rPr lang="en-US" sz="1600" b="1" noProof="0"/>
                <a:t> </a:t>
              </a:r>
              <a:r>
                <a:rPr lang="en-US" sz="1200" b="1" noProof="0"/>
                <a:t>(</a:t>
              </a:r>
              <a:r>
                <a:rPr lang="en-US" sz="1200" b="1" noProof="0" err="1"/>
                <a:t>aufzubauen</a:t>
              </a:r>
              <a:r>
                <a:rPr lang="en-US" sz="1200" b="1" noProof="0"/>
                <a:t>!)</a:t>
              </a:r>
            </a:p>
          </p:txBody>
        </p: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6999CF74-3EC2-2B96-DB98-5434AF1CBCE1}"/>
              </a:ext>
            </a:extLst>
          </p:cNvPr>
          <p:cNvSpPr txBox="1"/>
          <p:nvPr/>
        </p:nvSpPr>
        <p:spPr>
          <a:xfrm>
            <a:off x="6049290" y="4278187"/>
            <a:ext cx="2999694" cy="811949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Herausarbeiten und Dokumentieren der </a:t>
            </a:r>
            <a:r>
              <a:rPr lang="de-DE" sz="1400" b="1"/>
              <a:t>Anforderungen</a:t>
            </a:r>
            <a:r>
              <a:rPr lang="de-DE" sz="1400"/>
              <a:t> an bestehende / neue IT-Systeme (z.B. Central </a:t>
            </a:r>
            <a:r>
              <a:rPr lang="de-DE" sz="1400" err="1"/>
              <a:t>Logistic</a:t>
            </a:r>
            <a:r>
              <a:rPr lang="de-DE" sz="1400"/>
              <a:t> Entity </a:t>
            </a:r>
            <a:r>
              <a:rPr lang="de-DE" sz="1400">
                <a:sym typeface="Wingdings" panose="05000000000000000000" pitchFamily="2" charset="2"/>
              </a:rPr>
              <a:t> SAP-Template)</a:t>
            </a:r>
            <a:endParaRPr lang="de-DE" sz="1400"/>
          </a:p>
        </p:txBody>
      </p:sp>
      <p:pic>
        <p:nvPicPr>
          <p:cNvPr id="64" name="Grafik 63">
            <a:extLst>
              <a:ext uri="{FF2B5EF4-FFF2-40B4-BE49-F238E27FC236}">
                <a16:creationId xmlns:a16="http://schemas.microsoft.com/office/drawing/2014/main" id="{57373B7F-2C54-2361-3856-BA0FDFB33C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8235"/>
          <a:stretch>
            <a:fillRect/>
          </a:stretch>
        </p:blipFill>
        <p:spPr>
          <a:xfrm>
            <a:off x="3691617" y="2230561"/>
            <a:ext cx="2209587" cy="1229138"/>
          </a:xfrm>
          <a:prstGeom prst="rect">
            <a:avLst/>
          </a:prstGeom>
        </p:spPr>
      </p:pic>
      <p:sp>
        <p:nvSpPr>
          <p:cNvPr id="65" name="Textfeld 64">
            <a:extLst>
              <a:ext uri="{FF2B5EF4-FFF2-40B4-BE49-F238E27FC236}">
                <a16:creationId xmlns:a16="http://schemas.microsoft.com/office/drawing/2014/main" id="{A6ABA410-70A2-4B45-603F-9EB344AEA82D}"/>
              </a:ext>
            </a:extLst>
          </p:cNvPr>
          <p:cNvSpPr txBox="1"/>
          <p:nvPr/>
        </p:nvSpPr>
        <p:spPr>
          <a:xfrm>
            <a:off x="633907" y="3374399"/>
            <a:ext cx="2849191" cy="1690138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Aufbau eines </a:t>
            </a:r>
            <a:r>
              <a:rPr lang="de-DE" sz="1400" b="1"/>
              <a:t>Gremiums</a:t>
            </a:r>
            <a:r>
              <a:rPr lang="de-DE" sz="1400"/>
              <a:t> zur Portfolio-Strukturierung nach </a:t>
            </a:r>
            <a:r>
              <a:rPr lang="de-DE" sz="1400" b="1"/>
              <a:t>Dringlichkeit</a:t>
            </a:r>
            <a:r>
              <a:rPr lang="de-DE" sz="1400"/>
              <a:t> und </a:t>
            </a:r>
            <a:r>
              <a:rPr lang="de-DE" sz="1400" b="1"/>
              <a:t>Wichtigkeit </a:t>
            </a:r>
            <a:r>
              <a:rPr lang="de-DE" sz="1400"/>
              <a:t>unter Steuerung von SCD / SEH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Frühe </a:t>
            </a:r>
            <a:r>
              <a:rPr lang="de-DE" sz="1400" b="1"/>
              <a:t>Eskalation</a:t>
            </a:r>
            <a:r>
              <a:rPr lang="de-DE" sz="1400"/>
              <a:t> und Umschichtung</a:t>
            </a:r>
            <a:endParaRPr lang="de-DE" sz="1400" b="1"/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Aufnahme in </a:t>
            </a:r>
            <a:r>
              <a:rPr lang="de-DE" sz="1400" b="1"/>
              <a:t>Business Needs Management</a:t>
            </a:r>
            <a:r>
              <a:rPr lang="de-DE" sz="1400"/>
              <a:t>-Prozess </a:t>
            </a:r>
          </a:p>
        </p:txBody>
      </p:sp>
    </p:spTree>
    <p:extLst>
      <p:ext uri="{BB962C8B-B14F-4D97-AF65-F5344CB8AC3E}">
        <p14:creationId xmlns:p14="http://schemas.microsoft.com/office/powerpoint/2010/main" val="1812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8AFFF-B98D-F235-7283-FAAC236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38CCA-54E5-CEC8-86A8-F8C787CC5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D0C8-777E-4D36-E26A-3FABF7D6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29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Ausgangslange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/>
              <a:t>Fragmentierte Systemlandschaft, viele Zuständigkeiten und Parallel-Prozesse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0361F-97D2-5DA9-356A-D12C465E0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6" y="1709478"/>
            <a:ext cx="8595318" cy="40448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CB9EC59-67C1-C3D5-223F-6E124E0C48E7}"/>
              </a:ext>
            </a:extLst>
          </p:cNvPr>
          <p:cNvSpPr txBox="1"/>
          <p:nvPr/>
        </p:nvSpPr>
        <p:spPr>
          <a:xfrm>
            <a:off x="8704810" y="1373557"/>
            <a:ext cx="32669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u="sng">
                <a:solidFill>
                  <a:schemeClr val="accent2"/>
                </a:solidFill>
              </a:rPr>
              <a:t>Main Pain-Points</a:t>
            </a:r>
            <a:endParaRPr lang="de-DE" sz="1600" u="sng">
              <a:solidFill>
                <a:schemeClr val="accent2"/>
              </a:solidFill>
            </a:endParaRP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Medien- und Systembrüche </a:t>
            </a:r>
            <a:br>
              <a:rPr lang="de-DE" sz="1600" b="1"/>
            </a:b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viele manuelle und parallele </a:t>
            </a:r>
            <a:r>
              <a:rPr lang="de-DE" sz="1600"/>
              <a:t>(</a:t>
            </a:r>
            <a:r>
              <a:rPr lang="de-DE" sz="1600" err="1"/>
              <a:t>tw</a:t>
            </a:r>
            <a:r>
              <a:rPr lang="de-DE" sz="1600"/>
              <a:t>. unabgestimmte) </a:t>
            </a:r>
            <a:r>
              <a:rPr lang="de-DE" sz="1600" b="1"/>
              <a:t>Prozesse</a:t>
            </a: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Bereichsübergreifende </a:t>
            </a:r>
            <a:r>
              <a:rPr lang="de-DE" sz="1600" b="1"/>
              <a:t>Intransparenz</a:t>
            </a:r>
            <a:r>
              <a:rPr lang="de-DE" sz="1600"/>
              <a:t> bei Status, Ressourcen und Kosten.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Inkonsistenzen</a:t>
            </a:r>
            <a:r>
              <a:rPr lang="de-DE" sz="1600"/>
              <a:t> und erhöhter </a:t>
            </a:r>
            <a:r>
              <a:rPr lang="de-DE" sz="1600" b="1"/>
              <a:t>Abstimmungsaufwand</a:t>
            </a:r>
            <a:r>
              <a:rPr lang="de-DE" sz="1600"/>
              <a:t>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Projektmanagement </a:t>
            </a:r>
            <a:r>
              <a:rPr lang="de-DE" sz="1600" b="1"/>
              <a:t>uneinheitlich</a:t>
            </a:r>
            <a:r>
              <a:rPr lang="de-DE" sz="1600"/>
              <a:t> mit abgekündigten und nicht mehr supporteten Tools</a:t>
            </a:r>
            <a:br>
              <a:rPr lang="de-DE" sz="1600"/>
            </a:br>
            <a:r>
              <a:rPr lang="de-DE" sz="1600"/>
              <a:t>(PIT, Microsoft Project Online)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Fehlende Datenstruktur/ Datenbank</a:t>
            </a:r>
            <a:endParaRPr lang="de-DE"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F41C01-4C0D-FE56-DA64-8ECBA085DE52}"/>
              </a:ext>
            </a:extLst>
          </p:cNvPr>
          <p:cNvSpPr txBox="1"/>
          <p:nvPr/>
        </p:nvSpPr>
        <p:spPr>
          <a:xfrm flipH="1">
            <a:off x="6894873" y="5727700"/>
            <a:ext cx="1792181" cy="18870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de-DE" sz="1100" i="1"/>
              <a:t>Schematische Darstellung</a:t>
            </a:r>
          </a:p>
        </p:txBody>
      </p:sp>
    </p:spTree>
    <p:extLst>
      <p:ext uri="{BB962C8B-B14F-4D97-AF65-F5344CB8AC3E}">
        <p14:creationId xmlns:p14="http://schemas.microsoft.com/office/powerpoint/2010/main" val="2978060235"/>
      </p:ext>
    </p:extLst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 – Plattform, SPM Pro und STIHL-Kontext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Industriestandard, Pro-Modul für Strategic Portfolio Management und bestehende STIHL-Basis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609600"/>
            <a:ext cx="3784600" cy="2895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800" y="609600"/>
            <a:ext cx="37846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ServiceNow Now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4800" y="914400"/>
            <a:ext cx="3784600" cy="2590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960120"/>
            <a:ext cx="3662679" cy="2514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1F2937"/>
                </a:solidFill>
                <a:latin typeface="Calibri"/>
              </a:rPr>
              <a:t>Cloud-native Workflow-Plattform – eine Datenbasis für IT, Mitarbeiter, Kunden, Risiko</a:t>
            </a:r>
          </a:p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Produktbreite (Auswahl):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•  IT Service Management (ITSM) &amp; IT Operations (ITOM)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•  Strategic Portfolio Management (SPM)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•  HR Service Delivery &amp; Employee Experience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•  Customer Service Management (CSM)</a:t>
            </a:r>
          </a:p>
          <a:p>
            <a:pPr algn="l">
              <a:spcAft>
                <a:spcPts val="8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•  Security Operations &amp; Governance, Risk, Compliance</a:t>
            </a:r>
          </a:p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Plattform-Bausteine: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•  Workflow Engine, Now Assist (KI), Performance Analytics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•  App Engine / Low-Code Studio – kundenspezifische Apps ohne Eigenentwicklung</a:t>
            </a:r>
          </a:p>
          <a:p>
            <a:pPr algn="l">
              <a:spcAft>
                <a:spcPts val="8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•  Integration Hub – Standard-Konnektoren zu SAP, AD, Cloud-Diensten</a:t>
            </a:r>
          </a:p>
          <a:p>
            <a:pPr algn="l"/>
            <a:r>
              <a:rPr sz="1000" b="1" i="0">
                <a:solidFill>
                  <a:srgbClr val="F07F12"/>
                </a:solidFill>
                <a:latin typeface="Calibri"/>
              </a:rPr>
              <a:t>&gt; 85 % der Fortune 500 nutzen ServiceNow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3700" y="609600"/>
            <a:ext cx="3784600" cy="2895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3700" y="609600"/>
            <a:ext cx="37846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ServiceNow SPM Pro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3700" y="914400"/>
            <a:ext cx="3784600" cy="2590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4660" y="960120"/>
            <a:ext cx="3662679" cy="2514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1F2937"/>
                </a:solidFill>
                <a:latin typeface="Calibri"/>
              </a:rPr>
              <a:t>End-to-end von der Strategie bis zur Umsetzung – auf einer Plattform</a:t>
            </a:r>
          </a:p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Strategic Planning &amp; Goal Framework (OKR)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•  Strategien, Ziele, Investitionsrahmen verknüpft mit Portfolio</a:t>
            </a:r>
          </a:p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Demand Management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•  Zentrale Erfassung, Bewertung und Priorisierung aller Demands</a:t>
            </a:r>
          </a:p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Project Portfolio Management (PPM)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•  Klassisch, agil, hybrid – Gantt, Kanban, SAFe-Workflows</a:t>
            </a:r>
          </a:p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Resource &amp; Financial Management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•  Ressourcen-, Kapazitäts-, Budget- und Szenarioplanung (What-if)</a:t>
            </a:r>
          </a:p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Application Portfolio &amp; Benefits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•  Anwendungsportfolio, Nutzen-Tracking, Live-Reporting</a:t>
            </a:r>
          </a:p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07F12"/>
                </a:solidFill>
                <a:latin typeface="Calibri"/>
              </a:rPr>
              <a:t>KI: Now Assist for SPM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•  Risiko-Frühwarnung, Ressourcen-Empfehlungen, Agile Story Generation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2600" y="609600"/>
            <a:ext cx="3784600" cy="2895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2600" y="609600"/>
            <a:ext cx="37846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ServiceNow @ STIHL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2600" y="914400"/>
            <a:ext cx="3784600" cy="2590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3559" y="960120"/>
            <a:ext cx="3662679" cy="2514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1F2937"/>
                </a:solidFill>
                <a:latin typeface="Calibri"/>
              </a:rPr>
              <a:t>Etabliert, geprüft, im Betrieb</a:t>
            </a:r>
          </a:p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Calibri"/>
              </a:rPr>
              <a:t>Im Einsatz seit 2014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•  Globaler IT Service Management-Standard – inklusive China</a:t>
            </a:r>
          </a:p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Calibri"/>
              </a:rPr>
              <a:t>DSGVO-konformes Hosting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•  Datacenter Frankfurt am Main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•  Datacenter Düsseldorf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•  Vertragliche und technische DSGVO-Konformität gegeben</a:t>
            </a:r>
          </a:p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Calibri"/>
              </a:rPr>
              <a:t>Bestehende STIHL-Basis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•  Etablierte Plattform, Betriebsteam, Lieferantenbeziehung</a:t>
            </a:r>
          </a:p>
          <a:p>
            <a:pPr algn="l">
              <a:spcAft>
                <a:spcPts val="8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•  ITSM-CMDB als Andockpunkt für SPM (Apps, Services, Verträge)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07F12"/>
                </a:solidFill>
                <a:latin typeface="Calibri"/>
              </a:rPr>
              <a:t>Konsequenz</a:t>
            </a:r>
          </a:p>
          <a:p>
            <a:pPr algn="l"/>
            <a:r>
              <a:rPr sz="1000" b="0" i="1">
                <a:solidFill>
                  <a:srgbClr val="1F2937"/>
                </a:solidFill>
                <a:latin typeface="Calibri"/>
              </a:rPr>
              <a:t>•  Plattform-Erweiterung statt Tool-Neubeschaffung</a:t>
            </a:r>
          </a:p>
          <a:p>
            <a:pPr algn="l"/>
            <a:r>
              <a:rPr sz="1000" b="0" i="1">
                <a:solidFill>
                  <a:srgbClr val="1F2937"/>
                </a:solidFill>
                <a:latin typeface="Calibri"/>
              </a:rPr>
              <a:t>•  Synergien bei Lizenz, Betrieb, Schulung,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800" y="3657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Große deutsche Referenzkunden – ServiceNow im Einsatz in IT und Geschäftsprozessen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4800" y="3886200"/>
            <a:ext cx="1381125" cy="609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800" y="3931920"/>
            <a:ext cx="13811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900" b="0" i="1">
                <a:solidFill>
                  <a:srgbClr val="D1D5DB"/>
                </a:solidFill>
                <a:latin typeface="Calibri"/>
              </a:rPr>
              <a:t>[Logo]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800" y="4160520"/>
            <a:ext cx="1381125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Siemens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800" y="4328160"/>
            <a:ext cx="1381125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Industrie / Tech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62125" y="3886200"/>
            <a:ext cx="1381125" cy="609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62125" y="3931920"/>
            <a:ext cx="13811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900" b="0" i="1">
                <a:solidFill>
                  <a:srgbClr val="D1D5DB"/>
                </a:solidFill>
                <a:latin typeface="Calibri"/>
              </a:rPr>
              <a:t>[Logo]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2125" y="4160520"/>
            <a:ext cx="1381125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SAP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2125" y="4328160"/>
            <a:ext cx="1381125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19450" y="3886200"/>
            <a:ext cx="1381125" cy="609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19450" y="3931920"/>
            <a:ext cx="13811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900" b="0" i="1">
                <a:solidFill>
                  <a:srgbClr val="D1D5DB"/>
                </a:solidFill>
                <a:latin typeface="Calibri"/>
              </a:rPr>
              <a:t>[Logo]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19450" y="4160520"/>
            <a:ext cx="1381125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Allianz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19450" y="4328160"/>
            <a:ext cx="1381125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Versicherung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76775" y="3886200"/>
            <a:ext cx="1381125" cy="609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76775" y="3931920"/>
            <a:ext cx="13811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900" b="0" i="1">
                <a:solidFill>
                  <a:srgbClr val="D1D5DB"/>
                </a:solidFill>
                <a:latin typeface="Calibri"/>
              </a:rPr>
              <a:t>[Logo]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76775" y="4160520"/>
            <a:ext cx="1381125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Deutsche Bank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6775" y="4328160"/>
            <a:ext cx="1381125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Banking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34100" y="3886200"/>
            <a:ext cx="1381125" cy="609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4100" y="3931920"/>
            <a:ext cx="13811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900" b="0" i="1">
                <a:solidFill>
                  <a:srgbClr val="D1D5DB"/>
                </a:solidFill>
                <a:latin typeface="Calibri"/>
              </a:rPr>
              <a:t>[Logo]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34100" y="4160520"/>
            <a:ext cx="1381125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Deutsche Telekom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34100" y="4328160"/>
            <a:ext cx="1381125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Telekommunikation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91425" y="3886200"/>
            <a:ext cx="1381125" cy="609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91425" y="3931920"/>
            <a:ext cx="13811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900" b="0" i="1">
                <a:solidFill>
                  <a:srgbClr val="D1D5DB"/>
                </a:solidFill>
                <a:latin typeface="Calibri"/>
              </a:rPr>
              <a:t>[Logo]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91425" y="4160520"/>
            <a:ext cx="1381125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Bosch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91425" y="4328160"/>
            <a:ext cx="1381125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Industrie / Automotive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48750" y="3886200"/>
            <a:ext cx="1381125" cy="609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48750" y="3931920"/>
            <a:ext cx="13811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900" b="0" i="1">
                <a:solidFill>
                  <a:srgbClr val="D1D5DB"/>
                </a:solidFill>
                <a:latin typeface="Calibri"/>
              </a:rPr>
              <a:t>[Logo]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48750" y="4160520"/>
            <a:ext cx="1381125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Mercedes-Benz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48750" y="4328160"/>
            <a:ext cx="1381125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506075" y="3886200"/>
            <a:ext cx="1381125" cy="609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06075" y="3931920"/>
            <a:ext cx="13811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900" b="0" i="1">
                <a:solidFill>
                  <a:srgbClr val="D1D5DB"/>
                </a:solidFill>
                <a:latin typeface="Calibri"/>
              </a:rPr>
              <a:t>[Logo]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06075" y="4160520"/>
            <a:ext cx="1381125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Volkswagen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06075" y="4328160"/>
            <a:ext cx="1381125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4800" y="4610100"/>
            <a:ext cx="11582400" cy="3048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9100" y="4610100"/>
            <a:ext cx="11353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Mehr als 85 % der Fortune 500 und nahezu alle DAX-Konzerne nutzen ServiceNow – darunter führende deutsche Industrie-, Finanz- und Telekommunikations-Unternehmen.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4800" y="51054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04800" y="5295900"/>
            <a:ext cx="3784600" cy="53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58140" y="5349240"/>
            <a:ext cx="182880" cy="18288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9120" y="5334000"/>
            <a:ext cx="3479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Bewährter Industriestandard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9120" y="5494020"/>
            <a:ext cx="34798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Etabliertes Plattform-Ökosystem; Marktführer Gartner Magic Quadrant SPM.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03700" y="5295900"/>
            <a:ext cx="3784600" cy="53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257040" y="5349240"/>
            <a:ext cx="182880" cy="18288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78020" y="5334000"/>
            <a:ext cx="3479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Pro-Modul = direkter STIHL-Fit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78020" y="5494020"/>
            <a:ext cx="34798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SPM Pro deckt Strategy → Plan → Execute → Deliver durchgängig ab.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02600" y="5295900"/>
            <a:ext cx="3784600" cy="53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155940" y="5349240"/>
            <a:ext cx="182880" cy="18288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76919" y="5334000"/>
            <a:ext cx="3479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Plattform schon im Haus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76919" y="5494020"/>
            <a:ext cx="34798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Seit 2014 global im Einsatz, DSGVO-konform in DE gehostet – kein Neuaufbau.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Quellen: ServiceNow Produktdokumentation; STIHL IT (Bestand seit 2014, Hosting Frankfurt + Düsseldorf); öffentlich genannte Referenzkunden.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Cp7ilDLGhQ.5l4Tb0qU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pQSRxlCSNFW6SAoVGG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GSlic0.itPNX.NACz3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YHU69T669hfu4d9EZeD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S.2mP9ieXk6Yr8UquCA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Kq9mkp0aHSNxhv6Sl.L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oBjVh6KjSJLF8E9HATa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aN7phGX2zTrxDMHfTAe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9CV4qHw5QBQGYZKD.t8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mlb5.02HAj7uhlwcyhY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5DF2NFpoWWisnZSPcpiM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whkwSqYa0XMXKUQx7aG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C0303EFA73FE4CB2BBEDAB929C7991" ma:contentTypeVersion="14" ma:contentTypeDescription="Ein neues Dokument erstellen." ma:contentTypeScope="" ma:versionID="be8cd97a4da789067f2f82ce703bb723">
  <xsd:schema xmlns:xsd="http://www.w3.org/2001/XMLSchema" xmlns:xs="http://www.w3.org/2001/XMLSchema" xmlns:p="http://schemas.microsoft.com/office/2006/metadata/properties" xmlns:ns2="2f256423-360f-43c8-9cc5-edab87e38065" xmlns:ns3="810f0827-59f8-4c5d-82e6-a3017adce947" targetNamespace="http://schemas.microsoft.com/office/2006/metadata/properties" ma:root="true" ma:fieldsID="ca81409d21ad380bc0f6c450f5718395" ns2:_="" ns3:_="">
    <xsd:import namespace="2f256423-360f-43c8-9cc5-edab87e38065"/>
    <xsd:import namespace="810f0827-59f8-4c5d-82e6-a3017adce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56423-360f-43c8-9cc5-edab87e380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f0827-59f8-4c5d-82e6-a3017adce9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6e1361-4b6f-41a0-ba01-80ad4012ed0f}" ma:internalName="TaxCatchAll" ma:showField="CatchAllData" ma:web="810f0827-59f8-4c5d-82e6-a3017adce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0f0827-59f8-4c5d-82e6-a3017adce947"/>
    <lcf76f155ced4ddcb4097134ff3c332f xmlns="2f256423-360f-43c8-9cc5-edab87e3806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63B4FC-3AC8-40C0-A302-B0410F7FBC93}">
  <ds:schemaRefs>
    <ds:schemaRef ds:uri="2f256423-360f-43c8-9cc5-edab87e38065"/>
    <ds:schemaRef ds:uri="810f0827-59f8-4c5d-82e6-a3017adce9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B9BD90E-92CC-4A62-9368-6A8C72AC441B}">
  <ds:schemaRefs>
    <ds:schemaRef ds:uri="2f256423-360f-43c8-9cc5-edab87e38065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Application>Microsoft Office PowerPoint</Application>
  <PresentationFormat>Widescreen</PresentationFormat>
  <Slides>24</Slides>
  <Notes>7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STIHL EN 16:9</vt:lpstr>
      <vt:lpstr>Überblick PPM@STIHL und zwischenstand servicenow plattform  ƒ</vt:lpstr>
      <vt:lpstr>Informationen zur Vorstandsvorlage </vt:lpstr>
      <vt:lpstr>Projekte und Projektportfoliomanagement bei STIHL</vt:lpstr>
      <vt:lpstr>Von der Strategie zur Umsetzung – Alternative zu Folie 3</vt:lpstr>
      <vt:lpstr>Herausforderungen im Status Quo</vt:lpstr>
      <vt:lpstr>Vorgehen / Ansatz / Prämissen</vt:lpstr>
      <vt:lpstr>Vorprojekt SNOW – Überblick</vt:lpstr>
      <vt:lpstr>Backup: Beschreibung Leistungsumfang ServiceNow SPM Suite</vt:lpstr>
      <vt:lpstr>Vorprojekt SNOW – Ergebnisse (1 von 2)</vt:lpstr>
      <vt:lpstr>Vorprojekt SNOW – Ergebnisse (2 von 2)</vt:lpstr>
      <vt:lpstr>Lessons Learned MSPO</vt:lpstr>
      <vt:lpstr>Weiteres Vorgehen SNOW</vt:lpstr>
      <vt:lpstr>Roadmap</vt:lpstr>
      <vt:lpstr>Roadmap</vt:lpstr>
      <vt:lpstr>Roadmap</vt:lpstr>
      <vt:lpstr>PowerPoint Presentation</vt:lpstr>
      <vt:lpstr>PowerPoint Presentation</vt:lpstr>
      <vt:lpstr>PowerPoint Presentation</vt:lpstr>
      <vt:lpstr>PowerPoint Presentation</vt:lpstr>
      <vt:lpstr>Status Quo</vt:lpstr>
      <vt:lpstr>Status Quo: IT Demand and Project landscape </vt:lpstr>
      <vt:lpstr>Steuerungs- und Transparenzebenen im Strategischen PPM</vt:lpstr>
      <vt:lpstr>PowerPoint Presentation</vt:lpstr>
      <vt:lpstr>Ausgangslange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revision>17</cp:revision>
  <dcterms:created xsi:type="dcterms:W3CDTF">2025-07-07T10:08:27Z</dcterms:created>
  <dcterms:modified xsi:type="dcterms:W3CDTF">2026-05-07T07:42:08Z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0x01010020C0303EFA73FE4CB2BBEDAB929C7991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