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23B_D398B549.xlsb" ContentType="application/vnd.ms-excel.sheet.binary.macroEnabled.12"/>
  <Override PartName="/ppt/embeddings/Microsoft_Excel_Binary_23B_D398B5491.xlsb" ContentType="application/vnd.ms-excel.sheet.binary.macroEnabled.12"/>
  <Override PartName="/ppt/embeddings/Microsoft_Excel_Binary_23B_D398B5492.xlsb" ContentType="application/vnd.ms-excel.sheet.binary.macroEnabled.12"/>
  <Override PartName="/ppt/embeddings/Microsoft_Excel_Binary_23B_D398B5493.xlsb" ContentType="application/vnd.ms-excel.sheet.binary.macroEnabled.12"/>
  <Override PartName="/ppt/embeddings/Microsoft_Excel_Binary_23B_D398B5494.xlsb" ContentType="application/vnd.ms-excel.sheet.binary.macroEnabled.12"/>
  <Override PartName="/ppt/embeddings/Microsoft_Excel_Binary_23B_D398B549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0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9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38"/>
    <p:sldId id="571" r:id="rId13"/>
    <p:sldId id="572" r:id="rId14"/>
    <p:sldId id="569" r:id="rId15"/>
    <p:sldId id="570" r:id="rId16"/>
    <p:sldId id="2147483631" r:id="rId17"/>
    <p:sldId id="288" r:id="rId20"/>
    <p:sldId id="286" r:id="rId21"/>
    <p:sldId id="287" r:id="rId22"/>
    <p:sldId id="563" r:id="rId23"/>
    <p:sldId id="282" r:id="rId24"/>
    <p:sldId id="283" r:id="rId25"/>
    <p:sldId id="278" r:id="rId26"/>
    <p:sldId id="284" r:id="rId27"/>
    <p:sldId id="574" r:id="rId28"/>
  </p:sldIdLst>
  <p:sldSz cx="12192000" cy="6858000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38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‹#›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5.emf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tags" Target="../tags/tag62.xml"/><Relationship Id="rId9" Type="http://schemas.openxmlformats.org/officeDocument/2006/relationships/tags" Target="../tags/tag63.xml"/><Relationship Id="rId10" Type="http://schemas.openxmlformats.org/officeDocument/2006/relationships/tags" Target="../tags/tag64.xml"/><Relationship Id="rId11" Type="http://schemas.openxmlformats.org/officeDocument/2006/relationships/tags" Target="../tags/tag65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6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16.png"/><Relationship Id="rId6" Type="http://schemas.openxmlformats.org/officeDocument/2006/relationships/image" Target="../media/image25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8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8B683B-21DD-C0DE-3F0B-2D0D05E257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2377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8B683B-21DD-C0DE-3F0B-2D0D05E25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DB4122F-455F-4C06-E4F6-B22B5C90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Von der 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</a:t>
            </a:r>
            <a:r>
              <a:rPr lang="en-US" err="1"/>
              <a:t>Umsetzung</a:t>
            </a:r>
            <a:r>
              <a:rPr lang="en-US"/>
              <a:t> – Alternative </a:t>
            </a:r>
            <a:r>
              <a:rPr lang="en-US" err="1"/>
              <a:t>zu</a:t>
            </a:r>
            <a:r>
              <a:rPr lang="en-US"/>
              <a:t> Folie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2E2C1-53B3-260C-AD0B-816F2A7A6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14663-DD2A-0A5B-4BDD-43F8D1DA1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1545104"/>
            <a:ext cx="4875245" cy="2596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BEA9B-EA89-9BFF-F986-75D1EBE13580}"/>
              </a:ext>
            </a:extLst>
          </p:cNvPr>
          <p:cNvSpPr txBox="1"/>
          <p:nvPr/>
        </p:nvSpPr>
        <p:spPr>
          <a:xfrm>
            <a:off x="6096000" y="1545104"/>
            <a:ext cx="4875245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Darstellung</a:t>
            </a:r>
            <a:r>
              <a:rPr lang="en-US" sz="1600"/>
              <a:t> des </a:t>
            </a:r>
            <a:r>
              <a:rPr lang="en-US" sz="1600" err="1"/>
              <a:t>Prozesses</a:t>
            </a:r>
            <a:r>
              <a:rPr lang="en-US" sz="1600"/>
              <a:t> in der </a:t>
            </a:r>
            <a:r>
              <a:rPr lang="en-US" sz="1600" err="1"/>
              <a:t>Tabellenform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Software und </a:t>
            </a:r>
            <a:r>
              <a:rPr lang="en-US" sz="1600" err="1"/>
              <a:t>Mengenangaben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6002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6002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17220"/>
            <a:ext cx="106680" cy="10668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" y="571500"/>
            <a:ext cx="457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1500"/>
            <a:ext cx="8382000" cy="213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r"/>
            <a:r>
              <a:rPr sz="11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00100"/>
            <a:ext cx="11277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102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402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9514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896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814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967740"/>
            <a:ext cx="3677920" cy="15240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9260" y="1013459"/>
            <a:ext cx="53340" cy="5334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3080" y="967740"/>
            <a:ext cx="10668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2260" y="967740"/>
            <a:ext cx="245872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1734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864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04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04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1844040"/>
            <a:ext cx="38100" cy="381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1" i="0">
                <a:solidFill>
                  <a:srgbClr val="F07F1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1851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36423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6423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663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1663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3281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3281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3281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3410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7982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982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3222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3222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840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4840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840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310640"/>
            <a:ext cx="2739390" cy="647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949690" y="1310640"/>
            <a:ext cx="2739390" cy="21336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995410" y="1356360"/>
            <a:ext cx="121920" cy="12192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95410" y="1356360"/>
            <a:ext cx="12192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7810" y="132588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7810" y="1417319"/>
            <a:ext cx="2510790" cy="990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19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5925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63990" y="155448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718309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63990" y="1680209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18440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63990" y="1805940"/>
            <a:ext cx="2586990" cy="114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880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004060"/>
            <a:ext cx="11186160" cy="1676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33400" y="2023110"/>
            <a:ext cx="533400" cy="12954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3400" y="2023110"/>
            <a:ext cx="53340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27760" y="2004060"/>
            <a:ext cx="1053084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5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Isosceles Triangle 77"/>
          <p:cNvSpPr/>
          <p:nvPr/>
        </p:nvSpPr>
        <p:spPr>
          <a:xfrm>
            <a:off x="1569720" y="2065020"/>
            <a:ext cx="152400" cy="106680"/>
          </a:xfrm>
          <a:prstGeom prst="triangle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02920" y="2156460"/>
            <a:ext cx="2286000" cy="304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304800" y="2171700"/>
            <a:ext cx="11582400" cy="876300"/>
          </a:xfrm>
          <a:prstGeom prst="roundRect">
            <a:avLst/>
          </a:prstGeom>
          <a:solidFill>
            <a:srgbClr val="053B55"/>
          </a:solidFill>
          <a:ln w="1524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3400" y="2209800"/>
            <a:ext cx="6096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62D84E"/>
                </a:solidFill>
                <a:latin typeface="Calibri"/>
              </a:rPr>
              <a:t>DETAIL  ▾  ServiceNow SPM Pro – das STIHL-relevante Modul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2209800"/>
            <a:ext cx="5181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r"/>
            <a:r>
              <a:rPr sz="950" b="0" i="1">
                <a:solidFill>
                  <a:srgbClr val="B6C0C8"/>
                </a:solidFill>
                <a:latin typeface="Calibri"/>
              </a:rPr>
              <a:t>SPM Pro = SPM Standard  +  Strategic Planning  +  Agile/EAP  +  Pro-Plattform-Features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334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334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20040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040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15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Strategic Planning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15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OKR-Framework, Goals, Roadmaps, Investment Funding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4003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4003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4384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Demand &amp; Portfolio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384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Erfassen, bewerten, priorisieren – ein Workspace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672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672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305300" y="2476500"/>
            <a:ext cx="17145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053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Klassisch (Gantt) und agil (Kanban) in einem 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1341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1341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6047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047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22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Resource &amp; Financial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722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Skill-Planung, Forecasts, Scenario / What-if-Planung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0010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0010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94716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716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0391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Agile / Hybrid (EAP)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391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Enterprise Agile Planning, hybride Roadmaps, Boards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867900" y="2415540"/>
            <a:ext cx="1790700" cy="571500"/>
          </a:xfrm>
          <a:prstGeom prst="roundRect">
            <a:avLst/>
          </a:prstGeom>
          <a:solidFill>
            <a:srgbClr val="032D42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867900" y="2415540"/>
            <a:ext cx="1790700" cy="2667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1338560" y="2468880"/>
            <a:ext cx="274320" cy="10668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338560" y="2468880"/>
            <a:ext cx="274320" cy="1066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750" b="1" i="0">
                <a:solidFill>
                  <a:srgbClr val="032D42"/>
                </a:solidFill>
                <a:latin typeface="Calibri"/>
              </a:rPr>
              <a:t>PRO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06000" y="2476500"/>
            <a:ext cx="139446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 Assist for SPM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06000" y="2659380"/>
            <a:ext cx="1714500" cy="3124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69" b="0" i="0">
                <a:solidFill>
                  <a:srgbClr val="B6C0C8"/>
                </a:solidFill>
                <a:latin typeface="Calibri"/>
              </a:rPr>
              <a:t>Risiko-Frühwarnung, Story Generation, KI-Reporting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04800" y="31623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5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04800" y="3360420"/>
            <a:ext cx="1394460" cy="4572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048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048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760220" y="3360420"/>
            <a:ext cx="1394460" cy="4572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7602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4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7602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215640" y="3360420"/>
            <a:ext cx="1394460" cy="4572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156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156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671060" y="3360420"/>
            <a:ext cx="1394460" cy="4572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67106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67106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26480" y="3360420"/>
            <a:ext cx="1394460" cy="4572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12648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2648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581900" y="3360420"/>
            <a:ext cx="1394460" cy="4572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58190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58190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9037320" y="3360420"/>
            <a:ext cx="1394460" cy="4572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03732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732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492740" y="3360420"/>
            <a:ext cx="1394460" cy="4572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492740" y="3360420"/>
            <a:ext cx="13944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492740" y="3832860"/>
            <a:ext cx="13944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19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04800" y="4198620"/>
            <a:ext cx="115824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78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4800" y="433578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04800" y="438912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48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048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28752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8752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62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62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42164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42164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67868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7868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3078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78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8128000" y="4572000"/>
            <a:ext cx="3759200" cy="16764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128000" y="4572000"/>
            <a:ext cx="3759200" cy="60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10698480" y="4663440"/>
            <a:ext cx="1143000" cy="16764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698480" y="4663440"/>
            <a:ext cx="1143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19440" y="4678680"/>
            <a:ext cx="243332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1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19440" y="4998720"/>
            <a:ext cx="3576320" cy="11887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Lizenz/Betrieb.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04800" y="6591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0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Roadmap 2026 – 2028:  Konzeption · Umsetzung · Go-Live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Drei-Jahres-Plan SNOW SPM mit Phasen, Meilensteinen und vertraglichen Eckpunkten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571500"/>
            <a:ext cx="3154680" cy="266700"/>
          </a:xfrm>
          <a:prstGeom prst="roundRect">
            <a:avLst/>
          </a:prstGeom>
          <a:solidFill>
            <a:srgbClr val="F7C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7360" y="571500"/>
            <a:ext cx="3154680" cy="266700"/>
          </a:xfrm>
          <a:prstGeom prst="roundRect">
            <a:avLst/>
          </a:prstGeom>
          <a:solidFill>
            <a:srgbClr val="F4A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4736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17280" y="571500"/>
            <a:ext cx="3154680" cy="266700"/>
          </a:xfrm>
          <a:prstGeom prst="roundRect">
            <a:avLst/>
          </a:prstGeom>
          <a:solidFill>
            <a:srgbClr val="E08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17280" y="571500"/>
            <a:ext cx="315468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661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585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107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03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2851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2099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5950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29842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90909" y="838200"/>
            <a:ext cx="6096" cy="4572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800" y="571500"/>
            <a:ext cx="1981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r"/>
            <a:r>
              <a:rPr sz="1100" b="1" i="0">
                <a:solidFill>
                  <a:srgbClr val="4B5563"/>
                </a:solidFill>
                <a:latin typeface="Calibri"/>
              </a:rPr>
              <a:t>Zeit 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800" y="975360"/>
            <a:ext cx="19812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r"/>
            <a:r>
              <a:rPr sz="1100" b="1" i="0">
                <a:solidFill>
                  <a:srgbClr val="1F2937"/>
                </a:solidFill>
                <a:latin typeface="Calibri"/>
              </a:rPr>
              <a:t>MEILENSTEINE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1390650"/>
            <a:ext cx="9509760" cy="114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29768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347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520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PPB 08.04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520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Projekt-Board</a:t>
            </a:r>
          </a:p>
        </p:txBody>
      </p:sp>
      <p:sp>
        <p:nvSpPr>
          <p:cNvPr id="29" name="Diamond 28"/>
          <p:cNvSpPr/>
          <p:nvPr/>
        </p:nvSpPr>
        <p:spPr>
          <a:xfrm>
            <a:off x="3218179" y="1310640"/>
            <a:ext cx="167640" cy="1676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8951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1619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B91C1C"/>
                </a:solidFill>
                <a:latin typeface="Calibri"/>
              </a:rPr>
              <a:t>VS 18.05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619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heutige Vorstandssitzung</a:t>
            </a:r>
          </a:p>
        </p:txBody>
      </p:sp>
      <p:sp>
        <p:nvSpPr>
          <p:cNvPr id="33" name="Diamond 32"/>
          <p:cNvSpPr/>
          <p:nvPr/>
        </p:nvSpPr>
        <p:spPr>
          <a:xfrm>
            <a:off x="4297680" y="1333500"/>
            <a:ext cx="121920" cy="121920"/>
          </a:xfrm>
          <a:prstGeom prst="diamond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55592" y="146304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28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3B6BA5"/>
                </a:solidFill>
                <a:latin typeface="Calibri"/>
              </a:rPr>
              <a:t>Jahresplanung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28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01.09.2026</a:t>
            </a:r>
          </a:p>
        </p:txBody>
      </p:sp>
      <p:sp>
        <p:nvSpPr>
          <p:cNvPr id="37" name="Diamond 36"/>
          <p:cNvSpPr/>
          <p:nvPr/>
        </p:nvSpPr>
        <p:spPr>
          <a:xfrm>
            <a:off x="4826000" y="1333500"/>
            <a:ext cx="121920" cy="121920"/>
          </a:xfrm>
          <a:prstGeom prst="diamond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83911" y="1013460"/>
            <a:ext cx="6096" cy="31241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1159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F07F12"/>
                </a:solidFill>
                <a:latin typeface="Calibri"/>
              </a:rPr>
              <a:t>Kick-off Phase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1159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Q3/Q4 2026</a:t>
            </a:r>
          </a:p>
        </p:txBody>
      </p:sp>
      <p:sp>
        <p:nvSpPr>
          <p:cNvPr id="41" name="Diamond 40"/>
          <p:cNvSpPr/>
          <p:nvPr/>
        </p:nvSpPr>
        <p:spPr>
          <a:xfrm>
            <a:off x="823722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17992" y="148590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161544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76022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Org + IT Projekte</a:t>
            </a:r>
          </a:p>
        </p:txBody>
      </p:sp>
      <p:sp>
        <p:nvSpPr>
          <p:cNvPr id="45" name="Diamond 44"/>
          <p:cNvSpPr/>
          <p:nvPr/>
        </p:nvSpPr>
        <p:spPr>
          <a:xfrm>
            <a:off x="11407140" y="1310640"/>
            <a:ext cx="167640" cy="167640"/>
          </a:xfrm>
          <a:prstGeom prst="diamond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87912" y="1013460"/>
            <a:ext cx="6096" cy="2895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05160" y="929640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ctr"/>
            <a:r>
              <a:rPr sz="950" b="1" i="0">
                <a:solidFill>
                  <a:srgbClr val="2E7D32"/>
                </a:solidFill>
                <a:latin typeface="Calibri"/>
              </a:rPr>
              <a:t>Go-Live Phase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05160" y="1066800"/>
            <a:ext cx="13716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ctr"/>
            <a:r>
              <a:rPr sz="800" b="0" i="1">
                <a:solidFill>
                  <a:srgbClr val="4B5563"/>
                </a:solidFill>
                <a:latin typeface="Calibri"/>
              </a:rPr>
              <a:t>VEW / VPM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4800" y="1889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4800" y="1889760"/>
            <a:ext cx="60960" cy="685800"/>
          </a:xfrm>
          <a:prstGeom prst="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9100" y="1927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Vorbereitung &amp; Vertrag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9100" y="2148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Auftragsklärung · Budget · Partnerauswahl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377440" y="1889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4278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12708" y="1920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543556" y="1973580"/>
            <a:ext cx="2045207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81656" y="1988820"/>
            <a:ext cx="1953767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Auftragsklärung · Stakeholder · Phasen-/Kostenplanung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1656" y="2232660"/>
            <a:ext cx="1953767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Q1 – Q3 2026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287012" y="1973580"/>
            <a:ext cx="1411224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25112" y="1988820"/>
            <a:ext cx="1319784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Partnerauswahl SNOW SPM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25112" y="2232660"/>
            <a:ext cx="1319784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Q3/Q4 2026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79492" y="1973580"/>
            <a:ext cx="1252728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17592" y="1988820"/>
            <a:ext cx="1161288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SNOW Budgetierung &amp; Contract Renewal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7592" y="2232660"/>
            <a:ext cx="1161288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ab Q4 2026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800" y="2651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04800" y="2651760"/>
            <a:ext cx="60960" cy="6858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9100" y="2689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1  SNOW SPM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2910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Demand · Strategy · MDM · Portfolio · Workflows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77440" y="2651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54278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712708" y="2682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762500" y="2735580"/>
            <a:ext cx="77723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00600" y="2750820"/>
            <a:ext cx="685799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Konzeption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0600" y="2994660"/>
            <a:ext cx="685799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Demand · Strategy · MDM · Portfolio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4979" y="2735580"/>
            <a:ext cx="3154680" cy="51816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93079" y="2750820"/>
            <a:ext cx="3063240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93079" y="2994660"/>
            <a:ext cx="306324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PIT-Schnittstelle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07908" y="2735580"/>
            <a:ext cx="301752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46008" y="2750820"/>
            <a:ext cx="210312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46008" y="2994660"/>
            <a:ext cx="210312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Org + IT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800" y="3413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04800" y="3413760"/>
            <a:ext cx="60960" cy="68580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9100" y="3451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Phase 2  SNOW SPM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9100" y="3672839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Project Management · PEP · VPM · Portfolio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377440" y="3413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54278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712708" y="3444239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139940" y="3497580"/>
            <a:ext cx="1569719" cy="51816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78040" y="3512820"/>
            <a:ext cx="1478280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Konzeption Phase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756660"/>
            <a:ext cx="147828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Project Mgmt · PEP · VPM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24900" y="3497580"/>
            <a:ext cx="2916935" cy="51816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63000" y="3512820"/>
            <a:ext cx="2825495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Umsetzung Phase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63000" y="3756660"/>
            <a:ext cx="2825495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+ Maßnahmen-Mgmt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577828" y="3497580"/>
            <a:ext cx="301751" cy="5181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615928" y="3512820"/>
            <a:ext cx="210311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Go-Live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615928" y="3756660"/>
            <a:ext cx="210311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750" b="0" i="1">
                <a:solidFill>
                  <a:srgbClr val="FFFFFF"/>
                </a:solidFill>
                <a:latin typeface="Calibri"/>
              </a:rPr>
              <a:t>VEW / VPM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04800" y="4175760"/>
            <a:ext cx="198120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04800" y="4175760"/>
            <a:ext cx="60960" cy="6858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9100" y="42138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Calibri"/>
              </a:rPr>
              <a:t>Alternative-Spur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9100" y="443484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PM-Plattform für VEW / VPM (Hedge)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377440" y="4175760"/>
            <a:ext cx="9509760" cy="6858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54278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12708" y="4206240"/>
            <a:ext cx="9144" cy="62484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4762500" y="4259580"/>
            <a:ext cx="2362200" cy="51816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800600" y="4274820"/>
            <a:ext cx="2270760" cy="284988"/>
          </a:xfrm>
          <a:prstGeom prst="rect">
            <a:avLst/>
          </a:prstGeom>
          <a:noFill/>
          <a:ln>
            <a:noFill/>
          </a:ln>
        </p:spPr>
        <p:txBody>
          <a:bodyPr wrap="square" anchor="b" lIns="40000" rIns="40000" tIns="15000" bIns="15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Alternative PM-Plattform (VEW / VPM)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800600" y="4518660"/>
            <a:ext cx="22707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40000" rIns="40000" tIns="15000" bIns="15000">
            <a:spAutoFit/>
          </a:bodyPr>
          <a:lstStyle/>
          <a:p>
            <a:pPr algn="l"/>
            <a:r>
              <a:rPr sz="950" b="0" i="1">
                <a:solidFill>
                  <a:srgbClr val="FFFFFF"/>
                </a:solidFill>
                <a:latin typeface="Calibri"/>
              </a:rPr>
              <a:t>Bewertung als Risiko-Hedge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04800" y="4960620"/>
            <a:ext cx="1676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950" b="1" i="0">
                <a:solidFill>
                  <a:srgbClr val="1F2937"/>
                </a:solidFill>
                <a:latin typeface="Calibri"/>
              </a:rPr>
              <a:t>Legende: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43000" y="4998720"/>
            <a:ext cx="121920" cy="121920"/>
          </a:xfrm>
          <a:prstGeom prst="roundRect">
            <a:avLst/>
          </a:prstGeom>
          <a:solidFill>
            <a:srgbClr val="FB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287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Konzeption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743200" y="4998720"/>
            <a:ext cx="121920" cy="12192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8879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343400" y="4998720"/>
            <a:ext cx="121920" cy="12192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881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Umsetzung +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0" y="4998720"/>
            <a:ext cx="121920" cy="121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0883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Go-Live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4998720"/>
            <a:ext cx="121920" cy="121920"/>
          </a:xfrm>
          <a:prstGeom prst="roundRect">
            <a:avLst/>
          </a:prstGeom>
          <a:solidFill>
            <a:srgbClr val="3B6B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6885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Vorbereitung / Vertrag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9144000" y="4998720"/>
            <a:ext cx="121920" cy="12192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288780" y="4960620"/>
            <a:ext cx="13716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Alternative</a:t>
            </a:r>
          </a:p>
        </p:txBody>
      </p:sp>
      <p:sp>
        <p:nvSpPr>
          <p:cNvPr id="120" name="Diamond 119"/>
          <p:cNvSpPr/>
          <p:nvPr/>
        </p:nvSpPr>
        <p:spPr>
          <a:xfrm>
            <a:off x="9906000" y="4998720"/>
            <a:ext cx="121920" cy="12192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058400" y="4960620"/>
            <a:ext cx="19812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80" b="0" i="0">
                <a:solidFill>
                  <a:srgbClr val="1F2937"/>
                </a:solidFill>
                <a:latin typeface="Calibri"/>
              </a:rPr>
              <a:t>◆ Vorstands-Meilenstein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40000" rIns="40000" tIns="15000" bIns="15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Konsolidiert aus den Original-Folien 2026 / 2027 / 2028 (Rough Schedule).  Stand: 18.05.2026.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Application>Microsoft Office PowerPoint</Application>
  <PresentationFormat>Widescreen</PresentationFormat>
  <Slides>24</Slides>
  <Notes>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STIHL EN 16:9</vt:lpstr>
      <vt:lpstr>Überblick PPM@STIHL und zwischenstand servicenow plattform  ƒ</vt:lpstr>
      <vt:lpstr>Informationen zur Vorstandsvorlage </vt:lpstr>
      <vt:lpstr>Projekte und Projektportfoliomanagement bei STIHL</vt:lpstr>
      <vt:lpstr>Von der Strategie zur Umsetzung – Alternative zu Folie 3</vt:lpstr>
      <vt:lpstr>Herausforderungen im Status Quo</vt:lpstr>
      <vt:lpstr>Vorgehen / Ansatz / Prämissen</vt:lpstr>
      <vt:lpstr>Vorprojekt SNOW – Überblick</vt:lpstr>
      <vt:lpstr>Backup: Beschreibung Leistungsumfang ServiceNow SPM Suite</vt:lpstr>
      <vt:lpstr>Vorprojekt SNOW – Ergebnisse (1 von 2)</vt:lpstr>
      <vt:lpstr>Vorprojekt SNOW – Ergebnisse (2 von 2)</vt:lpstr>
      <vt:lpstr>Lessons Learned MSPO</vt:lpstr>
      <vt:lpstr>Weiteres Vorgehen SNOW</vt:lpstr>
      <vt:lpstr>Roadmap</vt:lpstr>
      <vt:lpstr>Roadmap</vt:lpstr>
      <vt:lpstr>Roadmap</vt:lpstr>
      <vt:lpstr>PowerPoint Presentation</vt:lpstr>
      <vt:lpstr>PowerPoint Presentation</vt:lpstr>
      <vt:lpstr>PowerPoint Presentation</vt:lpstr>
      <vt:lpstr>PowerPoint Presentation</vt:lpstr>
      <vt:lpstr>Status Quo</vt:lpstr>
      <vt:lpstr>Status Quo: IT Demand and Project landscape </vt:lpstr>
      <vt:lpstr>Steuerungs- und Transparenzebenen im Strategischen PPM</vt:lpstr>
      <vt:lpstr>PowerPoint Presentation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revision>17</cp:revision>
  <dcterms:created xsi:type="dcterms:W3CDTF">2025-07-07T10:08:27Z</dcterms:created>
  <dcterms:modified xsi:type="dcterms:W3CDTF">2026-05-07T07:42:08Z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